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502" r:id="rId2"/>
    <p:sldId id="503" r:id="rId3"/>
    <p:sldId id="334" r:id="rId4"/>
    <p:sldId id="368" r:id="rId5"/>
    <p:sldId id="371" r:id="rId6"/>
    <p:sldId id="501" r:id="rId7"/>
    <p:sldId id="275" r:id="rId8"/>
    <p:sldId id="466" r:id="rId9"/>
    <p:sldId id="418" r:id="rId10"/>
    <p:sldId id="434" r:id="rId11"/>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A9574-2EC0-49C0-B6AB-FB35DC42E341}" v="105" dt="2025-01-31T09:09:26.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26" autoAdjust="0"/>
    <p:restoredTop sz="94775" autoAdjust="0"/>
  </p:normalViewPr>
  <p:slideViewPr>
    <p:cSldViewPr snapToGrid="0" snapToObjects="1">
      <p:cViewPr varScale="1">
        <p:scale>
          <a:sx n="85" d="100"/>
          <a:sy n="85" d="100"/>
        </p:scale>
        <p:origin x="2608" y="56"/>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Jungåker" userId="Jp51DZr2S3O2Kq/fECI9vz/Rf/nX3kiUVMBM7w9AVas=" providerId="None" clId="Web-{0FAA9574-2EC0-49C0-B6AB-FB35DC42E341}"/>
    <pc:docChg chg="modSld">
      <pc:chgData name="Paula Jungåker" userId="Jp51DZr2S3O2Kq/fECI9vz/Rf/nX3kiUVMBM7w9AVas=" providerId="None" clId="Web-{0FAA9574-2EC0-49C0-B6AB-FB35DC42E341}" dt="2025-01-31T09:09:25.439" v="44" actId="20577"/>
      <pc:docMkLst>
        <pc:docMk/>
      </pc:docMkLst>
      <pc:sldChg chg="modSp">
        <pc:chgData name="Paula Jungåker" userId="Jp51DZr2S3O2Kq/fECI9vz/Rf/nX3kiUVMBM7w9AVas=" providerId="None" clId="Web-{0FAA9574-2EC0-49C0-B6AB-FB35DC42E341}" dt="2025-01-31T09:03:48.114" v="11" actId="20577"/>
        <pc:sldMkLst>
          <pc:docMk/>
          <pc:sldMk cId="376035252" sldId="334"/>
        </pc:sldMkLst>
        <pc:spChg chg="mod">
          <ac:chgData name="Paula Jungåker" userId="Jp51DZr2S3O2Kq/fECI9vz/Rf/nX3kiUVMBM7w9AVas=" providerId="None" clId="Web-{0FAA9574-2EC0-49C0-B6AB-FB35DC42E341}" dt="2025-01-31T09:03:40.348" v="8" actId="20577"/>
          <ac:spMkLst>
            <pc:docMk/>
            <pc:sldMk cId="376035252" sldId="334"/>
            <ac:spMk id="9" creationId="{04ED9FA6-196C-1F47-9C04-3675893B3BC8}"/>
          </ac:spMkLst>
        </pc:spChg>
        <pc:spChg chg="mod">
          <ac:chgData name="Paula Jungåker" userId="Jp51DZr2S3O2Kq/fECI9vz/Rf/nX3kiUVMBM7w9AVas=" providerId="None" clId="Web-{0FAA9574-2EC0-49C0-B6AB-FB35DC42E341}" dt="2025-01-31T09:03:44.645" v="9" actId="20577"/>
          <ac:spMkLst>
            <pc:docMk/>
            <pc:sldMk cId="376035252" sldId="334"/>
            <ac:spMk id="11" creationId="{401F727C-B724-1E44-9677-9AA389049D6B}"/>
          </ac:spMkLst>
        </pc:spChg>
        <pc:spChg chg="mod">
          <ac:chgData name="Paula Jungåker" userId="Jp51DZr2S3O2Kq/fECI9vz/Rf/nX3kiUVMBM7w9AVas=" providerId="None" clId="Web-{0FAA9574-2EC0-49C0-B6AB-FB35DC42E341}" dt="2025-01-31T09:03:48.114" v="11" actId="20577"/>
          <ac:spMkLst>
            <pc:docMk/>
            <pc:sldMk cId="376035252" sldId="334"/>
            <ac:spMk id="12" creationId="{6AB51C2B-9A7E-6942-A611-9DB1376E0F57}"/>
          </ac:spMkLst>
        </pc:spChg>
      </pc:sldChg>
      <pc:sldChg chg="modSp">
        <pc:chgData name="Paula Jungåker" userId="Jp51DZr2S3O2Kq/fECI9vz/Rf/nX3kiUVMBM7w9AVas=" providerId="None" clId="Web-{0FAA9574-2EC0-49C0-B6AB-FB35DC42E341}" dt="2025-01-31T09:04:13.240" v="13" actId="20577"/>
        <pc:sldMkLst>
          <pc:docMk/>
          <pc:sldMk cId="3136698234" sldId="368"/>
        </pc:sldMkLst>
        <pc:spChg chg="mod">
          <ac:chgData name="Paula Jungåker" userId="Jp51DZr2S3O2Kq/fECI9vz/Rf/nX3kiUVMBM7w9AVas=" providerId="None" clId="Web-{0FAA9574-2EC0-49C0-B6AB-FB35DC42E341}" dt="2025-01-31T09:04:13.240" v="13" actId="20577"/>
          <ac:spMkLst>
            <pc:docMk/>
            <pc:sldMk cId="3136698234" sldId="368"/>
            <ac:spMk id="9" creationId="{6322752A-24C7-9F45-8DF1-A524F98D3591}"/>
          </ac:spMkLst>
        </pc:spChg>
      </pc:sldChg>
      <pc:sldChg chg="modSp">
        <pc:chgData name="Paula Jungåker" userId="Jp51DZr2S3O2Kq/fECI9vz/Rf/nX3kiUVMBM7w9AVas=" providerId="None" clId="Web-{0FAA9574-2EC0-49C0-B6AB-FB35DC42E341}" dt="2025-01-31T09:04:56.820" v="15" actId="20577"/>
        <pc:sldMkLst>
          <pc:docMk/>
          <pc:sldMk cId="2185990709" sldId="371"/>
        </pc:sldMkLst>
        <pc:spChg chg="mod">
          <ac:chgData name="Paula Jungåker" userId="Jp51DZr2S3O2Kq/fECI9vz/Rf/nX3kiUVMBM7w9AVas=" providerId="None" clId="Web-{0FAA9574-2EC0-49C0-B6AB-FB35DC42E341}" dt="2025-01-31T09:04:42.006" v="14" actId="20577"/>
          <ac:spMkLst>
            <pc:docMk/>
            <pc:sldMk cId="2185990709" sldId="371"/>
            <ac:spMk id="17" creationId="{CA304A16-CA82-6944-B5BC-BBE664BB514D}"/>
          </ac:spMkLst>
        </pc:spChg>
        <pc:spChg chg="mod">
          <ac:chgData name="Paula Jungåker" userId="Jp51DZr2S3O2Kq/fECI9vz/Rf/nX3kiUVMBM7w9AVas=" providerId="None" clId="Web-{0FAA9574-2EC0-49C0-B6AB-FB35DC42E341}" dt="2025-01-31T09:04:56.820" v="15" actId="20577"/>
          <ac:spMkLst>
            <pc:docMk/>
            <pc:sldMk cId="2185990709" sldId="371"/>
            <ac:spMk id="19" creationId="{27D2B029-D507-1047-8A0A-A7F7C1DDBAA3}"/>
          </ac:spMkLst>
        </pc:spChg>
      </pc:sldChg>
      <pc:sldChg chg="modSp">
        <pc:chgData name="Paula Jungåker" userId="Jp51DZr2S3O2Kq/fECI9vz/Rf/nX3kiUVMBM7w9AVas=" providerId="None" clId="Web-{0FAA9574-2EC0-49C0-B6AB-FB35DC42E341}" dt="2025-01-31T09:09:02.969" v="39" actId="20577"/>
        <pc:sldMkLst>
          <pc:docMk/>
          <pc:sldMk cId="2516864540" sldId="418"/>
        </pc:sldMkLst>
        <pc:spChg chg="mod">
          <ac:chgData name="Paula Jungåker" userId="Jp51DZr2S3O2Kq/fECI9vz/Rf/nX3kiUVMBM7w9AVas=" providerId="None" clId="Web-{0FAA9574-2EC0-49C0-B6AB-FB35DC42E341}" dt="2025-01-31T09:09:02.969" v="39" actId="20577"/>
          <ac:spMkLst>
            <pc:docMk/>
            <pc:sldMk cId="2516864540" sldId="418"/>
            <ac:spMk id="8" creationId="{78A8CE1A-01BC-D74A-B82D-926CC13AADB3}"/>
          </ac:spMkLst>
        </pc:spChg>
      </pc:sldChg>
      <pc:sldChg chg="modSp">
        <pc:chgData name="Paula Jungåker" userId="Jp51DZr2S3O2Kq/fECI9vz/Rf/nX3kiUVMBM7w9AVas=" providerId="None" clId="Web-{0FAA9574-2EC0-49C0-B6AB-FB35DC42E341}" dt="2025-01-31T09:09:25.439" v="44" actId="20577"/>
        <pc:sldMkLst>
          <pc:docMk/>
          <pc:sldMk cId="2674272433" sldId="434"/>
        </pc:sldMkLst>
        <pc:spChg chg="mod">
          <ac:chgData name="Paula Jungåker" userId="Jp51DZr2S3O2Kq/fECI9vz/Rf/nX3kiUVMBM7w9AVas=" providerId="None" clId="Web-{0FAA9574-2EC0-49C0-B6AB-FB35DC42E341}" dt="2025-01-31T09:09:25.439" v="44" actId="20577"/>
          <ac:spMkLst>
            <pc:docMk/>
            <pc:sldMk cId="2674272433" sldId="434"/>
            <ac:spMk id="24" creationId="{A2D7ECE1-FD28-EA4A-B8BF-BB8C953EF8BB}"/>
          </ac:spMkLst>
        </pc:spChg>
      </pc:sldChg>
      <pc:sldChg chg="modSp">
        <pc:chgData name="Paula Jungåker" userId="Jp51DZr2S3O2Kq/fECI9vz/Rf/nX3kiUVMBM7w9AVas=" providerId="None" clId="Web-{0FAA9574-2EC0-49C0-B6AB-FB35DC42E341}" dt="2025-01-31T09:06:04.447" v="27" actId="20577"/>
        <pc:sldMkLst>
          <pc:docMk/>
          <pc:sldMk cId="3123923809" sldId="501"/>
        </pc:sldMkLst>
        <pc:spChg chg="mod">
          <ac:chgData name="Paula Jungåker" userId="Jp51DZr2S3O2Kq/fECI9vz/Rf/nX3kiUVMBM7w9AVas=" providerId="None" clId="Web-{0FAA9574-2EC0-49C0-B6AB-FB35DC42E341}" dt="2025-01-31T09:06:04.447" v="27" actId="20577"/>
          <ac:spMkLst>
            <pc:docMk/>
            <pc:sldMk cId="3123923809" sldId="501"/>
            <ac:spMk id="14" creationId="{874E1319-DE03-F84E-85A9-4EA593275AF7}"/>
          </ac:spMkLst>
        </pc:spChg>
      </pc:sldChg>
      <pc:sldChg chg="modSp">
        <pc:chgData name="Paula Jungåker" userId="Jp51DZr2S3O2Kq/fECI9vz/Rf/nX3kiUVMBM7w9AVas=" providerId="None" clId="Web-{0FAA9574-2EC0-49C0-B6AB-FB35DC42E341}" dt="2025-01-31T09:03:04.206" v="1" actId="20577"/>
        <pc:sldMkLst>
          <pc:docMk/>
          <pc:sldMk cId="150120046" sldId="502"/>
        </pc:sldMkLst>
        <pc:spChg chg="mod">
          <ac:chgData name="Paula Jungåker" userId="Jp51DZr2S3O2Kq/fECI9vz/Rf/nX3kiUVMBM7w9AVas=" providerId="None" clId="Web-{0FAA9574-2EC0-49C0-B6AB-FB35DC42E341}" dt="2025-01-31T09:03:04.206" v="1" actId="20577"/>
          <ac:spMkLst>
            <pc:docMk/>
            <pc:sldMk cId="150120046" sldId="502"/>
            <ac:spMk id="13" creationId="{19A6BCCC-D092-0A44-BDF7-D39165E49D6C}"/>
          </ac:spMkLst>
        </pc:spChg>
      </pc:sldChg>
      <pc:sldChg chg="modSp">
        <pc:chgData name="Paula Jungåker" userId="Jp51DZr2S3O2Kq/fECI9vz/Rf/nX3kiUVMBM7w9AVas=" providerId="None" clId="Web-{0FAA9574-2EC0-49C0-B6AB-FB35DC42E341}" dt="2025-01-31T09:03:33.551" v="7" actId="20577"/>
        <pc:sldMkLst>
          <pc:docMk/>
          <pc:sldMk cId="732211923" sldId="503"/>
        </pc:sldMkLst>
        <pc:spChg chg="mod">
          <ac:chgData name="Paula Jungåker" userId="Jp51DZr2S3O2Kq/fECI9vz/Rf/nX3kiUVMBM7w9AVas=" providerId="None" clId="Web-{0FAA9574-2EC0-49C0-B6AB-FB35DC42E341}" dt="2025-01-31T09:03:12.331" v="3" actId="20577"/>
          <ac:spMkLst>
            <pc:docMk/>
            <pc:sldMk cId="732211923" sldId="503"/>
            <ac:spMk id="9" creationId="{EDA9B25C-A30B-5E40-A68A-EE8E63C36B76}"/>
          </ac:spMkLst>
        </pc:spChg>
        <pc:spChg chg="mod">
          <ac:chgData name="Paula Jungåker" userId="Jp51DZr2S3O2Kq/fECI9vz/Rf/nX3kiUVMBM7w9AVas=" providerId="None" clId="Web-{0FAA9574-2EC0-49C0-B6AB-FB35DC42E341}" dt="2025-01-31T09:03:18.285" v="5" actId="20577"/>
          <ac:spMkLst>
            <pc:docMk/>
            <pc:sldMk cId="732211923" sldId="503"/>
            <ac:spMk id="10" creationId="{8902C212-83A5-7547-98E8-E7A21CFAD06E}"/>
          </ac:spMkLst>
        </pc:spChg>
        <pc:spChg chg="mod">
          <ac:chgData name="Paula Jungåker" userId="Jp51DZr2S3O2Kq/fECI9vz/Rf/nX3kiUVMBM7w9AVas=" providerId="None" clId="Web-{0FAA9574-2EC0-49C0-B6AB-FB35DC42E341}" dt="2025-01-31T09:03:33.551" v="7" actId="20577"/>
          <ac:spMkLst>
            <pc:docMk/>
            <pc:sldMk cId="732211923" sldId="503"/>
            <ac:spMk id="23" creationId="{7BF4C674-666F-C444-9086-17331780C6A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2025-08-18</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314909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2</a:t>
            </a:fld>
            <a:endParaRPr lang="sv-SE"/>
          </a:p>
        </p:txBody>
      </p:sp>
    </p:spTree>
    <p:extLst>
      <p:ext uri="{BB962C8B-B14F-4D97-AF65-F5344CB8AC3E}">
        <p14:creationId xmlns:p14="http://schemas.microsoft.com/office/powerpoint/2010/main" val="104754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4</a:t>
            </a:fld>
            <a:endParaRPr lang="sv-SE"/>
          </a:p>
        </p:txBody>
      </p:sp>
    </p:spTree>
    <p:extLst>
      <p:ext uri="{BB962C8B-B14F-4D97-AF65-F5344CB8AC3E}">
        <p14:creationId xmlns:p14="http://schemas.microsoft.com/office/powerpoint/2010/main" val="316345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2025-08-18</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2025-08-18</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2025-08-18</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2025-08-18</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2025-08-18</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2025-08-18</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2025-08-18</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056FFCCF-4F4A-A2DE-4AC5-90539F7F512E}"/>
              </a:ext>
            </a:extLst>
          </p:cNvPr>
          <p:cNvSpPr/>
          <p:nvPr/>
        </p:nvSpPr>
        <p:spPr>
          <a:xfrm>
            <a:off x="4377128" y="5986201"/>
            <a:ext cx="2340482" cy="24260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4" name="Rektangel 3">
            <a:extLst>
              <a:ext uri="{FF2B5EF4-FFF2-40B4-BE49-F238E27FC236}">
                <a16:creationId xmlns:a16="http://schemas.microsoft.com/office/drawing/2014/main" id="{0271E082-A876-EC9D-E79C-848F85F60D7D}"/>
              </a:ext>
            </a:extLst>
          </p:cNvPr>
          <p:cNvSpPr/>
          <p:nvPr/>
        </p:nvSpPr>
        <p:spPr>
          <a:xfrm>
            <a:off x="177174" y="2775668"/>
            <a:ext cx="3548175" cy="19162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2</a:t>
            </a:r>
          </a:p>
          <a:p>
            <a:r>
              <a:rPr lang="sv-SE" sz="2800" dirty="0" err="1">
                <a:latin typeface="BigCaslonFB" panose="02000603080000020003" pitchFamily="50" charset="0"/>
              </a:rPr>
              <a:t>Functional</a:t>
            </a:r>
            <a:r>
              <a:rPr lang="sv-SE" sz="2800" dirty="0">
                <a:latin typeface="BigCaslonFB" panose="02000603080000020003" pitchFamily="50" charset="0"/>
              </a:rPr>
              <a:t> Foods</a:t>
            </a: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sp>
        <p:nvSpPr>
          <p:cNvPr id="31" name="Platshållare för sidfot 1">
            <a:extLst>
              <a:ext uri="{FF2B5EF4-FFF2-40B4-BE49-F238E27FC236}">
                <a16:creationId xmlns:a16="http://schemas.microsoft.com/office/drawing/2014/main" id="{AE4DE5F7-994E-2F41-BF38-824798F7BE46}"/>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
        <p:nvSpPr>
          <p:cNvPr id="13" name="Rektangel 12">
            <a:extLst>
              <a:ext uri="{FF2B5EF4-FFF2-40B4-BE49-F238E27FC236}">
                <a16:creationId xmlns:a16="http://schemas.microsoft.com/office/drawing/2014/main" id="{19A6BCCC-D092-0A44-BDF7-D39165E49D6C}"/>
              </a:ext>
            </a:extLst>
          </p:cNvPr>
          <p:cNvSpPr/>
          <p:nvPr/>
        </p:nvSpPr>
        <p:spPr>
          <a:xfrm>
            <a:off x="4552979" y="6319279"/>
            <a:ext cx="2059571" cy="1277273"/>
          </a:xfrm>
          <a:prstGeom prst="rect">
            <a:avLst/>
          </a:prstGeom>
        </p:spPr>
        <p:txBody>
          <a:bodyPr wrap="square" lIns="91440" tIns="45720" rIns="91440" bIns="45720" anchor="t">
            <a:spAutoFit/>
          </a:bodyPr>
          <a:lstStyle/>
          <a:p>
            <a:r>
              <a:rPr lang="sv-SE" sz="1100" b="1" dirty="0">
                <a:solidFill>
                  <a:srgbClr val="FF0000"/>
                </a:solidFill>
                <a:latin typeface="DejaVuSansMono"/>
              </a:rPr>
              <a:t>Yoghurt med </a:t>
            </a:r>
            <a:r>
              <a:rPr lang="sv-SE" sz="1100" b="1" err="1">
                <a:solidFill>
                  <a:srgbClr val="FF0000"/>
                </a:solidFill>
                <a:latin typeface="DejaVuSansMono"/>
              </a:rPr>
              <a:t>ketomüsli</a:t>
            </a:r>
            <a:r>
              <a:rPr lang="sv-SE" sz="1100" b="1" dirty="0">
                <a:latin typeface="DejaVuSansMono"/>
              </a:rPr>
              <a:t> </a:t>
            </a:r>
            <a:br>
              <a:rPr lang="sv-SE" sz="1100" b="1" dirty="0">
                <a:latin typeface="DejaVuSansMono"/>
              </a:rPr>
            </a:br>
            <a:r>
              <a:rPr lang="sv-SE" sz="1100" b="1" dirty="0">
                <a:latin typeface="DejaVuSansMono"/>
              </a:rPr>
              <a:t>– 1 portion</a:t>
            </a:r>
            <a:br>
              <a:rPr lang="sv-SE" sz="1100" b="1" dirty="0">
                <a:latin typeface="DejaVuSansMono"/>
              </a:rPr>
            </a:br>
            <a:r>
              <a:rPr lang="sv-SE" sz="1100" dirty="0">
                <a:latin typeface="DejaVuSansMono"/>
              </a:rPr>
              <a:t>1 dl grekisk yoghurt, 10%</a:t>
            </a:r>
          </a:p>
          <a:p>
            <a:r>
              <a:rPr lang="sv-SE" sz="1100" dirty="0">
                <a:latin typeface="DejaVuSansMono"/>
              </a:rPr>
              <a:t>¾ dl </a:t>
            </a:r>
            <a:r>
              <a:rPr lang="sv-SE" sz="1100" dirty="0" err="1">
                <a:latin typeface="DejaVuSansMono"/>
              </a:rPr>
              <a:t>ketomüsli</a:t>
            </a:r>
            <a:endParaRPr lang="sv-SE" sz="1100" dirty="0">
              <a:latin typeface="DejaVuSansMono"/>
            </a:endParaRPr>
          </a:p>
          <a:p>
            <a:endParaRPr lang="sv-SE" sz="1100" dirty="0">
              <a:effectLst/>
              <a:latin typeface="DejaVuSansMono"/>
            </a:endParaRPr>
          </a:p>
          <a:p>
            <a:r>
              <a:rPr lang="sv-SE" sz="1100" dirty="0">
                <a:latin typeface="DejaVuSansMono"/>
              </a:rPr>
              <a:t>Lägg yoghurt i en skål och lägg på </a:t>
            </a:r>
            <a:r>
              <a:rPr lang="sv-SE" sz="1100" dirty="0" err="1">
                <a:latin typeface="DejaVuSansMono"/>
              </a:rPr>
              <a:t>ketomüsli</a:t>
            </a:r>
            <a:r>
              <a:rPr lang="sv-SE" sz="1100" dirty="0">
                <a:latin typeface="DejaVuSansMono"/>
              </a:rPr>
              <a:t>.</a:t>
            </a:r>
            <a:endParaRPr lang="sv-SE" sz="1100" dirty="0">
              <a:effectLst/>
            </a:endParaRPr>
          </a:p>
        </p:txBody>
      </p:sp>
      <p:pic>
        <p:nvPicPr>
          <p:cNvPr id="7" name="Bildobjekt 6">
            <a:extLst>
              <a:ext uri="{FF2B5EF4-FFF2-40B4-BE49-F238E27FC236}">
                <a16:creationId xmlns:a16="http://schemas.microsoft.com/office/drawing/2014/main" id="{72ADE170-A51D-CE49-AFCF-1123BE6C4AF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904" y="5830854"/>
            <a:ext cx="3894848" cy="2921136"/>
          </a:xfrm>
          <a:prstGeom prst="rect">
            <a:avLst/>
          </a:prstGeom>
        </p:spPr>
      </p:pic>
      <p:sp>
        <p:nvSpPr>
          <p:cNvPr id="24" name="Ellips 23">
            <a:extLst>
              <a:ext uri="{FF2B5EF4-FFF2-40B4-BE49-F238E27FC236}">
                <a16:creationId xmlns:a16="http://schemas.microsoft.com/office/drawing/2014/main" id="{D1298FD0-9D69-BD47-B86D-B8D3C09E3C54}"/>
              </a:ext>
            </a:extLst>
          </p:cNvPr>
          <p:cNvSpPr/>
          <p:nvPr/>
        </p:nvSpPr>
        <p:spPr>
          <a:xfrm>
            <a:off x="5867053" y="765395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378 kcal</a:t>
            </a:r>
            <a:endParaRPr sz="1200" b="1" dirty="0">
              <a:solidFill>
                <a:schemeClr val="bg1"/>
              </a:solidFill>
              <a:ea typeface="ＭＳ 明朝"/>
              <a:cs typeface="Avenir Light"/>
            </a:endParaRPr>
          </a:p>
        </p:txBody>
      </p:sp>
      <p:sp>
        <p:nvSpPr>
          <p:cNvPr id="17" name="textruta 16">
            <a:extLst>
              <a:ext uri="{FF2B5EF4-FFF2-40B4-BE49-F238E27FC236}">
                <a16:creationId xmlns:a16="http://schemas.microsoft.com/office/drawing/2014/main" id="{1D27BB31-F894-B240-B342-CC55AABC6933}"/>
              </a:ext>
            </a:extLst>
          </p:cNvPr>
          <p:cNvSpPr txBox="1"/>
          <p:nvPr/>
        </p:nvSpPr>
        <p:spPr>
          <a:xfrm>
            <a:off x="456520" y="2875811"/>
            <a:ext cx="2397503" cy="1615827"/>
          </a:xfrm>
          <a:prstGeom prst="rect">
            <a:avLst/>
          </a:prstGeom>
          <a:noFill/>
        </p:spPr>
        <p:txBody>
          <a:bodyPr wrap="square" rtlCol="0">
            <a:spAutoFit/>
          </a:bodyPr>
          <a:lstStyle/>
          <a:p>
            <a:r>
              <a:rPr lang="sv-SE" sz="1100" b="1" dirty="0">
                <a:cs typeface="Avenir Light"/>
              </a:rPr>
              <a:t>Keso med hallon och valnötter</a:t>
            </a:r>
          </a:p>
          <a:p>
            <a:r>
              <a:rPr lang="sv-SE" sz="1100" b="1" dirty="0">
                <a:cs typeface="Avenir Light"/>
              </a:rPr>
              <a:t>– 1 portion</a:t>
            </a:r>
            <a:r>
              <a:rPr lang="sv-SE" sz="1100" dirty="0">
                <a:cs typeface="Avenir Light"/>
              </a:rPr>
              <a:t> </a:t>
            </a:r>
          </a:p>
          <a:p>
            <a:r>
              <a:rPr lang="sv-SE" sz="1100" dirty="0">
                <a:cs typeface="Avenir Light"/>
              </a:rPr>
              <a:t>1 dl keso 4%</a:t>
            </a:r>
          </a:p>
          <a:p>
            <a:r>
              <a:rPr lang="sv-SE" sz="1100" dirty="0">
                <a:cs typeface="Avenir Light"/>
              </a:rPr>
              <a:t>10 hallon</a:t>
            </a:r>
          </a:p>
          <a:p>
            <a:r>
              <a:rPr lang="sv-SE" sz="1100" dirty="0">
                <a:cs typeface="Avenir Light"/>
              </a:rPr>
              <a:t>3 valnötter</a:t>
            </a:r>
          </a:p>
          <a:p>
            <a:endParaRPr lang="sv-SE" sz="1100" dirty="0">
              <a:cs typeface="Avenir Light"/>
            </a:endParaRPr>
          </a:p>
          <a:p>
            <a:r>
              <a:rPr lang="sv-SE" sz="1100" dirty="0">
                <a:cs typeface="Avenir Light"/>
              </a:rPr>
              <a:t>Lägg upp keso i en skål och </a:t>
            </a:r>
          </a:p>
          <a:p>
            <a:r>
              <a:rPr lang="sv-SE" sz="1100" dirty="0">
                <a:cs typeface="Avenir Light"/>
              </a:rPr>
              <a:t>toppa med hallon och valnötter.</a:t>
            </a:r>
          </a:p>
          <a:p>
            <a:r>
              <a:rPr lang="sv-SE" sz="1100" dirty="0">
                <a:cs typeface="Avenir Light"/>
              </a:rPr>
              <a:t> </a:t>
            </a:r>
          </a:p>
        </p:txBody>
      </p:sp>
      <p:sp>
        <p:nvSpPr>
          <p:cNvPr id="18" name="Ellips 17">
            <a:extLst>
              <a:ext uri="{FF2B5EF4-FFF2-40B4-BE49-F238E27FC236}">
                <a16:creationId xmlns:a16="http://schemas.microsoft.com/office/drawing/2014/main" id="{B7FCECD6-9A9C-E045-9AAE-66179DE1D731}"/>
              </a:ext>
            </a:extLst>
          </p:cNvPr>
          <p:cNvSpPr/>
          <p:nvPr/>
        </p:nvSpPr>
        <p:spPr>
          <a:xfrm>
            <a:off x="2392860" y="320588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140kcal</a:t>
            </a:r>
            <a:endParaRPr sz="1200" b="1" dirty="0">
              <a:solidFill>
                <a:schemeClr val="bg1"/>
              </a:solidFill>
              <a:ea typeface="ＭＳ 明朝"/>
              <a:cs typeface="Avenir Light"/>
            </a:endParaRPr>
          </a:p>
        </p:txBody>
      </p:sp>
      <p:pic>
        <p:nvPicPr>
          <p:cNvPr id="19" name="Bildobjekt 18">
            <a:extLst>
              <a:ext uri="{FF2B5EF4-FFF2-40B4-BE49-F238E27FC236}">
                <a16:creationId xmlns:a16="http://schemas.microsoft.com/office/drawing/2014/main" id="{B35EA0F0-12BD-6E4C-BD74-2BFF4E0104D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3563469" y="1931227"/>
            <a:ext cx="3604732" cy="2703549"/>
          </a:xfrm>
          <a:prstGeom prst="rect">
            <a:avLst/>
          </a:prstGeom>
        </p:spPr>
      </p:pic>
      <p:sp>
        <p:nvSpPr>
          <p:cNvPr id="20" name="textruta 19">
            <a:extLst>
              <a:ext uri="{FF2B5EF4-FFF2-40B4-BE49-F238E27FC236}">
                <a16:creationId xmlns:a16="http://schemas.microsoft.com/office/drawing/2014/main" id="{0A86FEDF-ED62-E146-B15E-DC612DAC0072}"/>
              </a:ext>
            </a:extLst>
          </p:cNvPr>
          <p:cNvSpPr txBox="1"/>
          <p:nvPr/>
        </p:nvSpPr>
        <p:spPr>
          <a:xfrm>
            <a:off x="2707185" y="2406336"/>
            <a:ext cx="1018164" cy="369332"/>
          </a:xfrm>
          <a:prstGeom prst="rect">
            <a:avLst/>
          </a:prstGeom>
          <a:noFill/>
        </p:spPr>
        <p:txBody>
          <a:bodyPr wrap="none" rtlCol="0">
            <a:spAutoFit/>
          </a:bodyPr>
          <a:lstStyle/>
          <a:p>
            <a:r>
              <a:rPr lang="sv-SE" dirty="0"/>
              <a:t>Laga Lätt</a:t>
            </a:r>
          </a:p>
        </p:txBody>
      </p:sp>
    </p:spTree>
    <p:extLst>
      <p:ext uri="{BB962C8B-B14F-4D97-AF65-F5344CB8AC3E}">
        <p14:creationId xmlns:p14="http://schemas.microsoft.com/office/powerpoint/2010/main" val="150120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5515318E-ECBF-1618-4817-8D2F5705C37C}"/>
              </a:ext>
            </a:extLst>
          </p:cNvPr>
          <p:cNvSpPr/>
          <p:nvPr/>
        </p:nvSpPr>
        <p:spPr>
          <a:xfrm>
            <a:off x="85592" y="538996"/>
            <a:ext cx="3548175" cy="250065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4" name="Rektangel 3">
            <a:extLst>
              <a:ext uri="{FF2B5EF4-FFF2-40B4-BE49-F238E27FC236}">
                <a16:creationId xmlns:a16="http://schemas.microsoft.com/office/drawing/2014/main" id="{AA43A8D7-A1F1-A2AA-AF76-819AB167E709}"/>
              </a:ext>
            </a:extLst>
          </p:cNvPr>
          <p:cNvSpPr/>
          <p:nvPr/>
        </p:nvSpPr>
        <p:spPr>
          <a:xfrm>
            <a:off x="174337" y="3183405"/>
            <a:ext cx="3548175" cy="234673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5" name="Rektangel 4">
            <a:extLst>
              <a:ext uri="{FF2B5EF4-FFF2-40B4-BE49-F238E27FC236}">
                <a16:creationId xmlns:a16="http://schemas.microsoft.com/office/drawing/2014/main" id="{0B125C0F-26D7-EA51-08EF-14777B895B15}"/>
              </a:ext>
            </a:extLst>
          </p:cNvPr>
          <p:cNvSpPr/>
          <p:nvPr/>
        </p:nvSpPr>
        <p:spPr>
          <a:xfrm>
            <a:off x="166985" y="5650366"/>
            <a:ext cx="6623683" cy="326908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2" name="textruta 11">
            <a:extLst>
              <a:ext uri="{FF2B5EF4-FFF2-40B4-BE49-F238E27FC236}">
                <a16:creationId xmlns:a16="http://schemas.microsoft.com/office/drawing/2014/main" id="{F15FD6BF-CC30-43C5-AC4C-78E43C405451}"/>
              </a:ext>
            </a:extLst>
          </p:cNvPr>
          <p:cNvSpPr txBox="1"/>
          <p:nvPr/>
        </p:nvSpPr>
        <p:spPr>
          <a:xfrm>
            <a:off x="328873" y="221080"/>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2</a:t>
            </a:fld>
            <a:endParaRPr lang="sv-SE" sz="900" dirty="0"/>
          </a:p>
        </p:txBody>
      </p:sp>
      <p:pic>
        <p:nvPicPr>
          <p:cNvPr id="8" name="Bildobjekt 7">
            <a:extLst>
              <a:ext uri="{FF2B5EF4-FFF2-40B4-BE49-F238E27FC236}">
                <a16:creationId xmlns:a16="http://schemas.microsoft.com/office/drawing/2014/main" id="{A334A9C7-8B5E-9A41-9990-8103B7B8F18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139742" y="857915"/>
            <a:ext cx="3952205" cy="2964154"/>
          </a:xfrm>
          <a:prstGeom prst="rect">
            <a:avLst/>
          </a:prstGeom>
        </p:spPr>
      </p:pic>
      <p:sp>
        <p:nvSpPr>
          <p:cNvPr id="9" name="Rektangel 8">
            <a:extLst>
              <a:ext uri="{FF2B5EF4-FFF2-40B4-BE49-F238E27FC236}">
                <a16:creationId xmlns:a16="http://schemas.microsoft.com/office/drawing/2014/main" id="{EDA9B25C-A30B-5E40-A68A-EE8E63C36B76}"/>
              </a:ext>
            </a:extLst>
          </p:cNvPr>
          <p:cNvSpPr/>
          <p:nvPr/>
        </p:nvSpPr>
        <p:spPr>
          <a:xfrm>
            <a:off x="328873" y="682745"/>
            <a:ext cx="3402229" cy="2800767"/>
          </a:xfrm>
          <a:prstGeom prst="rect">
            <a:avLst/>
          </a:prstGeom>
        </p:spPr>
        <p:txBody>
          <a:bodyPr wrap="square" lIns="91440" tIns="45720" rIns="91440" bIns="45720" anchor="t">
            <a:spAutoFit/>
          </a:bodyPr>
          <a:lstStyle/>
          <a:p>
            <a:r>
              <a:rPr lang="sv-SE" sz="1100" b="1" dirty="0">
                <a:solidFill>
                  <a:srgbClr val="FF0000"/>
                </a:solidFill>
                <a:cs typeface="Avenir Light"/>
              </a:rPr>
              <a:t>Tropisk </a:t>
            </a:r>
            <a:r>
              <a:rPr lang="sv-SE" sz="1100" b="1" err="1">
                <a:solidFill>
                  <a:srgbClr val="FF0000"/>
                </a:solidFill>
                <a:cs typeface="Avenir Light"/>
              </a:rPr>
              <a:t>smoothiebowl</a:t>
            </a:r>
            <a:r>
              <a:rPr lang="sv-SE" sz="1100" b="1" dirty="0">
                <a:cs typeface="Avenir Light"/>
              </a:rPr>
              <a:t>– 2 portioner </a:t>
            </a:r>
          </a:p>
          <a:p>
            <a:r>
              <a:rPr lang="sv-SE" sz="1100" dirty="0">
                <a:cs typeface="Avenir Light"/>
              </a:rPr>
              <a:t>100 g fryst mango</a:t>
            </a:r>
          </a:p>
          <a:p>
            <a:r>
              <a:rPr lang="sv-SE" sz="1100" dirty="0">
                <a:cs typeface="Avenir Light"/>
              </a:rPr>
              <a:t>100 g fryst ananas</a:t>
            </a:r>
          </a:p>
          <a:p>
            <a:r>
              <a:rPr lang="sv-SE" sz="1100" dirty="0">
                <a:cs typeface="Avenir Light"/>
              </a:rPr>
              <a:t>1 banan</a:t>
            </a:r>
          </a:p>
          <a:p>
            <a:r>
              <a:rPr lang="sv-SE" sz="1100" dirty="0">
                <a:cs typeface="Avenir Light"/>
              </a:rPr>
              <a:t>1 dl mandelmjölk</a:t>
            </a:r>
          </a:p>
          <a:p>
            <a:endParaRPr lang="sv-SE" sz="1100" dirty="0">
              <a:cs typeface="Avenir Light"/>
            </a:endParaRPr>
          </a:p>
          <a:p>
            <a:r>
              <a:rPr lang="sv-SE" sz="1100" b="1" dirty="0" err="1">
                <a:cs typeface="Avenir Light"/>
              </a:rPr>
              <a:t>Topping</a:t>
            </a:r>
            <a:r>
              <a:rPr lang="sv-SE" sz="1100" b="1" dirty="0">
                <a:cs typeface="Avenir Light"/>
              </a:rPr>
              <a:t>: </a:t>
            </a:r>
            <a:r>
              <a:rPr lang="sv-SE" sz="1100" dirty="0">
                <a:cs typeface="Avenir Light"/>
              </a:rPr>
              <a:t> 1/3 dl färsk mango, 1 passionsfrukt, 2 msk  kokosskivor, 2 msk hackade pistagenötter</a:t>
            </a:r>
          </a:p>
          <a:p>
            <a:endParaRPr lang="sv-SE" sz="1100" dirty="0">
              <a:cs typeface="Avenir Light"/>
            </a:endParaRPr>
          </a:p>
          <a:p>
            <a:r>
              <a:rPr lang="sv-SE" sz="1100" dirty="0">
                <a:cs typeface="Avenir Light"/>
              </a:rPr>
              <a:t>Lägg mango, ananas och banan  i en matberedare och mixa till en krämig smet. Häll på lite mandelmjölk och mixa till en bra konsistens. Häll upp i en skål och toppa med mango, passionsfrukt,  kokosskivor och pistagenötter.</a:t>
            </a:r>
            <a:endParaRPr lang="sv-SE" sz="1100" b="1" dirty="0">
              <a:cs typeface="Avenir Light"/>
            </a:endParaRPr>
          </a:p>
          <a:p>
            <a:endParaRPr lang="sv-SE" sz="1100" b="1" dirty="0">
              <a:cs typeface="Avenir Light"/>
            </a:endParaRPr>
          </a:p>
          <a:p>
            <a:endParaRPr lang="sv-SE" sz="1100" dirty="0">
              <a:cs typeface="Avenir Light"/>
            </a:endParaRPr>
          </a:p>
        </p:txBody>
      </p:sp>
      <p:sp>
        <p:nvSpPr>
          <p:cNvPr id="10" name="Rektangel 9">
            <a:extLst>
              <a:ext uri="{FF2B5EF4-FFF2-40B4-BE49-F238E27FC236}">
                <a16:creationId xmlns:a16="http://schemas.microsoft.com/office/drawing/2014/main" id="{8902C212-83A5-7547-98E8-E7A21CFAD06E}"/>
              </a:ext>
            </a:extLst>
          </p:cNvPr>
          <p:cNvSpPr/>
          <p:nvPr/>
        </p:nvSpPr>
        <p:spPr>
          <a:xfrm>
            <a:off x="290417" y="3144902"/>
            <a:ext cx="2806617" cy="3139321"/>
          </a:xfrm>
          <a:prstGeom prst="rect">
            <a:avLst/>
          </a:prstGeom>
        </p:spPr>
        <p:txBody>
          <a:bodyPr wrap="square" lIns="91440" tIns="45720" rIns="91440" bIns="45720" anchor="t">
            <a:spAutoFit/>
          </a:bodyPr>
          <a:lstStyle/>
          <a:p>
            <a:r>
              <a:rPr lang="sv-SE" sz="1100" b="1" err="1">
                <a:solidFill>
                  <a:srgbClr val="FF0000"/>
                </a:solidFill>
                <a:cs typeface="Avenir Light"/>
              </a:rPr>
              <a:t>Bärmoothiebowl</a:t>
            </a:r>
            <a:r>
              <a:rPr lang="sv-SE" sz="1100" b="1" dirty="0">
                <a:solidFill>
                  <a:srgbClr val="FF0000"/>
                </a:solidFill>
                <a:cs typeface="Avenir Light"/>
              </a:rPr>
              <a:t> </a:t>
            </a:r>
            <a:r>
              <a:rPr lang="sv-SE" sz="1100" b="1" dirty="0">
                <a:cs typeface="Avenir Light"/>
              </a:rPr>
              <a:t>– 2 portioner </a:t>
            </a:r>
          </a:p>
          <a:p>
            <a:r>
              <a:rPr lang="sv-SE" sz="1100" dirty="0">
                <a:cs typeface="Avenir Light"/>
              </a:rPr>
              <a:t>1 banan</a:t>
            </a:r>
          </a:p>
          <a:p>
            <a:r>
              <a:rPr lang="sv-SE" sz="1100" dirty="0">
                <a:cs typeface="Avenir Light"/>
              </a:rPr>
              <a:t>2 dl frysta blåbär</a:t>
            </a:r>
          </a:p>
          <a:p>
            <a:r>
              <a:rPr lang="sv-SE" sz="1100" dirty="0">
                <a:cs typeface="Avenir Light"/>
              </a:rPr>
              <a:t>2 dl frysta hallon</a:t>
            </a:r>
          </a:p>
          <a:p>
            <a:r>
              <a:rPr lang="sv-SE" sz="1100" dirty="0">
                <a:cs typeface="Avenir Light"/>
              </a:rPr>
              <a:t>1 dl mandelmjölk</a:t>
            </a:r>
          </a:p>
          <a:p>
            <a:endParaRPr lang="sv-SE" sz="1100" dirty="0">
              <a:cs typeface="Avenir Light"/>
            </a:endParaRPr>
          </a:p>
          <a:p>
            <a:r>
              <a:rPr lang="sv-SE" sz="1100" b="1" dirty="0" err="1">
                <a:cs typeface="Avenir Light"/>
              </a:rPr>
              <a:t>Topping</a:t>
            </a:r>
            <a:r>
              <a:rPr lang="sv-SE" sz="1100" b="1" dirty="0">
                <a:cs typeface="Avenir Light"/>
              </a:rPr>
              <a:t>:</a:t>
            </a:r>
            <a:r>
              <a:rPr lang="sv-SE" sz="1100" dirty="0">
                <a:cs typeface="Avenir Light"/>
              </a:rPr>
              <a:t>  8 skivade jordgubbar, 1/2 dl  pekannötter och 2 msk granatäpplekärnor.</a:t>
            </a:r>
          </a:p>
          <a:p>
            <a:endParaRPr lang="sv-SE" sz="1100" dirty="0">
              <a:cs typeface="Avenir Light"/>
            </a:endParaRPr>
          </a:p>
          <a:p>
            <a:r>
              <a:rPr lang="sv-SE" sz="1100" dirty="0">
                <a:cs typeface="Avenir Light"/>
              </a:rPr>
              <a:t>Lägg banan, bär och mandelmjölk i en matberedare och mixa till en krämig smet. Häll upp i en skål och toppa med skivade jordgubbar, pekannötter och granatäpplekärnor.</a:t>
            </a:r>
          </a:p>
          <a:p>
            <a:endParaRPr lang="sv-SE" sz="1100" dirty="0">
              <a:cs typeface="Avenir Light"/>
            </a:endParaRPr>
          </a:p>
          <a:p>
            <a:endParaRPr lang="sv-SE" sz="1100" b="1" dirty="0">
              <a:cs typeface="Avenir Light"/>
            </a:endParaRPr>
          </a:p>
          <a:p>
            <a:endParaRPr lang="sv-SE" sz="1100" b="1" dirty="0">
              <a:cs typeface="Avenir Light"/>
            </a:endParaRPr>
          </a:p>
          <a:p>
            <a:endParaRPr lang="sv-SE" sz="1100" dirty="0">
              <a:cs typeface="Avenir Light"/>
            </a:endParaRPr>
          </a:p>
        </p:txBody>
      </p:sp>
      <p:sp>
        <p:nvSpPr>
          <p:cNvPr id="17" name="textruta 16">
            <a:extLst>
              <a:ext uri="{FF2B5EF4-FFF2-40B4-BE49-F238E27FC236}">
                <a16:creationId xmlns:a16="http://schemas.microsoft.com/office/drawing/2014/main" id="{1212B1D7-CA35-F44A-99A7-4F848FD817E1}"/>
              </a:ext>
            </a:extLst>
          </p:cNvPr>
          <p:cNvSpPr txBox="1"/>
          <p:nvPr/>
        </p:nvSpPr>
        <p:spPr>
          <a:xfrm>
            <a:off x="3731102" y="4450285"/>
            <a:ext cx="1267848" cy="369332"/>
          </a:xfrm>
          <a:prstGeom prst="rect">
            <a:avLst/>
          </a:prstGeom>
          <a:noFill/>
        </p:spPr>
        <p:txBody>
          <a:bodyPr wrap="none" rtlCol="0">
            <a:spAutoFit/>
          </a:bodyPr>
          <a:lstStyle/>
          <a:p>
            <a:r>
              <a:rPr lang="sv-SE" dirty="0"/>
              <a:t>Jorden runt</a:t>
            </a:r>
          </a:p>
        </p:txBody>
      </p:sp>
      <p:sp>
        <p:nvSpPr>
          <p:cNvPr id="18" name="Platshållare för sidfot 1">
            <a:extLst>
              <a:ext uri="{FF2B5EF4-FFF2-40B4-BE49-F238E27FC236}">
                <a16:creationId xmlns:a16="http://schemas.microsoft.com/office/drawing/2014/main" id="{BC4F2F9D-AF1C-BC47-8471-039D23A056DA}"/>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
        <p:nvSpPr>
          <p:cNvPr id="20" name="Ellips 19">
            <a:extLst>
              <a:ext uri="{FF2B5EF4-FFF2-40B4-BE49-F238E27FC236}">
                <a16:creationId xmlns:a16="http://schemas.microsoft.com/office/drawing/2014/main" id="{9AF5F60E-67DB-9345-8815-709E8FF0B488}"/>
              </a:ext>
            </a:extLst>
          </p:cNvPr>
          <p:cNvSpPr/>
          <p:nvPr/>
        </p:nvSpPr>
        <p:spPr>
          <a:xfrm>
            <a:off x="2468384" y="99448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461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9C6451AF-CD8C-3441-B276-2C994940B904}"/>
              </a:ext>
            </a:extLst>
          </p:cNvPr>
          <p:cNvSpPr/>
          <p:nvPr/>
        </p:nvSpPr>
        <p:spPr>
          <a:xfrm>
            <a:off x="2506840" y="349410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546 kcal</a:t>
            </a:r>
            <a:endParaRPr sz="1200" b="1" dirty="0">
              <a:solidFill>
                <a:schemeClr val="bg1"/>
              </a:solidFill>
              <a:ea typeface="ＭＳ 明朝"/>
              <a:cs typeface="Avenir Light"/>
            </a:endParaRPr>
          </a:p>
        </p:txBody>
      </p:sp>
      <p:pic>
        <p:nvPicPr>
          <p:cNvPr id="22" name="Bildobjekt 21">
            <a:extLst>
              <a:ext uri="{FF2B5EF4-FFF2-40B4-BE49-F238E27FC236}">
                <a16:creationId xmlns:a16="http://schemas.microsoft.com/office/drawing/2014/main" id="{28AF0F32-E5D0-2A40-8435-444187FD80F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16200000">
            <a:off x="3270156" y="4657610"/>
            <a:ext cx="3025966" cy="4034621"/>
          </a:xfrm>
          <a:prstGeom prst="rect">
            <a:avLst/>
          </a:prstGeom>
        </p:spPr>
      </p:pic>
      <p:sp>
        <p:nvSpPr>
          <p:cNvPr id="23" name="Rektangel 22">
            <a:extLst>
              <a:ext uri="{FF2B5EF4-FFF2-40B4-BE49-F238E27FC236}">
                <a16:creationId xmlns:a16="http://schemas.microsoft.com/office/drawing/2014/main" id="{7BF4C674-666F-C444-9086-17331780C6A1}"/>
              </a:ext>
            </a:extLst>
          </p:cNvPr>
          <p:cNvSpPr/>
          <p:nvPr/>
        </p:nvSpPr>
        <p:spPr>
          <a:xfrm>
            <a:off x="328873" y="5610854"/>
            <a:ext cx="6623683" cy="3308598"/>
          </a:xfrm>
          <a:prstGeom prst="rect">
            <a:avLst/>
          </a:prstGeom>
        </p:spPr>
        <p:txBody>
          <a:bodyPr wrap="square" lIns="91440" tIns="45720" rIns="91440" bIns="45720" anchor="t">
            <a:spAutoFit/>
          </a:bodyPr>
          <a:lstStyle/>
          <a:p>
            <a:pPr>
              <a:spcAft>
                <a:spcPts val="0"/>
              </a:spcAft>
            </a:pPr>
            <a:r>
              <a:rPr lang="it-IT" sz="1100" b="1" dirty="0">
                <a:solidFill>
                  <a:srgbClr val="FF0000"/>
                </a:solidFill>
                <a:ea typeface="Helvetica Neue" panose="02000503000000020004" pitchFamily="2" charset="0"/>
                <a:cs typeface="Helvetica Neue" panose="02000503000000020004" pitchFamily="2" charset="0"/>
              </a:rPr>
              <a:t>Havre</a:t>
            </a:r>
            <a:r>
              <a:rPr lang="en-US" sz="1100" b="1" err="1">
                <a:solidFill>
                  <a:srgbClr val="FF0000"/>
                </a:solidFill>
                <a:ea typeface="Helvetica Neue" panose="02000503000000020004" pitchFamily="2" charset="0"/>
                <a:cs typeface="Helvetica Neue" panose="02000503000000020004" pitchFamily="2" charset="0"/>
              </a:rPr>
              <a:t>frallor</a:t>
            </a:r>
            <a:r>
              <a:rPr lang="en-US" sz="1100" b="1" dirty="0">
                <a:solidFill>
                  <a:srgbClr val="FF0000"/>
                </a:solidFill>
                <a:ea typeface="Helvetica Neue" panose="02000503000000020004" pitchFamily="2" charset="0"/>
                <a:cs typeface="Helvetica Neue" panose="02000503000000020004" pitchFamily="2" charset="0"/>
              </a:rPr>
              <a:t> med </a:t>
            </a:r>
            <a:r>
              <a:rPr lang="en-US" sz="1100" b="1" err="1">
                <a:solidFill>
                  <a:srgbClr val="FF0000"/>
                </a:solidFill>
                <a:ea typeface="Helvetica Neue" panose="02000503000000020004" pitchFamily="2" charset="0"/>
                <a:cs typeface="Helvetica Neue" panose="02000503000000020004" pitchFamily="2" charset="0"/>
              </a:rPr>
              <a:t>morötter</a:t>
            </a:r>
            <a:r>
              <a:rPr lang="en-US" sz="1100" b="1" dirty="0">
                <a:solidFill>
                  <a:srgbClr val="FF0000"/>
                </a:solidFill>
                <a:ea typeface="Helvetica Neue" panose="02000503000000020004" pitchFamily="2" charset="0"/>
                <a:cs typeface="Helvetica Neue" panose="02000503000000020004" pitchFamily="2" charset="0"/>
              </a:rPr>
              <a:t> </a:t>
            </a:r>
            <a:r>
              <a:rPr lang="en-US" sz="1100" b="1" err="1">
                <a:solidFill>
                  <a:srgbClr val="FF0000"/>
                </a:solidFill>
                <a:ea typeface="Helvetica Neue" panose="02000503000000020004" pitchFamily="2" charset="0"/>
                <a:cs typeface="Helvetica Neue" panose="02000503000000020004" pitchFamily="2" charset="0"/>
              </a:rPr>
              <a:t>och</a:t>
            </a:r>
            <a:r>
              <a:rPr lang="en-US" sz="1100" b="1" dirty="0">
                <a:solidFill>
                  <a:srgbClr val="FF0000"/>
                </a:solidFill>
                <a:ea typeface="Helvetica Neue" panose="02000503000000020004" pitchFamily="2" charset="0"/>
                <a:cs typeface="Helvetica Neue" panose="02000503000000020004" pitchFamily="2" charset="0"/>
              </a:rPr>
              <a:t> </a:t>
            </a:r>
          </a:p>
          <a:p>
            <a:pPr>
              <a:spcAft>
                <a:spcPts val="0"/>
              </a:spcAft>
            </a:pPr>
            <a:r>
              <a:rPr lang="en-US" sz="1100" b="1" err="1">
                <a:solidFill>
                  <a:srgbClr val="FF0000"/>
                </a:solidFill>
                <a:ea typeface="Helvetica Neue" panose="02000503000000020004" pitchFamily="2" charset="0"/>
                <a:cs typeface="Helvetica Neue" panose="02000503000000020004" pitchFamily="2" charset="0"/>
              </a:rPr>
              <a:t>aprikoser</a:t>
            </a:r>
            <a:r>
              <a:rPr lang="en-US" sz="1100" b="1" dirty="0">
                <a:solidFill>
                  <a:srgbClr val="000000"/>
                </a:solidFill>
                <a:ea typeface="Helvetica Neue" panose="02000503000000020004" pitchFamily="2" charset="0"/>
                <a:cs typeface="Helvetica Neue" panose="02000503000000020004" pitchFamily="2" charset="0"/>
              </a:rPr>
              <a:t> - 8 </a:t>
            </a:r>
            <a:r>
              <a:rPr lang="en-US" sz="1100" b="1" err="1">
                <a:solidFill>
                  <a:srgbClr val="000000"/>
                </a:solidFill>
                <a:ea typeface="Helvetica Neue" panose="02000503000000020004" pitchFamily="2" charset="0"/>
                <a:cs typeface="Helvetica Neue" panose="02000503000000020004" pitchFamily="2" charset="0"/>
              </a:rPr>
              <a:t>st</a:t>
            </a:r>
            <a:r>
              <a:rPr lang="en-US" sz="1100" b="1" dirty="0">
                <a:solidFill>
                  <a:srgbClr val="000000"/>
                </a:solidFill>
                <a:ea typeface="Helvetica Neue" panose="02000503000000020004" pitchFamily="2" charset="0"/>
                <a:cs typeface="Helvetica Neue" panose="02000503000000020004"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dl havregryn</a:t>
            </a: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a:t>
            </a:r>
            <a:r>
              <a:rPr lang="da-DK" sz="1100" dirty="0" err="1">
                <a:solidFill>
                  <a:srgbClr val="000000"/>
                </a:solidFill>
                <a:ea typeface="Helvetica Neue" panose="02000503000000020004" pitchFamily="2" charset="0"/>
                <a:cs typeface="Helvetica Neue" panose="02000503000000020004" pitchFamily="2" charset="0"/>
              </a:rPr>
              <a:t>torkade</a:t>
            </a:r>
            <a:r>
              <a:rPr lang="da-DK" sz="1100" dirty="0">
                <a:solidFill>
                  <a:srgbClr val="000000"/>
                </a:solidFill>
                <a:ea typeface="Helvetica Neue" panose="02000503000000020004" pitchFamily="2" charset="0"/>
                <a:cs typeface="Helvetica Neue" panose="02000503000000020004" pitchFamily="2" charset="0"/>
              </a:rPr>
              <a:t> </a:t>
            </a:r>
            <a:r>
              <a:rPr lang="da-DK" sz="1100" dirty="0" err="1">
                <a:solidFill>
                  <a:srgbClr val="000000"/>
                </a:solidFill>
                <a:ea typeface="Helvetica Neue" panose="02000503000000020004" pitchFamily="2" charset="0"/>
                <a:cs typeface="Helvetica Neue" panose="02000503000000020004" pitchFamily="2" charset="0"/>
              </a:rPr>
              <a:t>aprikoser</a:t>
            </a:r>
            <a:endParaRPr lang="da-DK"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1 </a:t>
            </a:r>
            <a:r>
              <a:rPr lang="da-DK" sz="1100" dirty="0" err="1">
                <a:solidFill>
                  <a:srgbClr val="000000"/>
                </a:solidFill>
                <a:ea typeface="Helvetica Neue" panose="02000503000000020004" pitchFamily="2" charset="0"/>
                <a:cs typeface="Helvetica Neue" panose="02000503000000020004" pitchFamily="2" charset="0"/>
              </a:rPr>
              <a:t>morot</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3 dl keso 4%</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4 ä</a:t>
            </a:r>
            <a:r>
              <a:rPr lang="it-IT" sz="1100" dirty="0">
                <a:solidFill>
                  <a:srgbClr val="000000"/>
                </a:solidFill>
                <a:ea typeface="Helvetica Neue" panose="02000503000000020004" pitchFamily="2" charset="0"/>
                <a:cs typeface="Helvetica Neue" panose="02000503000000020004" pitchFamily="2" charset="0"/>
              </a:rPr>
              <a:t>gg</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solroskärnor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pumpafrön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sesamfrön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1.5 tsk bakpulver </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krm salt</a:t>
            </a: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b="1" dirty="0" err="1">
                <a:solidFill>
                  <a:srgbClr val="000000"/>
                </a:solidFill>
                <a:ea typeface="Helvetica Neue" panose="02000503000000020004" pitchFamily="2" charset="0"/>
                <a:cs typeface="Helvetica Neue" panose="02000503000000020004" pitchFamily="2" charset="0"/>
              </a:rPr>
              <a:t>Topping</a:t>
            </a:r>
            <a:r>
              <a:rPr lang="sv-SE" sz="1100" b="1" dirty="0">
                <a:solidFill>
                  <a:srgbClr val="000000"/>
                </a:solidFill>
                <a:ea typeface="Helvetica Neue" panose="02000503000000020004" pitchFamily="2" charset="0"/>
                <a:cs typeface="Helvetica Neue" panose="02000503000000020004" pitchFamily="2" charset="0"/>
              </a:rPr>
              <a:t>: </a:t>
            </a:r>
            <a:r>
              <a:rPr lang="sv-SE" sz="1100" dirty="0">
                <a:solidFill>
                  <a:srgbClr val="000000"/>
                </a:solidFill>
                <a:ea typeface="Helvetica Neue" panose="02000503000000020004" pitchFamily="2" charset="0"/>
                <a:cs typeface="Helvetica Neue" panose="02000503000000020004" pitchFamily="2" charset="0"/>
              </a:rPr>
              <a:t>1/2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Sätt ugnen p</a:t>
            </a:r>
            <a:r>
              <a:rPr lang="da-DK" sz="1100" dirty="0">
                <a:solidFill>
                  <a:srgbClr val="000000"/>
                </a:solidFill>
                <a:ea typeface="Helvetica Neue" panose="02000503000000020004" pitchFamily="2" charset="0"/>
                <a:cs typeface="Helvetica Neue" panose="02000503000000020004" pitchFamily="2" charset="0"/>
              </a:rPr>
              <a:t>å </a:t>
            </a:r>
            <a:r>
              <a:rPr lang="sv-SE" sz="1100" dirty="0">
                <a:solidFill>
                  <a:srgbClr val="000000"/>
                </a:solidFill>
                <a:ea typeface="Helvetica Neue" panose="02000503000000020004" pitchFamily="2" charset="0"/>
                <a:cs typeface="Helvetica Neue" panose="02000503000000020004" pitchFamily="2" charset="0"/>
              </a:rPr>
              <a:t>200 grader. Skala och riv morot grovt. Hacka aprikoserna. Lägg i en skål med alla ingredienser. Blanda ihop och </a:t>
            </a:r>
            <a:r>
              <a:rPr lang="pt-PT" sz="1100" dirty="0">
                <a:solidFill>
                  <a:srgbClr val="000000"/>
                </a:solidFill>
                <a:ea typeface="Helvetica Neue" panose="02000503000000020004" pitchFamily="2" charset="0"/>
                <a:cs typeface="Helvetica Neue" panose="02000503000000020004" pitchFamily="2" charset="0"/>
              </a:rPr>
              <a:t>f</a:t>
            </a:r>
            <a:r>
              <a:rPr lang="sv-SE" sz="1100" dirty="0">
                <a:solidFill>
                  <a:srgbClr val="000000"/>
                </a:solidFill>
                <a:ea typeface="Helvetica Neue" panose="02000503000000020004" pitchFamily="2" charset="0"/>
                <a:cs typeface="Helvetica Neue" panose="02000503000000020004" pitchFamily="2" charset="0"/>
              </a:rPr>
              <a:t>orma till avlånga bullar. Lägg på en bakplåtsklädd plåt och strö på </a:t>
            </a:r>
            <a:r>
              <a:rPr lang="sv-SE" sz="1100" dirty="0" err="1">
                <a:solidFill>
                  <a:srgbClr val="000000"/>
                </a:solidFill>
                <a:ea typeface="Helvetica Neue" panose="02000503000000020004" pitchFamily="2" charset="0"/>
                <a:cs typeface="Helvetica Neue" panose="02000503000000020004" pitchFamily="2" charset="0"/>
              </a:rPr>
              <a:t>hampafrön</a:t>
            </a:r>
            <a:r>
              <a:rPr lang="sv-SE" sz="1100" dirty="0">
                <a:solidFill>
                  <a:srgbClr val="000000"/>
                </a:solidFill>
                <a:ea typeface="Helvetica Neue" panose="02000503000000020004" pitchFamily="2" charset="0"/>
                <a:cs typeface="Helvetica Neue" panose="02000503000000020004" pitchFamily="2" charset="0"/>
              </a:rPr>
              <a:t>.  </a:t>
            </a:r>
            <a:r>
              <a:rPr lang="sv-SE" sz="1100" dirty="0" err="1">
                <a:solidFill>
                  <a:srgbClr val="000000"/>
                </a:solidFill>
                <a:ea typeface="Helvetica Neue" panose="02000503000000020004" pitchFamily="2" charset="0"/>
                <a:cs typeface="Helvetica Neue" panose="02000503000000020004" pitchFamily="2" charset="0"/>
              </a:rPr>
              <a:t>Grä</a:t>
            </a:r>
            <a:r>
              <a:rPr lang="it-IT" sz="1100" dirty="0">
                <a:solidFill>
                  <a:srgbClr val="000000"/>
                </a:solidFill>
                <a:ea typeface="Helvetica Neue" panose="02000503000000020004" pitchFamily="2" charset="0"/>
                <a:cs typeface="Helvetica Neue" panose="02000503000000020004" pitchFamily="2" charset="0"/>
              </a:rPr>
              <a:t>dda i ugnen ca: 2</a:t>
            </a:r>
            <a:r>
              <a:rPr lang="sv-SE" sz="1100" dirty="0">
                <a:solidFill>
                  <a:srgbClr val="000000"/>
                </a:solidFill>
                <a:ea typeface="Helvetica Neue" panose="02000503000000020004" pitchFamily="2" charset="0"/>
                <a:cs typeface="Helvetica Neue" panose="02000503000000020004" pitchFamily="2" charset="0"/>
              </a:rPr>
              <a:t>0 min. L</a:t>
            </a:r>
            <a:r>
              <a:rPr lang="da-DK" sz="1100" dirty="0">
                <a:solidFill>
                  <a:srgbClr val="000000"/>
                </a:solidFill>
                <a:ea typeface="Helvetica Neue" panose="02000503000000020004" pitchFamily="2" charset="0"/>
                <a:cs typeface="Helvetica Neue" panose="02000503000000020004" pitchFamily="2" charset="0"/>
              </a:rPr>
              <a:t>å</a:t>
            </a:r>
            <a:r>
              <a:rPr lang="sv-SE" sz="1100" dirty="0">
                <a:solidFill>
                  <a:srgbClr val="000000"/>
                </a:solidFill>
                <a:ea typeface="Helvetica Neue" panose="02000503000000020004" pitchFamily="2" charset="0"/>
                <a:cs typeface="Helvetica Neue" panose="02000503000000020004" pitchFamily="2" charset="0"/>
              </a:rPr>
              <a:t>t svalna och förvara i frysen.</a:t>
            </a:r>
          </a:p>
        </p:txBody>
      </p:sp>
      <p:sp>
        <p:nvSpPr>
          <p:cNvPr id="24" name="Ellips 23">
            <a:extLst>
              <a:ext uri="{FF2B5EF4-FFF2-40B4-BE49-F238E27FC236}">
                <a16:creationId xmlns:a16="http://schemas.microsoft.com/office/drawing/2014/main" id="{8F6EBAFC-37A1-F74D-9BA6-07982426E34C}"/>
              </a:ext>
            </a:extLst>
          </p:cNvPr>
          <p:cNvSpPr/>
          <p:nvPr/>
        </p:nvSpPr>
        <p:spPr>
          <a:xfrm>
            <a:off x="1882602" y="604530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354 kcal</a:t>
            </a:r>
            <a:endParaRPr sz="1200" b="1" dirty="0">
              <a:solidFill>
                <a:schemeClr val="bg1"/>
              </a:solidFill>
              <a:ea typeface="ＭＳ 明朝"/>
              <a:cs typeface="Avenir Light"/>
            </a:endParaRPr>
          </a:p>
        </p:txBody>
      </p:sp>
      <p:sp>
        <p:nvSpPr>
          <p:cNvPr id="2" name="textruta 1">
            <a:extLst>
              <a:ext uri="{FF2B5EF4-FFF2-40B4-BE49-F238E27FC236}">
                <a16:creationId xmlns:a16="http://schemas.microsoft.com/office/drawing/2014/main" id="{7237DCAA-56D2-3C41-A624-434D670FCE79}"/>
              </a:ext>
            </a:extLst>
          </p:cNvPr>
          <p:cNvSpPr txBox="1"/>
          <p:nvPr/>
        </p:nvSpPr>
        <p:spPr>
          <a:xfrm>
            <a:off x="1693725" y="7027863"/>
            <a:ext cx="1777025" cy="369332"/>
          </a:xfrm>
          <a:prstGeom prst="rect">
            <a:avLst/>
          </a:prstGeom>
          <a:noFill/>
        </p:spPr>
        <p:txBody>
          <a:bodyPr wrap="none" rtlCol="0">
            <a:spAutoFit/>
          </a:bodyPr>
          <a:lstStyle/>
          <a:p>
            <a:r>
              <a:rPr lang="sv-SE" dirty="0"/>
              <a:t>Höstturbon 2024</a:t>
            </a:r>
          </a:p>
        </p:txBody>
      </p:sp>
    </p:spTree>
    <p:extLst>
      <p:ext uri="{BB962C8B-B14F-4D97-AF65-F5344CB8AC3E}">
        <p14:creationId xmlns:p14="http://schemas.microsoft.com/office/powerpoint/2010/main" val="732211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748DCAC1-6B89-A478-3ECF-C119BE42DD0D}"/>
              </a:ext>
            </a:extLst>
          </p:cNvPr>
          <p:cNvSpPr/>
          <p:nvPr/>
        </p:nvSpPr>
        <p:spPr>
          <a:xfrm>
            <a:off x="137302" y="2313077"/>
            <a:ext cx="3548175" cy="19162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4" name="Rektangel 3">
            <a:extLst>
              <a:ext uri="{FF2B5EF4-FFF2-40B4-BE49-F238E27FC236}">
                <a16:creationId xmlns:a16="http://schemas.microsoft.com/office/drawing/2014/main" id="{19377DB4-9920-6137-CA4C-24379E21DACF}"/>
              </a:ext>
            </a:extLst>
          </p:cNvPr>
          <p:cNvSpPr/>
          <p:nvPr/>
        </p:nvSpPr>
        <p:spPr>
          <a:xfrm>
            <a:off x="-257527" y="4642084"/>
            <a:ext cx="3548175" cy="19162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5" name="Rektangel 4">
            <a:extLst>
              <a:ext uri="{FF2B5EF4-FFF2-40B4-BE49-F238E27FC236}">
                <a16:creationId xmlns:a16="http://schemas.microsoft.com/office/drawing/2014/main" id="{8370E507-2C59-666C-4471-63A2308BE71E}"/>
              </a:ext>
            </a:extLst>
          </p:cNvPr>
          <p:cNvSpPr/>
          <p:nvPr/>
        </p:nvSpPr>
        <p:spPr>
          <a:xfrm>
            <a:off x="3660579" y="5294070"/>
            <a:ext cx="2980088" cy="30311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6AB51C2B-9A7E-6942-A611-9DB1376E0F57}"/>
              </a:ext>
            </a:extLst>
          </p:cNvPr>
          <p:cNvSpPr/>
          <p:nvPr/>
        </p:nvSpPr>
        <p:spPr>
          <a:xfrm>
            <a:off x="3702990" y="5429338"/>
            <a:ext cx="2732801" cy="2631490"/>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Grön </a:t>
            </a:r>
            <a:r>
              <a:rPr lang="sv-SE" sz="1100" b="1" err="1">
                <a:solidFill>
                  <a:srgbClr val="FF0000"/>
                </a:solidFill>
                <a:ea typeface="MS Mincho"/>
                <a:cs typeface="Times New Roman"/>
              </a:rPr>
              <a:t>smoothie</a:t>
            </a:r>
            <a:r>
              <a:rPr lang="sv-SE" sz="1100" b="1" dirty="0">
                <a:ea typeface="MS Mincho"/>
                <a:cs typeface="Times New Roman"/>
              </a:rPr>
              <a:t>  - 1 portion </a:t>
            </a:r>
          </a:p>
          <a:p>
            <a:pPr>
              <a:spcAft>
                <a:spcPts val="0"/>
              </a:spcAft>
            </a:pPr>
            <a:r>
              <a:rPr lang="sv-SE" sz="1100" dirty="0">
                <a:ea typeface="MS Mincho" panose="02020609040205080304" pitchFamily="49" charset="-128"/>
                <a:cs typeface="Times New Roman" panose="02020603050405020304" pitchFamily="18" charset="0"/>
              </a:rPr>
              <a:t>25 g spenat</a:t>
            </a:r>
          </a:p>
          <a:p>
            <a:pPr>
              <a:spcAft>
                <a:spcPts val="0"/>
              </a:spcAft>
            </a:pPr>
            <a:r>
              <a:rPr lang="sv-SE" sz="1100" dirty="0">
                <a:ea typeface="MS Mincho" panose="02020609040205080304" pitchFamily="49" charset="-128"/>
                <a:cs typeface="Times New Roman" panose="02020603050405020304" pitchFamily="18" charset="0"/>
              </a:rPr>
              <a:t>1 selleristång</a:t>
            </a:r>
          </a:p>
          <a:p>
            <a:pPr>
              <a:spcAft>
                <a:spcPts val="0"/>
              </a:spcAft>
            </a:pPr>
            <a:r>
              <a:rPr lang="sv-SE" sz="1100" dirty="0">
                <a:ea typeface="MS Mincho" panose="02020609040205080304" pitchFamily="49" charset="-128"/>
                <a:cs typeface="Times New Roman" panose="02020603050405020304" pitchFamily="18" charset="0"/>
              </a:rPr>
              <a:t>½ gurka</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1 msk färsk ingefära</a:t>
            </a:r>
          </a:p>
          <a:p>
            <a:pPr>
              <a:spcAft>
                <a:spcPts val="0"/>
              </a:spcAft>
            </a:pPr>
            <a:r>
              <a:rPr lang="sv-SE" sz="1100" dirty="0">
                <a:ea typeface="MS Mincho" panose="02020609040205080304" pitchFamily="49" charset="-128"/>
                <a:cs typeface="Times New Roman" panose="02020603050405020304" pitchFamily="18" charset="0"/>
              </a:rPr>
              <a:t>1 lime</a:t>
            </a:r>
          </a:p>
          <a:p>
            <a:pPr>
              <a:spcAft>
                <a:spcPts val="0"/>
              </a:spcAft>
            </a:pPr>
            <a:r>
              <a:rPr lang="sv-SE" sz="1100" dirty="0">
                <a:ea typeface="MS Mincho" panose="02020609040205080304" pitchFamily="49" charset="-128"/>
                <a:cs typeface="Times New Roman" panose="02020603050405020304" pitchFamily="18" charset="0"/>
              </a:rPr>
              <a:t>1,5 dl vatten </a:t>
            </a:r>
          </a:p>
          <a:p>
            <a:pPr>
              <a:spcAft>
                <a:spcPts val="0"/>
              </a:spcAft>
            </a:pPr>
            <a:endParaRPr lang="sv-SE" sz="1100" dirty="0">
              <a:ea typeface="MS Mincho" panose="02020609040205080304" pitchFamily="49" charset="-128"/>
              <a:cs typeface="Times New Roman" panose="02020603050405020304" pitchFamily="18" charset="0"/>
            </a:endParaRPr>
          </a:p>
          <a:p>
            <a:r>
              <a:rPr lang="sv-SE" sz="1100" dirty="0">
                <a:ea typeface="MS Mincho" panose="02020609040205080304" pitchFamily="49" charset="-128"/>
                <a:cs typeface="Times New Roman" panose="02020603050405020304" pitchFamily="18" charset="0"/>
              </a:rPr>
              <a:t>Lägg spenat i en </a:t>
            </a:r>
            <a:r>
              <a:rPr lang="sv-SE" sz="1100" dirty="0" err="1">
                <a:ea typeface="MS Mincho" panose="02020609040205080304" pitchFamily="49" charset="-128"/>
                <a:cs typeface="Times New Roman" panose="02020603050405020304" pitchFamily="18" charset="0"/>
              </a:rPr>
              <a:t>blender</a:t>
            </a:r>
            <a:r>
              <a:rPr lang="sv-SE" sz="1100" dirty="0">
                <a:ea typeface="MS Mincho" panose="02020609040205080304" pitchFamily="49" charset="-128"/>
                <a:cs typeface="Times New Roman" panose="02020603050405020304" pitchFamily="18" charset="0"/>
              </a:rPr>
              <a:t>.  Skär selleri och gurka  i bitar. Skär bort skalet på apelsinen. Lägg ner i </a:t>
            </a:r>
            <a:r>
              <a:rPr lang="sv-SE" sz="1100" dirty="0" err="1">
                <a:ea typeface="MS Mincho" panose="02020609040205080304" pitchFamily="49" charset="-128"/>
                <a:cs typeface="Times New Roman" panose="02020603050405020304" pitchFamily="18" charset="0"/>
              </a:rPr>
              <a:t>blendern</a:t>
            </a:r>
            <a:r>
              <a:rPr lang="sv-SE" sz="1100" dirty="0">
                <a:ea typeface="MS Mincho" panose="02020609040205080304" pitchFamily="49" charset="-128"/>
                <a:cs typeface="Times New Roman" panose="02020603050405020304" pitchFamily="18" charset="0"/>
              </a:rPr>
              <a:t> tillsammans med ingefära och limesaft. Mixa och späd med vatten till en jämn </a:t>
            </a:r>
            <a:r>
              <a:rPr lang="sv-SE" sz="1100" dirty="0" err="1">
                <a:ea typeface="MS Mincho" panose="02020609040205080304" pitchFamily="49" charset="-128"/>
                <a:cs typeface="Times New Roman" panose="02020603050405020304" pitchFamily="18" charset="0"/>
              </a:rPr>
              <a:t>smoothie</a:t>
            </a:r>
            <a:r>
              <a:rPr lang="sv-SE" sz="1100" dirty="0">
                <a:ea typeface="MS Mincho" panose="02020609040205080304" pitchFamily="49" charset="-128"/>
                <a:cs typeface="Times New Roman" panose="02020603050405020304" pitchFamily="18" charset="0"/>
              </a:rPr>
              <a:t>. Häll upp på glas och förvara rester i kylen. </a:t>
            </a:r>
          </a:p>
        </p:txBody>
      </p:sp>
      <p:pic>
        <p:nvPicPr>
          <p:cNvPr id="7" name="Bildobjekt 6">
            <a:extLst>
              <a:ext uri="{FF2B5EF4-FFF2-40B4-BE49-F238E27FC236}">
                <a16:creationId xmlns:a16="http://schemas.microsoft.com/office/drawing/2014/main" id="{92A80D65-5F10-B648-8E84-F9823BB9A1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24107" y="726481"/>
            <a:ext cx="4200041" cy="3150031"/>
          </a:xfrm>
          <a:prstGeom prst="rect">
            <a:avLst/>
          </a:prstGeom>
        </p:spPr>
      </p:pic>
      <p:sp>
        <p:nvSpPr>
          <p:cNvPr id="9" name="Rektangel 8">
            <a:extLst>
              <a:ext uri="{FF2B5EF4-FFF2-40B4-BE49-F238E27FC236}">
                <a16:creationId xmlns:a16="http://schemas.microsoft.com/office/drawing/2014/main" id="{04ED9FA6-196C-1F47-9C04-3675893B3BC8}"/>
              </a:ext>
            </a:extLst>
          </p:cNvPr>
          <p:cNvSpPr/>
          <p:nvPr/>
        </p:nvSpPr>
        <p:spPr>
          <a:xfrm>
            <a:off x="217334" y="2294014"/>
            <a:ext cx="2772073" cy="1954381"/>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Morotsjuice</a:t>
            </a:r>
            <a:r>
              <a:rPr lang="sv-SE" sz="1100" b="1" dirty="0">
                <a:ea typeface="MS Mincho"/>
                <a:cs typeface="Times New Roman"/>
              </a:rPr>
              <a:t> – 2 portioner </a:t>
            </a:r>
          </a:p>
          <a:p>
            <a:pPr>
              <a:spcAft>
                <a:spcPts val="0"/>
              </a:spcAft>
            </a:pPr>
            <a:r>
              <a:rPr lang="sv-SE" sz="1100" dirty="0">
                <a:ea typeface="MS Mincho" panose="02020609040205080304" pitchFamily="49" charset="-128"/>
                <a:cs typeface="Times New Roman" panose="02020603050405020304" pitchFamily="18" charset="0"/>
              </a:rPr>
              <a:t>1 kg morötter</a:t>
            </a:r>
          </a:p>
          <a:p>
            <a:pPr>
              <a:spcAft>
                <a:spcPts val="0"/>
              </a:spcAft>
            </a:pPr>
            <a:r>
              <a:rPr lang="sv-SE" sz="1100" dirty="0">
                <a:ea typeface="MS Mincho" panose="02020609040205080304" pitchFamily="49" charset="-128"/>
                <a:cs typeface="Times New Roman" panose="02020603050405020304" pitchFamily="18" charset="0"/>
              </a:rPr>
              <a:t>1 äpple</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2 cm färsk, skalad ingefära</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Skär morötter och äpple i bitar. Skär bort skalet på apelsinen dela. Lägg ner morötter, äpple, apelsin och ingefära i en råsaftcentrifug och häll upp saften på glas eller flaska. Håller sig 3 dagar i kyl.</a:t>
            </a:r>
          </a:p>
        </p:txBody>
      </p:sp>
      <p:sp>
        <p:nvSpPr>
          <p:cNvPr id="11" name="Rektangel 10">
            <a:extLst>
              <a:ext uri="{FF2B5EF4-FFF2-40B4-BE49-F238E27FC236}">
                <a16:creationId xmlns:a16="http://schemas.microsoft.com/office/drawing/2014/main" id="{401F727C-B724-1E44-9677-9AA389049D6B}"/>
              </a:ext>
            </a:extLst>
          </p:cNvPr>
          <p:cNvSpPr/>
          <p:nvPr/>
        </p:nvSpPr>
        <p:spPr>
          <a:xfrm>
            <a:off x="217334" y="4706339"/>
            <a:ext cx="2981032" cy="1785104"/>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Rödbetsjuice</a:t>
            </a:r>
            <a:r>
              <a:rPr lang="sv-SE" sz="1100" b="1" dirty="0">
                <a:ea typeface="MS Mincho"/>
                <a:cs typeface="Times New Roman"/>
              </a:rPr>
              <a:t> – 2 portioner</a:t>
            </a:r>
          </a:p>
          <a:p>
            <a:pPr>
              <a:spcAft>
                <a:spcPts val="0"/>
              </a:spcAft>
            </a:pPr>
            <a:r>
              <a:rPr lang="sv-SE" sz="1100" dirty="0">
                <a:ea typeface="MS Mincho" panose="02020609040205080304" pitchFamily="49" charset="-128"/>
                <a:cs typeface="Times New Roman" panose="02020603050405020304" pitchFamily="18" charset="0"/>
              </a:rPr>
              <a:t>1 kg rödbetor</a:t>
            </a:r>
          </a:p>
          <a:p>
            <a:pPr>
              <a:spcAft>
                <a:spcPts val="0"/>
              </a:spcAft>
            </a:pPr>
            <a:r>
              <a:rPr lang="sv-SE" sz="1100" dirty="0">
                <a:ea typeface="MS Mincho" panose="02020609040205080304" pitchFamily="49" charset="-128"/>
                <a:cs typeface="Times New Roman" panose="02020603050405020304" pitchFamily="18" charset="0"/>
              </a:rPr>
              <a:t>1 citron</a:t>
            </a:r>
          </a:p>
          <a:p>
            <a:pPr>
              <a:spcAft>
                <a:spcPts val="0"/>
              </a:spcAft>
            </a:pPr>
            <a:r>
              <a:rPr lang="sv-SE" sz="1100" dirty="0">
                <a:ea typeface="MS Mincho" panose="02020609040205080304" pitchFamily="49" charset="-128"/>
                <a:cs typeface="Times New Roman" panose="02020603050405020304" pitchFamily="18" charset="0"/>
              </a:rPr>
              <a:t>1 rejäl bit ingefära </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Skala rödbetor om du vill eller behåll skalet på. Skär i klyftor. Skär bort skalet på citronen och skär i bitar. Lägg ner rödbetor, citron och ingefära i en råsaftcentrifug och häll upp saften på glas eller flaska. Håller sig 3 dagar i kyl.</a:t>
            </a:r>
          </a:p>
        </p:txBody>
      </p:sp>
      <p:sp>
        <p:nvSpPr>
          <p:cNvPr id="13" name="textruta 12">
            <a:extLst>
              <a:ext uri="{FF2B5EF4-FFF2-40B4-BE49-F238E27FC236}">
                <a16:creationId xmlns:a16="http://schemas.microsoft.com/office/drawing/2014/main" id="{03331FCF-23F5-3645-B3A5-00737A8DC96A}"/>
              </a:ext>
            </a:extLst>
          </p:cNvPr>
          <p:cNvSpPr txBox="1"/>
          <p:nvPr/>
        </p:nvSpPr>
        <p:spPr>
          <a:xfrm>
            <a:off x="178821" y="188293"/>
            <a:ext cx="4328308" cy="461665"/>
          </a:xfrm>
          <a:prstGeom prst="rect">
            <a:avLst/>
          </a:prstGeom>
          <a:noFill/>
        </p:spPr>
        <p:txBody>
          <a:bodyPr wrap="square" rtlCol="0">
            <a:spAutoFit/>
          </a:bodyPr>
          <a:lstStyle/>
          <a:p>
            <a:r>
              <a:rPr lang="sv-SE" sz="2400" dirty="0">
                <a:latin typeface="BigCaslonFB" panose="02000603080000020003" pitchFamily="50" charset="0"/>
              </a:rPr>
              <a:t>Juicer och Smoothies</a:t>
            </a:r>
          </a:p>
        </p:txBody>
      </p:sp>
      <p:sp>
        <p:nvSpPr>
          <p:cNvPr id="2" name="textruta 1">
            <a:extLst>
              <a:ext uri="{FF2B5EF4-FFF2-40B4-BE49-F238E27FC236}">
                <a16:creationId xmlns:a16="http://schemas.microsoft.com/office/drawing/2014/main" id="{5FF13B94-B39F-5C48-B4B5-065DD9B4FA5A}"/>
              </a:ext>
            </a:extLst>
          </p:cNvPr>
          <p:cNvSpPr txBox="1"/>
          <p:nvPr/>
        </p:nvSpPr>
        <p:spPr>
          <a:xfrm>
            <a:off x="759417" y="7470183"/>
            <a:ext cx="1267848" cy="369332"/>
          </a:xfrm>
          <a:prstGeom prst="rect">
            <a:avLst/>
          </a:prstGeom>
          <a:noFill/>
        </p:spPr>
        <p:txBody>
          <a:bodyPr wrap="none" rtlCol="0">
            <a:spAutoFit/>
          </a:bodyPr>
          <a:lstStyle/>
          <a:p>
            <a:r>
              <a:rPr lang="sv-SE" dirty="0"/>
              <a:t>Jorden runt</a:t>
            </a:r>
          </a:p>
        </p:txBody>
      </p:sp>
      <p:sp>
        <p:nvSpPr>
          <p:cNvPr id="19" name="Ellips 18">
            <a:extLst>
              <a:ext uri="{FF2B5EF4-FFF2-40B4-BE49-F238E27FC236}">
                <a16:creationId xmlns:a16="http://schemas.microsoft.com/office/drawing/2014/main" id="{5C6D8454-FA5E-2545-A425-FCD8791CD3E7}"/>
              </a:ext>
            </a:extLst>
          </p:cNvPr>
          <p:cNvSpPr/>
          <p:nvPr/>
        </p:nvSpPr>
        <p:spPr>
          <a:xfrm>
            <a:off x="2326285" y="243923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310 kcal</a:t>
            </a:r>
            <a:endParaRPr sz="1200" b="1" dirty="0">
              <a:solidFill>
                <a:schemeClr val="bg1"/>
              </a:solidFill>
              <a:ea typeface="ＭＳ 明朝"/>
              <a:cs typeface="Avenir Light"/>
            </a:endParaRPr>
          </a:p>
        </p:txBody>
      </p:sp>
      <p:sp>
        <p:nvSpPr>
          <p:cNvPr id="20" name="Ellips 19">
            <a:extLst>
              <a:ext uri="{FF2B5EF4-FFF2-40B4-BE49-F238E27FC236}">
                <a16:creationId xmlns:a16="http://schemas.microsoft.com/office/drawing/2014/main" id="{73F77363-E5CE-7F42-84E0-94E21DEAA0F5}"/>
              </a:ext>
            </a:extLst>
          </p:cNvPr>
          <p:cNvSpPr/>
          <p:nvPr/>
        </p:nvSpPr>
        <p:spPr>
          <a:xfrm>
            <a:off x="2360757" y="478379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250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1552E930-5663-5F44-9BF2-35F5EF07504D}"/>
              </a:ext>
            </a:extLst>
          </p:cNvPr>
          <p:cNvSpPr/>
          <p:nvPr/>
        </p:nvSpPr>
        <p:spPr>
          <a:xfrm>
            <a:off x="5470099" y="583153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133 kcal</a:t>
            </a:r>
            <a:endParaRPr sz="1200" b="1" dirty="0">
              <a:solidFill>
                <a:schemeClr val="bg1"/>
              </a:solidFill>
              <a:ea typeface="ＭＳ 明朝"/>
              <a:cs typeface="Avenir Light"/>
            </a:endParaRPr>
          </a:p>
        </p:txBody>
      </p:sp>
      <p:sp>
        <p:nvSpPr>
          <p:cNvPr id="22" name="Platshållare för sidfot 1">
            <a:extLst>
              <a:ext uri="{FF2B5EF4-FFF2-40B4-BE49-F238E27FC236}">
                <a16:creationId xmlns:a16="http://schemas.microsoft.com/office/drawing/2014/main" id="{1D71C8E1-00A1-8E45-9B22-19C572C05C54}"/>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376035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6FD14487-5083-839A-A19E-A5DFEDE949FA}"/>
              </a:ext>
            </a:extLst>
          </p:cNvPr>
          <p:cNvSpPr/>
          <p:nvPr/>
        </p:nvSpPr>
        <p:spPr>
          <a:xfrm>
            <a:off x="213002" y="1039937"/>
            <a:ext cx="2883823" cy="278950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2" name="textruta 11">
            <a:extLst>
              <a:ext uri="{FF2B5EF4-FFF2-40B4-BE49-F238E27FC236}">
                <a16:creationId xmlns:a16="http://schemas.microsoft.com/office/drawing/2014/main" id="{EA745202-70D2-4822-9DF5-D98FE15317DA}"/>
              </a:ext>
            </a:extLst>
          </p:cNvPr>
          <p:cNvSpPr txBox="1"/>
          <p:nvPr/>
        </p:nvSpPr>
        <p:spPr>
          <a:xfrm>
            <a:off x="391413"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9" name="textruta 8">
            <a:extLst>
              <a:ext uri="{FF2B5EF4-FFF2-40B4-BE49-F238E27FC236}">
                <a16:creationId xmlns:a16="http://schemas.microsoft.com/office/drawing/2014/main" id="{6322752A-24C7-9F45-8DF1-A524F98D3591}"/>
              </a:ext>
            </a:extLst>
          </p:cNvPr>
          <p:cNvSpPr txBox="1"/>
          <p:nvPr/>
        </p:nvSpPr>
        <p:spPr>
          <a:xfrm>
            <a:off x="391413" y="1197949"/>
            <a:ext cx="2705412" cy="2631490"/>
          </a:xfrm>
          <a:prstGeom prst="rect">
            <a:avLst/>
          </a:prstGeom>
          <a:noFill/>
        </p:spPr>
        <p:txBody>
          <a:bodyPr wrap="square" lIns="91440" tIns="45720" rIns="91440" bIns="45720" rtlCol="0" anchor="t">
            <a:spAutoFit/>
          </a:bodyPr>
          <a:lstStyle/>
          <a:p>
            <a:r>
              <a:rPr lang="sv-SE" sz="1100" b="1" dirty="0">
                <a:cs typeface="Avenir Light"/>
              </a:rPr>
              <a:t>Omelett med champinjoner - 1 portion</a:t>
            </a:r>
            <a:endParaRPr lang="sv-SE" sz="1100" dirty="0">
              <a:cs typeface="Avenir Light"/>
            </a:endParaRPr>
          </a:p>
          <a:p>
            <a:r>
              <a:rPr lang="sv-SE" sz="1100" dirty="0">
                <a:cs typeface="Avenir Light"/>
              </a:rPr>
              <a:t>4 skogschampinjoner</a:t>
            </a:r>
          </a:p>
          <a:p>
            <a:r>
              <a:rPr lang="sv-SE" sz="1100" dirty="0">
                <a:cs typeface="Avenir Light"/>
              </a:rPr>
              <a:t>1 tsk smör</a:t>
            </a:r>
          </a:p>
          <a:p>
            <a:r>
              <a:rPr lang="sv-SE" sz="1100" dirty="0">
                <a:cs typeface="Avenir Light"/>
              </a:rPr>
              <a:t>Salt och svartpeppar</a:t>
            </a:r>
          </a:p>
          <a:p>
            <a:r>
              <a:rPr lang="sv-SE" sz="1100" dirty="0">
                <a:cs typeface="Avenir Light"/>
              </a:rPr>
              <a:t>2 ägg</a:t>
            </a:r>
          </a:p>
          <a:p>
            <a:r>
              <a:rPr lang="sv-SE" sz="1100" dirty="0">
                <a:cs typeface="Avenir Light"/>
              </a:rPr>
              <a:t>1 tsk smör </a:t>
            </a:r>
          </a:p>
          <a:p>
            <a:r>
              <a:rPr lang="sv-SE" sz="1100" dirty="0">
                <a:solidFill>
                  <a:srgbClr val="FF0000"/>
                </a:solidFill>
                <a:cs typeface="Avenir Light"/>
              </a:rPr>
              <a:t>Lite hackad </a:t>
            </a:r>
            <a:r>
              <a:rPr lang="sv-SE" sz="1100" dirty="0">
                <a:cs typeface="Avenir Light"/>
              </a:rPr>
              <a:t>gräslök</a:t>
            </a:r>
            <a:endParaRPr lang="sv-SE" sz="1100">
              <a:ea typeface="Calibri"/>
              <a:cs typeface="Avenir Light"/>
            </a:endParaRPr>
          </a:p>
          <a:p>
            <a:endParaRPr lang="sv-SE" sz="1100" dirty="0">
              <a:cs typeface="Avenir Light"/>
            </a:endParaRPr>
          </a:p>
          <a:p>
            <a:r>
              <a:rPr lang="sv-SE" sz="1100" dirty="0">
                <a:cs typeface="Avenir Light"/>
              </a:rPr>
              <a:t>Skiva champinjoner och stek i smör några minuter. Strö på salt och peppar. Vispa ihop ägg  i en skål. Krydda med salt och peppar. Hetta upp en stekpanna med smör och stek omeletten någon minut på medelstark värme.  Vik ihop omeletten på en tallrik och toppa med stekta champinjoner och gräslök. </a:t>
            </a:r>
          </a:p>
        </p:txBody>
      </p:sp>
      <p:sp>
        <p:nvSpPr>
          <p:cNvPr id="10" name="Ellips 9">
            <a:extLst>
              <a:ext uri="{FF2B5EF4-FFF2-40B4-BE49-F238E27FC236}">
                <a16:creationId xmlns:a16="http://schemas.microsoft.com/office/drawing/2014/main" id="{27E7397B-995C-C240-9E29-2D4072DCA4E0}"/>
              </a:ext>
            </a:extLst>
          </p:cNvPr>
          <p:cNvSpPr/>
          <p:nvPr/>
        </p:nvSpPr>
        <p:spPr>
          <a:xfrm>
            <a:off x="2164005" y="173129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269</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4</a:t>
            </a:fld>
            <a:endParaRPr lang="sv-SE" sz="900" dirty="0"/>
          </a:p>
        </p:txBody>
      </p:sp>
      <p:pic>
        <p:nvPicPr>
          <p:cNvPr id="14" name="Bildobjekt 13">
            <a:extLst>
              <a:ext uri="{FF2B5EF4-FFF2-40B4-BE49-F238E27FC236}">
                <a16:creationId xmlns:a16="http://schemas.microsoft.com/office/drawing/2014/main" id="{413CB51E-D61C-2A48-BEAF-98B93B45F50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970191" y="724000"/>
            <a:ext cx="4226592" cy="3169944"/>
          </a:xfrm>
          <a:prstGeom prst="rect">
            <a:avLst/>
          </a:prstGeom>
        </p:spPr>
      </p:pic>
      <p:sp>
        <p:nvSpPr>
          <p:cNvPr id="2" name="textruta 1">
            <a:extLst>
              <a:ext uri="{FF2B5EF4-FFF2-40B4-BE49-F238E27FC236}">
                <a16:creationId xmlns:a16="http://schemas.microsoft.com/office/drawing/2014/main" id="{0431FA3A-9D7F-204C-8091-A94168729721}"/>
              </a:ext>
            </a:extLst>
          </p:cNvPr>
          <p:cNvSpPr txBox="1"/>
          <p:nvPr/>
        </p:nvSpPr>
        <p:spPr>
          <a:xfrm>
            <a:off x="855539" y="3829439"/>
            <a:ext cx="1018164" cy="369332"/>
          </a:xfrm>
          <a:prstGeom prst="rect">
            <a:avLst/>
          </a:prstGeom>
          <a:noFill/>
        </p:spPr>
        <p:txBody>
          <a:bodyPr wrap="none" rtlCol="0">
            <a:spAutoFit/>
          </a:bodyPr>
          <a:lstStyle/>
          <a:p>
            <a:r>
              <a:rPr lang="sv-SE" dirty="0"/>
              <a:t>Laga Lätt</a:t>
            </a:r>
          </a:p>
        </p:txBody>
      </p:sp>
      <p:sp>
        <p:nvSpPr>
          <p:cNvPr id="17" name="Platshållare för sidfot 1">
            <a:extLst>
              <a:ext uri="{FF2B5EF4-FFF2-40B4-BE49-F238E27FC236}">
                <a16:creationId xmlns:a16="http://schemas.microsoft.com/office/drawing/2014/main" id="{6196F7C5-AA55-284E-AD26-8365F6F70806}"/>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3136698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1FEA9BF1-BDB1-0756-30AB-14D4AD9D0539}"/>
              </a:ext>
            </a:extLst>
          </p:cNvPr>
          <p:cNvSpPr/>
          <p:nvPr/>
        </p:nvSpPr>
        <p:spPr>
          <a:xfrm>
            <a:off x="142875" y="836872"/>
            <a:ext cx="6572250" cy="39698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3" name="Rektangel 2">
            <a:extLst>
              <a:ext uri="{FF2B5EF4-FFF2-40B4-BE49-F238E27FC236}">
                <a16:creationId xmlns:a16="http://schemas.microsoft.com/office/drawing/2014/main" id="{71A6A6F7-C9FD-BB58-074F-DF04BD3BF8A8}"/>
              </a:ext>
            </a:extLst>
          </p:cNvPr>
          <p:cNvSpPr/>
          <p:nvPr/>
        </p:nvSpPr>
        <p:spPr>
          <a:xfrm>
            <a:off x="3384054" y="4921243"/>
            <a:ext cx="3429000" cy="370710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CA304A16-CA82-6944-B5BC-BBE664BB514D}"/>
              </a:ext>
            </a:extLst>
          </p:cNvPr>
          <p:cNvSpPr/>
          <p:nvPr/>
        </p:nvSpPr>
        <p:spPr>
          <a:xfrm>
            <a:off x="305511" y="853349"/>
            <a:ext cx="6409614" cy="4324261"/>
          </a:xfrm>
          <a:prstGeom prst="rect">
            <a:avLst/>
          </a:prstGeom>
        </p:spPr>
        <p:txBody>
          <a:bodyPr wrap="square" lIns="91440" tIns="45720" rIns="91440" bIns="45720" anchor="t">
            <a:spAutoFit/>
          </a:bodyPr>
          <a:lstStyle/>
          <a:p>
            <a:r>
              <a:rPr lang="sv-SE" sz="1100" b="1" dirty="0">
                <a:cs typeface="Avenir Light"/>
              </a:rPr>
              <a:t>Nudelsoppa med grönsaker– 2 portioner</a:t>
            </a:r>
            <a:endParaRPr lang="sv-SE" sz="1100" dirty="0">
              <a:cs typeface="Avenir Light"/>
            </a:endParaRPr>
          </a:p>
          <a:p>
            <a:r>
              <a:rPr lang="sv-SE" sz="1100" dirty="0">
                <a:cs typeface="Avenir Light"/>
              </a:rPr>
              <a:t>½ vitlöksklyfta</a:t>
            </a:r>
          </a:p>
          <a:p>
            <a:r>
              <a:rPr lang="sv-SE" sz="1100" dirty="0">
                <a:cs typeface="Avenir Light"/>
              </a:rPr>
              <a:t>1 salladslök</a:t>
            </a:r>
          </a:p>
          <a:p>
            <a:r>
              <a:rPr lang="sv-SE" sz="1100" dirty="0">
                <a:cs typeface="Avenir Light"/>
              </a:rPr>
              <a:t>1 morot</a:t>
            </a:r>
          </a:p>
          <a:p>
            <a:r>
              <a:rPr lang="sv-SE" sz="1100" dirty="0">
                <a:cs typeface="Avenir Light"/>
              </a:rPr>
              <a:t>100 g broccoli</a:t>
            </a:r>
          </a:p>
          <a:p>
            <a:r>
              <a:rPr lang="sv-SE" sz="1100" dirty="0">
                <a:cs typeface="Avenir Light"/>
              </a:rPr>
              <a:t>100 g blomkål</a:t>
            </a:r>
          </a:p>
          <a:p>
            <a:r>
              <a:rPr lang="sv-SE" sz="1100" dirty="0">
                <a:cs typeface="Avenir Light"/>
              </a:rPr>
              <a:t>½ röd chili</a:t>
            </a:r>
          </a:p>
          <a:p>
            <a:r>
              <a:rPr lang="sv-SE" sz="1100" dirty="0">
                <a:cs typeface="Avenir Light"/>
              </a:rPr>
              <a:t>½ tsk olivolja</a:t>
            </a:r>
          </a:p>
          <a:p>
            <a:r>
              <a:rPr lang="sv-SE" sz="1100" dirty="0">
                <a:cs typeface="Avenir Light"/>
              </a:rPr>
              <a:t>½ msk </a:t>
            </a:r>
            <a:r>
              <a:rPr lang="sv-SE" sz="1100" dirty="0">
                <a:solidFill>
                  <a:srgbClr val="FF0000"/>
                </a:solidFill>
                <a:cs typeface="Avenir Light"/>
              </a:rPr>
              <a:t>riven </a:t>
            </a:r>
            <a:r>
              <a:rPr lang="sv-SE" sz="1100" dirty="0">
                <a:cs typeface="Avenir Light"/>
              </a:rPr>
              <a:t>ingefära</a:t>
            </a:r>
          </a:p>
          <a:p>
            <a:r>
              <a:rPr lang="sv-SE" sz="1100" dirty="0">
                <a:cs typeface="Avenir Light"/>
              </a:rPr>
              <a:t>½ msk mango currykrydda</a:t>
            </a:r>
          </a:p>
          <a:p>
            <a:r>
              <a:rPr lang="sv-SE" sz="1100" dirty="0">
                <a:cs typeface="Avenir Light"/>
              </a:rPr>
              <a:t>½ hönsbuljongtärning</a:t>
            </a:r>
          </a:p>
          <a:p>
            <a:r>
              <a:rPr lang="sv-SE" sz="1100" dirty="0"/>
              <a:t>½ msk </a:t>
            </a:r>
            <a:r>
              <a:rPr lang="sv-SE" sz="1100" dirty="0" err="1"/>
              <a:t>ketjap</a:t>
            </a:r>
            <a:r>
              <a:rPr lang="sv-SE" sz="1100" dirty="0"/>
              <a:t> manis</a:t>
            </a:r>
            <a:endParaRPr lang="sv-SE" sz="1100" dirty="0">
              <a:cs typeface="Avenir Light"/>
            </a:endParaRPr>
          </a:p>
          <a:p>
            <a:r>
              <a:rPr lang="sv-SE" sz="1100" dirty="0">
                <a:cs typeface="Avenir Light"/>
              </a:rPr>
              <a:t>3 dl vatten</a:t>
            </a:r>
          </a:p>
          <a:p>
            <a:r>
              <a:rPr lang="sv-SE" sz="1100" dirty="0">
                <a:cs typeface="Avenir Light"/>
              </a:rPr>
              <a:t>100 g ramennudlar</a:t>
            </a:r>
          </a:p>
          <a:p>
            <a:r>
              <a:rPr lang="sv-SE" sz="1100" dirty="0">
                <a:cs typeface="Avenir Light"/>
              </a:rPr>
              <a:t>100 g sockerärtor</a:t>
            </a:r>
          </a:p>
          <a:p>
            <a:endParaRPr lang="sv-SE" sz="1100" dirty="0">
              <a:cs typeface="Avenir Light"/>
            </a:endParaRPr>
          </a:p>
          <a:p>
            <a:r>
              <a:rPr lang="sv-SE" sz="1100" b="1" dirty="0" err="1">
                <a:cs typeface="Avenir Light"/>
              </a:rPr>
              <a:t>Topping</a:t>
            </a:r>
            <a:r>
              <a:rPr lang="sv-SE" sz="1100" b="1" dirty="0">
                <a:cs typeface="Avenir Light"/>
              </a:rPr>
              <a:t>: f</a:t>
            </a:r>
            <a:r>
              <a:rPr lang="sv-SE" sz="1100" dirty="0">
                <a:cs typeface="Avenir Light"/>
              </a:rPr>
              <a:t>ärsk koriander och 2 msk saltade jordnötter</a:t>
            </a:r>
          </a:p>
          <a:p>
            <a:endParaRPr lang="sv-SE" sz="1100" dirty="0">
              <a:cs typeface="Avenir Light"/>
            </a:endParaRPr>
          </a:p>
          <a:p>
            <a:r>
              <a:rPr lang="sv-SE" sz="1100" dirty="0">
                <a:cs typeface="Avenir Light"/>
              </a:rPr>
              <a:t>Skala och riv vitlök och strimla salladslök. Skala och strimla moroten. Skär broccoli och blomkål i mindre bitar. Finhacka chili. Hetta upp en kastrull med olja och tillsätt vitlök, chili, ingefära och salladslök. Strö på salt, peppar och mango currykrydda. Smula ner en buljongtärning och häll på vatten och </a:t>
            </a:r>
            <a:r>
              <a:rPr lang="sv-SE" sz="1100" dirty="0" err="1">
                <a:cs typeface="Avenir Light"/>
              </a:rPr>
              <a:t>ketjap</a:t>
            </a:r>
            <a:r>
              <a:rPr lang="sv-SE" sz="1100" dirty="0">
                <a:cs typeface="Avenir Light"/>
              </a:rPr>
              <a:t> manis. Lägg ner nudlar och låt koka 3-4 minuter. Lägg ner alla grönsaker och låt allt bli varmt. Häll upp i skålar och toppa med färsk koriander och jordnötter.</a:t>
            </a:r>
          </a:p>
          <a:p>
            <a:endParaRPr lang="sv-SE" sz="1100" dirty="0">
              <a:cs typeface="Avenir Light"/>
            </a:endParaRPr>
          </a:p>
          <a:p>
            <a:endParaRPr lang="sv-SE" sz="1100" dirty="0">
              <a:latin typeface="Avenir Light"/>
              <a:cs typeface="Avenir Light"/>
            </a:endParaRPr>
          </a:p>
        </p:txBody>
      </p:sp>
      <p:sp>
        <p:nvSpPr>
          <p:cNvPr id="6" name="textruta 5">
            <a:extLst>
              <a:ext uri="{FF2B5EF4-FFF2-40B4-BE49-F238E27FC236}">
                <a16:creationId xmlns:a16="http://schemas.microsoft.com/office/drawing/2014/main" id="{146D2DBD-D48C-DF4E-B28C-04CFA0039D93}"/>
              </a:ext>
            </a:extLst>
          </p:cNvPr>
          <p:cNvSpPr txBox="1"/>
          <p:nvPr/>
        </p:nvSpPr>
        <p:spPr>
          <a:xfrm>
            <a:off x="146776" y="233584"/>
            <a:ext cx="4328308" cy="461665"/>
          </a:xfrm>
          <a:prstGeom prst="rect">
            <a:avLst/>
          </a:prstGeom>
          <a:noFill/>
        </p:spPr>
        <p:txBody>
          <a:bodyPr wrap="square" rtlCol="0">
            <a:spAutoFit/>
          </a:bodyPr>
          <a:lstStyle/>
          <a:p>
            <a:r>
              <a:rPr lang="sv-SE" sz="2400" dirty="0">
                <a:latin typeface="BigCaslonFB" panose="02000603080000020003" pitchFamily="50" charset="0"/>
              </a:rPr>
              <a:t>Vegetariskt</a:t>
            </a:r>
          </a:p>
        </p:txBody>
      </p:sp>
      <p:sp>
        <p:nvSpPr>
          <p:cNvPr id="14" name="Ellips 13">
            <a:extLst>
              <a:ext uri="{FF2B5EF4-FFF2-40B4-BE49-F238E27FC236}">
                <a16:creationId xmlns:a16="http://schemas.microsoft.com/office/drawing/2014/main" id="{BD883FE5-DC19-0145-8030-3EB37671752B}"/>
              </a:ext>
            </a:extLst>
          </p:cNvPr>
          <p:cNvSpPr/>
          <p:nvPr/>
        </p:nvSpPr>
        <p:spPr>
          <a:xfrm>
            <a:off x="2413854" y="140419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360</a:t>
            </a:r>
          </a:p>
          <a:p>
            <a:pPr algn="ctr" fontAlgn="auto">
              <a:spcBef>
                <a:spcPts val="0"/>
              </a:spcBef>
              <a:spcAft>
                <a:spcPts val="0"/>
              </a:spcAft>
              <a:defRPr/>
            </a:pPr>
            <a:r>
              <a:rPr lang="sv-SE" sz="1200" b="1" dirty="0">
                <a:ea typeface="ＭＳ 明朝"/>
                <a:cs typeface="Avenir Light"/>
              </a:rPr>
              <a:t>kcal</a:t>
            </a:r>
            <a:endParaRPr sz="1200" b="1" dirty="0">
              <a:ea typeface="ＭＳ 明朝"/>
              <a:cs typeface="Avenir Light"/>
            </a:endParaRPr>
          </a:p>
        </p:txBody>
      </p:sp>
      <p:sp>
        <p:nvSpPr>
          <p:cNvPr id="4" name="Platshållare för bildnummer 3">
            <a:extLst>
              <a:ext uri="{FF2B5EF4-FFF2-40B4-BE49-F238E27FC236}">
                <a16:creationId xmlns:a16="http://schemas.microsoft.com/office/drawing/2014/main" id="{80BA2055-33A1-64EE-D4E9-50551788E2E4}"/>
              </a:ext>
            </a:extLst>
          </p:cNvPr>
          <p:cNvSpPr>
            <a:spLocks noGrp="1"/>
          </p:cNvSpPr>
          <p:nvPr>
            <p:ph type="sldNum" sz="quarter" idx="12"/>
          </p:nvPr>
        </p:nvSpPr>
        <p:spPr>
          <a:xfrm>
            <a:off x="5144996" y="8679360"/>
            <a:ext cx="1600200" cy="486833"/>
          </a:xfrm>
        </p:spPr>
        <p:txBody>
          <a:bodyPr/>
          <a:lstStyle/>
          <a:p>
            <a:fld id="{97BA8967-5D92-4842-BAFB-0C8F679E5DC4}" type="slidenum">
              <a:rPr lang="sv-SE" sz="900" smtClean="0"/>
              <a:t>5</a:t>
            </a:fld>
            <a:endParaRPr lang="sv-SE" sz="900" dirty="0"/>
          </a:p>
        </p:txBody>
      </p:sp>
      <p:pic>
        <p:nvPicPr>
          <p:cNvPr id="16" name="Bildobjekt 15">
            <a:extLst>
              <a:ext uri="{FF2B5EF4-FFF2-40B4-BE49-F238E27FC236}">
                <a16:creationId xmlns:a16="http://schemas.microsoft.com/office/drawing/2014/main" id="{CB2627A3-137F-E64D-8315-ED3C872AB53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499752" y="583344"/>
            <a:ext cx="3674712" cy="2756034"/>
          </a:xfrm>
          <a:prstGeom prst="rect">
            <a:avLst/>
          </a:prstGeom>
        </p:spPr>
      </p:pic>
      <p:pic>
        <p:nvPicPr>
          <p:cNvPr id="7" name="Bildobjekt 6">
            <a:extLst>
              <a:ext uri="{FF2B5EF4-FFF2-40B4-BE49-F238E27FC236}">
                <a16:creationId xmlns:a16="http://schemas.microsoft.com/office/drawing/2014/main" id="{268CE52B-5A02-5C99-0B2D-E463AD4AC5C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996270" y="447437"/>
            <a:ext cx="618842" cy="512080"/>
          </a:xfrm>
          <a:prstGeom prst="rect">
            <a:avLst/>
          </a:prstGeom>
        </p:spPr>
      </p:pic>
      <p:sp>
        <p:nvSpPr>
          <p:cNvPr id="5" name="textruta 4">
            <a:extLst>
              <a:ext uri="{FF2B5EF4-FFF2-40B4-BE49-F238E27FC236}">
                <a16:creationId xmlns:a16="http://schemas.microsoft.com/office/drawing/2014/main" id="{094F7419-1891-8B4C-B238-5EFFB9766063}"/>
              </a:ext>
            </a:extLst>
          </p:cNvPr>
          <p:cNvSpPr txBox="1"/>
          <p:nvPr/>
        </p:nvSpPr>
        <p:spPr>
          <a:xfrm>
            <a:off x="2247254" y="2092271"/>
            <a:ext cx="973280" cy="369332"/>
          </a:xfrm>
          <a:prstGeom prst="rect">
            <a:avLst/>
          </a:prstGeom>
          <a:noFill/>
        </p:spPr>
        <p:txBody>
          <a:bodyPr wrap="none" rtlCol="0">
            <a:spAutoFit/>
          </a:bodyPr>
          <a:lstStyle/>
          <a:p>
            <a:r>
              <a:rPr lang="sv-SE" dirty="0"/>
              <a:t>Laga lätt</a:t>
            </a:r>
          </a:p>
        </p:txBody>
      </p:sp>
      <p:pic>
        <p:nvPicPr>
          <p:cNvPr id="18" name="Bildobjekt 17">
            <a:extLst>
              <a:ext uri="{FF2B5EF4-FFF2-40B4-BE49-F238E27FC236}">
                <a16:creationId xmlns:a16="http://schemas.microsoft.com/office/drawing/2014/main" id="{8A51EF69-062D-2D4E-983C-F1773B601B7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77008" y="5445283"/>
            <a:ext cx="3843580" cy="2882685"/>
          </a:xfrm>
          <a:prstGeom prst="rect">
            <a:avLst/>
          </a:prstGeom>
        </p:spPr>
      </p:pic>
      <p:sp>
        <p:nvSpPr>
          <p:cNvPr id="19" name="Rektangel 18">
            <a:extLst>
              <a:ext uri="{FF2B5EF4-FFF2-40B4-BE49-F238E27FC236}">
                <a16:creationId xmlns:a16="http://schemas.microsoft.com/office/drawing/2014/main" id="{27D2B029-D507-1047-8A0A-A7F7C1DDBAA3}"/>
              </a:ext>
            </a:extLst>
          </p:cNvPr>
          <p:cNvSpPr/>
          <p:nvPr/>
        </p:nvSpPr>
        <p:spPr>
          <a:xfrm>
            <a:off x="3377541" y="4964836"/>
            <a:ext cx="3429000" cy="3707105"/>
          </a:xfrm>
          <a:prstGeom prst="rect">
            <a:avLst/>
          </a:prstGeom>
        </p:spPr>
        <p:txBody>
          <a:bodyPr lIns="91440" tIns="45720" rIns="91440" bIns="45720" anchor="t">
            <a:spAutoFit/>
          </a:bodyPr>
          <a:lstStyle/>
          <a:p>
            <a:pPr>
              <a:lnSpc>
                <a:spcPct val="107000"/>
              </a:lnSpc>
              <a:spcAft>
                <a:spcPts val="0"/>
              </a:spcAft>
            </a:pPr>
            <a:r>
              <a:rPr lang="sv-SE" sz="1100" b="1" kern="100" dirty="0">
                <a:latin typeface="Aptos"/>
                <a:ea typeface="Aptos"/>
                <a:cs typeface="Times New Roman" panose="02020603050405020304" pitchFamily="18" charset="0"/>
              </a:rPr>
              <a:t>Päronsallad med </a:t>
            </a:r>
            <a:r>
              <a:rPr lang="sv-SE" sz="1100" b="1" kern="100" dirty="0" err="1">
                <a:latin typeface="Aptos"/>
                <a:ea typeface="Aptos"/>
                <a:cs typeface="Times New Roman" panose="02020603050405020304" pitchFamily="18" charset="0"/>
              </a:rPr>
              <a:t>chevréost</a:t>
            </a:r>
            <a:r>
              <a:rPr lang="sv-SE" sz="1100" b="1" kern="100" dirty="0">
                <a:latin typeface="Aptos"/>
                <a:ea typeface="Aptos"/>
                <a:cs typeface="Times New Roman" panose="02020603050405020304" pitchFamily="18" charset="0"/>
              </a:rPr>
              <a:t> - 1 portion</a:t>
            </a:r>
            <a:endParaRPr lang="sv-SE" sz="1100" kern="100" dirty="0">
              <a:latin typeface="Aptos"/>
              <a:ea typeface="Aptos"/>
              <a:cs typeface="Times New Roman" panose="02020603050405020304" pitchFamily="18" charset="0"/>
            </a:endParaRPr>
          </a:p>
          <a:p>
            <a:pPr>
              <a:lnSpc>
                <a:spcPct val="107000"/>
              </a:lnSpc>
              <a:spcAft>
                <a:spcPts val="0"/>
              </a:spcAft>
            </a:pPr>
            <a:r>
              <a:rPr lang="sv-SE" sz="1100" kern="100" dirty="0">
                <a:solidFill>
                  <a:srgbClr val="FF0000"/>
                </a:solidFill>
                <a:latin typeface="Aptos"/>
                <a:ea typeface="Aptos"/>
                <a:cs typeface="Times New Roman"/>
              </a:rPr>
              <a:t>¼ gul paprika</a:t>
            </a:r>
          </a:p>
          <a:p>
            <a:pPr>
              <a:lnSpc>
                <a:spcPct val="107000"/>
              </a:lnSpc>
              <a:spcAft>
                <a:spcPts val="0"/>
              </a:spcAft>
            </a:pPr>
            <a:r>
              <a:rPr lang="sv-SE" sz="1100" kern="100" dirty="0">
                <a:solidFill>
                  <a:srgbClr val="FF0000"/>
                </a:solidFill>
                <a:latin typeface="Aptos"/>
                <a:ea typeface="Aptos"/>
                <a:cs typeface="Times New Roman"/>
              </a:rPr>
              <a:t>¼ röd paprika</a:t>
            </a:r>
          </a:p>
          <a:p>
            <a:pPr>
              <a:lnSpc>
                <a:spcPct val="107000"/>
              </a:lnSpc>
              <a:spcAft>
                <a:spcPts val="0"/>
              </a:spcAft>
            </a:pPr>
            <a:r>
              <a:rPr lang="sv-SE" sz="1100" kern="100" dirty="0">
                <a:latin typeface="Aptos"/>
                <a:ea typeface="Aptos"/>
                <a:cs typeface="Times New Roman" panose="02020603050405020304" pitchFamily="18" charset="0"/>
              </a:rPr>
              <a:t>1/5 rödlök</a:t>
            </a:r>
          </a:p>
          <a:p>
            <a:pPr>
              <a:lnSpc>
                <a:spcPct val="107000"/>
              </a:lnSpc>
              <a:spcAft>
                <a:spcPts val="0"/>
              </a:spcAft>
            </a:pPr>
            <a:r>
              <a:rPr lang="sv-SE" sz="1100" kern="100" dirty="0">
                <a:latin typeface="Aptos"/>
                <a:ea typeface="Aptos"/>
                <a:cs typeface="Times New Roman" panose="02020603050405020304" pitchFamily="18" charset="0"/>
              </a:rPr>
              <a:t>½ morot</a:t>
            </a:r>
          </a:p>
          <a:p>
            <a:pPr>
              <a:lnSpc>
                <a:spcPct val="107000"/>
              </a:lnSpc>
              <a:spcAft>
                <a:spcPts val="0"/>
              </a:spcAft>
            </a:pPr>
            <a:r>
              <a:rPr lang="sv-SE" sz="1100" kern="100" dirty="0">
                <a:latin typeface="Aptos"/>
                <a:ea typeface="Aptos"/>
                <a:cs typeface="Times New Roman" panose="02020603050405020304" pitchFamily="18" charset="0"/>
              </a:rPr>
              <a:t>1 päron</a:t>
            </a:r>
          </a:p>
          <a:p>
            <a:pPr>
              <a:lnSpc>
                <a:spcPct val="107000"/>
              </a:lnSpc>
              <a:spcAft>
                <a:spcPts val="0"/>
              </a:spcAft>
            </a:pPr>
            <a:r>
              <a:rPr lang="sv-SE" sz="1100" kern="100" dirty="0">
                <a:latin typeface="Aptos"/>
                <a:ea typeface="Aptos"/>
                <a:cs typeface="Times New Roman" panose="02020603050405020304" pitchFamily="18" charset="0"/>
              </a:rPr>
              <a:t>20 g bladspenat</a:t>
            </a:r>
          </a:p>
          <a:p>
            <a:pPr>
              <a:lnSpc>
                <a:spcPct val="107000"/>
              </a:lnSpc>
              <a:spcAft>
                <a:spcPts val="0"/>
              </a:spcAft>
            </a:pPr>
            <a:r>
              <a:rPr lang="sv-SE" sz="1100" kern="100" dirty="0">
                <a:latin typeface="Aptos"/>
                <a:ea typeface="Aptos"/>
                <a:cs typeface="Times New Roman" panose="02020603050405020304" pitchFamily="18" charset="0"/>
              </a:rPr>
              <a:t>75 g </a:t>
            </a:r>
            <a:r>
              <a:rPr lang="sv-SE" sz="1100" kern="100" dirty="0" err="1">
                <a:latin typeface="Aptos"/>
                <a:ea typeface="Aptos"/>
                <a:cs typeface="Times New Roman" panose="02020603050405020304" pitchFamily="18" charset="0"/>
              </a:rPr>
              <a:t>chevréost</a:t>
            </a:r>
            <a:endParaRPr lang="sv-SE" sz="1100" kern="100" dirty="0">
              <a:latin typeface="Aptos"/>
              <a:ea typeface="Aptos"/>
              <a:cs typeface="Times New Roman" panose="02020603050405020304" pitchFamily="18" charset="0"/>
            </a:endParaRPr>
          </a:p>
          <a:p>
            <a:pPr>
              <a:lnSpc>
                <a:spcPct val="107000"/>
              </a:lnSpc>
              <a:spcAft>
                <a:spcPts val="0"/>
              </a:spcAft>
            </a:pPr>
            <a:endParaRPr lang="sv-SE" sz="1100" kern="100" dirty="0">
              <a:latin typeface="Aptos"/>
              <a:ea typeface="Aptos"/>
              <a:cs typeface="Times New Roman" panose="02020603050405020304" pitchFamily="18" charset="0"/>
            </a:endParaRPr>
          </a:p>
          <a:p>
            <a:pPr>
              <a:lnSpc>
                <a:spcPct val="107000"/>
              </a:lnSpc>
              <a:spcAft>
                <a:spcPts val="0"/>
              </a:spcAft>
            </a:pPr>
            <a:r>
              <a:rPr lang="sv-SE" sz="1100" b="1" kern="100" dirty="0" err="1">
                <a:latin typeface="Aptos"/>
                <a:ea typeface="Aptos"/>
                <a:cs typeface="Times New Roman" panose="02020603050405020304" pitchFamily="18" charset="0"/>
              </a:rPr>
              <a:t>Topping</a:t>
            </a:r>
            <a:endParaRPr lang="sv-SE" sz="1100" kern="100" dirty="0">
              <a:latin typeface="Aptos"/>
              <a:ea typeface="Aptos"/>
              <a:cs typeface="Times New Roman" panose="02020603050405020304" pitchFamily="18" charset="0"/>
            </a:endParaRPr>
          </a:p>
          <a:p>
            <a:pPr>
              <a:lnSpc>
                <a:spcPct val="107000"/>
              </a:lnSpc>
              <a:spcAft>
                <a:spcPts val="0"/>
              </a:spcAft>
            </a:pPr>
            <a:r>
              <a:rPr lang="sv-SE" sz="1100" kern="100" dirty="0">
                <a:latin typeface="Aptos"/>
                <a:ea typeface="Aptos"/>
                <a:cs typeface="Times New Roman" panose="02020603050405020304" pitchFamily="18" charset="0"/>
              </a:rPr>
              <a:t>4 </a:t>
            </a:r>
            <a:r>
              <a:rPr lang="sv-SE" sz="1100" kern="100" dirty="0" err="1">
                <a:latin typeface="Aptos"/>
                <a:ea typeface="Aptos"/>
                <a:cs typeface="Times New Roman" panose="02020603050405020304" pitchFamily="18" charset="0"/>
              </a:rPr>
              <a:t>st</a:t>
            </a:r>
            <a:r>
              <a:rPr lang="sv-SE" sz="1100" kern="100" dirty="0">
                <a:latin typeface="Aptos"/>
                <a:ea typeface="Aptos"/>
                <a:cs typeface="Times New Roman" panose="02020603050405020304" pitchFamily="18" charset="0"/>
              </a:rPr>
              <a:t> pekannötter</a:t>
            </a:r>
          </a:p>
          <a:p>
            <a:pPr>
              <a:lnSpc>
                <a:spcPct val="107000"/>
              </a:lnSpc>
              <a:spcAft>
                <a:spcPts val="0"/>
              </a:spcAft>
            </a:pPr>
            <a:r>
              <a:rPr lang="sv-SE" sz="1100" kern="100" dirty="0">
                <a:latin typeface="Aptos"/>
                <a:ea typeface="Aptos"/>
                <a:cs typeface="Times New Roman" panose="02020603050405020304" pitchFamily="18" charset="0"/>
              </a:rPr>
              <a:t>1 msk torkade tranbär</a:t>
            </a:r>
          </a:p>
          <a:p>
            <a:pPr>
              <a:lnSpc>
                <a:spcPct val="107000"/>
              </a:lnSpc>
              <a:spcAft>
                <a:spcPts val="0"/>
              </a:spcAft>
            </a:pPr>
            <a:r>
              <a:rPr lang="sv-SE" sz="1100" kern="100" dirty="0">
                <a:latin typeface="Aptos"/>
                <a:ea typeface="Aptos"/>
                <a:cs typeface="Times New Roman" panose="02020603050405020304" pitchFamily="18" charset="0"/>
              </a:rPr>
              <a:t>1 tsk balsamicovinäger</a:t>
            </a:r>
          </a:p>
          <a:p>
            <a:pPr>
              <a:lnSpc>
                <a:spcPct val="107000"/>
              </a:lnSpc>
              <a:spcAft>
                <a:spcPts val="0"/>
              </a:spcAft>
            </a:pPr>
            <a:endParaRPr lang="sv-SE" sz="1100" kern="100" dirty="0">
              <a:latin typeface="Aptos"/>
              <a:ea typeface="Aptos"/>
              <a:cs typeface="Times New Roman" panose="02020603050405020304" pitchFamily="18" charset="0"/>
            </a:endParaRPr>
          </a:p>
          <a:p>
            <a:pPr>
              <a:lnSpc>
                <a:spcPct val="107000"/>
              </a:lnSpc>
              <a:spcAft>
                <a:spcPts val="0"/>
              </a:spcAft>
            </a:pPr>
            <a:r>
              <a:rPr lang="sv-SE" sz="1100" kern="100" dirty="0">
                <a:latin typeface="Aptos"/>
                <a:ea typeface="Aptos"/>
                <a:cs typeface="Times New Roman" panose="02020603050405020304" pitchFamily="18" charset="0"/>
              </a:rPr>
              <a:t>Skär paprika i små tärningar. Skala och hacka rödlöken fint. Skala och riv eller strimla moroten fint.</a:t>
            </a:r>
          </a:p>
          <a:p>
            <a:pPr>
              <a:lnSpc>
                <a:spcPct val="107000"/>
              </a:lnSpc>
              <a:spcAft>
                <a:spcPts val="0"/>
              </a:spcAft>
            </a:pPr>
            <a:r>
              <a:rPr lang="sv-SE" sz="1100" kern="100" dirty="0">
                <a:latin typeface="Aptos"/>
                <a:ea typeface="Aptos"/>
                <a:cs typeface="Times New Roman" panose="02020603050405020304" pitchFamily="18" charset="0"/>
              </a:rPr>
              <a:t>Dela päronet och skär i tunna skivor. Lägg spenaten i en djup tallrik. Fördela alla grönsakerna i skålen samt placera </a:t>
            </a:r>
            <a:r>
              <a:rPr lang="sv-SE" sz="1100" kern="100" dirty="0" err="1">
                <a:latin typeface="Aptos"/>
                <a:ea typeface="Aptos"/>
                <a:cs typeface="Times New Roman" panose="02020603050405020304" pitchFamily="18" charset="0"/>
              </a:rPr>
              <a:t>chevréosten</a:t>
            </a:r>
            <a:r>
              <a:rPr lang="sv-SE" sz="1100" kern="100" dirty="0">
                <a:latin typeface="Aptos"/>
                <a:ea typeface="Aptos"/>
                <a:cs typeface="Times New Roman" panose="02020603050405020304" pitchFamily="18" charset="0"/>
              </a:rPr>
              <a:t> över. Toppa med pekannötter, torkade tranbär och balsamicovinäger.</a:t>
            </a:r>
            <a:endParaRPr lang="sv-SE" sz="1100" kern="100" dirty="0">
              <a:effectLst/>
              <a:latin typeface="Aptos"/>
              <a:ea typeface="Aptos"/>
              <a:cs typeface="Times New Roman" panose="02020603050405020304" pitchFamily="18" charset="0"/>
            </a:endParaRPr>
          </a:p>
        </p:txBody>
      </p:sp>
      <p:sp>
        <p:nvSpPr>
          <p:cNvPr id="20" name="Ellips 19">
            <a:extLst>
              <a:ext uri="{FF2B5EF4-FFF2-40B4-BE49-F238E27FC236}">
                <a16:creationId xmlns:a16="http://schemas.microsoft.com/office/drawing/2014/main" id="{4D9362FC-BE79-C14B-8FA0-A66D8483F161}"/>
              </a:ext>
            </a:extLst>
          </p:cNvPr>
          <p:cNvSpPr/>
          <p:nvPr/>
        </p:nvSpPr>
        <p:spPr>
          <a:xfrm>
            <a:off x="5170630" y="551238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470kcal</a:t>
            </a:r>
            <a:endParaRPr sz="1200" b="1" dirty="0">
              <a:solidFill>
                <a:schemeClr val="bg1"/>
              </a:solidFill>
              <a:ea typeface="ＭＳ 明朝"/>
              <a:cs typeface="Avenir Light"/>
            </a:endParaRPr>
          </a:p>
        </p:txBody>
      </p:sp>
      <p:sp>
        <p:nvSpPr>
          <p:cNvPr id="21" name="Platshållare för sidfot 1">
            <a:extLst>
              <a:ext uri="{FF2B5EF4-FFF2-40B4-BE49-F238E27FC236}">
                <a16:creationId xmlns:a16="http://schemas.microsoft.com/office/drawing/2014/main" id="{E70CD017-2D46-1F40-8686-E53F7744A1C2}"/>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2185990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5CD84E48-2108-20FF-68C8-AE853EFCBC92}"/>
              </a:ext>
            </a:extLst>
          </p:cNvPr>
          <p:cNvSpPr/>
          <p:nvPr/>
        </p:nvSpPr>
        <p:spPr>
          <a:xfrm>
            <a:off x="163004" y="2007414"/>
            <a:ext cx="5713140" cy="46273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5" name="Platshållare för bildnummer 4">
            <a:extLst>
              <a:ext uri="{FF2B5EF4-FFF2-40B4-BE49-F238E27FC236}">
                <a16:creationId xmlns:a16="http://schemas.microsoft.com/office/drawing/2014/main" id="{C13C0C45-6398-3E40-A5DE-31AA7C358185}"/>
              </a:ext>
            </a:extLst>
          </p:cNvPr>
          <p:cNvSpPr>
            <a:spLocks noGrp="1"/>
          </p:cNvSpPr>
          <p:nvPr>
            <p:ph type="sldNum" sz="quarter" idx="12"/>
          </p:nvPr>
        </p:nvSpPr>
        <p:spPr/>
        <p:txBody>
          <a:bodyPr/>
          <a:lstStyle/>
          <a:p>
            <a:fld id="{97BA8967-5D92-4842-BAFB-0C8F679E5DC4}" type="slidenum">
              <a:rPr lang="sv-SE" smtClean="0"/>
              <a:t>6</a:t>
            </a:fld>
            <a:endParaRPr lang="sv-SE"/>
          </a:p>
        </p:txBody>
      </p:sp>
      <p:sp>
        <p:nvSpPr>
          <p:cNvPr id="8" name="textruta 7">
            <a:extLst>
              <a:ext uri="{FF2B5EF4-FFF2-40B4-BE49-F238E27FC236}">
                <a16:creationId xmlns:a16="http://schemas.microsoft.com/office/drawing/2014/main" id="{EDAB3DE7-6ADF-DE48-9756-52DF4FBC33A8}"/>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pic>
        <p:nvPicPr>
          <p:cNvPr id="12" name="Bildobjekt 11">
            <a:extLst>
              <a:ext uri="{FF2B5EF4-FFF2-40B4-BE49-F238E27FC236}">
                <a16:creationId xmlns:a16="http://schemas.microsoft.com/office/drawing/2014/main" id="{0B882BA7-CFA3-5A4D-8D46-9495291AD7B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77820" y="775642"/>
            <a:ext cx="4090723" cy="3068042"/>
          </a:xfrm>
          <a:prstGeom prst="rect">
            <a:avLst/>
          </a:prstGeom>
        </p:spPr>
      </p:pic>
      <p:sp>
        <p:nvSpPr>
          <p:cNvPr id="14" name="Rektangel 13">
            <a:extLst>
              <a:ext uri="{FF2B5EF4-FFF2-40B4-BE49-F238E27FC236}">
                <a16:creationId xmlns:a16="http://schemas.microsoft.com/office/drawing/2014/main" id="{874E1319-DE03-F84E-85A9-4EA593275AF7}"/>
              </a:ext>
            </a:extLst>
          </p:cNvPr>
          <p:cNvSpPr/>
          <p:nvPr/>
        </p:nvSpPr>
        <p:spPr>
          <a:xfrm>
            <a:off x="285023" y="2384216"/>
            <a:ext cx="5269875" cy="4250523"/>
          </a:xfrm>
          <a:prstGeom prst="rect">
            <a:avLst/>
          </a:prstGeom>
        </p:spPr>
        <p:txBody>
          <a:bodyPr wrap="square" lIns="91440" tIns="45720" rIns="91440" bIns="45720" anchor="t">
            <a:spAutoFit/>
          </a:bodyPr>
          <a:lstStyle/>
          <a:p>
            <a:pPr>
              <a:lnSpc>
                <a:spcPct val="107000"/>
              </a:lnSpc>
              <a:spcAft>
                <a:spcPts val="0"/>
              </a:spcAft>
            </a:pPr>
            <a:r>
              <a:rPr lang="sv-SE" sz="1100" b="1" kern="100" dirty="0">
                <a:latin typeface="Aptos" panose="020B0004020202020204"/>
                <a:ea typeface="Aptos" panose="020B0004020202020204"/>
                <a:cs typeface="Times New Roman" panose="02020603050405020304" pitchFamily="18" charset="0"/>
              </a:rPr>
              <a:t>Kycklingröra med örter och tomat – 2 portioner</a:t>
            </a: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½ grillad kyckling, ca 300 g urbenad kycklingkött</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½ rödlök</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½ vitlöksklyfta</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2 tomater</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3 skivor soltorkade tomater</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1kruka basilika</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1 kruka persilja</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½ tsk örtagårdskrydda</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1 dl grekisk yoghurt</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1 msk majonnäs</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salt och svartpeppar</a:t>
            </a:r>
          </a:p>
          <a:p>
            <a:pPr>
              <a:lnSpc>
                <a:spcPct val="107000"/>
              </a:lnSpc>
            </a:pPr>
            <a:r>
              <a:rPr lang="sv-SE" sz="1100" kern="100" dirty="0">
                <a:latin typeface="Aptos" panose="020B0004020202020204"/>
                <a:ea typeface="Aptos" panose="020B0004020202020204"/>
                <a:cs typeface="Times New Roman"/>
              </a:rPr>
              <a:t>1 hjärtsallad</a:t>
            </a: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r>
              <a:rPr lang="sv-SE" sz="1100" b="1" kern="100" dirty="0" err="1">
                <a:latin typeface="Aptos" panose="020B0004020202020204"/>
                <a:ea typeface="Aptos" panose="020B0004020202020204"/>
                <a:cs typeface="Times New Roman" panose="02020603050405020304" pitchFamily="18" charset="0"/>
              </a:rPr>
              <a:t>Topping</a:t>
            </a:r>
            <a:endParaRPr lang="sv-SE" sz="1100" b="1" kern="100" dirty="0">
              <a:latin typeface="Aptos" panose="020B0004020202020204"/>
              <a:ea typeface="Aptos" panose="020B0004020202020204"/>
              <a:cs typeface="Times New Roman" panose="02020603050405020304" pitchFamily="18" charset="0"/>
            </a:endParaRPr>
          </a:p>
          <a:p>
            <a:pPr>
              <a:lnSpc>
                <a:spcPct val="107000"/>
              </a:lnSpc>
            </a:pPr>
            <a:r>
              <a:rPr lang="sv-SE" sz="1100" kern="100" dirty="0">
                <a:latin typeface="Aptos" panose="020B0004020202020204"/>
                <a:ea typeface="Aptos" panose="020B0004020202020204"/>
                <a:cs typeface="Times New Roman"/>
              </a:rPr>
              <a:t> 1 msk persilja</a:t>
            </a: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Bena ur kycklingen och hacka i mindre bitar och lägg i en bunke. Skala och finhacka rödlök och riv vitlök. Hacka tomater och soltorkade tomater i mindre bitar. Finhacka basilika och persilja Häll i ingredienserna tillsammans med kycklingen. Tillsätt örtagårdskrydda, grekisk yoghurt och majonnäs. Rör samman ingredienserna och smaka av med salt och peppar. Dela upp hjärtsalladen och lägg ut bladen på ett fat. Fördela kycklingröran på bladen toppa med persilja.</a:t>
            </a:r>
          </a:p>
        </p:txBody>
      </p:sp>
      <p:sp>
        <p:nvSpPr>
          <p:cNvPr id="15" name="Platshållare för sidfot 1">
            <a:extLst>
              <a:ext uri="{FF2B5EF4-FFF2-40B4-BE49-F238E27FC236}">
                <a16:creationId xmlns:a16="http://schemas.microsoft.com/office/drawing/2014/main" id="{04EC5600-064B-C346-BC88-E3CF55C7253E}"/>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
        <p:nvSpPr>
          <p:cNvPr id="16" name="Ellips 15">
            <a:extLst>
              <a:ext uri="{FF2B5EF4-FFF2-40B4-BE49-F238E27FC236}">
                <a16:creationId xmlns:a16="http://schemas.microsoft.com/office/drawing/2014/main" id="{19FEA99D-C02D-7B47-9B82-24DE7FBDD0E4}"/>
              </a:ext>
            </a:extLst>
          </p:cNvPr>
          <p:cNvSpPr/>
          <p:nvPr/>
        </p:nvSpPr>
        <p:spPr>
          <a:xfrm>
            <a:off x="2498653" y="296554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375</a:t>
            </a:r>
          </a:p>
          <a:p>
            <a:pPr algn="ctr" fontAlgn="auto">
              <a:spcBef>
                <a:spcPts val="0"/>
              </a:spcBef>
              <a:spcAft>
                <a:spcPts val="0"/>
              </a:spcAft>
              <a:defRPr/>
            </a:pPr>
            <a:r>
              <a:rPr lang="sv-SE" sz="1200" b="1" dirty="0">
                <a:ea typeface="ＭＳ 明朝"/>
                <a:cs typeface="Avenir Light"/>
              </a:rPr>
              <a:t>kcal</a:t>
            </a:r>
            <a:endParaRPr sz="1200" b="1" dirty="0">
              <a:ea typeface="ＭＳ 明朝"/>
              <a:cs typeface="Avenir Light"/>
            </a:endParaRPr>
          </a:p>
        </p:txBody>
      </p:sp>
    </p:spTree>
    <p:extLst>
      <p:ext uri="{BB962C8B-B14F-4D97-AF65-F5344CB8AC3E}">
        <p14:creationId xmlns:p14="http://schemas.microsoft.com/office/powerpoint/2010/main" val="3123923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9842DE19-50CD-1E69-B69C-B851D55D481C}"/>
              </a:ext>
            </a:extLst>
          </p:cNvPr>
          <p:cNvSpPr/>
          <p:nvPr/>
        </p:nvSpPr>
        <p:spPr>
          <a:xfrm>
            <a:off x="159497" y="817577"/>
            <a:ext cx="3548175" cy="337246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4" name="Rektangel 3">
            <a:extLst>
              <a:ext uri="{FF2B5EF4-FFF2-40B4-BE49-F238E27FC236}">
                <a16:creationId xmlns:a16="http://schemas.microsoft.com/office/drawing/2014/main" id="{0F856254-B6EA-46E1-CD76-0EAFDCB3E919}"/>
              </a:ext>
            </a:extLst>
          </p:cNvPr>
          <p:cNvSpPr/>
          <p:nvPr/>
        </p:nvSpPr>
        <p:spPr>
          <a:xfrm>
            <a:off x="3548117" y="4794507"/>
            <a:ext cx="3548175" cy="360424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20" name="textruta 19">
            <a:extLst>
              <a:ext uri="{FF2B5EF4-FFF2-40B4-BE49-F238E27FC236}">
                <a16:creationId xmlns:a16="http://schemas.microsoft.com/office/drawing/2014/main" id="{19869912-18AA-B444-9D9B-B9276764CD29}"/>
              </a:ext>
            </a:extLst>
          </p:cNvPr>
          <p:cNvSpPr txBox="1"/>
          <p:nvPr/>
        </p:nvSpPr>
        <p:spPr>
          <a:xfrm>
            <a:off x="165529" y="185231"/>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13" name="textruta 12">
            <a:extLst>
              <a:ext uri="{FF2B5EF4-FFF2-40B4-BE49-F238E27FC236}">
                <a16:creationId xmlns:a16="http://schemas.microsoft.com/office/drawing/2014/main" id="{D10914CC-B7E8-B346-85EE-9F437169F93D}"/>
              </a:ext>
            </a:extLst>
          </p:cNvPr>
          <p:cNvSpPr txBox="1"/>
          <p:nvPr/>
        </p:nvSpPr>
        <p:spPr>
          <a:xfrm>
            <a:off x="3548117" y="4814486"/>
            <a:ext cx="3054622" cy="4154984"/>
          </a:xfrm>
          <a:prstGeom prst="rect">
            <a:avLst/>
          </a:prstGeom>
          <a:noFill/>
        </p:spPr>
        <p:txBody>
          <a:bodyPr wrap="square" rtlCol="0">
            <a:spAutoFit/>
          </a:bodyPr>
          <a:lstStyle/>
          <a:p>
            <a:r>
              <a:rPr lang="sv-SE" sz="1100" b="1" dirty="0"/>
              <a:t>Lax med fetaost och rostade rotfrukter och brysselkål – 4 portioner</a:t>
            </a:r>
          </a:p>
          <a:p>
            <a:r>
              <a:rPr lang="sv-SE" sz="1100" dirty="0"/>
              <a:t>600 g laxfilé</a:t>
            </a:r>
          </a:p>
          <a:p>
            <a:r>
              <a:rPr lang="sv-SE" sz="1100" dirty="0"/>
              <a:t>Salt och svartpeppar</a:t>
            </a:r>
          </a:p>
          <a:p>
            <a:r>
              <a:rPr lang="sv-SE" sz="1100" dirty="0"/>
              <a:t>100 g fetaost</a:t>
            </a:r>
          </a:p>
          <a:p>
            <a:r>
              <a:rPr lang="sv-SE" sz="1100" dirty="0"/>
              <a:t>3 msk pumpafrön</a:t>
            </a:r>
          </a:p>
          <a:p>
            <a:r>
              <a:rPr lang="sv-SE" sz="1100" dirty="0"/>
              <a:t>Lite örtagårdskrydda</a:t>
            </a:r>
          </a:p>
          <a:p>
            <a:r>
              <a:rPr lang="sv-SE" sz="1100" dirty="0"/>
              <a:t>1 sötpotatis</a:t>
            </a:r>
          </a:p>
          <a:p>
            <a:r>
              <a:rPr lang="sv-SE" sz="1100" dirty="0"/>
              <a:t>1 palsternacka</a:t>
            </a:r>
          </a:p>
          <a:p>
            <a:r>
              <a:rPr lang="sv-SE" sz="1100" dirty="0"/>
              <a:t>250 g brysselkål</a:t>
            </a:r>
          </a:p>
          <a:p>
            <a:r>
              <a:rPr lang="sv-SE" sz="1100" dirty="0"/>
              <a:t>2 tsk olivolja</a:t>
            </a:r>
          </a:p>
          <a:p>
            <a:r>
              <a:rPr lang="sv-SE" sz="1100" dirty="0"/>
              <a:t>Lite färsk timjan</a:t>
            </a:r>
          </a:p>
          <a:p>
            <a:endParaRPr lang="sv-SE" sz="1100" dirty="0"/>
          </a:p>
          <a:p>
            <a:r>
              <a:rPr lang="sv-SE" sz="1100" dirty="0"/>
              <a:t>Sätt ugnen på 200 grader. Lägg laxfilén på en ugnsplåt med bakplåtspapper. Strö på salt och peppar. Smula över osten och strö på pumpafrön. Strö på örtagårdskrydda. Skala och skär sötpotatis och palsternacka i mindre bitar och lägg i en skål. Dela brysselkålen och blanda ner med olivolja och kryddor. Lägg blandningen runt laxen och gratinera i 20 minuter. Strö på lite färsk timjan.</a:t>
            </a:r>
          </a:p>
          <a:p>
            <a:endParaRPr lang="sv-SE" sz="1100" dirty="0"/>
          </a:p>
          <a:p>
            <a:endParaRPr lang="sv-SE" sz="1100" dirty="0"/>
          </a:p>
          <a:p>
            <a:endParaRPr lang="sv-SE" sz="1100" dirty="0"/>
          </a:p>
        </p:txBody>
      </p:sp>
      <p:sp>
        <p:nvSpPr>
          <p:cNvPr id="16" name="Ellips 15">
            <a:extLst>
              <a:ext uri="{FF2B5EF4-FFF2-40B4-BE49-F238E27FC236}">
                <a16:creationId xmlns:a16="http://schemas.microsoft.com/office/drawing/2014/main" id="{537C63E8-756A-6641-96B8-A1F2D69C12C7}"/>
              </a:ext>
            </a:extLst>
          </p:cNvPr>
          <p:cNvSpPr/>
          <p:nvPr/>
        </p:nvSpPr>
        <p:spPr>
          <a:xfrm>
            <a:off x="5852545" y="530665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546</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pic>
        <p:nvPicPr>
          <p:cNvPr id="17" name="Bildobjekt 16">
            <a:extLst>
              <a:ext uri="{FF2B5EF4-FFF2-40B4-BE49-F238E27FC236}">
                <a16:creationId xmlns:a16="http://schemas.microsoft.com/office/drawing/2014/main" id="{C5E18D5F-B92D-9445-9B0A-840502C0355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23973" y="5142343"/>
            <a:ext cx="4182445" cy="3136834"/>
          </a:xfrm>
          <a:prstGeom prst="rect">
            <a:avLst/>
          </a:prstGeom>
        </p:spPr>
      </p:pic>
      <p:sp>
        <p:nvSpPr>
          <p:cNvPr id="18" name="Pratbubbla: rektangel med rundade hörn 5">
            <a:extLst>
              <a:ext uri="{FF2B5EF4-FFF2-40B4-BE49-F238E27FC236}">
                <a16:creationId xmlns:a16="http://schemas.microsoft.com/office/drawing/2014/main" id="{B9570F4F-BB85-5A48-AB0A-5F2318F828B6}"/>
              </a:ext>
            </a:extLst>
          </p:cNvPr>
          <p:cNvSpPr/>
          <p:nvPr/>
        </p:nvSpPr>
        <p:spPr>
          <a:xfrm>
            <a:off x="5127551" y="6010266"/>
            <a:ext cx="1548908" cy="631957"/>
          </a:xfrm>
          <a:prstGeom prst="wedgeRoundRectCallout">
            <a:avLst/>
          </a:prstGeom>
          <a:solidFill>
            <a:srgbClr val="27656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200" dirty="0">
                <a:cs typeface="Avenir Light"/>
              </a:rPr>
              <a:t>Frys in 2 portioner!</a:t>
            </a:r>
          </a:p>
        </p:txBody>
      </p:sp>
      <p:sp>
        <p:nvSpPr>
          <p:cNvPr id="3" name="textruta 2">
            <a:extLst>
              <a:ext uri="{FF2B5EF4-FFF2-40B4-BE49-F238E27FC236}">
                <a16:creationId xmlns:a16="http://schemas.microsoft.com/office/drawing/2014/main" id="{FA5698E5-9431-4E45-8F02-D513201BD132}"/>
              </a:ext>
            </a:extLst>
          </p:cNvPr>
          <p:cNvSpPr txBox="1"/>
          <p:nvPr/>
        </p:nvSpPr>
        <p:spPr>
          <a:xfrm>
            <a:off x="4215539" y="4339525"/>
            <a:ext cx="1018164" cy="369332"/>
          </a:xfrm>
          <a:prstGeom prst="rect">
            <a:avLst/>
          </a:prstGeom>
          <a:noFill/>
        </p:spPr>
        <p:txBody>
          <a:bodyPr wrap="none" rtlCol="0">
            <a:spAutoFit/>
          </a:bodyPr>
          <a:lstStyle/>
          <a:p>
            <a:r>
              <a:rPr lang="sv-SE" dirty="0"/>
              <a:t>Laga Lätt</a:t>
            </a:r>
          </a:p>
        </p:txBody>
      </p:sp>
      <p:sp>
        <p:nvSpPr>
          <p:cNvPr id="11" name="Rektangel 10">
            <a:extLst>
              <a:ext uri="{FF2B5EF4-FFF2-40B4-BE49-F238E27FC236}">
                <a16:creationId xmlns:a16="http://schemas.microsoft.com/office/drawing/2014/main" id="{3B781F5D-7A70-784D-8EDE-9B92C6C0A5E6}"/>
              </a:ext>
            </a:extLst>
          </p:cNvPr>
          <p:cNvSpPr/>
          <p:nvPr/>
        </p:nvSpPr>
        <p:spPr>
          <a:xfrm>
            <a:off x="278672" y="881443"/>
            <a:ext cx="3429000" cy="3308598"/>
          </a:xfrm>
          <a:prstGeom prst="rect">
            <a:avLst/>
          </a:prstGeom>
        </p:spPr>
        <p:txBody>
          <a:bodyPr>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Torskrygg med </a:t>
            </a:r>
            <a:r>
              <a:rPr lang="sv-SE" sz="1100" b="1" dirty="0" err="1">
                <a:solidFill>
                  <a:srgbClr val="000000"/>
                </a:solidFill>
                <a:ea typeface="Arial Unicode MS" panose="020B0604020202020204" pitchFamily="34" charset="-128"/>
                <a:cs typeface="Arial Unicode MS" panose="020B0604020202020204" pitchFamily="34" charset="-128"/>
              </a:rPr>
              <a:t>ägghack</a:t>
            </a:r>
            <a:r>
              <a:rPr lang="sv-SE" sz="1100" b="1" dirty="0">
                <a:solidFill>
                  <a:srgbClr val="000000"/>
                </a:solidFill>
                <a:ea typeface="Arial Unicode MS" panose="020B0604020202020204" pitchFamily="34" charset="-128"/>
                <a:cs typeface="Arial Unicode MS" panose="020B0604020202020204" pitchFamily="34" charset="-128"/>
              </a:rPr>
              <a:t> och sparris - 2 portioner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300 g torskrygg</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kokta ägg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msk majonnäs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250 g grön sparris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dl granatäppelkärnor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dillkvistar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Dekoration: </a:t>
            </a:r>
            <a:r>
              <a:rPr lang="sv-SE" sz="1100" dirty="0">
                <a:solidFill>
                  <a:srgbClr val="000000"/>
                </a:solidFill>
                <a:ea typeface="Arial Unicode MS" panose="020B0604020202020204" pitchFamily="34" charset="-128"/>
                <a:cs typeface="Arial Unicode MS" panose="020B0604020202020204" pitchFamily="34" charset="-128"/>
              </a:rPr>
              <a:t>1 kokt ägg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Sätt ugnen på 175 grader. Dela torskryggen i 2 bitar. Strö på salt och svartpeppar. Lägg i en ugnsform och ugnsbaka 15 min. Skala och finhacka äggen och lägg i en skål tillsammans med majonnäs. Strö på salt och peppar. Koka sparris i lättsaltat vatten i 2 min. Häll av vattnet och lägg sparris på tallrikar. Lägg på torsk och </a:t>
            </a:r>
            <a:r>
              <a:rPr lang="sv-SE" sz="1100" dirty="0" err="1">
                <a:solidFill>
                  <a:srgbClr val="000000"/>
                </a:solidFill>
                <a:ea typeface="Arial Unicode MS" panose="020B0604020202020204" pitchFamily="34" charset="-128"/>
                <a:cs typeface="Arial Unicode MS" panose="020B0604020202020204" pitchFamily="34" charset="-128"/>
              </a:rPr>
              <a:t>ägghack</a:t>
            </a:r>
            <a:r>
              <a:rPr lang="sv-SE" sz="1100" dirty="0">
                <a:solidFill>
                  <a:srgbClr val="000000"/>
                </a:solidFill>
                <a:ea typeface="Arial Unicode MS" panose="020B0604020202020204" pitchFamily="34" charset="-128"/>
                <a:cs typeface="Arial Unicode MS" panose="020B0604020202020204" pitchFamily="34" charset="-128"/>
              </a:rPr>
              <a:t>. Strö över granatäpplekärnor. Skär äggen i klyftor och lägg vid sidan om.  Dekorera med dillkvistar. </a:t>
            </a:r>
          </a:p>
        </p:txBody>
      </p:sp>
      <p:sp>
        <p:nvSpPr>
          <p:cNvPr id="12" name="Ellips 11">
            <a:extLst>
              <a:ext uri="{FF2B5EF4-FFF2-40B4-BE49-F238E27FC236}">
                <a16:creationId xmlns:a16="http://schemas.microsoft.com/office/drawing/2014/main" id="{D64695F1-B065-C74E-A761-126F1202E501}"/>
              </a:ext>
            </a:extLst>
          </p:cNvPr>
          <p:cNvSpPr/>
          <p:nvPr/>
        </p:nvSpPr>
        <p:spPr>
          <a:xfrm>
            <a:off x="2746788" y="123923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345</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pic>
        <p:nvPicPr>
          <p:cNvPr id="14" name="Bildobjekt 13">
            <a:extLst>
              <a:ext uri="{FF2B5EF4-FFF2-40B4-BE49-F238E27FC236}">
                <a16:creationId xmlns:a16="http://schemas.microsoft.com/office/drawing/2014/main" id="{F286253F-64CA-AB4C-81E7-63037FC40F4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342774" y="745122"/>
            <a:ext cx="3824330" cy="2868248"/>
          </a:xfrm>
          <a:prstGeom prst="rect">
            <a:avLst/>
          </a:prstGeom>
        </p:spPr>
      </p:pic>
      <p:sp>
        <p:nvSpPr>
          <p:cNvPr id="15" name="textruta 14">
            <a:extLst>
              <a:ext uri="{FF2B5EF4-FFF2-40B4-BE49-F238E27FC236}">
                <a16:creationId xmlns:a16="http://schemas.microsoft.com/office/drawing/2014/main" id="{84772C8C-DAF9-8C4D-A086-E0DA7ED9BF37}"/>
              </a:ext>
            </a:extLst>
          </p:cNvPr>
          <p:cNvSpPr txBox="1"/>
          <p:nvPr/>
        </p:nvSpPr>
        <p:spPr>
          <a:xfrm>
            <a:off x="1858275" y="1844629"/>
            <a:ext cx="1703351" cy="369332"/>
          </a:xfrm>
          <a:prstGeom prst="rect">
            <a:avLst/>
          </a:prstGeom>
          <a:noFill/>
        </p:spPr>
        <p:txBody>
          <a:bodyPr wrap="none" rtlCol="0">
            <a:spAutoFit/>
          </a:bodyPr>
          <a:lstStyle/>
          <a:p>
            <a:r>
              <a:rPr lang="sv-SE" dirty="0"/>
              <a:t>Hösturbon 2024</a:t>
            </a:r>
          </a:p>
        </p:txBody>
      </p:sp>
      <p:sp>
        <p:nvSpPr>
          <p:cNvPr id="22" name="Platshållare för sidfot 1">
            <a:extLst>
              <a:ext uri="{FF2B5EF4-FFF2-40B4-BE49-F238E27FC236}">
                <a16:creationId xmlns:a16="http://schemas.microsoft.com/office/drawing/2014/main" id="{7AEAD813-E4E1-F340-88FB-3B024B38DCA6}"/>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207771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D5345339-0F40-14FD-7D40-07543D4A9C4A}"/>
              </a:ext>
            </a:extLst>
          </p:cNvPr>
          <p:cNvSpPr/>
          <p:nvPr/>
        </p:nvSpPr>
        <p:spPr>
          <a:xfrm>
            <a:off x="345324" y="1440166"/>
            <a:ext cx="6285949" cy="68353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4" name="Rektangel 13">
            <a:extLst>
              <a:ext uri="{FF2B5EF4-FFF2-40B4-BE49-F238E27FC236}">
                <a16:creationId xmlns:a16="http://schemas.microsoft.com/office/drawing/2014/main" id="{955F93C2-988D-644C-AF7B-40E1319B0B38}"/>
              </a:ext>
            </a:extLst>
          </p:cNvPr>
          <p:cNvSpPr/>
          <p:nvPr/>
        </p:nvSpPr>
        <p:spPr>
          <a:xfrm>
            <a:off x="345324" y="1070834"/>
            <a:ext cx="6285949" cy="7371249"/>
          </a:xfrm>
          <a:prstGeom prst="rect">
            <a:avLst/>
          </a:prstGeom>
        </p:spPr>
        <p:txBody>
          <a:bodyPr wrap="square">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Turkiska lammfärsspett med </a:t>
            </a:r>
            <a:r>
              <a:rPr lang="sv-SE" sz="1100" b="1" dirty="0" err="1">
                <a:solidFill>
                  <a:srgbClr val="000000"/>
                </a:solidFill>
                <a:ea typeface="Arial Unicode MS" panose="020B0604020202020204" pitchFamily="34" charset="-128"/>
                <a:cs typeface="Arial Unicode MS" panose="020B0604020202020204" pitchFamily="34" charset="-128"/>
              </a:rPr>
              <a:t>raita</a:t>
            </a:r>
            <a:r>
              <a:rPr lang="sv-SE" sz="1100" b="1"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och sallad - 2 portioner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300 g lammfärs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1/2 gul lök</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vitlöksklyfta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msk persilja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½ msk </a:t>
            </a:r>
            <a:r>
              <a:rPr lang="sv-SE" sz="1100" dirty="0" err="1">
                <a:solidFill>
                  <a:srgbClr val="000000"/>
                </a:solidFill>
                <a:ea typeface="Arial Unicode MS" panose="020B0604020202020204" pitchFamily="34" charset="-128"/>
                <a:cs typeface="Arial Unicode MS" panose="020B0604020202020204" pitchFamily="34" charset="-128"/>
              </a:rPr>
              <a:t>köftekrydda</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träpinnar/spett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tsk olivolja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Raita</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5 cm gurka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1/2 morot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msk persilja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dl grekisk yoghurt, 6%</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krm oregano</a:t>
            </a:r>
          </a:p>
          <a:p>
            <a:pPr>
              <a:spcAft>
                <a:spcPts val="0"/>
              </a:spcAft>
            </a:pP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Bulgursallad</a:t>
            </a:r>
          </a:p>
          <a:p>
            <a:r>
              <a:rPr lang="sv-SE" sz="1100" dirty="0">
                <a:solidFill>
                  <a:srgbClr val="000000"/>
                </a:solidFill>
              </a:rPr>
              <a:t>1 dl grov bulgur</a:t>
            </a:r>
          </a:p>
          <a:p>
            <a:r>
              <a:rPr lang="sv-SE" sz="1100" dirty="0">
                <a:solidFill>
                  <a:srgbClr val="000000"/>
                </a:solidFill>
              </a:rPr>
              <a:t>1/4 rödlök</a:t>
            </a:r>
          </a:p>
          <a:p>
            <a:r>
              <a:rPr lang="sv-SE" sz="1100" dirty="0">
                <a:solidFill>
                  <a:srgbClr val="000000"/>
                </a:solidFill>
              </a:rPr>
              <a:t>1 morot</a:t>
            </a:r>
          </a:p>
          <a:p>
            <a:r>
              <a:rPr lang="sv-SE" sz="1100" dirty="0">
                <a:solidFill>
                  <a:srgbClr val="000000"/>
                </a:solidFill>
              </a:rPr>
              <a:t>2 msk persilja</a:t>
            </a:r>
          </a:p>
          <a:p>
            <a:r>
              <a:rPr lang="sv-SE" sz="1100" dirty="0">
                <a:solidFill>
                  <a:srgbClr val="000000"/>
                </a:solidFill>
              </a:rPr>
              <a:t>Saften av ½ citron </a:t>
            </a:r>
          </a:p>
          <a:p>
            <a:r>
              <a:rPr lang="sv-SE" sz="1100" dirty="0">
                <a:solidFill>
                  <a:srgbClr val="000000"/>
                </a:solidFill>
              </a:rPr>
              <a:t>2 tsk olivolja</a:t>
            </a:r>
          </a:p>
          <a:p>
            <a:r>
              <a:rPr lang="sv-SE" sz="1100" dirty="0">
                <a:solidFill>
                  <a:srgbClr val="000000"/>
                </a:solidFill>
              </a:rPr>
              <a:t>salt och svartpeppar</a:t>
            </a:r>
          </a:p>
          <a:p>
            <a:r>
              <a:rPr lang="sv-SE" sz="1100" dirty="0">
                <a:solidFill>
                  <a:srgbClr val="000000"/>
                </a:solidFill>
                <a:ea typeface="Arial Unicode MS" panose="020B0604020202020204" pitchFamily="34" charset="-128"/>
                <a:cs typeface="Arial Unicode MS" panose="020B0604020202020204" pitchFamily="34" charset="-128"/>
              </a:rPr>
              <a:t>10 cocktailtomater</a:t>
            </a:r>
          </a:p>
          <a:p>
            <a:r>
              <a:rPr lang="sv-SE" sz="1100" dirty="0">
                <a:solidFill>
                  <a:srgbClr val="000000"/>
                </a:solidFill>
                <a:ea typeface="Arial Unicode MS" panose="020B0604020202020204" pitchFamily="34" charset="-128"/>
                <a:cs typeface="Arial Unicode MS" panose="020B0604020202020204" pitchFamily="34" charset="-128"/>
              </a:rPr>
              <a:t>50 g fetaost</a:t>
            </a:r>
          </a:p>
          <a:p>
            <a:pPr>
              <a:spcAft>
                <a:spcPts val="0"/>
              </a:spcAft>
            </a:pP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Dekoration: </a:t>
            </a:r>
            <a:r>
              <a:rPr lang="sv-SE" sz="1100" dirty="0">
                <a:solidFill>
                  <a:srgbClr val="000000"/>
                </a:solidFill>
                <a:ea typeface="Arial Unicode MS" panose="020B0604020202020204" pitchFamily="34" charset="-128"/>
                <a:cs typeface="Arial Unicode MS" panose="020B0604020202020204" pitchFamily="34" charset="-128"/>
              </a:rPr>
              <a:t>citronklyftor och persiljekvistar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rPr>
              <a:t>Koka bulgur enligt anvisningen på förpackningen. Skala och finhacka rödlök. Skala och skär morot i små tärningar. Finhacka persilja. Lägg bulgur i en skål och blanda ner rödlök, morot och persilja. Tillsätt citronsaft och olivolja. Salta och peppra. Dela tomater och lägg över salladen och smula över fetaost. Dekorera med citronskivor. </a:t>
            </a:r>
            <a:r>
              <a:rPr lang="sv-SE" sz="1100" dirty="0">
                <a:solidFill>
                  <a:srgbClr val="000000"/>
                </a:solidFill>
                <a:ea typeface="Arial Unicode MS" panose="020B0604020202020204" pitchFamily="34" charset="-128"/>
                <a:cs typeface="Arial Unicode MS" panose="020B0604020202020204" pitchFamily="34" charset="-128"/>
              </a:rPr>
              <a:t>Gör </a:t>
            </a:r>
            <a:r>
              <a:rPr lang="sv-SE" sz="1100" dirty="0" err="1">
                <a:solidFill>
                  <a:srgbClr val="000000"/>
                </a:solidFill>
                <a:ea typeface="Arial Unicode MS" panose="020B0604020202020204" pitchFamily="34" charset="-128"/>
                <a:cs typeface="Arial Unicode MS" panose="020B0604020202020204" pitchFamily="34" charset="-128"/>
              </a:rPr>
              <a:t>raitan</a:t>
            </a:r>
            <a:r>
              <a:rPr lang="sv-SE" sz="1100" dirty="0">
                <a:solidFill>
                  <a:srgbClr val="000000"/>
                </a:solidFill>
                <a:ea typeface="Arial Unicode MS" panose="020B0604020202020204" pitchFamily="34" charset="-128"/>
                <a:cs typeface="Arial Unicode MS" panose="020B0604020202020204" pitchFamily="34" charset="-128"/>
              </a:rPr>
              <a:t> genom att finhacka gurka och lägg i en skål. Skala och finhacka morot. Hacka persilja. Tillsätt yoghurt, salt, peppar och torkad vitlök/persiljekrydda. Lägg lammfärsen i en bunke. Skala och finhacka gul lök och riv vitlök. Finhacka persilja. Blanda ner i färsen och salta och peppra. Blanda ner </a:t>
            </a:r>
            <a:r>
              <a:rPr lang="sv-SE" sz="1100" dirty="0" err="1">
                <a:solidFill>
                  <a:srgbClr val="000000"/>
                </a:solidFill>
                <a:ea typeface="Arial Unicode MS" panose="020B0604020202020204" pitchFamily="34" charset="-128"/>
                <a:cs typeface="Arial Unicode MS" panose="020B0604020202020204" pitchFamily="34" charset="-128"/>
              </a:rPr>
              <a:t>köftekrydda</a:t>
            </a:r>
            <a:r>
              <a:rPr lang="sv-SE" sz="1100" dirty="0">
                <a:solidFill>
                  <a:srgbClr val="000000"/>
                </a:solidFill>
                <a:ea typeface="Arial Unicode MS" panose="020B0604020202020204" pitchFamily="34" charset="-128"/>
                <a:cs typeface="Arial Unicode MS" panose="020B0604020202020204" pitchFamily="34" charset="-128"/>
              </a:rPr>
              <a:t>. Forma till avlånga biffar. Trä dom på spett. Hetta upp en stekpanna med olivolja. Bryn lammfärsspetten ett par min och rotera så alla sidor blir stekta. Servera med salladen och </a:t>
            </a:r>
            <a:r>
              <a:rPr lang="sv-SE" sz="1100" dirty="0" err="1">
                <a:solidFill>
                  <a:srgbClr val="000000"/>
                </a:solidFill>
                <a:ea typeface="Arial Unicode MS" panose="020B0604020202020204" pitchFamily="34" charset="-128"/>
                <a:cs typeface="Arial Unicode MS" panose="020B0604020202020204" pitchFamily="34" charset="-128"/>
              </a:rPr>
              <a:t>raitan</a:t>
            </a:r>
            <a:r>
              <a:rPr lang="sv-SE" sz="1100" dirty="0">
                <a:solidFill>
                  <a:srgbClr val="000000"/>
                </a:solidFill>
                <a:ea typeface="Arial Unicode MS" panose="020B0604020202020204" pitchFamily="34" charset="-128"/>
                <a:cs typeface="Arial Unicode MS" panose="020B0604020202020204" pitchFamily="34" charset="-128"/>
              </a:rPr>
              <a:t>.</a:t>
            </a:r>
          </a:p>
        </p:txBody>
      </p:sp>
      <p:sp>
        <p:nvSpPr>
          <p:cNvPr id="5" name="Platshållare för bildnummer 4">
            <a:extLst>
              <a:ext uri="{FF2B5EF4-FFF2-40B4-BE49-F238E27FC236}">
                <a16:creationId xmlns:a16="http://schemas.microsoft.com/office/drawing/2014/main" id="{94B654D3-8306-7B48-8A78-36578E70C071}"/>
              </a:ext>
            </a:extLst>
          </p:cNvPr>
          <p:cNvSpPr>
            <a:spLocks noGrp="1"/>
          </p:cNvSpPr>
          <p:nvPr>
            <p:ph type="sldNum" sz="quarter" idx="12"/>
          </p:nvPr>
        </p:nvSpPr>
        <p:spPr/>
        <p:txBody>
          <a:bodyPr/>
          <a:lstStyle/>
          <a:p>
            <a:fld id="{97BA8967-5D92-4842-BAFB-0C8F679E5DC4}" type="slidenum">
              <a:rPr lang="sv-SE" smtClean="0"/>
              <a:t>8</a:t>
            </a:fld>
            <a:endParaRPr lang="sv-SE"/>
          </a:p>
        </p:txBody>
      </p:sp>
      <p:sp>
        <p:nvSpPr>
          <p:cNvPr id="6" name="textruta 5">
            <a:extLst>
              <a:ext uri="{FF2B5EF4-FFF2-40B4-BE49-F238E27FC236}">
                <a16:creationId xmlns:a16="http://schemas.microsoft.com/office/drawing/2014/main" id="{2D5BE3DB-A1D5-C847-BF3B-3EADD99F7365}"/>
              </a:ext>
            </a:extLst>
          </p:cNvPr>
          <p:cNvSpPr txBox="1"/>
          <p:nvPr/>
        </p:nvSpPr>
        <p:spPr>
          <a:xfrm>
            <a:off x="239168" y="384592"/>
            <a:ext cx="1951896"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10" name="Ellips 9">
            <a:extLst>
              <a:ext uri="{FF2B5EF4-FFF2-40B4-BE49-F238E27FC236}">
                <a16:creationId xmlns:a16="http://schemas.microsoft.com/office/drawing/2014/main" id="{394120C9-9DE7-C345-86FE-A778799BCAF5}"/>
              </a:ext>
            </a:extLst>
          </p:cNvPr>
          <p:cNvSpPr/>
          <p:nvPr/>
        </p:nvSpPr>
        <p:spPr>
          <a:xfrm>
            <a:off x="1983471" y="216513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666kcal</a:t>
            </a:r>
            <a:endParaRPr sz="1200" b="1" dirty="0">
              <a:solidFill>
                <a:schemeClr val="bg1"/>
              </a:solidFill>
              <a:ea typeface="ＭＳ 明朝"/>
              <a:cs typeface="Avenir Light"/>
            </a:endParaRPr>
          </a:p>
        </p:txBody>
      </p:sp>
      <p:pic>
        <p:nvPicPr>
          <p:cNvPr id="13" name="Bildobjekt 12">
            <a:extLst>
              <a:ext uri="{FF2B5EF4-FFF2-40B4-BE49-F238E27FC236}">
                <a16:creationId xmlns:a16="http://schemas.microsoft.com/office/drawing/2014/main" id="{B66F1B13-F8C7-DD41-9B97-79BB58CBBA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411180" y="776979"/>
            <a:ext cx="4975982" cy="3731987"/>
          </a:xfrm>
          <a:prstGeom prst="rect">
            <a:avLst/>
          </a:prstGeom>
        </p:spPr>
      </p:pic>
      <p:sp>
        <p:nvSpPr>
          <p:cNvPr id="2" name="textruta 1">
            <a:extLst>
              <a:ext uri="{FF2B5EF4-FFF2-40B4-BE49-F238E27FC236}">
                <a16:creationId xmlns:a16="http://schemas.microsoft.com/office/drawing/2014/main" id="{9DE4231C-41E2-104A-A342-85D71DA34463}"/>
              </a:ext>
            </a:extLst>
          </p:cNvPr>
          <p:cNvSpPr txBox="1"/>
          <p:nvPr/>
        </p:nvSpPr>
        <p:spPr>
          <a:xfrm>
            <a:off x="579419" y="868507"/>
            <a:ext cx="1854162" cy="369332"/>
          </a:xfrm>
          <a:prstGeom prst="rect">
            <a:avLst/>
          </a:prstGeom>
          <a:noFill/>
        </p:spPr>
        <p:txBody>
          <a:bodyPr wrap="none" rtlCol="0">
            <a:spAutoFit/>
          </a:bodyPr>
          <a:lstStyle/>
          <a:p>
            <a:r>
              <a:rPr lang="sv-SE" dirty="0"/>
              <a:t>Höst Turbon 2024</a:t>
            </a:r>
          </a:p>
        </p:txBody>
      </p:sp>
      <p:sp>
        <p:nvSpPr>
          <p:cNvPr id="9" name="Platshållare för sidfot 1">
            <a:extLst>
              <a:ext uri="{FF2B5EF4-FFF2-40B4-BE49-F238E27FC236}">
                <a16:creationId xmlns:a16="http://schemas.microsoft.com/office/drawing/2014/main" id="{3BAF6E63-DF4A-7C40-9F37-1243E8E80DBD}"/>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1305619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474FD39E-D9B6-D205-CBE2-E952FCCE6E2B}"/>
              </a:ext>
            </a:extLst>
          </p:cNvPr>
          <p:cNvSpPr/>
          <p:nvPr/>
        </p:nvSpPr>
        <p:spPr>
          <a:xfrm>
            <a:off x="300961" y="1028848"/>
            <a:ext cx="6557039" cy="652587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9</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4" name="Platshållare för sidfot 1">
            <a:extLst>
              <a:ext uri="{FF2B5EF4-FFF2-40B4-BE49-F238E27FC236}">
                <a16:creationId xmlns:a16="http://schemas.microsoft.com/office/drawing/2014/main" id="{989554C9-7654-AF41-A3F7-BA3D3CC33B7E}"/>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pic>
        <p:nvPicPr>
          <p:cNvPr id="6" name="Bildobjekt 5">
            <a:extLst>
              <a:ext uri="{FF2B5EF4-FFF2-40B4-BE49-F238E27FC236}">
                <a16:creationId xmlns:a16="http://schemas.microsoft.com/office/drawing/2014/main" id="{3938C22F-13D4-9D44-A803-29CFC78F412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57073" y="224397"/>
            <a:ext cx="3225831" cy="4301108"/>
          </a:xfrm>
          <a:prstGeom prst="rect">
            <a:avLst/>
          </a:prstGeom>
        </p:spPr>
      </p:pic>
      <p:sp>
        <p:nvSpPr>
          <p:cNvPr id="8" name="Rektangel 7">
            <a:extLst>
              <a:ext uri="{FF2B5EF4-FFF2-40B4-BE49-F238E27FC236}">
                <a16:creationId xmlns:a16="http://schemas.microsoft.com/office/drawing/2014/main" id="{78A8CE1A-01BC-D74A-B82D-926CC13AADB3}"/>
              </a:ext>
            </a:extLst>
          </p:cNvPr>
          <p:cNvSpPr/>
          <p:nvPr/>
        </p:nvSpPr>
        <p:spPr>
          <a:xfrm>
            <a:off x="378814" y="1199140"/>
            <a:ext cx="6218970" cy="6355586"/>
          </a:xfrm>
          <a:prstGeom prst="rect">
            <a:avLst/>
          </a:prstGeom>
        </p:spPr>
        <p:txBody>
          <a:bodyPr wrap="square" lIns="91440" tIns="45720" rIns="91440" bIns="45720" anchor="t">
            <a:spAutoFit/>
          </a:bodyPr>
          <a:lstStyle/>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Asiatiska köttbullar med nudelsallad</a:t>
            </a: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 –  3 portioner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Köttbullar</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350 g nötfärs</a:t>
            </a:r>
          </a:p>
          <a:p>
            <a:pPr>
              <a:spcAft>
                <a:spcPts val="0"/>
              </a:spcAft>
            </a:pPr>
            <a:r>
              <a:rPr lang="sv-SE" sz="1100" dirty="0">
                <a:latin typeface="Calibri"/>
                <a:ea typeface="Calibri"/>
                <a:cs typeface="Times New Roman"/>
              </a:rPr>
              <a:t>¼ </a:t>
            </a:r>
            <a:r>
              <a:rPr lang="sv-SE" sz="1100" dirty="0">
                <a:solidFill>
                  <a:srgbClr val="FF0000"/>
                </a:solidFill>
                <a:latin typeface="Calibri"/>
                <a:ea typeface="Calibri"/>
                <a:cs typeface="Times New Roman"/>
              </a:rPr>
              <a:t>finhackad</a:t>
            </a:r>
            <a:r>
              <a:rPr lang="sv-SE" sz="1100" dirty="0">
                <a:latin typeface="Calibri"/>
                <a:ea typeface="Calibri"/>
                <a:cs typeface="Times New Roman"/>
              </a:rPr>
              <a:t> chili</a:t>
            </a:r>
          </a:p>
          <a:p>
            <a:pPr>
              <a:spcAft>
                <a:spcPts val="0"/>
              </a:spcAft>
            </a:pPr>
            <a:r>
              <a:rPr lang="sv-SE" sz="1100" dirty="0">
                <a:latin typeface="Calibri"/>
                <a:ea typeface="Calibri"/>
                <a:cs typeface="Times New Roman"/>
              </a:rPr>
              <a:t>½ msk </a:t>
            </a:r>
            <a:r>
              <a:rPr lang="sv-SE" sz="1100" dirty="0">
                <a:solidFill>
                  <a:srgbClr val="FF0000"/>
                </a:solidFill>
                <a:latin typeface="Calibri"/>
                <a:ea typeface="Calibri"/>
                <a:cs typeface="Times New Roman"/>
              </a:rPr>
              <a:t>riven</a:t>
            </a:r>
            <a:r>
              <a:rPr lang="sv-SE" sz="1100" dirty="0">
                <a:latin typeface="Calibri"/>
                <a:ea typeface="Calibri"/>
                <a:cs typeface="Times New Roman"/>
              </a:rPr>
              <a:t> ingefära</a:t>
            </a:r>
          </a:p>
          <a:p>
            <a:pPr>
              <a:spcAft>
                <a:spcPts val="0"/>
              </a:spcAft>
            </a:pPr>
            <a:r>
              <a:rPr lang="sv-SE" sz="1100" dirty="0">
                <a:latin typeface="Calibri"/>
                <a:ea typeface="Calibri"/>
                <a:cs typeface="Times New Roman"/>
              </a:rPr>
              <a:t>1 </a:t>
            </a:r>
            <a:r>
              <a:rPr lang="sv-SE" sz="1100" dirty="0">
                <a:solidFill>
                  <a:srgbClr val="FF0000"/>
                </a:solidFill>
                <a:latin typeface="Calibri"/>
                <a:ea typeface="Calibri"/>
                <a:cs typeface="Times New Roman"/>
              </a:rPr>
              <a:t>riven</a:t>
            </a:r>
            <a:r>
              <a:rPr lang="sv-SE" sz="1100" dirty="0">
                <a:latin typeface="Calibri"/>
                <a:ea typeface="Calibri"/>
                <a:cs typeface="Times New Roman"/>
              </a:rPr>
              <a:t> vitlöksklyfta</a:t>
            </a:r>
          </a:p>
          <a:p>
            <a:pPr>
              <a:spcAft>
                <a:spcPts val="0"/>
              </a:spcAft>
            </a:pPr>
            <a:r>
              <a:rPr lang="sv-SE" sz="1100" dirty="0">
                <a:latin typeface="Calibri"/>
                <a:ea typeface="Calibri"/>
                <a:cs typeface="Times New Roman"/>
              </a:rPr>
              <a:t>½ dl </a:t>
            </a:r>
            <a:r>
              <a:rPr lang="sv-SE" sz="1100" dirty="0">
                <a:solidFill>
                  <a:srgbClr val="FF0000"/>
                </a:solidFill>
                <a:latin typeface="Calibri"/>
                <a:ea typeface="Calibri"/>
                <a:cs typeface="Times New Roman"/>
              </a:rPr>
              <a:t>finhackad</a:t>
            </a:r>
            <a:r>
              <a:rPr lang="sv-SE" sz="1100" dirty="0">
                <a:latin typeface="Calibri"/>
                <a:ea typeface="Calibri"/>
                <a:cs typeface="Times New Roman"/>
              </a:rPr>
              <a:t> purjolök</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msk teriyakisås</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 tsk rapsolja</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Nudelsallad</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r>
              <a:rPr lang="sv-SE" sz="1100" dirty="0">
                <a:ea typeface="Arial Unicode MS" panose="020B0604020202020204" pitchFamily="34" charset="-128"/>
                <a:cs typeface="Arial Unicode MS" panose="020B0604020202020204" pitchFamily="34" charset="-128"/>
              </a:rPr>
              <a:t>80 g glasnudlar</a:t>
            </a:r>
          </a:p>
          <a:p>
            <a:pPr>
              <a:spcAft>
                <a:spcPts val="0"/>
              </a:spcAft>
            </a:pPr>
            <a:r>
              <a:rPr lang="sv-SE" sz="1100" dirty="0">
                <a:solidFill>
                  <a:srgbClr val="FF0000"/>
                </a:solidFill>
                <a:latin typeface="Calibri"/>
                <a:ea typeface="Calibri"/>
                <a:cs typeface="Times New Roman"/>
              </a:rPr>
              <a:t>½ röd paprika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100 g sockerärtor</a:t>
            </a:r>
          </a:p>
          <a:p>
            <a:r>
              <a:rPr lang="sv-SE" sz="1100" dirty="0">
                <a:latin typeface="Calibri" panose="020F0502020204030204" pitchFamily="34" charset="0"/>
                <a:ea typeface="Calibri" panose="020F0502020204030204" pitchFamily="34" charset="0"/>
                <a:cs typeface="Times New Roman" panose="02020603050405020304" pitchFamily="18" charset="0"/>
              </a:rPr>
              <a:t>1 morot</a:t>
            </a:r>
          </a:p>
          <a:p>
            <a:r>
              <a:rPr lang="sv-SE" sz="1100" dirty="0">
                <a:latin typeface="Calibri" panose="020F0502020204030204" pitchFamily="34" charset="0"/>
                <a:ea typeface="Calibri" panose="020F0502020204030204" pitchFamily="34" charset="0"/>
                <a:cs typeface="Times New Roman" panose="02020603050405020304" pitchFamily="18" charset="0"/>
              </a:rPr>
              <a:t>2 tsk rapsolja</a:t>
            </a:r>
          </a:p>
          <a:p>
            <a:pPr>
              <a:spcAft>
                <a:spcPts val="0"/>
              </a:spcAft>
            </a:pPr>
            <a:r>
              <a:rPr lang="sv-SE" sz="1100" dirty="0">
                <a:latin typeface="Calibri"/>
                <a:ea typeface="Calibri"/>
                <a:cs typeface="Times New Roman"/>
              </a:rPr>
              <a:t>¼ </a:t>
            </a:r>
            <a:r>
              <a:rPr lang="sv-SE" sz="1100" dirty="0">
                <a:solidFill>
                  <a:srgbClr val="FF0000"/>
                </a:solidFill>
                <a:latin typeface="Calibri"/>
                <a:ea typeface="Calibri"/>
                <a:cs typeface="Times New Roman"/>
              </a:rPr>
              <a:t>finhackad </a:t>
            </a:r>
            <a:r>
              <a:rPr lang="sv-SE" sz="1100" dirty="0">
                <a:latin typeface="Calibri"/>
                <a:ea typeface="Calibri"/>
                <a:cs typeface="Times New Roman"/>
              </a:rPr>
              <a:t>chili</a:t>
            </a:r>
          </a:p>
          <a:p>
            <a:pPr>
              <a:spcAft>
                <a:spcPts val="0"/>
              </a:spcAft>
            </a:pPr>
            <a:r>
              <a:rPr lang="sv-SE" sz="1100" dirty="0">
                <a:latin typeface="Calibri"/>
                <a:ea typeface="Calibri"/>
                <a:cs typeface="Times New Roman"/>
              </a:rPr>
              <a:t>½ msk </a:t>
            </a:r>
            <a:r>
              <a:rPr lang="sv-SE" sz="1100" dirty="0">
                <a:solidFill>
                  <a:srgbClr val="FF0000"/>
                </a:solidFill>
                <a:latin typeface="Calibri"/>
                <a:ea typeface="Calibri"/>
                <a:cs typeface="Times New Roman"/>
              </a:rPr>
              <a:t>riven</a:t>
            </a:r>
            <a:r>
              <a:rPr lang="sv-SE" sz="1100" dirty="0">
                <a:latin typeface="Calibri"/>
                <a:ea typeface="Calibri"/>
                <a:cs typeface="Times New Roman"/>
              </a:rPr>
              <a:t> ingefära</a:t>
            </a:r>
          </a:p>
          <a:p>
            <a:pPr>
              <a:spcAft>
                <a:spcPts val="0"/>
              </a:spcAft>
            </a:pPr>
            <a:r>
              <a:rPr lang="sv-SE" sz="1100" dirty="0">
                <a:latin typeface="Calibri"/>
                <a:ea typeface="Calibri"/>
                <a:cs typeface="Times New Roman"/>
              </a:rPr>
              <a:t>1 </a:t>
            </a:r>
            <a:r>
              <a:rPr lang="sv-SE" sz="1100" dirty="0">
                <a:solidFill>
                  <a:srgbClr val="FF0000"/>
                </a:solidFill>
                <a:latin typeface="Calibri"/>
                <a:ea typeface="Calibri"/>
                <a:cs typeface="Times New Roman"/>
              </a:rPr>
              <a:t>riven</a:t>
            </a:r>
            <a:r>
              <a:rPr lang="sv-SE" sz="1100" dirty="0">
                <a:latin typeface="Calibri"/>
                <a:ea typeface="Calibri"/>
                <a:cs typeface="Times New Roman"/>
              </a:rPr>
              <a:t> vitlöksklyfta</a:t>
            </a:r>
          </a:p>
          <a:p>
            <a:pPr>
              <a:spcAft>
                <a:spcPts val="0"/>
              </a:spcAft>
            </a:pPr>
            <a:r>
              <a:rPr lang="sv-SE" sz="1100" dirty="0">
                <a:latin typeface="Calibri"/>
                <a:ea typeface="Calibri"/>
                <a:cs typeface="Times New Roman"/>
              </a:rPr>
              <a:t>½ dl </a:t>
            </a:r>
            <a:r>
              <a:rPr lang="sv-SE" sz="1100" dirty="0">
                <a:solidFill>
                  <a:srgbClr val="FF0000"/>
                </a:solidFill>
                <a:latin typeface="Calibri"/>
                <a:ea typeface="Calibri"/>
                <a:cs typeface="Times New Roman"/>
              </a:rPr>
              <a:t>strimlad</a:t>
            </a:r>
            <a:r>
              <a:rPr lang="sv-SE" sz="1100" dirty="0">
                <a:latin typeface="Calibri"/>
                <a:ea typeface="Calibri"/>
                <a:cs typeface="Times New Roman"/>
              </a:rPr>
              <a:t> purjolök</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 msk teriyakisås</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r>
              <a:rPr lang="sv-SE" sz="1100" dirty="0">
                <a:latin typeface="Calibri"/>
                <a:ea typeface="Calibri"/>
                <a:cs typeface="Times New Roman"/>
              </a:rPr>
              <a:t> </a:t>
            </a:r>
            <a:r>
              <a:rPr lang="sv-SE" sz="1100" b="1" dirty="0" err="1">
                <a:latin typeface="Calibri"/>
                <a:ea typeface="Calibri"/>
                <a:cs typeface="Times New Roman"/>
              </a:rPr>
              <a:t>Topping</a:t>
            </a:r>
            <a:r>
              <a:rPr lang="sv-SE" sz="1100" b="1" dirty="0">
                <a:latin typeface="Calibri"/>
                <a:ea typeface="Calibri"/>
                <a:cs typeface="Times New Roman"/>
              </a:rPr>
              <a:t>: </a:t>
            </a:r>
            <a:r>
              <a:rPr lang="sv-SE" sz="1100" dirty="0">
                <a:latin typeface="Calibri"/>
                <a:ea typeface="Calibri"/>
                <a:cs typeface="Times New Roman"/>
              </a:rPr>
              <a:t>1msk</a:t>
            </a:r>
            <a:r>
              <a:rPr lang="sv-SE" sz="1100" b="1" dirty="0">
                <a:latin typeface="Calibri"/>
                <a:ea typeface="Calibri"/>
                <a:cs typeface="Times New Roman"/>
              </a:rPr>
              <a:t> </a:t>
            </a:r>
            <a:r>
              <a:rPr lang="sv-SE" sz="1100" dirty="0">
                <a:latin typeface="Calibri"/>
                <a:ea typeface="Calibri"/>
                <a:cs typeface="Times New Roman"/>
              </a:rPr>
              <a:t>färsk koriander</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r>
              <a:rPr lang="sv-SE" sz="1100" dirty="0">
                <a:latin typeface="Calibri" panose="020F0502020204030204" pitchFamily="34" charset="0"/>
                <a:ea typeface="Calibri" panose="020F0502020204030204" pitchFamily="34" charset="0"/>
                <a:cs typeface="Times New Roman" panose="02020603050405020304" pitchFamily="18" charset="0"/>
              </a:rPr>
              <a:t>Koka glasnudlar enligt anvisningen på förpackningen. Häll av vattnet och skölj  i kallt vatten. Skär paprika och sockerärtor i strimlor. Skala och skär moroten i strimlor. Hetta upp en stekpanna med olja och lägg ner chili, ingefära, vitlök, purjolök och alla grönsaker i någon minut. Häll på teriyakisås och smaka av med salt och peppar. Ställ åt sidan och blanda ner nudlarna. Blanda alla ingredienser till bullarna i en bunke. Forma till små bollar. Hetta upp en stekpanna med rapsolja och stek i några minuter.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Lägg upp nudlarna i en skål och servera med köttbullarna. Toppa med färsk koriander. </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Ellips 8">
            <a:extLst>
              <a:ext uri="{FF2B5EF4-FFF2-40B4-BE49-F238E27FC236}">
                <a16:creationId xmlns:a16="http://schemas.microsoft.com/office/drawing/2014/main" id="{BE1C5C0A-F0D3-DF42-90DD-6D6B66FCFC48}"/>
              </a:ext>
            </a:extLst>
          </p:cNvPr>
          <p:cNvSpPr/>
          <p:nvPr/>
        </p:nvSpPr>
        <p:spPr>
          <a:xfrm>
            <a:off x="2075049" y="189711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422kcal</a:t>
            </a:r>
            <a:endParaRPr sz="1200" b="1" dirty="0">
              <a:solidFill>
                <a:schemeClr val="bg1"/>
              </a:solidFill>
              <a:ea typeface="ＭＳ 明朝"/>
              <a:cs typeface="Avenir Light"/>
            </a:endParaRPr>
          </a:p>
        </p:txBody>
      </p:sp>
      <p:sp>
        <p:nvSpPr>
          <p:cNvPr id="10" name="Pratbubbla: rektangel med rundade hörn 5">
            <a:extLst>
              <a:ext uri="{FF2B5EF4-FFF2-40B4-BE49-F238E27FC236}">
                <a16:creationId xmlns:a16="http://schemas.microsoft.com/office/drawing/2014/main" id="{2E2753C6-182C-C34D-82B4-D46CAF0DA3E8}"/>
              </a:ext>
            </a:extLst>
          </p:cNvPr>
          <p:cNvSpPr/>
          <p:nvPr/>
        </p:nvSpPr>
        <p:spPr>
          <a:xfrm>
            <a:off x="3004620" y="4868291"/>
            <a:ext cx="1548908" cy="631957"/>
          </a:xfrm>
          <a:prstGeom prst="wedgeRoundRectCallout">
            <a:avLst/>
          </a:prstGeom>
          <a:solidFill>
            <a:srgbClr val="27656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200" dirty="0">
                <a:cs typeface="Avenir Light"/>
              </a:rPr>
              <a:t>Frys in 1 portion!</a:t>
            </a:r>
          </a:p>
        </p:txBody>
      </p:sp>
    </p:spTree>
    <p:extLst>
      <p:ext uri="{BB962C8B-B14F-4D97-AF65-F5344CB8AC3E}">
        <p14:creationId xmlns:p14="http://schemas.microsoft.com/office/powerpoint/2010/main" val="2516864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F14FAA5B-B885-B0E7-D7DE-668D80E810C3}"/>
              </a:ext>
            </a:extLst>
          </p:cNvPr>
          <p:cNvSpPr/>
          <p:nvPr/>
        </p:nvSpPr>
        <p:spPr>
          <a:xfrm>
            <a:off x="119721" y="1132742"/>
            <a:ext cx="3548175" cy="33406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5" name="Platshållare för bildnummer 4">
            <a:extLst>
              <a:ext uri="{FF2B5EF4-FFF2-40B4-BE49-F238E27FC236}">
                <a16:creationId xmlns:a16="http://schemas.microsoft.com/office/drawing/2014/main" id="{FBB45A7C-8AF3-3645-B2BA-3E0B6B53C4ED}"/>
              </a:ext>
            </a:extLst>
          </p:cNvPr>
          <p:cNvSpPr>
            <a:spLocks noGrp="1"/>
          </p:cNvSpPr>
          <p:nvPr>
            <p:ph type="sldNum" sz="quarter" idx="12"/>
          </p:nvPr>
        </p:nvSpPr>
        <p:spPr/>
        <p:txBody>
          <a:bodyPr/>
          <a:lstStyle/>
          <a:p>
            <a:fld id="{97BA8967-5D92-4842-BAFB-0C8F679E5DC4}" type="slidenum">
              <a:rPr lang="sv-SE" smtClean="0"/>
              <a:t>10</a:t>
            </a:fld>
            <a:endParaRPr lang="sv-SE"/>
          </a:p>
        </p:txBody>
      </p:sp>
      <p:sp>
        <p:nvSpPr>
          <p:cNvPr id="14" name="textruta 13">
            <a:extLst>
              <a:ext uri="{FF2B5EF4-FFF2-40B4-BE49-F238E27FC236}">
                <a16:creationId xmlns:a16="http://schemas.microsoft.com/office/drawing/2014/main" id="{3A0F5176-7E66-B948-8D80-90EA9B6582E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24" name="textruta 23">
            <a:extLst>
              <a:ext uri="{FF2B5EF4-FFF2-40B4-BE49-F238E27FC236}">
                <a16:creationId xmlns:a16="http://schemas.microsoft.com/office/drawing/2014/main" id="{A2D7ECE1-FD28-EA4A-B8BF-BB8C953EF8BB}"/>
              </a:ext>
            </a:extLst>
          </p:cNvPr>
          <p:cNvSpPr txBox="1"/>
          <p:nvPr/>
        </p:nvSpPr>
        <p:spPr>
          <a:xfrm>
            <a:off x="225220" y="1406236"/>
            <a:ext cx="2871348" cy="2292935"/>
          </a:xfrm>
          <a:prstGeom prst="rect">
            <a:avLst/>
          </a:prstGeom>
          <a:noFill/>
        </p:spPr>
        <p:txBody>
          <a:bodyPr wrap="square" lIns="91440" tIns="45720" rIns="91440" bIns="45720" rtlCol="0" anchor="t">
            <a:spAutoFit/>
          </a:bodyPr>
          <a:lstStyle/>
          <a:p>
            <a:r>
              <a:rPr lang="sv-SE" sz="1100" b="1" dirty="0"/>
              <a:t>Jordgubbar och mango med vit chokladkräm </a:t>
            </a:r>
          </a:p>
          <a:p>
            <a:r>
              <a:rPr lang="sv-SE" sz="1100" b="1" dirty="0"/>
              <a:t>– 2 portioner</a:t>
            </a:r>
          </a:p>
          <a:p>
            <a:r>
              <a:rPr lang="sv-SE" sz="1100" dirty="0">
                <a:cs typeface="Avenir Light"/>
              </a:rPr>
              <a:t>½ mango</a:t>
            </a:r>
          </a:p>
          <a:p>
            <a:r>
              <a:rPr lang="sv-SE" sz="1100" dirty="0">
                <a:cs typeface="Avenir Light"/>
              </a:rPr>
              <a:t>6 jordgubbar</a:t>
            </a:r>
          </a:p>
          <a:p>
            <a:r>
              <a:rPr lang="sv-SE" sz="1100" dirty="0">
                <a:cs typeface="Avenir Light"/>
              </a:rPr>
              <a:t>30 g vit choklad</a:t>
            </a:r>
          </a:p>
          <a:p>
            <a:r>
              <a:rPr lang="sv-SE" sz="1100" dirty="0">
                <a:cs typeface="Avenir Light"/>
              </a:rPr>
              <a:t>50 g Philadelphiaost</a:t>
            </a:r>
          </a:p>
          <a:p>
            <a:r>
              <a:rPr lang="sv-SE" sz="1100" dirty="0">
                <a:cs typeface="Avenir Light"/>
              </a:rPr>
              <a:t>1 msk Färsk mynta</a:t>
            </a:r>
            <a:endParaRPr lang="sv-SE" sz="1100" dirty="0">
              <a:ea typeface="Calibri"/>
              <a:cs typeface="Avenir Light"/>
            </a:endParaRPr>
          </a:p>
          <a:p>
            <a:endParaRPr lang="sv-SE" sz="1100" dirty="0">
              <a:cs typeface="Avenir Light"/>
            </a:endParaRPr>
          </a:p>
          <a:p>
            <a:r>
              <a:rPr lang="sv-SE" sz="1100" dirty="0">
                <a:cs typeface="Avenir Light"/>
              </a:rPr>
              <a:t>Skär mango i bitar och dela jordgubbar och lägg på ett fat. Smält vit choklad i en skål  mikron. Blanda ner Philadelphiaost. Klicka på chokladkräm vid frukten och dekorera med en myntakvist.</a:t>
            </a:r>
            <a:endParaRPr lang="sv-SE" sz="1100" b="1" dirty="0"/>
          </a:p>
        </p:txBody>
      </p:sp>
      <p:sp>
        <p:nvSpPr>
          <p:cNvPr id="25" name="Ellips 24">
            <a:extLst>
              <a:ext uri="{FF2B5EF4-FFF2-40B4-BE49-F238E27FC236}">
                <a16:creationId xmlns:a16="http://schemas.microsoft.com/office/drawing/2014/main" id="{6CDAFD31-60F2-9442-9950-245F997DA23C}"/>
              </a:ext>
            </a:extLst>
          </p:cNvPr>
          <p:cNvSpPr/>
          <p:nvPr/>
        </p:nvSpPr>
        <p:spPr>
          <a:xfrm>
            <a:off x="1893809" y="185195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220kcal</a:t>
            </a:r>
            <a:endParaRPr sz="1200" b="1" dirty="0">
              <a:solidFill>
                <a:schemeClr val="bg1"/>
              </a:solidFill>
              <a:ea typeface="ＭＳ 明朝"/>
              <a:cs typeface="Avenir Light"/>
            </a:endParaRPr>
          </a:p>
        </p:txBody>
      </p:sp>
      <p:pic>
        <p:nvPicPr>
          <p:cNvPr id="4" name="Bildobjekt 3">
            <a:extLst>
              <a:ext uri="{FF2B5EF4-FFF2-40B4-BE49-F238E27FC236}">
                <a16:creationId xmlns:a16="http://schemas.microsoft.com/office/drawing/2014/main" id="{214C9DA6-4886-E54D-A3E8-A836DA438D7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783627" y="1007909"/>
            <a:ext cx="4231037" cy="3173278"/>
          </a:xfrm>
          <a:prstGeom prst="rect">
            <a:avLst/>
          </a:prstGeom>
        </p:spPr>
      </p:pic>
      <p:sp>
        <p:nvSpPr>
          <p:cNvPr id="15" name="Platshållare för sidfot 1">
            <a:extLst>
              <a:ext uri="{FF2B5EF4-FFF2-40B4-BE49-F238E27FC236}">
                <a16:creationId xmlns:a16="http://schemas.microsoft.com/office/drawing/2014/main" id="{8A6CF1BA-D5ED-DD43-9260-3C262BD7C343}"/>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267427243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458464</TotalTime>
  <Words>1855</Words>
  <Application>Microsoft Macintosh PowerPoint</Application>
  <PresentationFormat>Bildspel på skärmen (4:3)</PresentationFormat>
  <Paragraphs>301</Paragraphs>
  <Slides>10</Slides>
  <Notes>3</Notes>
  <HiddenSlides>0</HiddenSlides>
  <MMClips>0</MMClips>
  <ScaleCrop>false</ScaleCrop>
  <HeadingPairs>
    <vt:vector size="6" baseType="variant">
      <vt:variant>
        <vt:lpstr>Använt teckensnitt</vt:lpstr>
      </vt:variant>
      <vt:variant>
        <vt:i4>10</vt:i4>
      </vt:variant>
      <vt:variant>
        <vt:lpstr>Tema</vt:lpstr>
      </vt:variant>
      <vt:variant>
        <vt:i4>1</vt:i4>
      </vt:variant>
      <vt:variant>
        <vt:lpstr>Bildrubriker</vt:lpstr>
      </vt:variant>
      <vt:variant>
        <vt:i4>10</vt:i4>
      </vt:variant>
    </vt:vector>
  </HeadingPairs>
  <TitlesOfParts>
    <vt:vector size="21" baseType="lpstr">
      <vt:lpstr>Arial Unicode MS</vt:lpstr>
      <vt:lpstr>MS Mincho</vt:lpstr>
      <vt:lpstr>MS Mincho</vt:lpstr>
      <vt:lpstr>Aptos</vt:lpstr>
      <vt:lpstr>Arial</vt:lpstr>
      <vt:lpstr>Avenir Light</vt:lpstr>
      <vt:lpstr>BigCaslonFB</vt:lpstr>
      <vt:lpstr>Calibri</vt:lpstr>
      <vt:lpstr>DejaVuSansMono</vt:lpstr>
      <vt:lpstr>Helvetica Neue</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Christopher Genberg</cp:lastModifiedBy>
  <cp:revision>1049</cp:revision>
  <cp:lastPrinted>2017-09-05T09:39:57Z</cp:lastPrinted>
  <dcterms:created xsi:type="dcterms:W3CDTF">2016-08-21T13:21:42Z</dcterms:created>
  <dcterms:modified xsi:type="dcterms:W3CDTF">2025-08-18T20:22:27Z</dcterms:modified>
</cp:coreProperties>
</file>