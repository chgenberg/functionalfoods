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7" r:id="rId2"/>
    <p:sldId id="368" r:id="rId3"/>
    <p:sldId id="496" r:id="rId4"/>
    <p:sldId id="498" r:id="rId5"/>
    <p:sldId id="484" r:id="rId6"/>
    <p:sldId id="281" r:id="rId7"/>
    <p:sldId id="497" r:id="rId8"/>
    <p:sldId id="446" r:id="rId9"/>
    <p:sldId id="418" r:id="rId10"/>
    <p:sldId id="350" r:id="rId11"/>
    <p:sldId id="434" r:id="rId12"/>
  </p:sldIdLst>
  <p:sldSz cx="6858000" cy="9144000" type="screen4x3"/>
  <p:notesSz cx="6858000" cy="9144000"/>
  <p:defaultTextStyle>
    <a:defPPr>
      <a:defRPr lang="sv-SE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76564"/>
    <a:srgbClr val="009999"/>
    <a:srgbClr val="008080"/>
    <a:srgbClr val="65B7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6E8758-9351-4381-95EC-E098EDFD9E03}" v="8" dt="2025-03-21T14:56:24.4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230" autoAdjust="0"/>
    <p:restoredTop sz="94760" autoAdjust="0"/>
  </p:normalViewPr>
  <p:slideViewPr>
    <p:cSldViewPr snapToGrid="0" snapToObjects="1">
      <p:cViewPr varScale="1">
        <p:scale>
          <a:sx n="82" d="100"/>
          <a:sy n="82" d="100"/>
        </p:scale>
        <p:origin x="2696" y="168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ula Jungåker" userId="Jp51DZr2S3O2Kq/fECI9vz/Rf/nX3kiUVMBM7w9AVas=" providerId="None" clId="Web-{7091E0F5-953B-4AE3-BCC7-6FCE7285C4D3}"/>
    <pc:docChg chg="modSld">
      <pc:chgData name="Paula Jungåker" userId="Jp51DZr2S3O2Kq/fECI9vz/Rf/nX3kiUVMBM7w9AVas=" providerId="None" clId="Web-{7091E0F5-953B-4AE3-BCC7-6FCE7285C4D3}" dt="2025-03-11T15:36:54.282" v="9" actId="20577"/>
      <pc:docMkLst>
        <pc:docMk/>
      </pc:docMkLst>
      <pc:sldChg chg="modSp">
        <pc:chgData name="Paula Jungåker" userId="Jp51DZr2S3O2Kq/fECI9vz/Rf/nX3kiUVMBM7w9AVas=" providerId="None" clId="Web-{7091E0F5-953B-4AE3-BCC7-6FCE7285C4D3}" dt="2025-03-11T15:36:00.889" v="6" actId="20577"/>
        <pc:sldMkLst>
          <pc:docMk/>
          <pc:sldMk cId="448532486" sldId="350"/>
        </pc:sldMkLst>
        <pc:spChg chg="mod">
          <ac:chgData name="Paula Jungåker" userId="Jp51DZr2S3O2Kq/fECI9vz/Rf/nX3kiUVMBM7w9AVas=" providerId="None" clId="Web-{7091E0F5-953B-4AE3-BCC7-6FCE7285C4D3}" dt="2025-03-11T15:36:00.889" v="6" actId="20577"/>
          <ac:spMkLst>
            <pc:docMk/>
            <pc:sldMk cId="448532486" sldId="350"/>
            <ac:spMk id="12" creationId="{60393B21-1D77-D34E-A111-AB16E8FA3B34}"/>
          </ac:spMkLst>
        </pc:spChg>
      </pc:sldChg>
      <pc:sldChg chg="modSp">
        <pc:chgData name="Paula Jungåker" userId="Jp51DZr2S3O2Kq/fECI9vz/Rf/nX3kiUVMBM7w9AVas=" providerId="None" clId="Web-{7091E0F5-953B-4AE3-BCC7-6FCE7285C4D3}" dt="2025-03-11T15:32:39.330" v="1" actId="20577"/>
        <pc:sldMkLst>
          <pc:docMk/>
          <pc:sldMk cId="2516864540" sldId="418"/>
        </pc:sldMkLst>
        <pc:spChg chg="mod">
          <ac:chgData name="Paula Jungåker" userId="Jp51DZr2S3O2Kq/fECI9vz/Rf/nX3kiUVMBM7w9AVas=" providerId="None" clId="Web-{7091E0F5-953B-4AE3-BCC7-6FCE7285C4D3}" dt="2025-03-11T15:32:39.330" v="1" actId="20577"/>
          <ac:spMkLst>
            <pc:docMk/>
            <pc:sldMk cId="2516864540" sldId="418"/>
            <ac:spMk id="4" creationId="{375E3402-4472-B04F-A9CF-DCBCB1793FBA}"/>
          </ac:spMkLst>
        </pc:spChg>
      </pc:sldChg>
      <pc:sldChg chg="modSp">
        <pc:chgData name="Paula Jungåker" userId="Jp51DZr2S3O2Kq/fECI9vz/Rf/nX3kiUVMBM7w9AVas=" providerId="None" clId="Web-{7091E0F5-953B-4AE3-BCC7-6FCE7285C4D3}" dt="2025-03-11T15:36:54.282" v="9" actId="20577"/>
        <pc:sldMkLst>
          <pc:docMk/>
          <pc:sldMk cId="2674272433" sldId="434"/>
        </pc:sldMkLst>
        <pc:spChg chg="mod">
          <ac:chgData name="Paula Jungåker" userId="Jp51DZr2S3O2Kq/fECI9vz/Rf/nX3kiUVMBM7w9AVas=" providerId="None" clId="Web-{7091E0F5-953B-4AE3-BCC7-6FCE7285C4D3}" dt="2025-03-11T15:36:54.282" v="9" actId="20577"/>
          <ac:spMkLst>
            <pc:docMk/>
            <pc:sldMk cId="2674272433" sldId="434"/>
            <ac:spMk id="15" creationId="{202415A0-8709-A446-AD44-2A5A9DC43D38}"/>
          </ac:spMkLst>
        </pc:spChg>
      </pc:sldChg>
    </pc:docChg>
  </pc:docChgLst>
  <pc:docChgLst>
    <pc:chgData name="Paula Jungåker" userId="Jp51DZr2S3O2Kq/fECI9vz/Rf/nX3kiUVMBM7w9AVas=" providerId="None" clId="Web-{EC6E8758-9351-4381-95EC-E098EDFD9E03}"/>
    <pc:docChg chg="modSld">
      <pc:chgData name="Paula Jungåker" userId="Jp51DZr2S3O2Kq/fECI9vz/Rf/nX3kiUVMBM7w9AVas=" providerId="None" clId="Web-{EC6E8758-9351-4381-95EC-E098EDFD9E03}" dt="2025-03-21T14:56:24.273" v="2" actId="20577"/>
      <pc:docMkLst>
        <pc:docMk/>
      </pc:docMkLst>
      <pc:sldChg chg="modSp">
        <pc:chgData name="Paula Jungåker" userId="Jp51DZr2S3O2Kq/fECI9vz/Rf/nX3kiUVMBM7w9AVas=" providerId="None" clId="Web-{EC6E8758-9351-4381-95EC-E098EDFD9E03}" dt="2025-03-21T14:56:24.273" v="2" actId="20577"/>
        <pc:sldMkLst>
          <pc:docMk/>
          <pc:sldMk cId="199403158" sldId="496"/>
        </pc:sldMkLst>
        <pc:spChg chg="mod">
          <ac:chgData name="Paula Jungåker" userId="Jp51DZr2S3O2Kq/fECI9vz/Rf/nX3kiUVMBM7w9AVas=" providerId="None" clId="Web-{EC6E8758-9351-4381-95EC-E098EDFD9E03}" dt="2025-03-21T14:56:24.273" v="2" actId="20577"/>
          <ac:spMkLst>
            <pc:docMk/>
            <pc:sldMk cId="199403158" sldId="496"/>
            <ac:spMk id="11" creationId="{97728F71-9BD1-7E42-B60C-29E3D7D00966}"/>
          </ac:spMkLst>
        </pc:spChg>
      </pc:sldChg>
    </pc:docChg>
  </pc:docChgLst>
  <pc:docChgLst>
    <pc:chgData name="Paula Jungåker" userId="Jp51DZr2S3O2Kq/fECI9vz/Rf/nX3kiUVMBM7w9AVas=" providerId="None" clId="Web-{1A0AA67A-3FF4-47F5-BC5E-7DA9AF5195DA}"/>
    <pc:docChg chg="modSld">
      <pc:chgData name="Paula Jungåker" userId="Jp51DZr2S3O2Kq/fECI9vz/Rf/nX3kiUVMBM7w9AVas=" providerId="None" clId="Web-{1A0AA67A-3FF4-47F5-BC5E-7DA9AF5195DA}" dt="2025-03-11T13:13:19.204" v="45" actId="20577"/>
      <pc:docMkLst>
        <pc:docMk/>
      </pc:docMkLst>
      <pc:sldChg chg="modSp">
        <pc:chgData name="Paula Jungåker" userId="Jp51DZr2S3O2Kq/fECI9vz/Rf/nX3kiUVMBM7w9AVas=" providerId="None" clId="Web-{1A0AA67A-3FF4-47F5-BC5E-7DA9AF5195DA}" dt="2025-03-11T10:37:38.347" v="0" actId="20577"/>
        <pc:sldMkLst>
          <pc:docMk/>
          <pc:sldMk cId="3788094998" sldId="257"/>
        </pc:sldMkLst>
        <pc:spChg chg="mod">
          <ac:chgData name="Paula Jungåker" userId="Jp51DZr2S3O2Kq/fECI9vz/Rf/nX3kiUVMBM7w9AVas=" providerId="None" clId="Web-{1A0AA67A-3FF4-47F5-BC5E-7DA9AF5195DA}" dt="2025-03-11T10:37:38.347" v="0" actId="20577"/>
          <ac:spMkLst>
            <pc:docMk/>
            <pc:sldMk cId="3788094998" sldId="257"/>
            <ac:spMk id="6" creationId="{A52F6679-32E8-3A47-9DD3-6E6B5BAEF48D}"/>
          </ac:spMkLst>
        </pc:spChg>
      </pc:sldChg>
      <pc:sldChg chg="modSp">
        <pc:chgData name="Paula Jungåker" userId="Jp51DZr2S3O2Kq/fECI9vz/Rf/nX3kiUVMBM7w9AVas=" providerId="None" clId="Web-{1A0AA67A-3FF4-47F5-BC5E-7DA9AF5195DA}" dt="2025-03-11T12:35:48.450" v="19" actId="20577"/>
        <pc:sldMkLst>
          <pc:docMk/>
          <pc:sldMk cId="2236092047" sldId="281"/>
        </pc:sldMkLst>
        <pc:spChg chg="mod">
          <ac:chgData name="Paula Jungåker" userId="Jp51DZr2S3O2Kq/fECI9vz/Rf/nX3kiUVMBM7w9AVas=" providerId="None" clId="Web-{1A0AA67A-3FF4-47F5-BC5E-7DA9AF5195DA}" dt="2025-03-11T12:35:48.450" v="19" actId="20577"/>
          <ac:spMkLst>
            <pc:docMk/>
            <pc:sldMk cId="2236092047" sldId="281"/>
            <ac:spMk id="8" creationId="{F72424F6-70AD-C144-8204-330F387A0AE5}"/>
          </ac:spMkLst>
        </pc:spChg>
      </pc:sldChg>
      <pc:sldChg chg="modSp">
        <pc:chgData name="Paula Jungåker" userId="Jp51DZr2S3O2Kq/fECI9vz/Rf/nX3kiUVMBM7w9AVas=" providerId="None" clId="Web-{1A0AA67A-3FF4-47F5-BC5E-7DA9AF5195DA}" dt="2025-03-11T10:49:37.619" v="8" actId="20577"/>
        <pc:sldMkLst>
          <pc:docMk/>
          <pc:sldMk cId="3136698234" sldId="368"/>
        </pc:sldMkLst>
        <pc:spChg chg="mod">
          <ac:chgData name="Paula Jungåker" userId="Jp51DZr2S3O2Kq/fECI9vz/Rf/nX3kiUVMBM7w9AVas=" providerId="None" clId="Web-{1A0AA67A-3FF4-47F5-BC5E-7DA9AF5195DA}" dt="2025-03-11T10:49:37.619" v="8" actId="20577"/>
          <ac:spMkLst>
            <pc:docMk/>
            <pc:sldMk cId="3136698234" sldId="368"/>
            <ac:spMk id="2" creationId="{8222E223-1A45-1B48-B9C8-17C9617046A3}"/>
          </ac:spMkLst>
        </pc:spChg>
        <pc:spChg chg="mod">
          <ac:chgData name="Paula Jungåker" userId="Jp51DZr2S3O2Kq/fECI9vz/Rf/nX3kiUVMBM7w9AVas=" providerId="None" clId="Web-{1A0AA67A-3FF4-47F5-BC5E-7DA9AF5195DA}" dt="2025-03-11T10:44:34.844" v="3" actId="20577"/>
          <ac:spMkLst>
            <pc:docMk/>
            <pc:sldMk cId="3136698234" sldId="368"/>
            <ac:spMk id="14" creationId="{AA4B9216-9FB6-024C-BBC0-08C044DF298A}"/>
          </ac:spMkLst>
        </pc:spChg>
      </pc:sldChg>
      <pc:sldChg chg="modSp">
        <pc:chgData name="Paula Jungåker" userId="Jp51DZr2S3O2Kq/fECI9vz/Rf/nX3kiUVMBM7w9AVas=" providerId="None" clId="Web-{1A0AA67A-3FF4-47F5-BC5E-7DA9AF5195DA}" dt="2025-03-11T13:13:19.204" v="45" actId="20577"/>
        <pc:sldMkLst>
          <pc:docMk/>
          <pc:sldMk cId="126299323" sldId="446"/>
        </pc:sldMkLst>
        <pc:spChg chg="mod">
          <ac:chgData name="Paula Jungåker" userId="Jp51DZr2S3O2Kq/fECI9vz/Rf/nX3kiUVMBM7w9AVas=" providerId="None" clId="Web-{1A0AA67A-3FF4-47F5-BC5E-7DA9AF5195DA}" dt="2025-03-11T13:13:19.204" v="45" actId="20577"/>
          <ac:spMkLst>
            <pc:docMk/>
            <pc:sldMk cId="126299323" sldId="446"/>
            <ac:spMk id="2" creationId="{6BEE1AA8-6B28-4F49-8638-AAEE2444C6DC}"/>
          </ac:spMkLst>
        </pc:spChg>
      </pc:sldChg>
      <pc:sldChg chg="modSp">
        <pc:chgData name="Paula Jungåker" userId="Jp51DZr2S3O2Kq/fECI9vz/Rf/nX3kiUVMBM7w9AVas=" providerId="None" clId="Web-{1A0AA67A-3FF4-47F5-BC5E-7DA9AF5195DA}" dt="2025-03-11T10:51:09.935" v="11" actId="20577"/>
        <pc:sldMkLst>
          <pc:docMk/>
          <pc:sldMk cId="199403158" sldId="496"/>
        </pc:sldMkLst>
        <pc:spChg chg="mod">
          <ac:chgData name="Paula Jungåker" userId="Jp51DZr2S3O2Kq/fECI9vz/Rf/nX3kiUVMBM7w9AVas=" providerId="None" clId="Web-{1A0AA67A-3FF4-47F5-BC5E-7DA9AF5195DA}" dt="2025-03-11T10:50:16.371" v="9" actId="20577"/>
          <ac:spMkLst>
            <pc:docMk/>
            <pc:sldMk cId="199403158" sldId="496"/>
            <ac:spMk id="11" creationId="{97728F71-9BD1-7E42-B60C-29E3D7D00966}"/>
          </ac:spMkLst>
        </pc:spChg>
        <pc:spChg chg="mod">
          <ac:chgData name="Paula Jungåker" userId="Jp51DZr2S3O2Kq/fECI9vz/Rf/nX3kiUVMBM7w9AVas=" providerId="None" clId="Web-{1A0AA67A-3FF4-47F5-BC5E-7DA9AF5195DA}" dt="2025-03-11T10:51:09.935" v="11" actId="20577"/>
          <ac:spMkLst>
            <pc:docMk/>
            <pc:sldMk cId="199403158" sldId="496"/>
            <ac:spMk id="19" creationId="{BC4C02D1-6042-3F4B-8321-DDC23BB786CD}"/>
          </ac:spMkLst>
        </pc:spChg>
      </pc:sldChg>
      <pc:sldChg chg="modSp">
        <pc:chgData name="Paula Jungåker" userId="Jp51DZr2S3O2Kq/fECI9vz/Rf/nX3kiUVMBM7w9AVas=" providerId="None" clId="Web-{1A0AA67A-3FF4-47F5-BC5E-7DA9AF5195DA}" dt="2025-03-11T12:39:28.379" v="36" actId="20577"/>
        <pc:sldMkLst>
          <pc:docMk/>
          <pc:sldMk cId="1460706751" sldId="497"/>
        </pc:sldMkLst>
        <pc:spChg chg="mod">
          <ac:chgData name="Paula Jungåker" userId="Jp51DZr2S3O2Kq/fECI9vz/Rf/nX3kiUVMBM7w9AVas=" providerId="None" clId="Web-{1A0AA67A-3FF4-47F5-BC5E-7DA9AF5195DA}" dt="2025-03-11T12:39:28.379" v="36" actId="20577"/>
          <ac:spMkLst>
            <pc:docMk/>
            <pc:sldMk cId="1460706751" sldId="497"/>
            <ac:spMk id="10" creationId="{73CF3739-637C-C848-887B-0F156320E23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Platshållare fö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AF518D-D1B5-2545-B50F-6E9BBD888BCB}" type="datetimeFigureOut">
              <a:rPr lang="sv-SE" smtClean="0"/>
              <a:t>2025-06-03</a:t>
            </a:fld>
            <a:endParaRPr lang="sv-SE"/>
          </a:p>
        </p:txBody>
      </p:sp>
      <p:sp>
        <p:nvSpPr>
          <p:cNvPr id="4" name="Platshållare för bildobjekt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Platshållare för anteckninga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3415C0-1913-C443-8074-00E93713293E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977892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3415C0-1913-C443-8074-00E93713293E}" type="slidenum">
              <a:rPr lang="sv-SE" smtClean="0"/>
              <a:t>1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5140394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3415C0-1913-C443-8074-00E93713293E}" type="slidenum">
              <a:rPr lang="sv-SE" smtClean="0"/>
              <a:t>2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1634575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3415C0-1913-C443-8074-00E93713293E}" type="slidenum">
              <a:rPr lang="sv-SE" smtClean="0"/>
              <a:t>6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418663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3415C0-1913-C443-8074-00E93713293E}" type="slidenum">
              <a:rPr lang="sv-SE" smtClean="0"/>
              <a:t>10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784888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Underrubrik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v-SE"/>
              <a:t>Klicka här för att ändra format på underrubrik i bakgrunden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DA80A-1BE6-40A2-A134-482AAF037DFC}" type="datetime1">
              <a:rPr lang="sv-SE" smtClean="0"/>
              <a:t>2025-06-03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ULRIKA DAVIDSSON ● LAGA LÄTT 6 VECKOR ● RECEPT  ● VECKA 1</a:t>
            </a:r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A8967-5D92-4842-BAFB-0C8F679E5DC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32805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7DF21-0883-43EC-91D5-C9424F5F8865}" type="datetime1">
              <a:rPr lang="sv-SE" smtClean="0"/>
              <a:t>2025-06-03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ULRIKA DAVIDSSON ● LAGA LÄTT 6 VECKOR ● RECEPT  ● VECKA 1</a:t>
            </a:r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A8967-5D92-4842-BAFB-0C8F679E5DC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417834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640AB-E0B5-43CC-810E-D003D1BC6DFA}" type="datetime1">
              <a:rPr lang="sv-SE" smtClean="0"/>
              <a:t>2025-06-03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ULRIKA DAVIDSSON ● LAGA LÄTT 6 VECKOR ● RECEPT  ● VECKA 1</a:t>
            </a:r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A8967-5D92-4842-BAFB-0C8F679E5DC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2821795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innehålls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innehåll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5E01-A5E8-46B2-A7EB-D7DFD4EA7399}" type="datetime1">
              <a:rPr lang="sv-SE" smtClean="0"/>
              <a:t>2025-06-03</a:t>
            </a:fld>
            <a:endParaRPr lang="sv-SE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ULRIKA DAVIDSSON ● LAGA LÄTT 6 VECKOR ● RECEPT  ● VECKA 1</a:t>
            </a:r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A8967-5D92-4842-BAFB-0C8F679E5DC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271029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innehåll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text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6" name="Platshållare för innehåll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7" name="Platshållare fö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B0D4C-FCD8-4E77-B860-C0B2F667CB83}" type="datetime1">
              <a:rPr lang="sv-SE" smtClean="0"/>
              <a:t>2025-06-03</a:t>
            </a:fld>
            <a:endParaRPr lang="sv-SE"/>
          </a:p>
        </p:txBody>
      </p:sp>
      <p:sp>
        <p:nvSpPr>
          <p:cNvPr id="8" name="Platshållare för sidfo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ULRIKA DAVIDSSON ● LAGA LÄTT 6 VECKOR ● RECEPT  ● VECKA 1</a:t>
            </a:r>
          </a:p>
        </p:txBody>
      </p:sp>
      <p:sp>
        <p:nvSpPr>
          <p:cNvPr id="9" name="Platshållare för bild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A8967-5D92-4842-BAFB-0C8F679E5DC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46790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76126-DB9B-4BAA-A376-2217548CABED}" type="datetime1">
              <a:rPr lang="sv-SE" smtClean="0"/>
              <a:t>2025-06-03</a:t>
            </a:fld>
            <a:endParaRPr lang="sv-SE"/>
          </a:p>
        </p:txBody>
      </p:sp>
      <p:sp>
        <p:nvSpPr>
          <p:cNvPr id="4" name="Platshållare för sidfo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ULRIKA DAVIDSSON ● LAGA LÄTT 6 VECKOR ● RECEPT  ● VECKA 1</a:t>
            </a:r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A8967-5D92-4842-BAFB-0C8F679E5DC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751229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1E6F0-24C7-41D4-B8C8-643F3434D7A8}" type="datetime1">
              <a:rPr lang="sv-SE" smtClean="0"/>
              <a:t>2025-06-03</a:t>
            </a:fld>
            <a:endParaRPr lang="sv-SE"/>
          </a:p>
        </p:txBody>
      </p:sp>
      <p:sp>
        <p:nvSpPr>
          <p:cNvPr id="3" name="Platshållare för sidfo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ULRIKA DAVIDSSON ● LAGA LÄTT 6 VECKOR ● RECEPT  ● VECKA 1</a:t>
            </a:r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A8967-5D92-4842-BAFB-0C8F679E5DC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02167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ehåll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text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58CBC-F4EE-4838-AACD-F1AC7E759B58}" type="datetime1">
              <a:rPr lang="sv-SE" smtClean="0"/>
              <a:t>2025-06-03</a:t>
            </a:fld>
            <a:endParaRPr lang="sv-SE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ULRIKA DAVIDSSON ● LAGA LÄTT 6 VECKOR ● RECEPT  ● VECKA 1</a:t>
            </a:r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A8967-5D92-4842-BAFB-0C8F679E5DC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020306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bild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Platshållare för text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326A1-37BC-420F-86B7-C725CF2D32F4}" type="datetime1">
              <a:rPr lang="sv-SE" smtClean="0"/>
              <a:t>2025-06-03</a:t>
            </a:fld>
            <a:endParaRPr lang="sv-SE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ULRIKA DAVIDSSON ● LAGA LÄTT 6 VECKOR ● RECEPT  ● VECKA 1</a:t>
            </a:r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A8967-5D92-4842-BAFB-0C8F679E5DC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964272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lodrät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635E4-5849-42AC-A5E1-3E5BA8AE7326}" type="datetime1">
              <a:rPr lang="sv-SE" smtClean="0"/>
              <a:t>2025-06-03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ULRIKA DAVIDSSON ● LAGA LÄTT 6 VECKOR ● RECEPT  ● VECKA 1</a:t>
            </a:r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A8967-5D92-4842-BAFB-0C8F679E5DC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803887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ät rubrik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lodrät text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FD217-3DCE-44BA-ACD5-81FAAB86E102}" type="datetime1">
              <a:rPr lang="sv-SE" smtClean="0"/>
              <a:t>2025-06-03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ULRIKA DAVIDSSON ● LAGA LÄTT 6 VECKOR ● RECEPT  ● VECKA 1</a:t>
            </a:r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A8967-5D92-4842-BAFB-0C8F679E5DC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800062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AA230D-E3B8-4437-A196-7E6D616735AA}" type="datetime1">
              <a:rPr lang="sv-SE" smtClean="0"/>
              <a:t>2025-06-03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sv-SE"/>
              <a:t>ULRIKA DAVIDSSON ● LAGA LÄTT 6 VECKOR ● RECEPT  ● VECKA 1</a:t>
            </a:r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BA8967-5D92-4842-BAFB-0C8F679E5DC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2480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ruta 11">
            <a:extLst>
              <a:ext uri="{FF2B5EF4-FFF2-40B4-BE49-F238E27FC236}">
                <a16:creationId xmlns:a16="http://schemas.microsoft.com/office/drawing/2014/main" id="{F15FD6BF-CC30-43C5-AC4C-78E43C405451}"/>
              </a:ext>
            </a:extLst>
          </p:cNvPr>
          <p:cNvSpPr txBox="1"/>
          <p:nvPr/>
        </p:nvSpPr>
        <p:spPr>
          <a:xfrm>
            <a:off x="177174" y="1422978"/>
            <a:ext cx="19518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2400" dirty="0">
                <a:latin typeface="BigCaslonFB" panose="02000603080000020003" pitchFamily="50" charset="0"/>
              </a:rPr>
              <a:t>Frukost</a:t>
            </a:r>
          </a:p>
        </p:txBody>
      </p:sp>
      <p:sp>
        <p:nvSpPr>
          <p:cNvPr id="2" name="textruta 1">
            <a:extLst>
              <a:ext uri="{FF2B5EF4-FFF2-40B4-BE49-F238E27FC236}">
                <a16:creationId xmlns:a16="http://schemas.microsoft.com/office/drawing/2014/main" id="{95E5F092-0F5D-723B-359F-8A4FEE34AE49}"/>
              </a:ext>
            </a:extLst>
          </p:cNvPr>
          <p:cNvSpPr txBox="1"/>
          <p:nvPr/>
        </p:nvSpPr>
        <p:spPr>
          <a:xfrm>
            <a:off x="94595" y="330759"/>
            <a:ext cx="681413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2800" dirty="0">
                <a:latin typeface="BigCaslonFB" panose="02000603080000020003" pitchFamily="50" charset="0"/>
              </a:rPr>
              <a:t>RECEPT v. 2</a:t>
            </a:r>
          </a:p>
          <a:p>
            <a:r>
              <a:rPr lang="sv-SE" sz="2800" dirty="0" err="1">
                <a:latin typeface="BigCaslonFB" panose="02000603080000020003" pitchFamily="50" charset="0"/>
              </a:rPr>
              <a:t>Functional</a:t>
            </a:r>
            <a:r>
              <a:rPr lang="sv-SE" sz="2800" dirty="0">
                <a:latin typeface="BigCaslonFB" panose="02000603080000020003" pitchFamily="50" charset="0"/>
              </a:rPr>
              <a:t> </a:t>
            </a:r>
            <a:r>
              <a:rPr lang="sv-SE" sz="2800" dirty="0" err="1">
                <a:latin typeface="BigCaslonFB" panose="02000603080000020003" pitchFamily="50" charset="0"/>
              </a:rPr>
              <a:t>Flow</a:t>
            </a:r>
            <a:endParaRPr lang="sv-SE" sz="2800" dirty="0">
              <a:latin typeface="BigCaslonFB" panose="02000603080000020003" pitchFamily="50" charset="0"/>
            </a:endParaRPr>
          </a:p>
        </p:txBody>
      </p:sp>
      <p:cxnSp>
        <p:nvCxnSpPr>
          <p:cNvPr id="3" name="Rak koppling 2">
            <a:extLst>
              <a:ext uri="{FF2B5EF4-FFF2-40B4-BE49-F238E27FC236}">
                <a16:creationId xmlns:a16="http://schemas.microsoft.com/office/drawing/2014/main" id="{23ABB56F-1DE2-40DD-CB7B-08E8DD7BF20F}"/>
              </a:ext>
            </a:extLst>
          </p:cNvPr>
          <p:cNvCxnSpPr>
            <a:cxnSpLocks/>
          </p:cNvCxnSpPr>
          <p:nvPr/>
        </p:nvCxnSpPr>
        <p:spPr>
          <a:xfrm flipV="1">
            <a:off x="-50815" y="175928"/>
            <a:ext cx="6875766" cy="75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" name="Rak koppling 4">
            <a:extLst>
              <a:ext uri="{FF2B5EF4-FFF2-40B4-BE49-F238E27FC236}">
                <a16:creationId xmlns:a16="http://schemas.microsoft.com/office/drawing/2014/main" id="{6DB80FA7-3373-94E0-A093-91846E7D6631}"/>
              </a:ext>
            </a:extLst>
          </p:cNvPr>
          <p:cNvCxnSpPr>
            <a:cxnSpLocks/>
          </p:cNvCxnSpPr>
          <p:nvPr/>
        </p:nvCxnSpPr>
        <p:spPr>
          <a:xfrm flipV="1">
            <a:off x="21755" y="1346779"/>
            <a:ext cx="6843163" cy="641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1" name="Platshållare för bildnummer 10">
            <a:extLst>
              <a:ext uri="{FF2B5EF4-FFF2-40B4-BE49-F238E27FC236}">
                <a16:creationId xmlns:a16="http://schemas.microsoft.com/office/drawing/2014/main" id="{C9C33FCE-78BF-62D1-0F45-0A991C93B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072643" y="8667028"/>
            <a:ext cx="1600200" cy="486833"/>
          </a:xfrm>
        </p:spPr>
        <p:txBody>
          <a:bodyPr/>
          <a:lstStyle/>
          <a:p>
            <a:fld id="{97BA8967-5D92-4842-BAFB-0C8F679E5DC4}" type="slidenum">
              <a:rPr lang="sv-SE" sz="900" smtClean="0"/>
              <a:t>1</a:t>
            </a:fld>
            <a:endParaRPr lang="sv-SE" sz="900" dirty="0"/>
          </a:p>
        </p:txBody>
      </p:sp>
      <p:sp>
        <p:nvSpPr>
          <p:cNvPr id="22" name="Ellips 21">
            <a:extLst>
              <a:ext uri="{FF2B5EF4-FFF2-40B4-BE49-F238E27FC236}">
                <a16:creationId xmlns:a16="http://schemas.microsoft.com/office/drawing/2014/main" id="{4092D12D-9A98-7844-8117-FBBAD82A9935}"/>
              </a:ext>
            </a:extLst>
          </p:cNvPr>
          <p:cNvSpPr/>
          <p:nvPr/>
        </p:nvSpPr>
        <p:spPr>
          <a:xfrm>
            <a:off x="5633396" y="6667908"/>
            <a:ext cx="628650" cy="477837"/>
          </a:xfrm>
          <a:prstGeom prst="ellipse">
            <a:avLst/>
          </a:prstGeom>
          <a:solidFill>
            <a:srgbClr val="276564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v-SE" sz="1200" b="1" dirty="0">
                <a:ea typeface="ＭＳ 明朝"/>
                <a:cs typeface="Avenir Light"/>
              </a:rPr>
              <a:t>340kcal</a:t>
            </a:r>
            <a:endParaRPr sz="1200" b="1" dirty="0">
              <a:ea typeface="ＭＳ 明朝"/>
              <a:cs typeface="Avenir Light"/>
            </a:endParaRPr>
          </a:p>
        </p:txBody>
      </p:sp>
      <p:pic>
        <p:nvPicPr>
          <p:cNvPr id="17" name="Bildobjekt 16">
            <a:extLst>
              <a:ext uri="{FF2B5EF4-FFF2-40B4-BE49-F238E27FC236}">
                <a16:creationId xmlns:a16="http://schemas.microsoft.com/office/drawing/2014/main" id="{1CA0E6E8-3C9A-9041-96DE-9F667206A27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-5138" y="5601150"/>
            <a:ext cx="3706058" cy="2779543"/>
          </a:xfrm>
          <a:prstGeom prst="rect">
            <a:avLst/>
          </a:prstGeom>
        </p:spPr>
      </p:pic>
      <p:sp>
        <p:nvSpPr>
          <p:cNvPr id="4" name="textruta 3">
            <a:extLst>
              <a:ext uri="{FF2B5EF4-FFF2-40B4-BE49-F238E27FC236}">
                <a16:creationId xmlns:a16="http://schemas.microsoft.com/office/drawing/2014/main" id="{BD8424F7-31B5-7C45-BAAA-B26315C9B097}"/>
              </a:ext>
            </a:extLst>
          </p:cNvPr>
          <p:cNvSpPr txBox="1"/>
          <p:nvPr/>
        </p:nvSpPr>
        <p:spPr>
          <a:xfrm>
            <a:off x="3621472" y="6253194"/>
            <a:ext cx="2501006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100" b="1" dirty="0"/>
              <a:t>Yoghurt med </a:t>
            </a:r>
            <a:r>
              <a:rPr lang="sv-SE" sz="1100" b="1" dirty="0" err="1"/>
              <a:t>bovetegranola</a:t>
            </a:r>
            <a:r>
              <a:rPr lang="sv-SE" sz="1100" b="1" dirty="0"/>
              <a:t> och frukt  – 1 portion</a:t>
            </a:r>
          </a:p>
          <a:p>
            <a:r>
              <a:rPr lang="sv-SE" sz="1100" dirty="0"/>
              <a:t>1 dl grekisk yoghurt, 6%</a:t>
            </a:r>
          </a:p>
          <a:p>
            <a:r>
              <a:rPr lang="sv-SE" sz="1100" dirty="0"/>
              <a:t>¼ mango</a:t>
            </a:r>
          </a:p>
          <a:p>
            <a:r>
              <a:rPr lang="sv-SE" sz="1100" dirty="0"/>
              <a:t>1 kiwi</a:t>
            </a:r>
          </a:p>
          <a:p>
            <a:r>
              <a:rPr lang="sv-SE" sz="1100" dirty="0"/>
              <a:t>¾ dl </a:t>
            </a:r>
            <a:r>
              <a:rPr lang="sv-SE" sz="1100" dirty="0" err="1"/>
              <a:t>bovetegranola</a:t>
            </a:r>
            <a:r>
              <a:rPr lang="sv-SE" sz="1100" dirty="0"/>
              <a:t> </a:t>
            </a:r>
          </a:p>
          <a:p>
            <a:endParaRPr lang="sv-SE" sz="1100" dirty="0"/>
          </a:p>
          <a:p>
            <a:r>
              <a:rPr lang="sv-SE" sz="1100" dirty="0"/>
              <a:t>Häll yoghurt i en skål. Skär frukten i bitar och lägg över tillsammans med </a:t>
            </a:r>
            <a:r>
              <a:rPr lang="sv-SE" sz="1100" dirty="0" err="1"/>
              <a:t>bovetegranola</a:t>
            </a:r>
            <a:r>
              <a:rPr lang="sv-SE" sz="1100" dirty="0"/>
              <a:t>.</a:t>
            </a:r>
          </a:p>
        </p:txBody>
      </p:sp>
      <p:pic>
        <p:nvPicPr>
          <p:cNvPr id="18" name="Bildobjekt 17">
            <a:extLst>
              <a:ext uri="{FF2B5EF4-FFF2-40B4-BE49-F238E27FC236}">
                <a16:creationId xmlns:a16="http://schemas.microsoft.com/office/drawing/2014/main" id="{DE94D30D-06A4-BC4E-818D-6159C3284F16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3336854" y="1969869"/>
            <a:ext cx="3805817" cy="2854362"/>
          </a:xfrm>
          <a:prstGeom prst="rect">
            <a:avLst/>
          </a:prstGeom>
        </p:spPr>
      </p:pic>
      <p:sp>
        <p:nvSpPr>
          <p:cNvPr id="6" name="Rektangel 5">
            <a:extLst>
              <a:ext uri="{FF2B5EF4-FFF2-40B4-BE49-F238E27FC236}">
                <a16:creationId xmlns:a16="http://schemas.microsoft.com/office/drawing/2014/main" id="{A52F6679-32E8-3A47-9DD3-6E6B5BAEF48D}"/>
              </a:ext>
            </a:extLst>
          </p:cNvPr>
          <p:cNvSpPr/>
          <p:nvPr/>
        </p:nvSpPr>
        <p:spPr>
          <a:xfrm>
            <a:off x="243447" y="1845735"/>
            <a:ext cx="3569134" cy="330859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0"/>
              </a:spcAft>
            </a:pPr>
            <a:r>
              <a:rPr lang="sv-SE" sz="1100" b="1" kern="0" dirty="0" err="1">
                <a:solidFill>
                  <a:srgbClr val="000000"/>
                </a:solidFill>
                <a:ea typeface="Calibri" panose="020F0502020204030204" pitchFamily="34" charset="0"/>
                <a:cs typeface="Helvetica Neue" panose="02000503000000020004" pitchFamily="2" charset="0"/>
              </a:rPr>
              <a:t>Smoothiebowl</a:t>
            </a:r>
            <a:r>
              <a:rPr lang="sv-SE" sz="1100" b="1" kern="0" dirty="0">
                <a:solidFill>
                  <a:srgbClr val="000000"/>
                </a:solidFill>
                <a:ea typeface="Calibri" panose="020F0502020204030204" pitchFamily="34" charset="0"/>
                <a:cs typeface="Helvetica Neue" panose="02000503000000020004" pitchFamily="2" charset="0"/>
              </a:rPr>
              <a:t> med mango och pistagenötter </a:t>
            </a:r>
          </a:p>
          <a:p>
            <a:pPr>
              <a:spcAft>
                <a:spcPts val="0"/>
              </a:spcAft>
            </a:pPr>
            <a:r>
              <a:rPr lang="sv-SE" sz="1100" b="1" kern="0" dirty="0">
                <a:solidFill>
                  <a:srgbClr val="000000"/>
                </a:solidFill>
                <a:ea typeface="Calibri" panose="020F0502020204030204" pitchFamily="34" charset="0"/>
                <a:cs typeface="Helvetica Neue" panose="02000503000000020004" pitchFamily="2" charset="0"/>
              </a:rPr>
              <a:t>- 1 portion (455 kcal)</a:t>
            </a:r>
            <a:endParaRPr lang="sv-SE" sz="11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sv-SE" sz="1100" kern="0" dirty="0">
                <a:solidFill>
                  <a:srgbClr val="000000"/>
                </a:solidFill>
                <a:ea typeface="Calibri" panose="020F0502020204030204" pitchFamily="34" charset="0"/>
                <a:cs typeface="Helvetica Neue" panose="02000503000000020004" pitchFamily="2" charset="0"/>
              </a:rPr>
              <a:t>2 dl fryst mango</a:t>
            </a:r>
            <a:endParaRPr lang="sv-SE" sz="11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sv-SE" sz="1100" kern="0" dirty="0">
                <a:solidFill>
                  <a:srgbClr val="000000"/>
                </a:solidFill>
                <a:ea typeface="Calibri" panose="020F0502020204030204" pitchFamily="34" charset="0"/>
                <a:cs typeface="Helvetica Neue" panose="02000503000000020004" pitchFamily="2" charset="0"/>
              </a:rPr>
              <a:t>½ banan</a:t>
            </a:r>
            <a:endParaRPr lang="sv-SE" sz="11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sv-SE" sz="1100" kern="0" dirty="0">
                <a:solidFill>
                  <a:srgbClr val="000000"/>
                </a:solidFill>
                <a:ea typeface="Calibri" panose="020F0502020204030204" pitchFamily="34" charset="0"/>
                <a:cs typeface="Helvetica Neue" panose="02000503000000020004" pitchFamily="2" charset="0"/>
              </a:rPr>
              <a:t>1/2 dl havregryn</a:t>
            </a:r>
            <a:endParaRPr lang="sv-SE" sz="11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100" kern="0" dirty="0">
                <a:solidFill>
                  <a:srgbClr val="000000"/>
                </a:solidFill>
                <a:ea typeface="Calibri" panose="020F0502020204030204" pitchFamily="34" charset="0"/>
                <a:cs typeface="Helvetica Neue" panose="02000503000000020004" pitchFamily="2" charset="0"/>
              </a:rPr>
              <a:t>1 dl </a:t>
            </a:r>
            <a:r>
              <a:rPr lang="en-US" sz="1100" kern="0" dirty="0" err="1">
                <a:solidFill>
                  <a:srgbClr val="000000"/>
                </a:solidFill>
                <a:ea typeface="Calibri" panose="020F0502020204030204" pitchFamily="34" charset="0"/>
                <a:cs typeface="Helvetica Neue" panose="02000503000000020004" pitchFamily="2" charset="0"/>
              </a:rPr>
              <a:t>grekisk</a:t>
            </a:r>
            <a:r>
              <a:rPr lang="en-US" sz="1100" kern="0" dirty="0">
                <a:solidFill>
                  <a:srgbClr val="000000"/>
                </a:solidFill>
                <a:ea typeface="Calibri" panose="020F0502020204030204" pitchFamily="34" charset="0"/>
                <a:cs typeface="Helvetica Neue" panose="02000503000000020004" pitchFamily="2" charset="0"/>
              </a:rPr>
              <a:t> yoghurt, 6%</a:t>
            </a:r>
            <a:endParaRPr lang="sv-SE" sz="11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100" kern="0" dirty="0">
                <a:solidFill>
                  <a:srgbClr val="000000"/>
                </a:solidFill>
                <a:ea typeface="Calibri" panose="020F0502020204030204" pitchFamily="34" charset="0"/>
                <a:cs typeface="Helvetica Neue" panose="02000503000000020004" pitchFamily="2" charset="0"/>
              </a:rPr>
              <a:t>1 tsk </a:t>
            </a:r>
            <a:r>
              <a:rPr lang="en-US" sz="1100" kern="0" dirty="0" err="1">
                <a:solidFill>
                  <a:srgbClr val="000000"/>
                </a:solidFill>
                <a:ea typeface="Calibri" panose="020F0502020204030204" pitchFamily="34" charset="0"/>
                <a:cs typeface="Helvetica Neue" panose="02000503000000020004" pitchFamily="2" charset="0"/>
              </a:rPr>
              <a:t>agavesirap</a:t>
            </a:r>
            <a:endParaRPr lang="sv-SE" sz="11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endParaRPr lang="sv-SE" sz="11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100" b="1" kern="0" dirty="0">
                <a:solidFill>
                  <a:srgbClr val="000000"/>
                </a:solidFill>
                <a:ea typeface="Calibri" panose="020F0502020204030204" pitchFamily="34" charset="0"/>
                <a:cs typeface="Helvetica Neue" panose="02000503000000020004" pitchFamily="2" charset="0"/>
              </a:rPr>
              <a:t>Topping</a:t>
            </a:r>
            <a:endParaRPr lang="sv-SE" sz="11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sv-SE" sz="1100" kern="0" dirty="0">
                <a:solidFill>
                  <a:srgbClr val="000000"/>
                </a:solidFill>
                <a:ea typeface="Calibri" panose="020F0502020204030204" pitchFamily="34" charset="0"/>
                <a:cs typeface="Helvetica Neue" panose="02000503000000020004" pitchFamily="2" charset="0"/>
              </a:rPr>
              <a:t>1/2 dl bitar av färsk mango</a:t>
            </a:r>
            <a:endParaRPr lang="sv-SE" sz="11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sv-SE" sz="1100" kern="0" dirty="0">
                <a:solidFill>
                  <a:srgbClr val="000000"/>
                </a:solidFill>
                <a:ea typeface="Calibri"/>
                <a:cs typeface="Helvetica Neue" panose="02000503000000020004" pitchFamily="2" charset="0"/>
              </a:rPr>
              <a:t>1 msk </a:t>
            </a:r>
            <a:r>
              <a:rPr lang="sv-SE" sz="1100" kern="0" dirty="0">
                <a:solidFill>
                  <a:srgbClr val="FF0000"/>
                </a:solidFill>
                <a:ea typeface="Calibri"/>
                <a:cs typeface="Helvetica Neue" panose="02000503000000020004" pitchFamily="2" charset="0"/>
              </a:rPr>
              <a:t>hackade</a:t>
            </a:r>
            <a:r>
              <a:rPr lang="sv-SE" sz="1100" kern="0" dirty="0">
                <a:solidFill>
                  <a:srgbClr val="000000"/>
                </a:solidFill>
                <a:ea typeface="Calibri"/>
                <a:cs typeface="Helvetica Neue" panose="02000503000000020004" pitchFamily="2" charset="0"/>
              </a:rPr>
              <a:t> pistagenötter</a:t>
            </a:r>
            <a:endParaRPr lang="sv-SE" sz="1100" kern="100" dirty="0">
              <a:ea typeface="Calibri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sv-SE" sz="1100" kern="0" dirty="0">
                <a:solidFill>
                  <a:srgbClr val="000000"/>
                </a:solidFill>
                <a:ea typeface="Calibri" panose="020F0502020204030204" pitchFamily="34" charset="0"/>
                <a:cs typeface="Helvetica Neue" panose="02000503000000020004" pitchFamily="2" charset="0"/>
              </a:rPr>
              <a:t>1/2 msk </a:t>
            </a:r>
            <a:r>
              <a:rPr lang="sv-SE" sz="1100" kern="0" dirty="0" err="1">
                <a:solidFill>
                  <a:srgbClr val="000000"/>
                </a:solidFill>
                <a:ea typeface="Calibri" panose="020F0502020204030204" pitchFamily="34" charset="0"/>
                <a:cs typeface="Helvetica Neue" panose="02000503000000020004" pitchFamily="2" charset="0"/>
              </a:rPr>
              <a:t>hampafrö</a:t>
            </a:r>
            <a:r>
              <a:rPr lang="sv-SE" sz="1100" kern="0" dirty="0">
                <a:solidFill>
                  <a:srgbClr val="000000"/>
                </a:solidFill>
                <a:ea typeface="Calibri" panose="020F0502020204030204" pitchFamily="34" charset="0"/>
                <a:cs typeface="Helvetica Neue" panose="02000503000000020004" pitchFamily="2" charset="0"/>
              </a:rPr>
              <a:t> </a:t>
            </a:r>
            <a:endParaRPr lang="sv-SE" sz="11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sv-SE" sz="1100" kern="0" dirty="0">
                <a:solidFill>
                  <a:srgbClr val="000000"/>
                </a:solidFill>
                <a:ea typeface="Calibri" panose="020F0502020204030204" pitchFamily="34" charset="0"/>
                <a:cs typeface="Helvetica Neue" panose="02000503000000020004" pitchFamily="2" charset="0"/>
              </a:rPr>
              <a:t>1/2 dl granatäpplekärnor </a:t>
            </a:r>
            <a:endParaRPr lang="sv-SE" sz="11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endParaRPr lang="sv-SE" sz="11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sv-SE" sz="1100" kern="0" dirty="0">
                <a:solidFill>
                  <a:srgbClr val="000000"/>
                </a:solidFill>
                <a:ea typeface="Calibri" panose="020F0502020204030204" pitchFamily="34" charset="0"/>
                <a:cs typeface="Helvetica Neue" panose="02000503000000020004" pitchFamily="2" charset="0"/>
              </a:rPr>
              <a:t>Mixa fryst mango, banan, havregryn, yoghurt och agavesirap till en tjock </a:t>
            </a:r>
            <a:r>
              <a:rPr lang="sv-SE" sz="1100" kern="0" dirty="0" err="1">
                <a:solidFill>
                  <a:srgbClr val="000000"/>
                </a:solidFill>
                <a:ea typeface="Calibri" panose="020F0502020204030204" pitchFamily="34" charset="0"/>
                <a:cs typeface="Helvetica Neue" panose="02000503000000020004" pitchFamily="2" charset="0"/>
              </a:rPr>
              <a:t>smoothie</a:t>
            </a:r>
            <a:r>
              <a:rPr lang="sv-SE" sz="1100" kern="0" dirty="0">
                <a:solidFill>
                  <a:srgbClr val="000000"/>
                </a:solidFill>
                <a:ea typeface="Calibri" panose="020F0502020204030204" pitchFamily="34" charset="0"/>
                <a:cs typeface="Helvetica Neue" panose="02000503000000020004" pitchFamily="2" charset="0"/>
              </a:rPr>
              <a:t> i en </a:t>
            </a:r>
            <a:r>
              <a:rPr lang="sv-SE" sz="1100" kern="0" dirty="0" err="1">
                <a:solidFill>
                  <a:srgbClr val="000000"/>
                </a:solidFill>
                <a:ea typeface="Calibri" panose="020F0502020204030204" pitchFamily="34" charset="0"/>
                <a:cs typeface="Helvetica Neue" panose="02000503000000020004" pitchFamily="2" charset="0"/>
              </a:rPr>
              <a:t>blender</a:t>
            </a:r>
            <a:r>
              <a:rPr lang="sv-SE" sz="1100" kern="0" dirty="0">
                <a:solidFill>
                  <a:srgbClr val="000000"/>
                </a:solidFill>
                <a:ea typeface="Calibri" panose="020F0502020204030204" pitchFamily="34" charset="0"/>
                <a:cs typeface="Helvetica Neue" panose="02000503000000020004" pitchFamily="2" charset="0"/>
              </a:rPr>
              <a:t> eller med en stavmixer. Häll upp </a:t>
            </a:r>
            <a:r>
              <a:rPr lang="sv-SE" sz="1100" kern="0" dirty="0" err="1">
                <a:solidFill>
                  <a:srgbClr val="000000"/>
                </a:solidFill>
                <a:ea typeface="Calibri" panose="020F0502020204030204" pitchFamily="34" charset="0"/>
                <a:cs typeface="Helvetica Neue" panose="02000503000000020004" pitchFamily="2" charset="0"/>
              </a:rPr>
              <a:t>smoothie</a:t>
            </a:r>
            <a:r>
              <a:rPr lang="sv-SE" sz="1100" kern="0" dirty="0">
                <a:solidFill>
                  <a:srgbClr val="000000"/>
                </a:solidFill>
                <a:ea typeface="Calibri" panose="020F0502020204030204" pitchFamily="34" charset="0"/>
                <a:cs typeface="Helvetica Neue" panose="02000503000000020004" pitchFamily="2" charset="0"/>
              </a:rPr>
              <a:t> i skålar. Toppa med mangobitar, pistagenötter, </a:t>
            </a:r>
            <a:r>
              <a:rPr lang="sv-SE" sz="1100" kern="0" dirty="0" err="1">
                <a:solidFill>
                  <a:srgbClr val="000000"/>
                </a:solidFill>
                <a:ea typeface="Calibri" panose="020F0502020204030204" pitchFamily="34" charset="0"/>
                <a:cs typeface="Helvetica Neue" panose="02000503000000020004" pitchFamily="2" charset="0"/>
              </a:rPr>
              <a:t>hampafrö</a:t>
            </a:r>
            <a:r>
              <a:rPr lang="sv-SE" sz="1100" kern="0" dirty="0">
                <a:solidFill>
                  <a:srgbClr val="000000"/>
                </a:solidFill>
                <a:ea typeface="Calibri" panose="020F0502020204030204" pitchFamily="34" charset="0"/>
                <a:cs typeface="Helvetica Neue" panose="02000503000000020004" pitchFamily="2" charset="0"/>
              </a:rPr>
              <a:t> och granatäpplekärnor. . </a:t>
            </a:r>
            <a:endParaRPr lang="sv-SE" sz="11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Ellips 13">
            <a:extLst>
              <a:ext uri="{FF2B5EF4-FFF2-40B4-BE49-F238E27FC236}">
                <a16:creationId xmlns:a16="http://schemas.microsoft.com/office/drawing/2014/main" id="{F24985FD-8BEB-1F4F-83B4-0B97E288D66A}"/>
              </a:ext>
            </a:extLst>
          </p:cNvPr>
          <p:cNvSpPr/>
          <p:nvPr/>
        </p:nvSpPr>
        <p:spPr>
          <a:xfrm>
            <a:off x="2342176" y="2412919"/>
            <a:ext cx="628650" cy="477837"/>
          </a:xfrm>
          <a:prstGeom prst="ellipse">
            <a:avLst/>
          </a:prstGeom>
          <a:solidFill>
            <a:srgbClr val="276564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v-SE" sz="1200" b="1" dirty="0">
                <a:ea typeface="ＭＳ 明朝"/>
                <a:cs typeface="Avenir Light"/>
              </a:rPr>
              <a:t>440kcal</a:t>
            </a:r>
            <a:endParaRPr sz="1200" b="1" dirty="0">
              <a:ea typeface="ＭＳ 明朝"/>
              <a:cs typeface="Avenir Light"/>
            </a:endParaRPr>
          </a:p>
        </p:txBody>
      </p:sp>
      <p:sp>
        <p:nvSpPr>
          <p:cNvPr id="15" name="Platshållare för sidfot 1">
            <a:extLst>
              <a:ext uri="{FF2B5EF4-FFF2-40B4-BE49-F238E27FC236}">
                <a16:creationId xmlns:a16="http://schemas.microsoft.com/office/drawing/2014/main" id="{682DB714-5BA8-1345-B905-0200C34B7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49203" y="8736459"/>
            <a:ext cx="3704917" cy="486833"/>
          </a:xfrm>
        </p:spPr>
        <p:txBody>
          <a:bodyPr/>
          <a:lstStyle/>
          <a:p>
            <a:r>
              <a:rPr lang="sv-SE" sz="900" dirty="0"/>
              <a:t>ULRIKA DAVIDSSON ● FUNCITIONAL FLOW  6 VECKOR ● RECEPT VECKA 2 </a:t>
            </a:r>
          </a:p>
        </p:txBody>
      </p:sp>
    </p:spTree>
    <p:extLst>
      <p:ext uri="{BB962C8B-B14F-4D97-AF65-F5344CB8AC3E}">
        <p14:creationId xmlns:p14="http://schemas.microsoft.com/office/powerpoint/2010/main" val="3788094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8222E223-1A45-1B48-B9C8-17C9617046A3}"/>
              </a:ext>
            </a:extLst>
          </p:cNvPr>
          <p:cNvSpPr/>
          <p:nvPr/>
        </p:nvSpPr>
        <p:spPr>
          <a:xfrm>
            <a:off x="3513743" y="5215155"/>
            <a:ext cx="3109032" cy="297004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0"/>
              </a:spcAft>
            </a:pPr>
            <a:r>
              <a:rPr lang="sv-SE" sz="1100" b="1" kern="0" dirty="0" err="1">
                <a:solidFill>
                  <a:srgbClr val="000000"/>
                </a:solidFill>
                <a:ea typeface="Calibri" panose="020F0502020204030204" pitchFamily="34" charset="0"/>
                <a:cs typeface="Helvetica Neue" panose="02000503000000020004" pitchFamily="2" charset="0"/>
              </a:rPr>
              <a:t>Ägghack</a:t>
            </a:r>
            <a:r>
              <a:rPr lang="sv-SE" sz="1100" b="1" kern="0" dirty="0">
                <a:solidFill>
                  <a:srgbClr val="000000"/>
                </a:solidFill>
                <a:ea typeface="Calibri" panose="020F0502020204030204" pitchFamily="34" charset="0"/>
                <a:cs typeface="Helvetica Neue" panose="02000503000000020004" pitchFamily="2" charset="0"/>
              </a:rPr>
              <a:t> i salladsblad - 1 portion </a:t>
            </a:r>
            <a:endParaRPr lang="sv-SE" sz="11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sv-SE" sz="1100" kern="0" dirty="0">
                <a:solidFill>
                  <a:srgbClr val="000000"/>
                </a:solidFill>
                <a:ea typeface="Calibri" panose="020F0502020204030204" pitchFamily="34" charset="0"/>
                <a:cs typeface="Helvetica Neue" panose="02000503000000020004" pitchFamily="2" charset="0"/>
              </a:rPr>
              <a:t>2 kokta ägg</a:t>
            </a:r>
            <a:endParaRPr lang="sv-SE" sz="11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sv-SE" sz="1100" kern="0" dirty="0">
                <a:solidFill>
                  <a:srgbClr val="000000"/>
                </a:solidFill>
                <a:ea typeface="Calibri" panose="020F0502020204030204" pitchFamily="34" charset="0"/>
                <a:cs typeface="Helvetica Neue" panose="02000503000000020004" pitchFamily="2" charset="0"/>
              </a:rPr>
              <a:t>1 msk majonnäs</a:t>
            </a:r>
            <a:endParaRPr lang="sv-SE" sz="11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sv-SE" sz="1100" kern="0" dirty="0">
                <a:solidFill>
                  <a:srgbClr val="000000"/>
                </a:solidFill>
                <a:ea typeface="Calibri" panose="020F0502020204030204" pitchFamily="34" charset="0"/>
                <a:cs typeface="Helvetica Neue" panose="02000503000000020004" pitchFamily="2" charset="0"/>
              </a:rPr>
              <a:t>Salt och svartpeppar</a:t>
            </a:r>
            <a:endParaRPr lang="sv-SE" sz="11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endParaRPr lang="sv-SE" sz="11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sv-SE" sz="1100" b="1" kern="0" dirty="0">
                <a:solidFill>
                  <a:srgbClr val="000000"/>
                </a:solidFill>
                <a:ea typeface="Calibri" panose="020F0502020204030204" pitchFamily="34" charset="0"/>
                <a:cs typeface="Helvetica Neue" panose="02000503000000020004" pitchFamily="2" charset="0"/>
              </a:rPr>
              <a:t>Tillbehör</a:t>
            </a:r>
            <a:endParaRPr lang="sv-SE" sz="11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sv-SE" sz="1100" kern="0" dirty="0">
                <a:solidFill>
                  <a:srgbClr val="000000"/>
                </a:solidFill>
                <a:ea typeface="Calibri" panose="020F0502020204030204" pitchFamily="34" charset="0"/>
                <a:cs typeface="Helvetica Neue" panose="02000503000000020004" pitchFamily="2" charset="0"/>
              </a:rPr>
              <a:t>2 romansalladsblad </a:t>
            </a:r>
            <a:endParaRPr lang="sv-SE" sz="11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sv-SE" sz="1100" kern="0" dirty="0">
                <a:solidFill>
                  <a:srgbClr val="000000"/>
                </a:solidFill>
                <a:ea typeface="Calibri"/>
                <a:cs typeface="Helvetica Neue" panose="02000503000000020004" pitchFamily="2" charset="0"/>
              </a:rPr>
              <a:t>½ msk </a:t>
            </a:r>
            <a:r>
              <a:rPr lang="sv-SE" sz="1100" kern="0" dirty="0">
                <a:solidFill>
                  <a:srgbClr val="FF0000"/>
                </a:solidFill>
                <a:ea typeface="Calibri"/>
                <a:cs typeface="Helvetica Neue" panose="02000503000000020004" pitchFamily="2" charset="0"/>
              </a:rPr>
              <a:t>hackad</a:t>
            </a:r>
            <a:r>
              <a:rPr lang="sv-SE" sz="1100" kern="0" dirty="0">
                <a:solidFill>
                  <a:srgbClr val="000000"/>
                </a:solidFill>
                <a:ea typeface="Calibri"/>
                <a:cs typeface="Helvetica Neue" panose="02000503000000020004" pitchFamily="2" charset="0"/>
              </a:rPr>
              <a:t> dill</a:t>
            </a:r>
            <a:endParaRPr lang="sv-SE" sz="1100" kern="100" dirty="0">
              <a:ea typeface="Calibri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sv-SE" sz="1100" kern="0" dirty="0">
                <a:solidFill>
                  <a:srgbClr val="000000"/>
                </a:solidFill>
                <a:ea typeface="Calibri" panose="020F0502020204030204" pitchFamily="34" charset="0"/>
                <a:cs typeface="Helvetica Neue" panose="02000503000000020004" pitchFamily="2" charset="0"/>
              </a:rPr>
              <a:t>3 cocktailtomater </a:t>
            </a:r>
            <a:endParaRPr lang="sv-SE" sz="11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sv-SE" sz="1100" kern="0" dirty="0">
                <a:solidFill>
                  <a:srgbClr val="000000"/>
                </a:solidFill>
                <a:ea typeface="Calibri"/>
                <a:cs typeface="Times New Roman"/>
              </a:rPr>
              <a:t>1 dillkvist</a:t>
            </a:r>
            <a:endParaRPr lang="sv-SE" sz="1100" kern="100" dirty="0">
              <a:ea typeface="Calibri" panose="020F0502020204030204" pitchFamily="34" charset="0"/>
              <a:cs typeface="Times New Roman"/>
            </a:endParaRPr>
          </a:p>
          <a:p>
            <a:pPr>
              <a:spcAft>
                <a:spcPts val="0"/>
              </a:spcAft>
            </a:pPr>
            <a:endParaRPr lang="sv-SE" sz="11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sv-SE" sz="1100" kern="0" dirty="0">
                <a:solidFill>
                  <a:srgbClr val="000000"/>
                </a:solidFill>
                <a:ea typeface="Calibri" panose="020F0502020204030204" pitchFamily="34" charset="0"/>
                <a:cs typeface="Helvetica Neue" panose="02000503000000020004" pitchFamily="2" charset="0"/>
              </a:rPr>
              <a:t>Skala och hacka ägg grovt. Lägg i en skål och blanda ner majonnäs, salt och peppar. Dela cocktailtomater i 4 delar. Lägg romansalladsblad på en tallrik och lägg på </a:t>
            </a:r>
            <a:r>
              <a:rPr lang="sv-SE" sz="1100" kern="0" dirty="0" err="1">
                <a:solidFill>
                  <a:srgbClr val="000000"/>
                </a:solidFill>
                <a:ea typeface="Calibri" panose="020F0502020204030204" pitchFamily="34" charset="0"/>
                <a:cs typeface="Helvetica Neue" panose="02000503000000020004" pitchFamily="2" charset="0"/>
              </a:rPr>
              <a:t>ägghack</a:t>
            </a:r>
            <a:r>
              <a:rPr lang="sv-SE" sz="1100" kern="0" dirty="0">
                <a:solidFill>
                  <a:srgbClr val="000000"/>
                </a:solidFill>
                <a:ea typeface="Calibri" panose="020F0502020204030204" pitchFamily="34" charset="0"/>
                <a:cs typeface="Helvetica Neue" panose="02000503000000020004" pitchFamily="2" charset="0"/>
              </a:rPr>
              <a:t>. Strö på hackad dill. Servera med cocktailtomater och dekorera med dillkvistar. </a:t>
            </a:r>
            <a:endParaRPr lang="sv-SE" sz="11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textruta 11">
            <a:extLst>
              <a:ext uri="{FF2B5EF4-FFF2-40B4-BE49-F238E27FC236}">
                <a16:creationId xmlns:a16="http://schemas.microsoft.com/office/drawing/2014/main" id="{EA745202-70D2-4822-9DF5-D98FE15317DA}"/>
              </a:ext>
            </a:extLst>
          </p:cNvPr>
          <p:cNvSpPr txBox="1"/>
          <p:nvPr/>
        </p:nvSpPr>
        <p:spPr>
          <a:xfrm>
            <a:off x="391413" y="345219"/>
            <a:ext cx="19518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2400" dirty="0">
                <a:latin typeface="BigCaslonFB" panose="02000603080000020003" pitchFamily="50" charset="0"/>
              </a:rPr>
              <a:t>Frukost</a:t>
            </a:r>
          </a:p>
        </p:txBody>
      </p:sp>
      <p:sp>
        <p:nvSpPr>
          <p:cNvPr id="3" name="Platshållare för bildnummer 2">
            <a:extLst>
              <a:ext uri="{FF2B5EF4-FFF2-40B4-BE49-F238E27FC236}">
                <a16:creationId xmlns:a16="http://schemas.microsoft.com/office/drawing/2014/main" id="{951B1928-3D89-295A-9AE2-0F50731B4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068259" y="8634484"/>
            <a:ext cx="1600200" cy="486833"/>
          </a:xfrm>
        </p:spPr>
        <p:txBody>
          <a:bodyPr/>
          <a:lstStyle/>
          <a:p>
            <a:fld id="{97BA8967-5D92-4842-BAFB-0C8F679E5DC4}" type="slidenum">
              <a:rPr lang="sv-SE" sz="900" smtClean="0"/>
              <a:t>2</a:t>
            </a:fld>
            <a:endParaRPr lang="sv-SE" sz="900" dirty="0"/>
          </a:p>
        </p:txBody>
      </p:sp>
      <p:sp>
        <p:nvSpPr>
          <p:cNvPr id="19" name="Ellips 18">
            <a:extLst>
              <a:ext uri="{FF2B5EF4-FFF2-40B4-BE49-F238E27FC236}">
                <a16:creationId xmlns:a16="http://schemas.microsoft.com/office/drawing/2014/main" id="{BC805C32-135A-AB4C-AB75-475E4D5FD20C}"/>
              </a:ext>
            </a:extLst>
          </p:cNvPr>
          <p:cNvSpPr/>
          <p:nvPr/>
        </p:nvSpPr>
        <p:spPr>
          <a:xfrm>
            <a:off x="5429052" y="5697632"/>
            <a:ext cx="628650" cy="477837"/>
          </a:xfrm>
          <a:prstGeom prst="ellipse">
            <a:avLst/>
          </a:prstGeom>
          <a:solidFill>
            <a:srgbClr val="276564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v-SE" sz="1200" b="1" dirty="0">
                <a:solidFill>
                  <a:schemeClr val="bg1"/>
                </a:solidFill>
                <a:ea typeface="ＭＳ 明朝"/>
                <a:cs typeface="Avenir Light"/>
              </a:rPr>
              <a:t>315 kcal</a:t>
            </a:r>
            <a:endParaRPr sz="1200" b="1" dirty="0">
              <a:solidFill>
                <a:schemeClr val="bg1"/>
              </a:solidFill>
              <a:ea typeface="ＭＳ 明朝"/>
              <a:cs typeface="Avenir Light"/>
            </a:endParaRPr>
          </a:p>
        </p:txBody>
      </p:sp>
      <p:pic>
        <p:nvPicPr>
          <p:cNvPr id="13" name="Bildobjekt 12">
            <a:extLst>
              <a:ext uri="{FF2B5EF4-FFF2-40B4-BE49-F238E27FC236}">
                <a16:creationId xmlns:a16="http://schemas.microsoft.com/office/drawing/2014/main" id="{A966FFC6-A01E-B44B-8CD9-F0AF258AB69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-79484" y="5506077"/>
            <a:ext cx="3767174" cy="2825381"/>
          </a:xfrm>
          <a:prstGeom prst="rect">
            <a:avLst/>
          </a:prstGeom>
        </p:spPr>
      </p:pic>
      <p:sp>
        <p:nvSpPr>
          <p:cNvPr id="14" name="Rektangel 13">
            <a:extLst>
              <a:ext uri="{FF2B5EF4-FFF2-40B4-BE49-F238E27FC236}">
                <a16:creationId xmlns:a16="http://schemas.microsoft.com/office/drawing/2014/main" id="{AA4B9216-9FB6-024C-BBC0-08C044DF298A}"/>
              </a:ext>
            </a:extLst>
          </p:cNvPr>
          <p:cNvSpPr/>
          <p:nvPr/>
        </p:nvSpPr>
        <p:spPr>
          <a:xfrm>
            <a:off x="254744" y="1134686"/>
            <a:ext cx="6054855" cy="381642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sv-SE" sz="1100" b="1" dirty="0" err="1">
                <a:solidFill>
                  <a:srgbClr val="000000"/>
                </a:solidFill>
              </a:rPr>
              <a:t>Overnightoats</a:t>
            </a:r>
            <a:r>
              <a:rPr lang="sv-SE" sz="1100" b="1" dirty="0">
                <a:solidFill>
                  <a:srgbClr val="000000"/>
                </a:solidFill>
              </a:rPr>
              <a:t> med morot - 1 portion </a:t>
            </a:r>
          </a:p>
          <a:p>
            <a:r>
              <a:rPr lang="sv-SE" sz="1100" dirty="0">
                <a:solidFill>
                  <a:srgbClr val="000000"/>
                </a:solidFill>
              </a:rPr>
              <a:t>1 dl havregryn</a:t>
            </a:r>
          </a:p>
          <a:p>
            <a:r>
              <a:rPr lang="sv-SE" sz="1100" dirty="0">
                <a:solidFill>
                  <a:srgbClr val="000000"/>
                </a:solidFill>
              </a:rPr>
              <a:t>1 dl mjölk</a:t>
            </a:r>
          </a:p>
          <a:p>
            <a:r>
              <a:rPr lang="sv-SE" sz="1100" dirty="0">
                <a:solidFill>
                  <a:srgbClr val="000000"/>
                </a:solidFill>
              </a:rPr>
              <a:t>1/2 dl grekisk yoghurt, 6%</a:t>
            </a:r>
          </a:p>
          <a:p>
            <a:r>
              <a:rPr lang="sv-SE" sz="1100" dirty="0">
                <a:solidFill>
                  <a:srgbClr val="000000"/>
                </a:solidFill>
              </a:rPr>
              <a:t>1/2 dl </a:t>
            </a:r>
            <a:r>
              <a:rPr lang="sv-SE" sz="1100" dirty="0">
                <a:solidFill>
                  <a:srgbClr val="FF0000"/>
                </a:solidFill>
              </a:rPr>
              <a:t>finstrimlad</a:t>
            </a:r>
            <a:r>
              <a:rPr lang="sv-SE" sz="1100" dirty="0">
                <a:solidFill>
                  <a:srgbClr val="000000"/>
                </a:solidFill>
              </a:rPr>
              <a:t> morot</a:t>
            </a:r>
          </a:p>
          <a:p>
            <a:r>
              <a:rPr lang="sv-SE" sz="1100" dirty="0">
                <a:solidFill>
                  <a:srgbClr val="000000"/>
                </a:solidFill>
              </a:rPr>
              <a:t>1 tsk agavesirap</a:t>
            </a:r>
          </a:p>
          <a:p>
            <a:r>
              <a:rPr lang="sv-SE" sz="1100" dirty="0">
                <a:solidFill>
                  <a:srgbClr val="000000"/>
                </a:solidFill>
              </a:rPr>
              <a:t>1 krm salt</a:t>
            </a:r>
          </a:p>
          <a:p>
            <a:r>
              <a:rPr lang="sv-SE" sz="1100" dirty="0">
                <a:solidFill>
                  <a:srgbClr val="000000"/>
                </a:solidFill>
              </a:rPr>
              <a:t>1/2 tsk kanel</a:t>
            </a:r>
          </a:p>
          <a:p>
            <a:r>
              <a:rPr lang="sv-SE" sz="1100" dirty="0">
                <a:solidFill>
                  <a:srgbClr val="000000"/>
                </a:solidFill>
              </a:rPr>
              <a:t>1 krm vaniljpulver</a:t>
            </a:r>
          </a:p>
          <a:p>
            <a:r>
              <a:rPr lang="sv-SE" sz="1100" dirty="0">
                <a:solidFill>
                  <a:srgbClr val="000000"/>
                </a:solidFill>
              </a:rPr>
              <a:t>1 msk russin</a:t>
            </a:r>
          </a:p>
          <a:p>
            <a:r>
              <a:rPr lang="sv-SE" sz="1100" dirty="0">
                <a:solidFill>
                  <a:srgbClr val="000000"/>
                </a:solidFill>
              </a:rPr>
              <a:t>1 msk hackade valnötter</a:t>
            </a:r>
          </a:p>
          <a:p>
            <a:r>
              <a:rPr lang="sv-SE" sz="1100" dirty="0">
                <a:solidFill>
                  <a:srgbClr val="000000"/>
                </a:solidFill>
              </a:rPr>
              <a:t>1/2 msk </a:t>
            </a:r>
            <a:r>
              <a:rPr lang="sv-SE" sz="1100" dirty="0" err="1">
                <a:solidFill>
                  <a:srgbClr val="000000"/>
                </a:solidFill>
              </a:rPr>
              <a:t>chiafrön</a:t>
            </a:r>
            <a:endParaRPr lang="sv-SE" sz="1100" dirty="0">
              <a:solidFill>
                <a:srgbClr val="000000"/>
              </a:solidFill>
            </a:endParaRPr>
          </a:p>
          <a:p>
            <a:endParaRPr lang="sv-SE" sz="1100" dirty="0">
              <a:solidFill>
                <a:srgbClr val="000000"/>
              </a:solidFill>
            </a:endParaRPr>
          </a:p>
          <a:p>
            <a:r>
              <a:rPr lang="sv-SE" sz="1100" b="1" dirty="0">
                <a:solidFill>
                  <a:srgbClr val="000000"/>
                </a:solidFill>
              </a:rPr>
              <a:t>Tillbehör</a:t>
            </a:r>
            <a:endParaRPr lang="sv-SE" sz="1100" dirty="0">
              <a:solidFill>
                <a:srgbClr val="000000"/>
              </a:solidFill>
            </a:endParaRPr>
          </a:p>
          <a:p>
            <a:r>
              <a:rPr lang="sv-SE" sz="1100" dirty="0">
                <a:solidFill>
                  <a:srgbClr val="000000"/>
                </a:solidFill>
              </a:rPr>
              <a:t>1/2 dl </a:t>
            </a:r>
            <a:r>
              <a:rPr lang="sv-SE" sz="1100" dirty="0">
                <a:solidFill>
                  <a:srgbClr val="FF0000"/>
                </a:solidFill>
              </a:rPr>
              <a:t>finstrimlad</a:t>
            </a:r>
            <a:r>
              <a:rPr lang="sv-SE" sz="1100" dirty="0">
                <a:solidFill>
                  <a:srgbClr val="000000"/>
                </a:solidFill>
              </a:rPr>
              <a:t> morot</a:t>
            </a:r>
          </a:p>
          <a:p>
            <a:r>
              <a:rPr lang="sv-SE" sz="1100" dirty="0">
                <a:solidFill>
                  <a:srgbClr val="000000"/>
                </a:solidFill>
              </a:rPr>
              <a:t>1/2 msk russin</a:t>
            </a:r>
          </a:p>
          <a:p>
            <a:r>
              <a:rPr lang="sv-SE" sz="1100" dirty="0">
                <a:solidFill>
                  <a:srgbClr val="000000"/>
                </a:solidFill>
              </a:rPr>
              <a:t>2 valnötter</a:t>
            </a:r>
          </a:p>
          <a:p>
            <a:r>
              <a:rPr lang="sv-SE" sz="1100" dirty="0">
                <a:solidFill>
                  <a:srgbClr val="000000"/>
                </a:solidFill>
              </a:rPr>
              <a:t>1 krm kanel</a:t>
            </a:r>
            <a:br>
              <a:rPr lang="sv-SE" sz="1100" dirty="0">
                <a:solidFill>
                  <a:srgbClr val="000000"/>
                </a:solidFill>
              </a:rPr>
            </a:br>
            <a:endParaRPr lang="sv-SE" sz="1100" dirty="0">
              <a:solidFill>
                <a:srgbClr val="000000"/>
              </a:solidFill>
            </a:endParaRPr>
          </a:p>
          <a:p>
            <a:r>
              <a:rPr lang="sv-SE" sz="1100" dirty="0">
                <a:solidFill>
                  <a:srgbClr val="000000"/>
                </a:solidFill>
              </a:rPr>
              <a:t>Blanda alla ingredienserna till gröten i en bunke. Sätt på ett lock och ställ in i kylskåpen över natten. Ta gröten ur kylen och rör om väl. Grovhacka valnötter Placera strimlad morot i botten på ett glas eller en liten skål. Tillsätt gröten och toppa med russin, valnötter och strimlad morot. Strö på lite kanel. </a:t>
            </a:r>
            <a:endParaRPr lang="sv-SE" sz="1100" dirty="0">
              <a:solidFill>
                <a:srgbClr val="000000"/>
              </a:solidFill>
              <a:effectLst/>
            </a:endParaRPr>
          </a:p>
        </p:txBody>
      </p:sp>
      <p:pic>
        <p:nvPicPr>
          <p:cNvPr id="16" name="Bildobjekt 15">
            <a:extLst>
              <a:ext uri="{FF2B5EF4-FFF2-40B4-BE49-F238E27FC236}">
                <a16:creationId xmlns:a16="http://schemas.microsoft.com/office/drawing/2014/main" id="{A07667DF-68CD-0841-8071-360B04951508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3038583" y="670094"/>
            <a:ext cx="4166751" cy="3125064"/>
          </a:xfrm>
          <a:prstGeom prst="rect">
            <a:avLst/>
          </a:prstGeom>
        </p:spPr>
      </p:pic>
      <p:sp>
        <p:nvSpPr>
          <p:cNvPr id="17" name="Ellips 16">
            <a:extLst>
              <a:ext uri="{FF2B5EF4-FFF2-40B4-BE49-F238E27FC236}">
                <a16:creationId xmlns:a16="http://schemas.microsoft.com/office/drawing/2014/main" id="{4477CE95-FA88-F345-8083-7A810475D04A}"/>
              </a:ext>
            </a:extLst>
          </p:cNvPr>
          <p:cNvSpPr/>
          <p:nvPr/>
        </p:nvSpPr>
        <p:spPr>
          <a:xfrm>
            <a:off x="2201730" y="1622288"/>
            <a:ext cx="628650" cy="477837"/>
          </a:xfrm>
          <a:prstGeom prst="ellipse">
            <a:avLst/>
          </a:prstGeom>
          <a:solidFill>
            <a:srgbClr val="276564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v-SE" sz="1200" b="1" dirty="0">
                <a:solidFill>
                  <a:schemeClr val="bg1"/>
                </a:solidFill>
                <a:ea typeface="ＭＳ 明朝"/>
                <a:cs typeface="Avenir Light"/>
              </a:rPr>
              <a:t>423 kcal</a:t>
            </a:r>
            <a:endParaRPr sz="1200" b="1" dirty="0">
              <a:solidFill>
                <a:schemeClr val="bg1"/>
              </a:solidFill>
              <a:ea typeface="ＭＳ 明朝"/>
              <a:cs typeface="Avenir Light"/>
            </a:endParaRPr>
          </a:p>
        </p:txBody>
      </p:sp>
      <p:sp>
        <p:nvSpPr>
          <p:cNvPr id="15" name="Platshållare för sidfot 1">
            <a:extLst>
              <a:ext uri="{FF2B5EF4-FFF2-40B4-BE49-F238E27FC236}">
                <a16:creationId xmlns:a16="http://schemas.microsoft.com/office/drawing/2014/main" id="{60E7AE6B-14FC-174A-8DFA-0EBC1E933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49203" y="8736459"/>
            <a:ext cx="3704917" cy="486833"/>
          </a:xfrm>
        </p:spPr>
        <p:txBody>
          <a:bodyPr/>
          <a:lstStyle/>
          <a:p>
            <a:r>
              <a:rPr lang="sv-SE" sz="900" dirty="0"/>
              <a:t>ULRIKA DAVIDSSON ● FUNCITIONAL FLOW  6 VECKOR ● RECEPT VECKA 2 </a:t>
            </a:r>
          </a:p>
        </p:txBody>
      </p:sp>
    </p:spTree>
    <p:extLst>
      <p:ext uri="{BB962C8B-B14F-4D97-AF65-F5344CB8AC3E}">
        <p14:creationId xmlns:p14="http://schemas.microsoft.com/office/powerpoint/2010/main" val="31366982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ktangel 18">
            <a:extLst>
              <a:ext uri="{FF2B5EF4-FFF2-40B4-BE49-F238E27FC236}">
                <a16:creationId xmlns:a16="http://schemas.microsoft.com/office/drawing/2014/main" id="{BC4C02D1-6042-3F4B-8321-DDC23BB786CD}"/>
              </a:ext>
            </a:extLst>
          </p:cNvPr>
          <p:cNvSpPr/>
          <p:nvPr/>
        </p:nvSpPr>
        <p:spPr>
          <a:xfrm>
            <a:off x="3560762" y="5057903"/>
            <a:ext cx="3429000" cy="2631490"/>
          </a:xfrm>
          <a:prstGeom prst="rect">
            <a:avLst/>
          </a:prstGeom>
        </p:spPr>
        <p:txBody>
          <a:bodyPr lIns="91440" tIns="45720" rIns="91440" bIns="45720" anchor="t">
            <a:spAutoFit/>
          </a:bodyPr>
          <a:lstStyle/>
          <a:p>
            <a:r>
              <a:rPr lang="sv-SE" sz="1100" b="1" dirty="0">
                <a:solidFill>
                  <a:srgbClr val="1A1A1A"/>
                </a:solidFill>
              </a:rPr>
              <a:t>Stekt ägg med champinjoner  - 1 portion</a:t>
            </a:r>
            <a:endParaRPr lang="sv-SE" sz="1100" dirty="0">
              <a:solidFill>
                <a:srgbClr val="1A1A1A"/>
              </a:solidFill>
            </a:endParaRPr>
          </a:p>
          <a:p>
            <a:r>
              <a:rPr lang="sv-SE" sz="1100" dirty="0">
                <a:solidFill>
                  <a:srgbClr val="1A1A1A"/>
                </a:solidFill>
              </a:rPr>
              <a:t>2 ägg</a:t>
            </a:r>
          </a:p>
          <a:p>
            <a:r>
              <a:rPr lang="sv-SE" sz="1100" dirty="0">
                <a:solidFill>
                  <a:srgbClr val="1A1A1A"/>
                </a:solidFill>
              </a:rPr>
              <a:t>5 champinjoner </a:t>
            </a:r>
          </a:p>
          <a:p>
            <a:r>
              <a:rPr lang="sv-SE" sz="1100" dirty="0">
                <a:solidFill>
                  <a:srgbClr val="1A1A1A"/>
                </a:solidFill>
              </a:rPr>
              <a:t>1 tsk smör</a:t>
            </a:r>
          </a:p>
          <a:p>
            <a:endParaRPr lang="sv-SE" sz="1100" b="1" dirty="0">
              <a:solidFill>
                <a:srgbClr val="1A1A1A"/>
              </a:solidFill>
            </a:endParaRPr>
          </a:p>
          <a:p>
            <a:r>
              <a:rPr lang="sv-SE" sz="1100" b="1" dirty="0">
                <a:solidFill>
                  <a:srgbClr val="1A1A1A"/>
                </a:solidFill>
              </a:rPr>
              <a:t>Tillbehör</a:t>
            </a:r>
            <a:endParaRPr lang="sv-SE" sz="1100" dirty="0">
              <a:solidFill>
                <a:srgbClr val="1A1A1A"/>
              </a:solidFill>
            </a:endParaRPr>
          </a:p>
          <a:p>
            <a:r>
              <a:rPr lang="sv-SE" sz="1100" dirty="0">
                <a:solidFill>
                  <a:srgbClr val="1A1A1A"/>
                </a:solidFill>
              </a:rPr>
              <a:t>1/2 msk </a:t>
            </a:r>
            <a:r>
              <a:rPr lang="sv-SE" sz="1100" dirty="0" err="1">
                <a:solidFill>
                  <a:srgbClr val="1A1A1A"/>
                </a:solidFill>
              </a:rPr>
              <a:t>sötstark</a:t>
            </a:r>
            <a:r>
              <a:rPr lang="sv-SE" sz="1100" dirty="0">
                <a:solidFill>
                  <a:srgbClr val="1A1A1A"/>
                </a:solidFill>
              </a:rPr>
              <a:t> senap</a:t>
            </a:r>
          </a:p>
          <a:p>
            <a:r>
              <a:rPr lang="sv-SE" sz="1100">
                <a:solidFill>
                  <a:srgbClr val="1A1A1A"/>
                </a:solidFill>
              </a:rPr>
              <a:t>1 persiljekvist</a:t>
            </a:r>
            <a:endParaRPr lang="sv-SE" sz="1100">
              <a:solidFill>
                <a:srgbClr val="1A1A1A"/>
              </a:solidFill>
              <a:ea typeface="Calibri"/>
              <a:cs typeface="Calibri"/>
            </a:endParaRPr>
          </a:p>
          <a:p>
            <a:endParaRPr lang="sv-SE" sz="1100" dirty="0">
              <a:solidFill>
                <a:srgbClr val="1A1A1A"/>
              </a:solidFill>
            </a:endParaRPr>
          </a:p>
          <a:p>
            <a:r>
              <a:rPr lang="sv-SE" sz="1100" dirty="0">
                <a:solidFill>
                  <a:srgbClr val="1A1A1A"/>
                </a:solidFill>
              </a:rPr>
              <a:t>Dela champinjoner på hälften. Hetta upp en stekpanna med smör. Lägg i champinjonerna och låt steka tills de fått en fin färg. Dra champinjonerna åt sidan i stekpannan. Knäck i ägg och låt steka på svag tills vitan har stelnat. Lägg upp ägg och champinjoner på en tallrik. </a:t>
            </a:r>
            <a:r>
              <a:rPr lang="sv-SE" sz="1100">
                <a:solidFill>
                  <a:srgbClr val="1A1A1A"/>
                </a:solidFill>
              </a:rPr>
              <a:t>Lägg på en klick senap. Dekorera med en persiljekvist.  </a:t>
            </a:r>
            <a:endParaRPr lang="sv-SE" sz="1100">
              <a:solidFill>
                <a:srgbClr val="1A1A1A"/>
              </a:solidFill>
              <a:effectLst/>
              <a:ea typeface="Calibri"/>
              <a:cs typeface="Calibri"/>
            </a:endParaRPr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7C6411BE-0591-C244-ADC6-D62D3E4DD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A8967-5D92-4842-BAFB-0C8F679E5DC4}" type="slidenum">
              <a:rPr lang="sv-SE" smtClean="0"/>
              <a:t>3</a:t>
            </a:fld>
            <a:endParaRPr lang="sv-SE"/>
          </a:p>
        </p:txBody>
      </p:sp>
      <p:sp>
        <p:nvSpPr>
          <p:cNvPr id="9" name="textruta 8">
            <a:extLst>
              <a:ext uri="{FF2B5EF4-FFF2-40B4-BE49-F238E27FC236}">
                <a16:creationId xmlns:a16="http://schemas.microsoft.com/office/drawing/2014/main" id="{8707E3D6-D352-3A49-9E09-BC365DF83D50}"/>
              </a:ext>
            </a:extLst>
          </p:cNvPr>
          <p:cNvSpPr txBox="1"/>
          <p:nvPr/>
        </p:nvSpPr>
        <p:spPr>
          <a:xfrm>
            <a:off x="239168" y="384592"/>
            <a:ext cx="19518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2400" dirty="0">
                <a:latin typeface="BigCaslonFB" panose="02000603080000020003" pitchFamily="50" charset="0"/>
              </a:rPr>
              <a:t>Frukost</a:t>
            </a:r>
          </a:p>
        </p:txBody>
      </p:sp>
      <p:sp>
        <p:nvSpPr>
          <p:cNvPr id="15" name="Ellips 14">
            <a:extLst>
              <a:ext uri="{FF2B5EF4-FFF2-40B4-BE49-F238E27FC236}">
                <a16:creationId xmlns:a16="http://schemas.microsoft.com/office/drawing/2014/main" id="{B2362384-6887-7842-9667-493FA078C597}"/>
              </a:ext>
            </a:extLst>
          </p:cNvPr>
          <p:cNvSpPr/>
          <p:nvPr/>
        </p:nvSpPr>
        <p:spPr>
          <a:xfrm>
            <a:off x="2191064" y="1903948"/>
            <a:ext cx="628650" cy="477837"/>
          </a:xfrm>
          <a:prstGeom prst="ellipse">
            <a:avLst/>
          </a:prstGeom>
          <a:solidFill>
            <a:srgbClr val="276564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v-SE" sz="1200" b="1" dirty="0">
                <a:solidFill>
                  <a:schemeClr val="bg1"/>
                </a:solidFill>
                <a:ea typeface="ＭＳ 明朝"/>
                <a:cs typeface="Avenir Light"/>
              </a:rPr>
              <a:t>212 kcal</a:t>
            </a:r>
            <a:endParaRPr sz="1200" b="1" dirty="0">
              <a:solidFill>
                <a:schemeClr val="bg1"/>
              </a:solidFill>
              <a:ea typeface="ＭＳ 明朝"/>
              <a:cs typeface="Avenir Light"/>
            </a:endParaRPr>
          </a:p>
        </p:txBody>
      </p:sp>
      <p:pic>
        <p:nvPicPr>
          <p:cNvPr id="17" name="Bildobjekt 16">
            <a:extLst>
              <a:ext uri="{FF2B5EF4-FFF2-40B4-BE49-F238E27FC236}">
                <a16:creationId xmlns:a16="http://schemas.microsoft.com/office/drawing/2014/main" id="{4A964BF9-BC89-FC4B-93D3-97FF06F1BBC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2786371" y="735899"/>
            <a:ext cx="4453462" cy="3340097"/>
          </a:xfrm>
          <a:prstGeom prst="rect">
            <a:avLst/>
          </a:prstGeom>
        </p:spPr>
      </p:pic>
      <p:sp>
        <p:nvSpPr>
          <p:cNvPr id="18" name="Ellips 17">
            <a:extLst>
              <a:ext uri="{FF2B5EF4-FFF2-40B4-BE49-F238E27FC236}">
                <a16:creationId xmlns:a16="http://schemas.microsoft.com/office/drawing/2014/main" id="{FBB36851-A5EE-AB44-BD5F-BA5E1ECFA93F}"/>
              </a:ext>
            </a:extLst>
          </p:cNvPr>
          <p:cNvSpPr/>
          <p:nvPr/>
        </p:nvSpPr>
        <p:spPr>
          <a:xfrm>
            <a:off x="5400675" y="5591755"/>
            <a:ext cx="628650" cy="477837"/>
          </a:xfrm>
          <a:prstGeom prst="ellipse">
            <a:avLst/>
          </a:prstGeom>
          <a:solidFill>
            <a:srgbClr val="276564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v-SE" sz="1200" b="1" dirty="0">
                <a:solidFill>
                  <a:schemeClr val="bg1"/>
                </a:solidFill>
                <a:ea typeface="ＭＳ 明朝"/>
                <a:cs typeface="Avenir Light"/>
              </a:rPr>
              <a:t>264 kcal</a:t>
            </a:r>
            <a:endParaRPr sz="1200" b="1" dirty="0">
              <a:solidFill>
                <a:schemeClr val="bg1"/>
              </a:solidFill>
              <a:ea typeface="ＭＳ 明朝"/>
              <a:cs typeface="Avenir Light"/>
            </a:endParaRPr>
          </a:p>
        </p:txBody>
      </p:sp>
      <p:pic>
        <p:nvPicPr>
          <p:cNvPr id="20" name="Bildobjekt 19">
            <a:extLst>
              <a:ext uri="{FF2B5EF4-FFF2-40B4-BE49-F238E27FC236}">
                <a16:creationId xmlns:a16="http://schemas.microsoft.com/office/drawing/2014/main" id="{C196123A-8368-C64E-9CA5-1BC62429C78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-249604" y="5297148"/>
            <a:ext cx="3910173" cy="2932630"/>
          </a:xfrm>
          <a:prstGeom prst="rect">
            <a:avLst/>
          </a:prstGeom>
        </p:spPr>
      </p:pic>
      <p:sp>
        <p:nvSpPr>
          <p:cNvPr id="11" name="textruta 10">
            <a:extLst>
              <a:ext uri="{FF2B5EF4-FFF2-40B4-BE49-F238E27FC236}">
                <a16:creationId xmlns:a16="http://schemas.microsoft.com/office/drawing/2014/main" id="{97728F71-9BD1-7E42-B60C-29E3D7D00966}"/>
              </a:ext>
            </a:extLst>
          </p:cNvPr>
          <p:cNvSpPr txBox="1"/>
          <p:nvPr/>
        </p:nvSpPr>
        <p:spPr>
          <a:xfrm>
            <a:off x="239168" y="1456956"/>
            <a:ext cx="2644124" cy="14465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sv-SE" sz="1100" b="1" dirty="0"/>
              <a:t>Macka med ost  – 1 portion</a:t>
            </a:r>
          </a:p>
          <a:p>
            <a:r>
              <a:rPr lang="sv-SE" sz="1100" dirty="0"/>
              <a:t>1 skiva morot- och kesolimpa</a:t>
            </a:r>
          </a:p>
          <a:p>
            <a:r>
              <a:rPr lang="sv-SE" sz="1100" dirty="0"/>
              <a:t>1 tsk smör</a:t>
            </a:r>
          </a:p>
          <a:p>
            <a:r>
              <a:rPr lang="sv-SE" sz="1100" dirty="0"/>
              <a:t>1 skiva ost</a:t>
            </a:r>
          </a:p>
          <a:p>
            <a:r>
              <a:rPr lang="sv-SE" sz="1100" dirty="0"/>
              <a:t>2 paprikaringar</a:t>
            </a:r>
          </a:p>
          <a:p>
            <a:endParaRPr lang="sv-SE" sz="1100" dirty="0"/>
          </a:p>
          <a:p>
            <a:r>
              <a:rPr lang="sv-SE" sz="1100" dirty="0"/>
              <a:t>Bred på smör på brödet och lägg på ostskiva och paprikaringar.</a:t>
            </a:r>
          </a:p>
        </p:txBody>
      </p:sp>
      <p:sp>
        <p:nvSpPr>
          <p:cNvPr id="13" name="Platshållare för sidfot 1">
            <a:extLst>
              <a:ext uri="{FF2B5EF4-FFF2-40B4-BE49-F238E27FC236}">
                <a16:creationId xmlns:a16="http://schemas.microsoft.com/office/drawing/2014/main" id="{38EED4E9-8C4E-3E4D-9442-CC9D26104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49203" y="8736459"/>
            <a:ext cx="3704917" cy="486833"/>
          </a:xfrm>
        </p:spPr>
        <p:txBody>
          <a:bodyPr/>
          <a:lstStyle/>
          <a:p>
            <a:r>
              <a:rPr lang="sv-SE" sz="900" dirty="0"/>
              <a:t>ULRIKA DAVIDSSON ● FUNCITIONAL FLOW  6 VECKOR ● RECEPT VECKA 2 </a:t>
            </a:r>
          </a:p>
        </p:txBody>
      </p:sp>
    </p:spTree>
    <p:extLst>
      <p:ext uri="{BB962C8B-B14F-4D97-AF65-F5344CB8AC3E}">
        <p14:creationId xmlns:p14="http://schemas.microsoft.com/office/powerpoint/2010/main" val="199403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114DFF4C-2272-3B40-BFB4-A18308CB8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A8967-5D92-4842-BAFB-0C8F679E5DC4}" type="slidenum">
              <a:rPr lang="sv-SE" smtClean="0"/>
              <a:t>4</a:t>
            </a:fld>
            <a:endParaRPr lang="sv-SE"/>
          </a:p>
        </p:txBody>
      </p:sp>
      <p:pic>
        <p:nvPicPr>
          <p:cNvPr id="6" name="Bildobjekt 5">
            <a:extLst>
              <a:ext uri="{FF2B5EF4-FFF2-40B4-BE49-F238E27FC236}">
                <a16:creationId xmlns:a16="http://schemas.microsoft.com/office/drawing/2014/main" id="{1DCA31E0-DA7B-B144-AF97-3DC9C537441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2381527" y="807966"/>
            <a:ext cx="4797702" cy="3598278"/>
          </a:xfrm>
          <a:prstGeom prst="rect">
            <a:avLst/>
          </a:prstGeom>
        </p:spPr>
      </p:pic>
      <p:sp>
        <p:nvSpPr>
          <p:cNvPr id="7" name="Rektangel 6">
            <a:extLst>
              <a:ext uri="{FF2B5EF4-FFF2-40B4-BE49-F238E27FC236}">
                <a16:creationId xmlns:a16="http://schemas.microsoft.com/office/drawing/2014/main" id="{94B7C9C2-4A85-1A43-8F72-1E206D893901}"/>
              </a:ext>
            </a:extLst>
          </p:cNvPr>
          <p:cNvSpPr/>
          <p:nvPr/>
        </p:nvSpPr>
        <p:spPr>
          <a:xfrm>
            <a:off x="330732" y="1533219"/>
            <a:ext cx="2508558" cy="22929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sv-SE" sz="1100" b="1" dirty="0">
                <a:ea typeface="MS Mincho" panose="02020609040205080304" pitchFamily="49" charset="-128"/>
                <a:cs typeface="Times New Roman" panose="02020603050405020304" pitchFamily="18" charset="0"/>
              </a:rPr>
              <a:t>Grön juice  - 2 portioner</a:t>
            </a:r>
          </a:p>
          <a:p>
            <a:pPr>
              <a:spcAft>
                <a:spcPts val="0"/>
              </a:spcAft>
            </a:pPr>
            <a:r>
              <a:rPr lang="sv-SE" sz="1100" dirty="0">
                <a:ea typeface="MS Mincho" panose="02020609040205080304" pitchFamily="49" charset="-128"/>
                <a:cs typeface="Times New Roman" panose="02020603050405020304" pitchFamily="18" charset="0"/>
              </a:rPr>
              <a:t>40 g  spenat</a:t>
            </a:r>
          </a:p>
          <a:p>
            <a:pPr>
              <a:spcAft>
                <a:spcPts val="0"/>
              </a:spcAft>
            </a:pPr>
            <a:r>
              <a:rPr lang="sv-SE" sz="1100" dirty="0">
                <a:ea typeface="MS Mincho" panose="02020609040205080304" pitchFamily="49" charset="-128"/>
                <a:cs typeface="Times New Roman" panose="02020603050405020304" pitchFamily="18" charset="0"/>
              </a:rPr>
              <a:t>4 selleristänger</a:t>
            </a:r>
          </a:p>
          <a:p>
            <a:pPr>
              <a:spcAft>
                <a:spcPts val="0"/>
              </a:spcAft>
            </a:pPr>
            <a:r>
              <a:rPr lang="sv-SE" sz="1100" dirty="0">
                <a:ea typeface="MS Mincho" panose="02020609040205080304" pitchFamily="49" charset="-128"/>
                <a:cs typeface="Times New Roman" panose="02020603050405020304" pitchFamily="18" charset="0"/>
              </a:rPr>
              <a:t>2 apelsiner</a:t>
            </a:r>
          </a:p>
          <a:p>
            <a:pPr>
              <a:spcAft>
                <a:spcPts val="0"/>
              </a:spcAft>
            </a:pPr>
            <a:r>
              <a:rPr lang="sv-SE" sz="1100" dirty="0">
                <a:ea typeface="MS Mincho" panose="02020609040205080304" pitchFamily="49" charset="-128"/>
                <a:cs typeface="Times New Roman" panose="02020603050405020304" pitchFamily="18" charset="0"/>
              </a:rPr>
              <a:t>1 msk färsk ingefära</a:t>
            </a:r>
          </a:p>
          <a:p>
            <a:pPr>
              <a:spcAft>
                <a:spcPts val="0"/>
              </a:spcAft>
            </a:pPr>
            <a:r>
              <a:rPr lang="sv-SE" sz="1100" dirty="0">
                <a:ea typeface="MS Mincho" panose="02020609040205080304" pitchFamily="49" charset="-128"/>
                <a:cs typeface="Times New Roman" panose="02020603050405020304" pitchFamily="18" charset="0"/>
              </a:rPr>
              <a:t>1 lime</a:t>
            </a:r>
          </a:p>
          <a:p>
            <a:pPr>
              <a:spcAft>
                <a:spcPts val="0"/>
              </a:spcAft>
            </a:pPr>
            <a:r>
              <a:rPr lang="sv-SE" sz="1100" dirty="0">
                <a:ea typeface="MS Mincho" panose="02020609040205080304" pitchFamily="49" charset="-128"/>
                <a:cs typeface="Times New Roman" panose="02020603050405020304" pitchFamily="18" charset="0"/>
              </a:rPr>
              <a:t>1,5 dl vatten </a:t>
            </a:r>
          </a:p>
          <a:p>
            <a:pPr>
              <a:spcAft>
                <a:spcPts val="0"/>
              </a:spcAft>
            </a:pPr>
            <a:endParaRPr lang="sv-SE" sz="1100" dirty="0"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r>
              <a:rPr lang="sv-SE" sz="1100" dirty="0">
                <a:ea typeface="MS Mincho" panose="02020609040205080304" pitchFamily="49" charset="-128"/>
                <a:cs typeface="Times New Roman" panose="02020603050405020304" pitchFamily="18" charset="0"/>
              </a:rPr>
              <a:t>Lägg  spenat i en </a:t>
            </a:r>
            <a:r>
              <a:rPr lang="sv-SE" sz="1100" dirty="0" err="1">
                <a:ea typeface="MS Mincho" panose="02020609040205080304" pitchFamily="49" charset="-128"/>
                <a:cs typeface="Times New Roman" panose="02020603050405020304" pitchFamily="18" charset="0"/>
              </a:rPr>
              <a:t>blender</a:t>
            </a:r>
            <a:r>
              <a:rPr lang="sv-SE" sz="1100" dirty="0">
                <a:ea typeface="MS Mincho" panose="02020609040205080304" pitchFamily="49" charset="-128"/>
                <a:cs typeface="Times New Roman" panose="02020603050405020304" pitchFamily="18" charset="0"/>
              </a:rPr>
              <a:t>.  Skär selleri, apelsin och gurka  i bitar. Lägg ner i </a:t>
            </a:r>
            <a:r>
              <a:rPr lang="sv-SE" sz="1100" dirty="0" err="1">
                <a:ea typeface="MS Mincho" panose="02020609040205080304" pitchFamily="49" charset="-128"/>
                <a:cs typeface="Times New Roman" panose="02020603050405020304" pitchFamily="18" charset="0"/>
              </a:rPr>
              <a:t>blendern</a:t>
            </a:r>
            <a:r>
              <a:rPr lang="sv-SE" sz="1100" dirty="0">
                <a:ea typeface="MS Mincho" panose="02020609040205080304" pitchFamily="49" charset="-128"/>
                <a:cs typeface="Times New Roman" panose="02020603050405020304" pitchFamily="18" charset="0"/>
              </a:rPr>
              <a:t> tillsammans med ingefära och limesaft. Mixa och späd med vatten till en jämn </a:t>
            </a:r>
            <a:r>
              <a:rPr lang="sv-SE" sz="1100" dirty="0" err="1">
                <a:ea typeface="MS Mincho" panose="02020609040205080304" pitchFamily="49" charset="-128"/>
                <a:cs typeface="Times New Roman" panose="02020603050405020304" pitchFamily="18" charset="0"/>
              </a:rPr>
              <a:t>smoothie</a:t>
            </a:r>
            <a:r>
              <a:rPr lang="sv-SE" sz="1100" dirty="0">
                <a:ea typeface="MS Mincho" panose="02020609040205080304" pitchFamily="49" charset="-128"/>
                <a:cs typeface="Times New Roman" panose="02020603050405020304" pitchFamily="18" charset="0"/>
              </a:rPr>
              <a:t>. Häll upp på glas. </a:t>
            </a:r>
          </a:p>
        </p:txBody>
      </p:sp>
      <p:sp>
        <p:nvSpPr>
          <p:cNvPr id="9" name="textruta 8">
            <a:extLst>
              <a:ext uri="{FF2B5EF4-FFF2-40B4-BE49-F238E27FC236}">
                <a16:creationId xmlns:a16="http://schemas.microsoft.com/office/drawing/2014/main" id="{CA9B3FB4-1395-B848-80C6-B13330CB9763}"/>
              </a:ext>
            </a:extLst>
          </p:cNvPr>
          <p:cNvSpPr txBox="1"/>
          <p:nvPr/>
        </p:nvSpPr>
        <p:spPr>
          <a:xfrm>
            <a:off x="239168" y="384592"/>
            <a:ext cx="19518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2400" dirty="0">
                <a:latin typeface="BigCaslonFB" panose="02000603080000020003" pitchFamily="50" charset="0"/>
              </a:rPr>
              <a:t>Frukost</a:t>
            </a:r>
          </a:p>
        </p:txBody>
      </p:sp>
      <p:sp>
        <p:nvSpPr>
          <p:cNvPr id="10" name="Ellips 9">
            <a:extLst>
              <a:ext uri="{FF2B5EF4-FFF2-40B4-BE49-F238E27FC236}">
                <a16:creationId xmlns:a16="http://schemas.microsoft.com/office/drawing/2014/main" id="{619158AE-DAFD-D648-AEDE-65775EBB1174}"/>
              </a:ext>
            </a:extLst>
          </p:cNvPr>
          <p:cNvSpPr/>
          <p:nvPr/>
        </p:nvSpPr>
        <p:spPr>
          <a:xfrm>
            <a:off x="1990957" y="1791749"/>
            <a:ext cx="628650" cy="477837"/>
          </a:xfrm>
          <a:prstGeom prst="ellipse">
            <a:avLst/>
          </a:prstGeom>
          <a:solidFill>
            <a:srgbClr val="276564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v-SE" sz="1200" b="1" dirty="0">
                <a:solidFill>
                  <a:schemeClr val="bg1"/>
                </a:solidFill>
                <a:ea typeface="ＭＳ 明朝"/>
                <a:cs typeface="Avenir Light"/>
              </a:rPr>
              <a:t>130 kcal</a:t>
            </a:r>
            <a:endParaRPr sz="1200" b="1" dirty="0">
              <a:solidFill>
                <a:schemeClr val="bg1"/>
              </a:solidFill>
              <a:ea typeface="ＭＳ 明朝"/>
              <a:cs typeface="Avenir Light"/>
            </a:endParaRPr>
          </a:p>
        </p:txBody>
      </p:sp>
      <p:sp>
        <p:nvSpPr>
          <p:cNvPr id="12" name="textruta 11">
            <a:extLst>
              <a:ext uri="{FF2B5EF4-FFF2-40B4-BE49-F238E27FC236}">
                <a16:creationId xmlns:a16="http://schemas.microsoft.com/office/drawing/2014/main" id="{5D962182-8C30-3141-9209-D56B7FE1EA68}"/>
              </a:ext>
            </a:extLst>
          </p:cNvPr>
          <p:cNvSpPr txBox="1"/>
          <p:nvPr/>
        </p:nvSpPr>
        <p:spPr>
          <a:xfrm>
            <a:off x="714646" y="4821290"/>
            <a:ext cx="1276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Beach 2022</a:t>
            </a:r>
          </a:p>
        </p:txBody>
      </p:sp>
      <p:sp>
        <p:nvSpPr>
          <p:cNvPr id="13" name="Platshållare för sidfot 1">
            <a:extLst>
              <a:ext uri="{FF2B5EF4-FFF2-40B4-BE49-F238E27FC236}">
                <a16:creationId xmlns:a16="http://schemas.microsoft.com/office/drawing/2014/main" id="{3BA8ACDB-4D73-B14B-B45E-A73058C51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49203" y="8736459"/>
            <a:ext cx="3704917" cy="486833"/>
          </a:xfrm>
        </p:spPr>
        <p:txBody>
          <a:bodyPr/>
          <a:lstStyle/>
          <a:p>
            <a:r>
              <a:rPr lang="sv-SE" sz="900" dirty="0"/>
              <a:t>ULRIKA DAVIDSSON ● FUNCITIONAL FLOW  6 VECKOR ● RECEPT VECKA 2 </a:t>
            </a:r>
          </a:p>
        </p:txBody>
      </p:sp>
    </p:spTree>
    <p:extLst>
      <p:ext uri="{BB962C8B-B14F-4D97-AF65-F5344CB8AC3E}">
        <p14:creationId xmlns:p14="http://schemas.microsoft.com/office/powerpoint/2010/main" val="40440980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47E76A64-6352-0D48-93D6-0DC9C03ED2F8}"/>
              </a:ext>
            </a:extLst>
          </p:cNvPr>
          <p:cNvSpPr/>
          <p:nvPr/>
        </p:nvSpPr>
        <p:spPr>
          <a:xfrm>
            <a:off x="213978" y="2202737"/>
            <a:ext cx="5419417" cy="39857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1100" b="1" dirty="0">
                <a:solidFill>
                  <a:srgbClr val="1B1B1B"/>
                </a:solidFill>
              </a:rPr>
              <a:t>Spenatsoppa med rostade pumpafrön </a:t>
            </a:r>
          </a:p>
          <a:p>
            <a:r>
              <a:rPr lang="sv-SE" sz="1100" b="1" dirty="0">
                <a:solidFill>
                  <a:srgbClr val="1B1B1B"/>
                </a:solidFill>
              </a:rPr>
              <a:t>- 4 portioner </a:t>
            </a:r>
            <a:endParaRPr lang="sv-SE" sz="1100" dirty="0">
              <a:solidFill>
                <a:srgbClr val="1B1B1B"/>
              </a:solidFill>
            </a:endParaRPr>
          </a:p>
          <a:p>
            <a:r>
              <a:rPr lang="sv-SE" sz="1100" dirty="0">
                <a:solidFill>
                  <a:srgbClr val="1B1B1B"/>
                </a:solidFill>
              </a:rPr>
              <a:t>1 vitlöksklyfta</a:t>
            </a:r>
          </a:p>
          <a:p>
            <a:r>
              <a:rPr lang="sv-SE" sz="1100" dirty="0">
                <a:solidFill>
                  <a:srgbClr val="1B1B1B"/>
                </a:solidFill>
              </a:rPr>
              <a:t>1 cm färsk ingefära</a:t>
            </a:r>
          </a:p>
          <a:p>
            <a:r>
              <a:rPr lang="sv-SE" sz="1100" dirty="0">
                <a:solidFill>
                  <a:srgbClr val="1B1B1B"/>
                </a:solidFill>
              </a:rPr>
              <a:t>1 msk olivolja</a:t>
            </a:r>
          </a:p>
          <a:p>
            <a:r>
              <a:rPr lang="sv-SE" sz="1100" dirty="0">
                <a:solidFill>
                  <a:srgbClr val="1B1B1B"/>
                </a:solidFill>
              </a:rPr>
              <a:t>450 g fryst spenat  </a:t>
            </a:r>
          </a:p>
          <a:p>
            <a:r>
              <a:rPr lang="sv-SE" sz="1100" dirty="0">
                <a:solidFill>
                  <a:srgbClr val="000000"/>
                </a:solidFill>
              </a:rPr>
              <a:t>2 dl v</a:t>
            </a:r>
            <a:r>
              <a:rPr lang="sv-SE" sz="1100" dirty="0">
                <a:solidFill>
                  <a:srgbClr val="1B1B1B"/>
                </a:solidFill>
              </a:rPr>
              <a:t>atten </a:t>
            </a:r>
            <a:endParaRPr lang="sv-SE" sz="1100" dirty="0">
              <a:solidFill>
                <a:srgbClr val="000000"/>
              </a:solidFill>
            </a:endParaRPr>
          </a:p>
          <a:p>
            <a:r>
              <a:rPr lang="sv-SE" sz="1100" dirty="0">
                <a:solidFill>
                  <a:srgbClr val="1B1B1B"/>
                </a:solidFill>
              </a:rPr>
              <a:t>200 g avrunna konserverade vita bönor </a:t>
            </a:r>
          </a:p>
          <a:p>
            <a:r>
              <a:rPr lang="sv-SE" sz="1100" dirty="0">
                <a:solidFill>
                  <a:srgbClr val="1B1B1B"/>
                </a:solidFill>
              </a:rPr>
              <a:t>400 ml kokosmjölk </a:t>
            </a:r>
          </a:p>
          <a:p>
            <a:r>
              <a:rPr lang="sv-SE" sz="1100" dirty="0">
                <a:solidFill>
                  <a:srgbClr val="1B1B1B"/>
                </a:solidFill>
              </a:rPr>
              <a:t>1/2 tsk </a:t>
            </a:r>
            <a:r>
              <a:rPr lang="sv-SE" sz="1100" dirty="0" err="1">
                <a:solidFill>
                  <a:srgbClr val="1B1B1B"/>
                </a:solidFill>
              </a:rPr>
              <a:t>srirashasås</a:t>
            </a:r>
            <a:r>
              <a:rPr lang="sv-SE" sz="1100" dirty="0">
                <a:solidFill>
                  <a:srgbClr val="1B1B1B"/>
                </a:solidFill>
              </a:rPr>
              <a:t> </a:t>
            </a:r>
          </a:p>
          <a:p>
            <a:r>
              <a:rPr lang="sv-SE" sz="1100" dirty="0">
                <a:solidFill>
                  <a:srgbClr val="1B1B1B"/>
                </a:solidFill>
              </a:rPr>
              <a:t>Salt och svartpeppar</a:t>
            </a:r>
          </a:p>
          <a:p>
            <a:endParaRPr lang="sv-SE" sz="1100" dirty="0">
              <a:solidFill>
                <a:srgbClr val="000000"/>
              </a:solidFill>
            </a:endParaRPr>
          </a:p>
          <a:p>
            <a:r>
              <a:rPr lang="sv-SE" sz="1100" b="1" dirty="0" err="1">
                <a:solidFill>
                  <a:srgbClr val="000000"/>
                </a:solidFill>
              </a:rPr>
              <a:t>Topping</a:t>
            </a:r>
            <a:endParaRPr lang="sv-SE" sz="1100" dirty="0">
              <a:solidFill>
                <a:srgbClr val="000000"/>
              </a:solidFill>
            </a:endParaRPr>
          </a:p>
          <a:p>
            <a:r>
              <a:rPr lang="sv-SE" sz="1100" dirty="0">
                <a:solidFill>
                  <a:srgbClr val="000000"/>
                </a:solidFill>
              </a:rPr>
              <a:t>2 tsk p</a:t>
            </a:r>
            <a:r>
              <a:rPr lang="sv-SE" sz="1100" dirty="0">
                <a:solidFill>
                  <a:srgbClr val="1B1B1B"/>
                </a:solidFill>
              </a:rPr>
              <a:t>umpafrön </a:t>
            </a:r>
          </a:p>
          <a:p>
            <a:r>
              <a:rPr lang="sv-SE" sz="1100" dirty="0">
                <a:solidFill>
                  <a:srgbClr val="000000"/>
                </a:solidFill>
              </a:rPr>
              <a:t>1/2 tsk h</a:t>
            </a:r>
            <a:r>
              <a:rPr lang="sv-SE" sz="1100" dirty="0">
                <a:solidFill>
                  <a:srgbClr val="1B1B1B"/>
                </a:solidFill>
              </a:rPr>
              <a:t>onung</a:t>
            </a:r>
            <a:endParaRPr lang="sv-SE" sz="1100" dirty="0">
              <a:solidFill>
                <a:srgbClr val="000000"/>
              </a:solidFill>
            </a:endParaRPr>
          </a:p>
          <a:p>
            <a:r>
              <a:rPr lang="sv-SE" sz="1100" dirty="0">
                <a:solidFill>
                  <a:srgbClr val="1B1B1B"/>
                </a:solidFill>
              </a:rPr>
              <a:t>2 msk kokosskivor</a:t>
            </a:r>
          </a:p>
          <a:p>
            <a:endParaRPr lang="sv-SE" sz="1100" dirty="0">
              <a:solidFill>
                <a:srgbClr val="000000"/>
              </a:solidFill>
            </a:endParaRPr>
          </a:p>
          <a:p>
            <a:r>
              <a:rPr lang="sv-SE" sz="1100" dirty="0">
                <a:solidFill>
                  <a:srgbClr val="1B1B1B"/>
                </a:solidFill>
              </a:rPr>
              <a:t>Skala och riv vitlök och ingefära. Hetta upp en kastrull och bryn vitlök och ingefära. Lägg i spenat och vatten och låt koka upp. Skölj bönor och lägg dem i kastrullen tillsammans med kokosmjölk. Låt koka upp och krydda med </a:t>
            </a:r>
            <a:r>
              <a:rPr lang="sv-SE" sz="1100" dirty="0" err="1">
                <a:solidFill>
                  <a:srgbClr val="1B1B1B"/>
                </a:solidFill>
              </a:rPr>
              <a:t>srirashasås</a:t>
            </a:r>
            <a:r>
              <a:rPr lang="sv-SE" sz="1100" dirty="0">
                <a:solidFill>
                  <a:srgbClr val="1B1B1B"/>
                </a:solidFill>
              </a:rPr>
              <a:t>, salt och peppar. Mixa soppan slät med en stavmixer. Hetta upp en stekpanna. </a:t>
            </a:r>
            <a:r>
              <a:rPr lang="sv-SE" sz="1100" dirty="0" err="1">
                <a:solidFill>
                  <a:srgbClr val="1B1B1B"/>
                </a:solidFill>
              </a:rPr>
              <a:t>Torrosta</a:t>
            </a:r>
            <a:r>
              <a:rPr lang="sv-SE" sz="1100" dirty="0">
                <a:solidFill>
                  <a:srgbClr val="1B1B1B"/>
                </a:solidFill>
              </a:rPr>
              <a:t> pumpafrön tills de får färg. Tillsätt salt och honung och ta bort stekpannan från värmen.  Häll upp soppa i skålar och toppa med rostade pumpafrön och kokosskivor. Dekorera med persiljekvistar.</a:t>
            </a:r>
            <a:endParaRPr lang="sv-SE" sz="1100" dirty="0">
              <a:solidFill>
                <a:srgbClr val="1B1B1B"/>
              </a:solidFill>
              <a:effectLst/>
            </a:endParaRPr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AA87304A-35B7-4042-BF22-9FDF22A04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A8967-5D92-4842-BAFB-0C8F679E5DC4}" type="slidenum">
              <a:rPr lang="sv-SE" smtClean="0"/>
              <a:t>5</a:t>
            </a:fld>
            <a:endParaRPr lang="sv-SE"/>
          </a:p>
        </p:txBody>
      </p:sp>
      <p:sp>
        <p:nvSpPr>
          <p:cNvPr id="12" name="textruta 11">
            <a:extLst>
              <a:ext uri="{FF2B5EF4-FFF2-40B4-BE49-F238E27FC236}">
                <a16:creationId xmlns:a16="http://schemas.microsoft.com/office/drawing/2014/main" id="{8AFEA0A7-F2B5-9F4D-9D08-DBC77330C2DE}"/>
              </a:ext>
            </a:extLst>
          </p:cNvPr>
          <p:cNvSpPr txBox="1"/>
          <p:nvPr/>
        </p:nvSpPr>
        <p:spPr>
          <a:xfrm>
            <a:off x="285023" y="264300"/>
            <a:ext cx="43283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2400" dirty="0" err="1">
                <a:latin typeface="BigCaslonFB" panose="02000603080000020003" pitchFamily="50" charset="0"/>
              </a:rPr>
              <a:t>Vego</a:t>
            </a:r>
            <a:endParaRPr lang="sv-SE" sz="2400" dirty="0">
              <a:latin typeface="BigCaslonFB" panose="02000603080000020003" pitchFamily="50" charset="0"/>
            </a:endParaRPr>
          </a:p>
        </p:txBody>
      </p:sp>
      <p:sp>
        <p:nvSpPr>
          <p:cNvPr id="13" name="Ellips 12">
            <a:extLst>
              <a:ext uri="{FF2B5EF4-FFF2-40B4-BE49-F238E27FC236}">
                <a16:creationId xmlns:a16="http://schemas.microsoft.com/office/drawing/2014/main" id="{9B515530-971D-3C4C-A6FD-7BC8EE7CCF4B}"/>
              </a:ext>
            </a:extLst>
          </p:cNvPr>
          <p:cNvSpPr/>
          <p:nvPr/>
        </p:nvSpPr>
        <p:spPr>
          <a:xfrm>
            <a:off x="1896537" y="3876034"/>
            <a:ext cx="628650" cy="477837"/>
          </a:xfrm>
          <a:prstGeom prst="ellipse">
            <a:avLst/>
          </a:prstGeom>
          <a:solidFill>
            <a:srgbClr val="276564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v-SE" sz="1200" b="1" dirty="0">
                <a:solidFill>
                  <a:schemeClr val="bg1"/>
                </a:solidFill>
                <a:ea typeface="ＭＳ 明朝"/>
                <a:cs typeface="Avenir Light"/>
              </a:rPr>
              <a:t>308kcal</a:t>
            </a:r>
            <a:endParaRPr sz="1200" b="1" dirty="0">
              <a:solidFill>
                <a:schemeClr val="bg1"/>
              </a:solidFill>
              <a:ea typeface="ＭＳ 明朝"/>
              <a:cs typeface="Avenir Light"/>
            </a:endParaRPr>
          </a:p>
        </p:txBody>
      </p:sp>
      <p:pic>
        <p:nvPicPr>
          <p:cNvPr id="9" name="Bildobjekt 8">
            <a:extLst>
              <a:ext uri="{FF2B5EF4-FFF2-40B4-BE49-F238E27FC236}">
                <a16:creationId xmlns:a16="http://schemas.microsoft.com/office/drawing/2014/main" id="{3AB6B8D2-3C05-5047-90F0-E3363C61DDF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2744728" y="806843"/>
            <a:ext cx="4340342" cy="3255257"/>
          </a:xfrm>
          <a:prstGeom prst="rect">
            <a:avLst/>
          </a:prstGeom>
        </p:spPr>
      </p:pic>
      <p:sp>
        <p:nvSpPr>
          <p:cNvPr id="10" name="Pratbubbla: rektangel med rundade hörn 5">
            <a:extLst>
              <a:ext uri="{FF2B5EF4-FFF2-40B4-BE49-F238E27FC236}">
                <a16:creationId xmlns:a16="http://schemas.microsoft.com/office/drawing/2014/main" id="{64FFDD1A-0960-0043-8FD7-1F5887D54FC8}"/>
              </a:ext>
            </a:extLst>
          </p:cNvPr>
          <p:cNvSpPr/>
          <p:nvPr/>
        </p:nvSpPr>
        <p:spPr>
          <a:xfrm>
            <a:off x="4613331" y="6583120"/>
            <a:ext cx="1671282" cy="631957"/>
          </a:xfrm>
          <a:prstGeom prst="wedgeRoundRectCallout">
            <a:avLst/>
          </a:prstGeom>
          <a:solidFill>
            <a:srgbClr val="2765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>
                <a:cs typeface="Avenir Light"/>
              </a:rPr>
              <a:t>Frys in 2 portioner.</a:t>
            </a:r>
          </a:p>
        </p:txBody>
      </p:sp>
      <p:sp>
        <p:nvSpPr>
          <p:cNvPr id="11" name="Platshållare för sidfot 1">
            <a:extLst>
              <a:ext uri="{FF2B5EF4-FFF2-40B4-BE49-F238E27FC236}">
                <a16:creationId xmlns:a16="http://schemas.microsoft.com/office/drawing/2014/main" id="{CF180860-342E-E94D-9E2E-705E314B5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49203" y="8736459"/>
            <a:ext cx="3704917" cy="486833"/>
          </a:xfrm>
        </p:spPr>
        <p:txBody>
          <a:bodyPr/>
          <a:lstStyle/>
          <a:p>
            <a:r>
              <a:rPr lang="sv-SE" sz="900" dirty="0"/>
              <a:t>ULRIKA DAVIDSSON ● FUNCITIONAL FLOW  6 VECKOR ● RECEPT VECKA 2 </a:t>
            </a:r>
          </a:p>
        </p:txBody>
      </p:sp>
    </p:spTree>
    <p:extLst>
      <p:ext uri="{BB962C8B-B14F-4D97-AF65-F5344CB8AC3E}">
        <p14:creationId xmlns:p14="http://schemas.microsoft.com/office/powerpoint/2010/main" val="36135018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ruta 2">
            <a:extLst>
              <a:ext uri="{FF2B5EF4-FFF2-40B4-BE49-F238E27FC236}">
                <a16:creationId xmlns:a16="http://schemas.microsoft.com/office/drawing/2014/main" id="{C88496A0-6F4D-634F-B246-E385C00F8CAC}"/>
              </a:ext>
            </a:extLst>
          </p:cNvPr>
          <p:cNvSpPr txBox="1"/>
          <p:nvPr/>
        </p:nvSpPr>
        <p:spPr>
          <a:xfrm>
            <a:off x="3461739" y="5170270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sv-SE" dirty="0"/>
          </a:p>
          <a:p>
            <a:endParaRPr lang="sv-SE" dirty="0"/>
          </a:p>
        </p:txBody>
      </p:sp>
      <p:sp>
        <p:nvSpPr>
          <p:cNvPr id="14" name="textruta 13">
            <a:extLst>
              <a:ext uri="{FF2B5EF4-FFF2-40B4-BE49-F238E27FC236}">
                <a16:creationId xmlns:a16="http://schemas.microsoft.com/office/drawing/2014/main" id="{4A69283C-4A4E-4841-B44F-F9250AD08036}"/>
              </a:ext>
            </a:extLst>
          </p:cNvPr>
          <p:cNvSpPr txBox="1"/>
          <p:nvPr/>
        </p:nvSpPr>
        <p:spPr>
          <a:xfrm>
            <a:off x="285023" y="264300"/>
            <a:ext cx="43283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2400" dirty="0">
                <a:latin typeface="BigCaslonFB" panose="02000603080000020003" pitchFamily="50" charset="0"/>
              </a:rPr>
              <a:t>Kyckling</a:t>
            </a:r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F72424F6-70AD-C144-8204-330F387A0AE5}"/>
              </a:ext>
            </a:extLst>
          </p:cNvPr>
          <p:cNvSpPr/>
          <p:nvPr/>
        </p:nvSpPr>
        <p:spPr>
          <a:xfrm>
            <a:off x="474634" y="981462"/>
            <a:ext cx="5368225" cy="584775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sv-SE" sz="1100" b="1" dirty="0">
                <a:solidFill>
                  <a:srgbClr val="000000"/>
                </a:solidFill>
              </a:rPr>
              <a:t>Kycklingpizza - 3 portioner</a:t>
            </a:r>
          </a:p>
          <a:p>
            <a:endParaRPr lang="sv-SE" sz="1100" dirty="0">
              <a:solidFill>
                <a:srgbClr val="000000"/>
              </a:solidFill>
            </a:endParaRPr>
          </a:p>
          <a:p>
            <a:r>
              <a:rPr lang="sv-SE" sz="1100" b="1" dirty="0">
                <a:solidFill>
                  <a:srgbClr val="000000"/>
                </a:solidFill>
              </a:rPr>
              <a:t>Bottnen</a:t>
            </a:r>
            <a:endParaRPr lang="sv-SE" sz="1100" dirty="0">
              <a:solidFill>
                <a:srgbClr val="000000"/>
              </a:solidFill>
            </a:endParaRPr>
          </a:p>
          <a:p>
            <a:r>
              <a:rPr lang="sv-SE" sz="1100" dirty="0">
                <a:solidFill>
                  <a:srgbClr val="000000"/>
                </a:solidFill>
              </a:rPr>
              <a:t>500 g kycklingfärs</a:t>
            </a:r>
          </a:p>
          <a:p>
            <a:r>
              <a:rPr lang="sv-SE" sz="1100" dirty="0">
                <a:solidFill>
                  <a:srgbClr val="000000"/>
                </a:solidFill>
              </a:rPr>
              <a:t>1/2 vitlöksklyfta</a:t>
            </a:r>
          </a:p>
          <a:p>
            <a:r>
              <a:rPr lang="sv-SE" sz="1100" dirty="0">
                <a:solidFill>
                  <a:srgbClr val="000000"/>
                </a:solidFill>
              </a:rPr>
              <a:t>1/2 tsk curry</a:t>
            </a:r>
          </a:p>
          <a:p>
            <a:r>
              <a:rPr lang="sv-SE" sz="1100" dirty="0">
                <a:solidFill>
                  <a:srgbClr val="000000"/>
                </a:solidFill>
              </a:rPr>
              <a:t>125 g riven mozzarella </a:t>
            </a:r>
          </a:p>
          <a:p>
            <a:r>
              <a:rPr lang="sv-SE" sz="1100" dirty="0">
                <a:solidFill>
                  <a:srgbClr val="000000"/>
                </a:solidFill>
              </a:rPr>
              <a:t>Salt och svartpeppar</a:t>
            </a:r>
          </a:p>
          <a:p>
            <a:r>
              <a:rPr lang="sv-SE" sz="1100" dirty="0">
                <a:solidFill>
                  <a:srgbClr val="000000"/>
                </a:solidFill>
              </a:rPr>
              <a:t>1 krm örtagårdskrydda</a:t>
            </a:r>
          </a:p>
          <a:p>
            <a:endParaRPr lang="sv-SE" sz="1100" dirty="0">
              <a:solidFill>
                <a:srgbClr val="000000"/>
              </a:solidFill>
            </a:endParaRPr>
          </a:p>
          <a:p>
            <a:r>
              <a:rPr lang="sv-SE" sz="1100" b="1" dirty="0" err="1">
                <a:solidFill>
                  <a:srgbClr val="000000"/>
                </a:solidFill>
              </a:rPr>
              <a:t>Topping</a:t>
            </a:r>
            <a:endParaRPr lang="sv-SE" sz="1100" dirty="0">
              <a:solidFill>
                <a:srgbClr val="000000"/>
              </a:solidFill>
            </a:endParaRPr>
          </a:p>
          <a:p>
            <a:r>
              <a:rPr lang="sv-SE" sz="1100" dirty="0">
                <a:solidFill>
                  <a:srgbClr val="000000"/>
                </a:solidFill>
              </a:rPr>
              <a:t>1/4 rödlök</a:t>
            </a:r>
          </a:p>
          <a:p>
            <a:r>
              <a:rPr lang="sv-SE" sz="1100" dirty="0">
                <a:solidFill>
                  <a:srgbClr val="000000"/>
                </a:solidFill>
              </a:rPr>
              <a:t>1/5 squash</a:t>
            </a:r>
          </a:p>
          <a:p>
            <a:r>
              <a:rPr lang="sv-SE" sz="1100" dirty="0">
                <a:solidFill>
                  <a:srgbClr val="000000"/>
                </a:solidFill>
              </a:rPr>
              <a:t>1/2 aubergine</a:t>
            </a:r>
          </a:p>
          <a:p>
            <a:r>
              <a:rPr lang="sv-SE" sz="1100" dirty="0">
                <a:solidFill>
                  <a:srgbClr val="000000"/>
                </a:solidFill>
              </a:rPr>
              <a:t>2 skogschampinjoner</a:t>
            </a:r>
          </a:p>
          <a:p>
            <a:r>
              <a:rPr lang="sv-SE" sz="1100" dirty="0">
                <a:solidFill>
                  <a:srgbClr val="000000"/>
                </a:solidFill>
              </a:rPr>
              <a:t>1/4 gul paprika</a:t>
            </a:r>
          </a:p>
          <a:p>
            <a:r>
              <a:rPr lang="sv-SE" sz="1100" dirty="0">
                <a:solidFill>
                  <a:srgbClr val="000000"/>
                </a:solidFill>
              </a:rPr>
              <a:t>10 cocktailtomater</a:t>
            </a:r>
          </a:p>
          <a:p>
            <a:r>
              <a:rPr lang="sv-SE" sz="1100" dirty="0">
                <a:solidFill>
                  <a:srgbClr val="000000"/>
                </a:solidFill>
              </a:rPr>
              <a:t>2 tsk olivolja</a:t>
            </a:r>
          </a:p>
          <a:p>
            <a:r>
              <a:rPr lang="sv-SE" sz="1100" dirty="0">
                <a:solidFill>
                  <a:srgbClr val="000000"/>
                </a:solidFill>
              </a:rPr>
              <a:t>1 dl </a:t>
            </a:r>
            <a:r>
              <a:rPr lang="sv-SE" sz="1100" dirty="0" err="1">
                <a:solidFill>
                  <a:srgbClr val="000000"/>
                </a:solidFill>
              </a:rPr>
              <a:t>ajvar</a:t>
            </a:r>
            <a:r>
              <a:rPr lang="sv-SE" sz="1100" dirty="0">
                <a:solidFill>
                  <a:srgbClr val="000000"/>
                </a:solidFill>
              </a:rPr>
              <a:t> </a:t>
            </a:r>
            <a:r>
              <a:rPr lang="sv-SE" sz="1100" dirty="0" err="1">
                <a:solidFill>
                  <a:srgbClr val="000000"/>
                </a:solidFill>
              </a:rPr>
              <a:t>relish</a:t>
            </a:r>
            <a:endParaRPr lang="sv-SE" sz="1100" dirty="0">
              <a:solidFill>
                <a:srgbClr val="000000"/>
              </a:solidFill>
            </a:endParaRPr>
          </a:p>
          <a:p>
            <a:r>
              <a:rPr lang="sv-SE" sz="1100" dirty="0">
                <a:solidFill>
                  <a:srgbClr val="000000"/>
                </a:solidFill>
              </a:rPr>
              <a:t>1 dl riven ost</a:t>
            </a:r>
          </a:p>
          <a:p>
            <a:r>
              <a:rPr lang="sv-SE" sz="1100" dirty="0">
                <a:solidFill>
                  <a:srgbClr val="000000"/>
                </a:solidFill>
              </a:rPr>
              <a:t>1 krm oregano</a:t>
            </a:r>
            <a:br>
              <a:rPr lang="sv-SE" sz="1100" dirty="0">
                <a:solidFill>
                  <a:srgbClr val="000000"/>
                </a:solidFill>
              </a:rPr>
            </a:br>
            <a:endParaRPr lang="sv-SE" sz="1100" dirty="0">
              <a:solidFill>
                <a:srgbClr val="000000"/>
              </a:solidFill>
            </a:endParaRPr>
          </a:p>
          <a:p>
            <a:r>
              <a:rPr lang="sv-SE" sz="1100" b="1" dirty="0">
                <a:solidFill>
                  <a:srgbClr val="000000"/>
                </a:solidFill>
              </a:rPr>
              <a:t>Tillbehör</a:t>
            </a:r>
            <a:endParaRPr lang="sv-SE" sz="1100" dirty="0">
              <a:solidFill>
                <a:srgbClr val="000000"/>
              </a:solidFill>
            </a:endParaRPr>
          </a:p>
          <a:p>
            <a:r>
              <a:rPr lang="sv-SE" sz="1100" dirty="0">
                <a:solidFill>
                  <a:srgbClr val="000000"/>
                </a:solidFill>
              </a:rPr>
              <a:t>20 g rucolasallad</a:t>
            </a:r>
          </a:p>
          <a:p>
            <a:r>
              <a:rPr lang="sv-SE" sz="1100" dirty="0">
                <a:solidFill>
                  <a:srgbClr val="000000"/>
                </a:solidFill>
              </a:rPr>
              <a:t>Basilikablad</a:t>
            </a:r>
            <a:br>
              <a:rPr lang="sv-SE" sz="1100" dirty="0">
                <a:solidFill>
                  <a:srgbClr val="000000"/>
                </a:solidFill>
              </a:rPr>
            </a:br>
            <a:endParaRPr lang="sv-SE" sz="1100" dirty="0">
              <a:solidFill>
                <a:srgbClr val="000000"/>
              </a:solidFill>
            </a:endParaRPr>
          </a:p>
          <a:p>
            <a:r>
              <a:rPr lang="sv-SE" sz="1100">
                <a:solidFill>
                  <a:srgbClr val="000000"/>
                </a:solidFill>
              </a:rPr>
              <a:t>Sätt ugnen på 200 grader. Riv vitlök. Blanda alla ingredienser till bottnen. Lägg ett bakplåtspapper på </a:t>
            </a:r>
            <a:r>
              <a:rPr lang="sv-SE" sz="1100" dirty="0">
                <a:solidFill>
                  <a:srgbClr val="000000"/>
                </a:solidFill>
              </a:rPr>
              <a:t>en ugnsplåt. Forma kycklingfärsen till en klump och tryck ut till en pizza. Skala och strimla rödlök. Skär squash och aubergine i tunna skivor. Skiva champinjoner. Strimla gul paprika.  </a:t>
            </a:r>
          </a:p>
          <a:p>
            <a:r>
              <a:rPr lang="sv-SE" sz="1100" dirty="0">
                <a:solidFill>
                  <a:srgbClr val="000000"/>
                </a:solidFill>
              </a:rPr>
              <a:t>Hetta upp en stekpanna med olivolja. Stek aubergine och squash i några minuter till de börjar mjukna. Bred på </a:t>
            </a:r>
            <a:r>
              <a:rPr lang="sv-SE" sz="1100" dirty="0" err="1">
                <a:solidFill>
                  <a:srgbClr val="000000"/>
                </a:solidFill>
              </a:rPr>
              <a:t>ajvar</a:t>
            </a:r>
            <a:r>
              <a:rPr lang="sv-SE" sz="1100" dirty="0">
                <a:solidFill>
                  <a:srgbClr val="000000"/>
                </a:solidFill>
              </a:rPr>
              <a:t> </a:t>
            </a:r>
            <a:r>
              <a:rPr lang="sv-SE" sz="1100" dirty="0" err="1">
                <a:solidFill>
                  <a:srgbClr val="000000"/>
                </a:solidFill>
              </a:rPr>
              <a:t>relish</a:t>
            </a:r>
            <a:r>
              <a:rPr lang="sv-SE" sz="1100" dirty="0">
                <a:solidFill>
                  <a:srgbClr val="000000"/>
                </a:solidFill>
              </a:rPr>
              <a:t> på pizzabottnen. Lägg på squash, aubergine, champinjoner, rödlök, paprika och tomater. Strö på ost och oregano. Ställ in i ugnen i 15-20 minuter. Toppa pizzan med färska basilikablad och servera tillsammans med rucolasallad.</a:t>
            </a:r>
            <a:endParaRPr lang="sv-SE" sz="1100" dirty="0">
              <a:solidFill>
                <a:srgbClr val="000000"/>
              </a:solidFill>
              <a:effectLst/>
            </a:endParaRPr>
          </a:p>
        </p:txBody>
      </p:sp>
      <p:pic>
        <p:nvPicPr>
          <p:cNvPr id="11" name="Bildobjekt 10">
            <a:extLst>
              <a:ext uri="{FF2B5EF4-FFF2-40B4-BE49-F238E27FC236}">
                <a16:creationId xmlns:a16="http://schemas.microsoft.com/office/drawing/2014/main" id="{A3486C7F-6E58-5741-BD99-8D7FA4691C2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2580275" y="825494"/>
            <a:ext cx="4454876" cy="3341157"/>
          </a:xfrm>
          <a:prstGeom prst="rect">
            <a:avLst/>
          </a:prstGeom>
        </p:spPr>
      </p:pic>
      <p:sp>
        <p:nvSpPr>
          <p:cNvPr id="13" name="Ellips 12">
            <a:extLst>
              <a:ext uri="{FF2B5EF4-FFF2-40B4-BE49-F238E27FC236}">
                <a16:creationId xmlns:a16="http://schemas.microsoft.com/office/drawing/2014/main" id="{737F457D-55C0-FE42-BB29-26655ED29CBA}"/>
              </a:ext>
            </a:extLst>
          </p:cNvPr>
          <p:cNvSpPr/>
          <p:nvPr/>
        </p:nvSpPr>
        <p:spPr>
          <a:xfrm>
            <a:off x="2075540" y="2266704"/>
            <a:ext cx="714153" cy="569486"/>
          </a:xfrm>
          <a:prstGeom prst="ellipse">
            <a:avLst/>
          </a:prstGeom>
          <a:solidFill>
            <a:srgbClr val="276564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v-SE" sz="1200" b="1" dirty="0">
                <a:solidFill>
                  <a:schemeClr val="bg1"/>
                </a:solidFill>
                <a:ea typeface="ＭＳ 明朝"/>
                <a:cs typeface="Avenir Light"/>
              </a:rPr>
              <a:t>467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v-SE" sz="1200" b="1" dirty="0">
                <a:solidFill>
                  <a:schemeClr val="bg1"/>
                </a:solidFill>
                <a:ea typeface="ＭＳ 明朝"/>
                <a:cs typeface="Avenir Light"/>
              </a:rPr>
              <a:t>kcal</a:t>
            </a:r>
            <a:endParaRPr sz="1200" b="1" dirty="0">
              <a:solidFill>
                <a:schemeClr val="bg1"/>
              </a:solidFill>
              <a:ea typeface="ＭＳ 明朝"/>
              <a:cs typeface="Avenir Light"/>
            </a:endParaRPr>
          </a:p>
        </p:txBody>
      </p:sp>
      <p:sp>
        <p:nvSpPr>
          <p:cNvPr id="9" name="Pratbubbla: rektangel med rundade hörn 5">
            <a:extLst>
              <a:ext uri="{FF2B5EF4-FFF2-40B4-BE49-F238E27FC236}">
                <a16:creationId xmlns:a16="http://schemas.microsoft.com/office/drawing/2014/main" id="{56A310CE-780B-DA4C-870A-5BE765C55067}"/>
              </a:ext>
            </a:extLst>
          </p:cNvPr>
          <p:cNvSpPr/>
          <p:nvPr/>
        </p:nvSpPr>
        <p:spPr>
          <a:xfrm>
            <a:off x="4613331" y="7226066"/>
            <a:ext cx="1671282" cy="631957"/>
          </a:xfrm>
          <a:prstGeom prst="wedgeRoundRectCallout">
            <a:avLst/>
          </a:prstGeom>
          <a:solidFill>
            <a:srgbClr val="2765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>
                <a:cs typeface="Avenir Light"/>
              </a:rPr>
              <a:t>Frys in 1 portion</a:t>
            </a:r>
          </a:p>
        </p:txBody>
      </p:sp>
      <p:sp>
        <p:nvSpPr>
          <p:cNvPr id="10" name="Platshållare för sidfot 1">
            <a:extLst>
              <a:ext uri="{FF2B5EF4-FFF2-40B4-BE49-F238E27FC236}">
                <a16:creationId xmlns:a16="http://schemas.microsoft.com/office/drawing/2014/main" id="{51B0E9E6-F890-3C43-8A11-DB2501AEE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49203" y="8736459"/>
            <a:ext cx="3704917" cy="486833"/>
          </a:xfrm>
        </p:spPr>
        <p:txBody>
          <a:bodyPr/>
          <a:lstStyle/>
          <a:p>
            <a:r>
              <a:rPr lang="sv-SE" sz="900" dirty="0"/>
              <a:t>ULRIKA DAVIDSSON ● FUNCITIONAL FLOW  6 VECKOR ● RECEPT VECKA 2 </a:t>
            </a:r>
          </a:p>
        </p:txBody>
      </p:sp>
    </p:spTree>
    <p:extLst>
      <p:ext uri="{BB962C8B-B14F-4D97-AF65-F5344CB8AC3E}">
        <p14:creationId xmlns:p14="http://schemas.microsoft.com/office/powerpoint/2010/main" val="22360920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ktangel 9">
            <a:extLst>
              <a:ext uri="{FF2B5EF4-FFF2-40B4-BE49-F238E27FC236}">
                <a16:creationId xmlns:a16="http://schemas.microsoft.com/office/drawing/2014/main" id="{73CF3739-637C-C848-887B-0F156320E236}"/>
              </a:ext>
            </a:extLst>
          </p:cNvPr>
          <p:cNvSpPr/>
          <p:nvPr/>
        </p:nvSpPr>
        <p:spPr>
          <a:xfrm>
            <a:off x="215050" y="708040"/>
            <a:ext cx="6390703" cy="5170646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sv-SE" sz="1100" b="1" dirty="0">
                <a:solidFill>
                  <a:srgbClr val="1A1A1A"/>
                </a:solidFill>
              </a:rPr>
              <a:t>Lax med rödbetssallad - 2 portioner</a:t>
            </a:r>
            <a:endParaRPr lang="sv-SE" sz="1100" dirty="0">
              <a:solidFill>
                <a:srgbClr val="1A1A1A"/>
              </a:solidFill>
            </a:endParaRPr>
          </a:p>
          <a:p>
            <a:r>
              <a:rPr lang="sv-SE" sz="1100" dirty="0">
                <a:solidFill>
                  <a:srgbClr val="1A1A1A"/>
                </a:solidFill>
              </a:rPr>
              <a:t>2 kokta rödbetor</a:t>
            </a:r>
          </a:p>
          <a:p>
            <a:r>
              <a:rPr lang="sv-SE" sz="1100" dirty="0">
                <a:solidFill>
                  <a:srgbClr val="1A1A1A"/>
                </a:solidFill>
              </a:rPr>
              <a:t>1/4 rödlök </a:t>
            </a:r>
          </a:p>
          <a:p>
            <a:r>
              <a:rPr lang="sv-SE" sz="1100" dirty="0">
                <a:solidFill>
                  <a:srgbClr val="1A1A1A"/>
                </a:solidFill>
              </a:rPr>
              <a:t>2 msk basilika</a:t>
            </a:r>
          </a:p>
          <a:p>
            <a:r>
              <a:rPr lang="sv-SE" sz="1100" dirty="0">
                <a:solidFill>
                  <a:srgbClr val="1A1A1A"/>
                </a:solidFill>
              </a:rPr>
              <a:t>1 tsk olivolja</a:t>
            </a:r>
          </a:p>
          <a:p>
            <a:r>
              <a:rPr lang="sv-SE" sz="1100" dirty="0">
                <a:solidFill>
                  <a:srgbClr val="1A1A1A"/>
                </a:solidFill>
              </a:rPr>
              <a:t>1/2 msk </a:t>
            </a:r>
            <a:r>
              <a:rPr lang="sv-SE" sz="1100" dirty="0" err="1">
                <a:solidFill>
                  <a:srgbClr val="1A1A1A"/>
                </a:solidFill>
              </a:rPr>
              <a:t>balsamico</a:t>
            </a:r>
            <a:endParaRPr lang="sv-SE" sz="1100" dirty="0">
              <a:solidFill>
                <a:srgbClr val="1A1A1A"/>
              </a:solidFill>
            </a:endParaRPr>
          </a:p>
          <a:p>
            <a:r>
              <a:rPr lang="sv-SE" sz="1100" dirty="0">
                <a:solidFill>
                  <a:srgbClr val="1A1A1A"/>
                </a:solidFill>
              </a:rPr>
              <a:t>1 krm </a:t>
            </a:r>
            <a:r>
              <a:rPr lang="sv-SE" sz="1100" dirty="0" err="1">
                <a:solidFill>
                  <a:srgbClr val="1A1A1A"/>
                </a:solidFill>
              </a:rPr>
              <a:t>örtagårskrydda</a:t>
            </a:r>
            <a:endParaRPr lang="sv-SE" sz="1100" dirty="0">
              <a:solidFill>
                <a:srgbClr val="1A1A1A"/>
              </a:solidFill>
            </a:endParaRPr>
          </a:p>
          <a:p>
            <a:r>
              <a:rPr lang="sv-SE" sz="1100" dirty="0">
                <a:solidFill>
                  <a:srgbClr val="1A1A1A"/>
                </a:solidFill>
              </a:rPr>
              <a:t>Salt och svartpeppar</a:t>
            </a:r>
          </a:p>
          <a:p>
            <a:r>
              <a:rPr lang="sv-SE" sz="1100" dirty="0">
                <a:solidFill>
                  <a:srgbClr val="1A1A1A"/>
                </a:solidFill>
              </a:rPr>
              <a:t>300 g laxfilé</a:t>
            </a:r>
          </a:p>
          <a:p>
            <a:endParaRPr lang="sv-SE" sz="1100" dirty="0">
              <a:solidFill>
                <a:srgbClr val="1A1A1A"/>
              </a:solidFill>
            </a:endParaRPr>
          </a:p>
          <a:p>
            <a:r>
              <a:rPr lang="sv-SE" sz="1100" b="1" dirty="0">
                <a:solidFill>
                  <a:srgbClr val="1A1A1A"/>
                </a:solidFill>
              </a:rPr>
              <a:t>Parmesankräm</a:t>
            </a:r>
            <a:endParaRPr lang="sv-SE" sz="1100" dirty="0">
              <a:solidFill>
                <a:srgbClr val="1A1A1A"/>
              </a:solidFill>
            </a:endParaRPr>
          </a:p>
          <a:p>
            <a:r>
              <a:rPr lang="sv-SE" sz="1100" dirty="0">
                <a:solidFill>
                  <a:srgbClr val="1A1A1A"/>
                </a:solidFill>
              </a:rPr>
              <a:t>1 dl riven parmesan</a:t>
            </a:r>
          </a:p>
          <a:p>
            <a:r>
              <a:rPr lang="sv-SE" sz="1100" dirty="0">
                <a:solidFill>
                  <a:srgbClr val="1A1A1A"/>
                </a:solidFill>
              </a:rPr>
              <a:t>1/2 msk </a:t>
            </a:r>
            <a:r>
              <a:rPr lang="sv-SE" sz="1100" dirty="0" err="1">
                <a:solidFill>
                  <a:srgbClr val="1A1A1A"/>
                </a:solidFill>
              </a:rPr>
              <a:t>creme</a:t>
            </a:r>
            <a:r>
              <a:rPr lang="sv-SE" sz="1100" dirty="0">
                <a:solidFill>
                  <a:srgbClr val="1A1A1A"/>
                </a:solidFill>
              </a:rPr>
              <a:t> fraiche</a:t>
            </a:r>
          </a:p>
          <a:p>
            <a:r>
              <a:rPr lang="sv-SE" sz="1100" dirty="0">
                <a:solidFill>
                  <a:srgbClr val="1A1A1A"/>
                </a:solidFill>
              </a:rPr>
              <a:t>1/2 msk majonnäs</a:t>
            </a:r>
          </a:p>
          <a:p>
            <a:r>
              <a:rPr lang="sv-SE" sz="1100" dirty="0">
                <a:solidFill>
                  <a:srgbClr val="1A1A1A"/>
                </a:solidFill>
              </a:rPr>
              <a:t>1/2 tsk citronjuice</a:t>
            </a:r>
            <a:endParaRPr lang="sv-SE" sz="1100" dirty="0">
              <a:solidFill>
                <a:srgbClr val="1A1A1A"/>
              </a:solidFill>
              <a:ea typeface="Calibri"/>
              <a:cs typeface="Calibri"/>
            </a:endParaRPr>
          </a:p>
          <a:p>
            <a:r>
              <a:rPr lang="sv-SE" sz="1100" dirty="0">
                <a:solidFill>
                  <a:srgbClr val="1A1A1A"/>
                </a:solidFill>
              </a:rPr>
              <a:t>1/2 krm cayennepeppar</a:t>
            </a:r>
          </a:p>
          <a:p>
            <a:r>
              <a:rPr lang="sv-SE" sz="1100" dirty="0">
                <a:solidFill>
                  <a:srgbClr val="1A1A1A"/>
                </a:solidFill>
              </a:rPr>
              <a:t>Salt och svartpeppar </a:t>
            </a:r>
            <a:br>
              <a:rPr lang="sv-SE" sz="1100" dirty="0">
                <a:solidFill>
                  <a:srgbClr val="1A1A1A"/>
                </a:solidFill>
              </a:rPr>
            </a:br>
            <a:endParaRPr lang="sv-SE" sz="1100" dirty="0">
              <a:solidFill>
                <a:srgbClr val="1A1A1A"/>
              </a:solidFill>
            </a:endParaRPr>
          </a:p>
          <a:p>
            <a:r>
              <a:rPr lang="sv-SE" sz="1100" b="1" dirty="0">
                <a:solidFill>
                  <a:srgbClr val="1A1A1A"/>
                </a:solidFill>
              </a:rPr>
              <a:t>Tillbehör</a:t>
            </a:r>
            <a:endParaRPr lang="sv-SE" sz="1100" dirty="0">
              <a:solidFill>
                <a:srgbClr val="1A1A1A"/>
              </a:solidFill>
            </a:endParaRPr>
          </a:p>
          <a:p>
            <a:r>
              <a:rPr lang="sv-SE" sz="1100" dirty="0">
                <a:solidFill>
                  <a:srgbClr val="1A1A1A"/>
                </a:solidFill>
              </a:rPr>
              <a:t>25 g rucolasallad</a:t>
            </a:r>
          </a:p>
          <a:p>
            <a:r>
              <a:rPr lang="sv-SE" sz="1100" dirty="0">
                <a:solidFill>
                  <a:srgbClr val="1A1A1A"/>
                </a:solidFill>
              </a:rPr>
              <a:t>2 msk inlagd kapris</a:t>
            </a:r>
          </a:p>
          <a:p>
            <a:r>
              <a:rPr lang="sv-SE" sz="1100" dirty="0">
                <a:solidFill>
                  <a:srgbClr val="1A1A1A"/>
                </a:solidFill>
              </a:rPr>
              <a:t>Basilikakvistar</a:t>
            </a:r>
          </a:p>
          <a:p>
            <a:r>
              <a:rPr lang="sv-SE" sz="1100" dirty="0">
                <a:solidFill>
                  <a:srgbClr val="1A1A1A"/>
                </a:solidFill>
              </a:rPr>
              <a:t>Citronklyftor</a:t>
            </a:r>
            <a:br>
              <a:rPr lang="sv-SE" sz="1100" dirty="0">
                <a:solidFill>
                  <a:srgbClr val="1A1A1A"/>
                </a:solidFill>
              </a:rPr>
            </a:br>
            <a:endParaRPr lang="sv-SE" sz="1100" dirty="0">
              <a:solidFill>
                <a:srgbClr val="1A1A1A"/>
              </a:solidFill>
            </a:endParaRPr>
          </a:p>
          <a:p>
            <a:r>
              <a:rPr lang="sv-SE" sz="1100" dirty="0">
                <a:solidFill>
                  <a:srgbClr val="1A1A1A"/>
                </a:solidFill>
              </a:rPr>
              <a:t>Sätt på ugnen på 175 grader. Dela rödbetor i tärningar. Skala och finhacka rödlök. Finhacka basilika. Blanda, rödbetor, rödlök och basilika i en skål. Häll på olivolja, </a:t>
            </a:r>
            <a:r>
              <a:rPr lang="sv-SE" sz="1100" dirty="0" err="1">
                <a:solidFill>
                  <a:srgbClr val="1A1A1A"/>
                </a:solidFill>
              </a:rPr>
              <a:t>balsamico</a:t>
            </a:r>
            <a:r>
              <a:rPr lang="sv-SE" sz="1100" dirty="0">
                <a:solidFill>
                  <a:srgbClr val="1A1A1A"/>
                </a:solidFill>
              </a:rPr>
              <a:t>. Strö på salt, peppar och örtagårdskrydda och blanda om. Dela laxfilén och lägg  på en ugnsplåt. Strö på salt och peppar och ställ in i ugnen i 15 min. Blanda riven parmesan, </a:t>
            </a:r>
            <a:r>
              <a:rPr lang="sv-SE" sz="1100" dirty="0" err="1">
                <a:solidFill>
                  <a:srgbClr val="1A1A1A"/>
                </a:solidFill>
              </a:rPr>
              <a:t>creme</a:t>
            </a:r>
            <a:r>
              <a:rPr lang="sv-SE" sz="1100" dirty="0">
                <a:solidFill>
                  <a:srgbClr val="1A1A1A"/>
                </a:solidFill>
              </a:rPr>
              <a:t> fraiche, majonnäs och citronjuice i en skål. Strö på cayennepeppar, salt och peppar. Rör om. Lägg upp rucolasallad på tallrikar. Placera rödbetssallad och laxen ovanpå. Toppa med kapris och parmesankräm. Dekorera med basilikakvistar och citronklyftor. </a:t>
            </a:r>
            <a:endParaRPr lang="sv-SE" sz="1100" dirty="0">
              <a:solidFill>
                <a:srgbClr val="1A1A1A"/>
              </a:solidFill>
              <a:effectLst/>
            </a:endParaRPr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94B654D3-8306-7B48-8A78-36578E70C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A8967-5D92-4842-BAFB-0C8F679E5DC4}" type="slidenum">
              <a:rPr lang="sv-SE" smtClean="0"/>
              <a:t>7</a:t>
            </a:fld>
            <a:endParaRPr lang="sv-SE" dirty="0"/>
          </a:p>
        </p:txBody>
      </p:sp>
      <p:sp>
        <p:nvSpPr>
          <p:cNvPr id="6" name="textruta 5">
            <a:extLst>
              <a:ext uri="{FF2B5EF4-FFF2-40B4-BE49-F238E27FC236}">
                <a16:creationId xmlns:a16="http://schemas.microsoft.com/office/drawing/2014/main" id="{2D5BE3DB-A1D5-C847-BF3B-3EADD99F7365}"/>
              </a:ext>
            </a:extLst>
          </p:cNvPr>
          <p:cNvSpPr txBox="1"/>
          <p:nvPr/>
        </p:nvSpPr>
        <p:spPr>
          <a:xfrm>
            <a:off x="239168" y="384592"/>
            <a:ext cx="19518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2400" dirty="0">
                <a:latin typeface="BigCaslonFB" panose="02000603080000020003" pitchFamily="50" charset="0"/>
              </a:rPr>
              <a:t>Fisk</a:t>
            </a:r>
          </a:p>
        </p:txBody>
      </p:sp>
      <p:sp>
        <p:nvSpPr>
          <p:cNvPr id="12" name="Ellips 11">
            <a:extLst>
              <a:ext uri="{FF2B5EF4-FFF2-40B4-BE49-F238E27FC236}">
                <a16:creationId xmlns:a16="http://schemas.microsoft.com/office/drawing/2014/main" id="{6D243BA4-F6EE-164A-A75A-76F09B55EB00}"/>
              </a:ext>
            </a:extLst>
          </p:cNvPr>
          <p:cNvSpPr/>
          <p:nvPr/>
        </p:nvSpPr>
        <p:spPr>
          <a:xfrm>
            <a:off x="2146996" y="1911987"/>
            <a:ext cx="628650" cy="477837"/>
          </a:xfrm>
          <a:prstGeom prst="ellipse">
            <a:avLst/>
          </a:prstGeom>
          <a:solidFill>
            <a:srgbClr val="276564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v-SE" sz="1200" b="1" dirty="0">
                <a:solidFill>
                  <a:schemeClr val="bg1"/>
                </a:solidFill>
                <a:ea typeface="ＭＳ 明朝"/>
                <a:cs typeface="Avenir Light"/>
              </a:rPr>
              <a:t>490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v-SE" sz="1200" b="1" dirty="0">
                <a:solidFill>
                  <a:schemeClr val="bg1"/>
                </a:solidFill>
                <a:ea typeface="ＭＳ 明朝"/>
                <a:cs typeface="Avenir Light"/>
              </a:rPr>
              <a:t>kcal</a:t>
            </a:r>
            <a:endParaRPr sz="1200" b="1" dirty="0">
              <a:solidFill>
                <a:schemeClr val="bg1"/>
              </a:solidFill>
              <a:ea typeface="ＭＳ 明朝"/>
              <a:cs typeface="Avenir Light"/>
            </a:endParaRPr>
          </a:p>
        </p:txBody>
      </p:sp>
      <p:pic>
        <p:nvPicPr>
          <p:cNvPr id="9" name="Bildobjekt 8">
            <a:extLst>
              <a:ext uri="{FF2B5EF4-FFF2-40B4-BE49-F238E27FC236}">
                <a16:creationId xmlns:a16="http://schemas.microsoft.com/office/drawing/2014/main" id="{515A364F-44C8-9A41-B602-042771DE9CE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2835133" y="723892"/>
            <a:ext cx="4309280" cy="3231960"/>
          </a:xfrm>
          <a:prstGeom prst="rect">
            <a:avLst/>
          </a:prstGeom>
        </p:spPr>
      </p:pic>
      <p:sp>
        <p:nvSpPr>
          <p:cNvPr id="11" name="Platshållare för sidfot 1">
            <a:extLst>
              <a:ext uri="{FF2B5EF4-FFF2-40B4-BE49-F238E27FC236}">
                <a16:creationId xmlns:a16="http://schemas.microsoft.com/office/drawing/2014/main" id="{AD687245-2036-EA4C-88A4-34951890D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49203" y="8736459"/>
            <a:ext cx="3704917" cy="486833"/>
          </a:xfrm>
        </p:spPr>
        <p:txBody>
          <a:bodyPr/>
          <a:lstStyle/>
          <a:p>
            <a:r>
              <a:rPr lang="sv-SE" sz="900" dirty="0"/>
              <a:t>ULRIKA DAVIDSSON ● FUNCITIONAL FLOW  6 VECKOR ● RECEPT VECKA 2 </a:t>
            </a:r>
          </a:p>
        </p:txBody>
      </p:sp>
    </p:spTree>
    <p:extLst>
      <p:ext uri="{BB962C8B-B14F-4D97-AF65-F5344CB8AC3E}">
        <p14:creationId xmlns:p14="http://schemas.microsoft.com/office/powerpoint/2010/main" val="14607067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6BEE1AA8-6B28-4F49-8638-AAEE2444C6DC}"/>
              </a:ext>
            </a:extLst>
          </p:cNvPr>
          <p:cNvSpPr/>
          <p:nvPr/>
        </p:nvSpPr>
        <p:spPr>
          <a:xfrm>
            <a:off x="225219" y="1128252"/>
            <a:ext cx="6144583" cy="618630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sv-SE" sz="1100" b="1" dirty="0">
                <a:solidFill>
                  <a:srgbClr val="1B1B1B"/>
                </a:solidFill>
              </a:rPr>
              <a:t>Fisktaco med mangosalsa och sesamsås</a:t>
            </a:r>
          </a:p>
          <a:p>
            <a:r>
              <a:rPr lang="sv-SE" sz="1100" b="1" dirty="0">
                <a:solidFill>
                  <a:srgbClr val="1B1B1B"/>
                </a:solidFill>
              </a:rPr>
              <a:t>- 2 portioner </a:t>
            </a:r>
            <a:endParaRPr lang="sv-SE" sz="1100" dirty="0">
              <a:solidFill>
                <a:srgbClr val="1B1B1B"/>
              </a:solidFill>
            </a:endParaRPr>
          </a:p>
          <a:p>
            <a:r>
              <a:rPr lang="sv-SE" sz="1100" dirty="0">
                <a:solidFill>
                  <a:srgbClr val="1B1B1B"/>
                </a:solidFill>
              </a:rPr>
              <a:t>300 g torskrygg </a:t>
            </a:r>
          </a:p>
          <a:p>
            <a:r>
              <a:rPr lang="sv-SE" sz="1100" dirty="0">
                <a:solidFill>
                  <a:srgbClr val="1B1B1B"/>
                </a:solidFill>
              </a:rPr>
              <a:t>Salt och svartpeppar </a:t>
            </a:r>
          </a:p>
          <a:p>
            <a:r>
              <a:rPr lang="sv-SE" sz="1100" dirty="0">
                <a:solidFill>
                  <a:srgbClr val="1B1B1B"/>
                </a:solidFill>
              </a:rPr>
              <a:t>1/2 ägg</a:t>
            </a:r>
          </a:p>
          <a:p>
            <a:r>
              <a:rPr lang="sv-SE" sz="1100" dirty="0">
                <a:solidFill>
                  <a:srgbClr val="000000"/>
                </a:solidFill>
              </a:rPr>
              <a:t>1</a:t>
            </a:r>
            <a:r>
              <a:rPr lang="sv-SE" sz="1100" dirty="0">
                <a:solidFill>
                  <a:srgbClr val="1B1B1B"/>
                </a:solidFill>
              </a:rPr>
              <a:t> dl </a:t>
            </a:r>
            <a:r>
              <a:rPr lang="sv-SE" sz="1100" dirty="0" err="1">
                <a:solidFill>
                  <a:srgbClr val="1B1B1B"/>
                </a:solidFill>
              </a:rPr>
              <a:t>panko</a:t>
            </a:r>
            <a:r>
              <a:rPr lang="sv-SE" sz="1100" dirty="0">
                <a:solidFill>
                  <a:srgbClr val="1B1B1B"/>
                </a:solidFill>
              </a:rPr>
              <a:t> ströbröd</a:t>
            </a:r>
          </a:p>
          <a:p>
            <a:r>
              <a:rPr lang="sv-SE" sz="1100" dirty="0">
                <a:solidFill>
                  <a:srgbClr val="000000"/>
                </a:solidFill>
              </a:rPr>
              <a:t>1 </a:t>
            </a:r>
            <a:r>
              <a:rPr lang="sv-SE" sz="1100" dirty="0">
                <a:solidFill>
                  <a:srgbClr val="1B1B1B"/>
                </a:solidFill>
              </a:rPr>
              <a:t>tsk svarta sesamfrön </a:t>
            </a:r>
          </a:p>
          <a:p>
            <a:endParaRPr lang="sv-SE" sz="1100" dirty="0">
              <a:solidFill>
                <a:srgbClr val="000000"/>
              </a:solidFill>
            </a:endParaRPr>
          </a:p>
          <a:p>
            <a:r>
              <a:rPr lang="sv-SE" sz="1100" b="1" dirty="0">
                <a:solidFill>
                  <a:srgbClr val="1B1B1B"/>
                </a:solidFill>
              </a:rPr>
              <a:t>Sesamsås</a:t>
            </a:r>
            <a:r>
              <a:rPr lang="sv-SE" sz="1100" dirty="0">
                <a:solidFill>
                  <a:srgbClr val="1B1B1B"/>
                </a:solidFill>
              </a:rPr>
              <a:t> </a:t>
            </a:r>
          </a:p>
          <a:p>
            <a:r>
              <a:rPr lang="sv-SE" sz="1100" dirty="0">
                <a:solidFill>
                  <a:srgbClr val="1B1B1B"/>
                </a:solidFill>
              </a:rPr>
              <a:t>1/2 msk sesamolja </a:t>
            </a:r>
          </a:p>
          <a:p>
            <a:r>
              <a:rPr lang="sv-SE" sz="1100" dirty="0">
                <a:solidFill>
                  <a:srgbClr val="1B1B1B"/>
                </a:solidFill>
              </a:rPr>
              <a:t>1/2 msk soja </a:t>
            </a:r>
          </a:p>
          <a:p>
            <a:r>
              <a:rPr lang="sv-SE" sz="1100" dirty="0">
                <a:solidFill>
                  <a:srgbClr val="1B1B1B"/>
                </a:solidFill>
              </a:rPr>
              <a:t>1/2 dl majonnäs</a:t>
            </a:r>
          </a:p>
          <a:p>
            <a:r>
              <a:rPr lang="sv-SE" sz="1100" dirty="0">
                <a:solidFill>
                  <a:srgbClr val="1B1B1B"/>
                </a:solidFill>
              </a:rPr>
              <a:t>1 tsk </a:t>
            </a:r>
            <a:r>
              <a:rPr lang="sv-SE" sz="1100" dirty="0">
                <a:solidFill>
                  <a:srgbClr val="FF0000"/>
                </a:solidFill>
              </a:rPr>
              <a:t>riven</a:t>
            </a:r>
            <a:r>
              <a:rPr lang="sv-SE" sz="1100" dirty="0">
                <a:solidFill>
                  <a:srgbClr val="1B1B1B"/>
                </a:solidFill>
              </a:rPr>
              <a:t> färsk ingefära </a:t>
            </a:r>
            <a:br>
              <a:rPr lang="sv-SE" sz="1100" dirty="0">
                <a:solidFill>
                  <a:srgbClr val="000000"/>
                </a:solidFill>
              </a:rPr>
            </a:br>
            <a:endParaRPr lang="sv-SE" sz="1100" dirty="0">
              <a:solidFill>
                <a:srgbClr val="000000"/>
              </a:solidFill>
            </a:endParaRPr>
          </a:p>
          <a:p>
            <a:r>
              <a:rPr lang="sv-SE" sz="1100" b="1" dirty="0">
                <a:solidFill>
                  <a:srgbClr val="1B1B1B"/>
                </a:solidFill>
              </a:rPr>
              <a:t>Mangosalsa</a:t>
            </a:r>
            <a:endParaRPr lang="sv-SE" sz="1100" dirty="0">
              <a:solidFill>
                <a:srgbClr val="1B1B1B"/>
              </a:solidFill>
            </a:endParaRPr>
          </a:p>
          <a:p>
            <a:r>
              <a:rPr lang="sv-SE" sz="1100" dirty="0">
                <a:solidFill>
                  <a:srgbClr val="1B1B1B"/>
                </a:solidFill>
              </a:rPr>
              <a:t>1 avokado </a:t>
            </a:r>
          </a:p>
          <a:p>
            <a:r>
              <a:rPr lang="sv-SE" sz="1100" dirty="0">
                <a:solidFill>
                  <a:srgbClr val="1B1B1B"/>
                </a:solidFill>
              </a:rPr>
              <a:t>1/2 mango </a:t>
            </a:r>
          </a:p>
          <a:p>
            <a:r>
              <a:rPr lang="sv-SE" sz="1100" dirty="0">
                <a:solidFill>
                  <a:srgbClr val="1B1B1B"/>
                </a:solidFill>
              </a:rPr>
              <a:t>1/4 rödlök </a:t>
            </a:r>
          </a:p>
          <a:p>
            <a:r>
              <a:rPr lang="sv-SE" sz="1100" dirty="0">
                <a:solidFill>
                  <a:srgbClr val="1B1B1B"/>
                </a:solidFill>
              </a:rPr>
              <a:t>3 cocktailtomater</a:t>
            </a:r>
          </a:p>
          <a:p>
            <a:r>
              <a:rPr lang="sv-SE" sz="1100" dirty="0">
                <a:solidFill>
                  <a:srgbClr val="1B1B1B"/>
                </a:solidFill>
              </a:rPr>
              <a:t>1/2 lime </a:t>
            </a:r>
          </a:p>
          <a:p>
            <a:r>
              <a:rPr lang="sv-SE" sz="1100" dirty="0">
                <a:solidFill>
                  <a:srgbClr val="000000"/>
                </a:solidFill>
              </a:rPr>
              <a:t>1 msk </a:t>
            </a:r>
            <a:r>
              <a:rPr lang="sv-SE" sz="1100" dirty="0">
                <a:solidFill>
                  <a:srgbClr val="FF0000"/>
                </a:solidFill>
              </a:rPr>
              <a:t>hackad</a:t>
            </a:r>
            <a:r>
              <a:rPr lang="sv-SE" sz="1100" dirty="0">
                <a:solidFill>
                  <a:srgbClr val="000000"/>
                </a:solidFill>
              </a:rPr>
              <a:t> k</a:t>
            </a:r>
            <a:r>
              <a:rPr lang="sv-SE" sz="1100" dirty="0">
                <a:solidFill>
                  <a:srgbClr val="1B1B1B"/>
                </a:solidFill>
              </a:rPr>
              <a:t>oriander </a:t>
            </a:r>
            <a:endParaRPr lang="sv-SE" sz="1100" dirty="0">
              <a:solidFill>
                <a:srgbClr val="000000"/>
              </a:solidFill>
            </a:endParaRPr>
          </a:p>
          <a:p>
            <a:r>
              <a:rPr lang="sv-SE" sz="1100" dirty="0">
                <a:solidFill>
                  <a:srgbClr val="1B1B1B"/>
                </a:solidFill>
              </a:rPr>
              <a:t>Salt och svartpeppar</a:t>
            </a:r>
          </a:p>
          <a:p>
            <a:endParaRPr lang="sv-SE" sz="1100" dirty="0">
              <a:solidFill>
                <a:srgbClr val="000000"/>
              </a:solidFill>
            </a:endParaRPr>
          </a:p>
          <a:p>
            <a:r>
              <a:rPr lang="sv-SE" sz="1100" b="1" dirty="0">
                <a:solidFill>
                  <a:srgbClr val="1B1B1B"/>
                </a:solidFill>
              </a:rPr>
              <a:t>Tillbehör</a:t>
            </a:r>
            <a:endParaRPr lang="sv-SE" sz="1100" dirty="0">
              <a:solidFill>
                <a:srgbClr val="1B1B1B"/>
              </a:solidFill>
            </a:endParaRPr>
          </a:p>
          <a:p>
            <a:r>
              <a:rPr lang="sv-SE" sz="1100" dirty="0">
                <a:solidFill>
                  <a:srgbClr val="000000"/>
                </a:solidFill>
              </a:rPr>
              <a:t>4 </a:t>
            </a:r>
            <a:r>
              <a:rPr lang="sv-SE" sz="1100" dirty="0">
                <a:solidFill>
                  <a:srgbClr val="1B1B1B"/>
                </a:solidFill>
              </a:rPr>
              <a:t>romansalladsblad</a:t>
            </a:r>
          </a:p>
          <a:p>
            <a:endParaRPr lang="sv-SE" sz="1100" dirty="0">
              <a:solidFill>
                <a:srgbClr val="000000"/>
              </a:solidFill>
            </a:endParaRPr>
          </a:p>
          <a:p>
            <a:r>
              <a:rPr lang="sv-SE" sz="1100" b="1" dirty="0">
                <a:solidFill>
                  <a:srgbClr val="000000"/>
                </a:solidFill>
              </a:rPr>
              <a:t>Dekoration: c</a:t>
            </a:r>
            <a:r>
              <a:rPr lang="sv-SE" sz="1100" dirty="0">
                <a:solidFill>
                  <a:srgbClr val="000000"/>
                </a:solidFill>
              </a:rPr>
              <a:t>itronklyftor och k</a:t>
            </a:r>
            <a:r>
              <a:rPr lang="sv-SE" sz="1100" dirty="0">
                <a:solidFill>
                  <a:srgbClr val="1B1B1B"/>
                </a:solidFill>
              </a:rPr>
              <a:t>orianderkvistar</a:t>
            </a:r>
          </a:p>
          <a:p>
            <a:endParaRPr lang="sv-SE" sz="1100" dirty="0">
              <a:solidFill>
                <a:srgbClr val="000000"/>
              </a:solidFill>
            </a:endParaRPr>
          </a:p>
          <a:p>
            <a:r>
              <a:rPr lang="sv-SE" sz="1100" dirty="0">
                <a:solidFill>
                  <a:srgbClr val="1B1B1B"/>
                </a:solidFill>
              </a:rPr>
              <a:t>Sätt ugnen på 200 grader. Skär torsk i större bitar och strö på salt och peppar. Knäck ägg i en mindre skål och rör om. Häll upp </a:t>
            </a:r>
            <a:r>
              <a:rPr lang="sv-SE" sz="1100" dirty="0" err="1">
                <a:solidFill>
                  <a:srgbClr val="1B1B1B"/>
                </a:solidFill>
              </a:rPr>
              <a:t>panko</a:t>
            </a:r>
            <a:r>
              <a:rPr lang="sv-SE" sz="1100" dirty="0">
                <a:solidFill>
                  <a:srgbClr val="1B1B1B"/>
                </a:solidFill>
              </a:rPr>
              <a:t> och sesamfrö på ett fat och rör om. Doppa bitarna av fisk i ägg och rulla dem i </a:t>
            </a:r>
            <a:r>
              <a:rPr lang="sv-SE" sz="1100" dirty="0" err="1">
                <a:solidFill>
                  <a:srgbClr val="1B1B1B"/>
                </a:solidFill>
              </a:rPr>
              <a:t>pankoblandningen</a:t>
            </a:r>
            <a:r>
              <a:rPr lang="sv-SE" sz="1100" dirty="0">
                <a:solidFill>
                  <a:srgbClr val="1B1B1B"/>
                </a:solidFill>
              </a:rPr>
              <a:t> till de är helt täckta. Lägg fiskbitarna på en bakplåtsklädd ugnsplåt och ställ in i ugnen i 10 minuter. Blanda sesamolja, soja och majonnäs i en skål. Blanda ner ingefära i skålen och rör om. Skär avokado och mango i kuber. Skala och finhacka rödlök. Skär tomat i mindre bitar. Blanda avokado, mango, rödlök och tomat tillsammans med limejuice och koriander. Strö på salt och peppar.</a:t>
            </a:r>
            <a:r>
              <a:rPr lang="sv-SE" sz="1100" dirty="0">
                <a:solidFill>
                  <a:srgbClr val="000000"/>
                </a:solidFill>
              </a:rPr>
              <a:t> </a:t>
            </a:r>
            <a:r>
              <a:rPr lang="sv-SE" sz="1100" dirty="0">
                <a:solidFill>
                  <a:srgbClr val="1B1B1B"/>
                </a:solidFill>
              </a:rPr>
              <a:t>Lägg salladsblad på ett fat. Lägg på fisktaco och servera med sesamsåsen. Dekorera med korianderkvistar och citronklyftor. </a:t>
            </a:r>
            <a:endParaRPr lang="sv-SE" sz="1100" dirty="0">
              <a:solidFill>
                <a:srgbClr val="1B1B1B"/>
              </a:solidFill>
              <a:effectLst/>
            </a:endParaRPr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AA87304A-35B7-4042-BF22-9FDF22A04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A8967-5D92-4842-BAFB-0C8F679E5DC4}" type="slidenum">
              <a:rPr lang="sv-SE" smtClean="0"/>
              <a:t>8</a:t>
            </a:fld>
            <a:endParaRPr lang="sv-SE"/>
          </a:p>
        </p:txBody>
      </p:sp>
      <p:sp>
        <p:nvSpPr>
          <p:cNvPr id="11" name="textruta 10">
            <a:extLst>
              <a:ext uri="{FF2B5EF4-FFF2-40B4-BE49-F238E27FC236}">
                <a16:creationId xmlns:a16="http://schemas.microsoft.com/office/drawing/2014/main" id="{D3FFF5D6-C53C-A34C-9DB1-E9EE5DD0D745}"/>
              </a:ext>
            </a:extLst>
          </p:cNvPr>
          <p:cNvSpPr txBox="1"/>
          <p:nvPr/>
        </p:nvSpPr>
        <p:spPr>
          <a:xfrm>
            <a:off x="225220" y="224397"/>
            <a:ext cx="43283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2400" dirty="0">
                <a:latin typeface="BigCaslonFB" panose="02000603080000020003" pitchFamily="50" charset="0"/>
              </a:rPr>
              <a:t>Fisk</a:t>
            </a:r>
          </a:p>
        </p:txBody>
      </p:sp>
      <p:sp>
        <p:nvSpPr>
          <p:cNvPr id="6" name="Ellips 5">
            <a:extLst>
              <a:ext uri="{FF2B5EF4-FFF2-40B4-BE49-F238E27FC236}">
                <a16:creationId xmlns:a16="http://schemas.microsoft.com/office/drawing/2014/main" id="{F439330D-F48B-334F-A377-9CB18DEB095D}"/>
              </a:ext>
            </a:extLst>
          </p:cNvPr>
          <p:cNvSpPr/>
          <p:nvPr/>
        </p:nvSpPr>
        <p:spPr>
          <a:xfrm>
            <a:off x="2075049" y="2237898"/>
            <a:ext cx="628650" cy="477837"/>
          </a:xfrm>
          <a:prstGeom prst="ellipse">
            <a:avLst/>
          </a:prstGeom>
          <a:solidFill>
            <a:srgbClr val="276564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v-SE" sz="1200" b="1" dirty="0">
                <a:solidFill>
                  <a:schemeClr val="bg1"/>
                </a:solidFill>
                <a:ea typeface="ＭＳ 明朝"/>
                <a:cs typeface="Avenir Light"/>
              </a:rPr>
              <a:t>656kcal</a:t>
            </a:r>
            <a:endParaRPr sz="1200" b="1" dirty="0">
              <a:solidFill>
                <a:schemeClr val="bg1"/>
              </a:solidFill>
              <a:ea typeface="ＭＳ 明朝"/>
              <a:cs typeface="Avenir Light"/>
            </a:endParaRPr>
          </a:p>
        </p:txBody>
      </p:sp>
      <p:pic>
        <p:nvPicPr>
          <p:cNvPr id="12" name="Bildobjekt 11">
            <a:extLst>
              <a:ext uri="{FF2B5EF4-FFF2-40B4-BE49-F238E27FC236}">
                <a16:creationId xmlns:a16="http://schemas.microsoft.com/office/drawing/2014/main" id="{206C3409-7F0A-814F-8A33-7C428813CF9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2477627" y="833715"/>
            <a:ext cx="4874545" cy="3655909"/>
          </a:xfrm>
          <a:prstGeom prst="rect">
            <a:avLst/>
          </a:prstGeom>
        </p:spPr>
      </p:pic>
      <p:sp>
        <p:nvSpPr>
          <p:cNvPr id="9" name="Platshållare för sidfot 1">
            <a:extLst>
              <a:ext uri="{FF2B5EF4-FFF2-40B4-BE49-F238E27FC236}">
                <a16:creationId xmlns:a16="http://schemas.microsoft.com/office/drawing/2014/main" id="{28456917-72DA-6E43-8BAA-45F1DCB5D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49203" y="8736459"/>
            <a:ext cx="3704917" cy="486833"/>
          </a:xfrm>
        </p:spPr>
        <p:txBody>
          <a:bodyPr/>
          <a:lstStyle/>
          <a:p>
            <a:r>
              <a:rPr lang="sv-SE" sz="900" dirty="0"/>
              <a:t>ULRIKA DAVIDSSON ● FUNCITIONAL FLOW  6 VECKOR ● RECEPT VECKA 2 </a:t>
            </a:r>
          </a:p>
        </p:txBody>
      </p:sp>
    </p:spTree>
    <p:extLst>
      <p:ext uri="{BB962C8B-B14F-4D97-AF65-F5344CB8AC3E}">
        <p14:creationId xmlns:p14="http://schemas.microsoft.com/office/powerpoint/2010/main" val="1262993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AA87304A-35B7-4042-BF22-9FDF22A04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A8967-5D92-4842-BAFB-0C8F679E5DC4}" type="slidenum">
              <a:rPr lang="sv-SE" smtClean="0"/>
              <a:t>9</a:t>
            </a:fld>
            <a:endParaRPr lang="sv-SE"/>
          </a:p>
        </p:txBody>
      </p:sp>
      <p:sp>
        <p:nvSpPr>
          <p:cNvPr id="11" name="textruta 10">
            <a:extLst>
              <a:ext uri="{FF2B5EF4-FFF2-40B4-BE49-F238E27FC236}">
                <a16:creationId xmlns:a16="http://schemas.microsoft.com/office/drawing/2014/main" id="{D3FFF5D6-C53C-A34C-9DB1-E9EE5DD0D745}"/>
              </a:ext>
            </a:extLst>
          </p:cNvPr>
          <p:cNvSpPr txBox="1"/>
          <p:nvPr/>
        </p:nvSpPr>
        <p:spPr>
          <a:xfrm>
            <a:off x="225220" y="224397"/>
            <a:ext cx="43283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2400" dirty="0">
                <a:latin typeface="BigCaslonFB" panose="02000603080000020003" pitchFamily="50" charset="0"/>
              </a:rPr>
              <a:t>Kött</a:t>
            </a:r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375E3402-4472-B04F-A9CF-DCBCB1793FBA}"/>
              </a:ext>
            </a:extLst>
          </p:cNvPr>
          <p:cNvSpPr/>
          <p:nvPr/>
        </p:nvSpPr>
        <p:spPr>
          <a:xfrm>
            <a:off x="270931" y="2099728"/>
            <a:ext cx="6391979" cy="567847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sv-SE" sz="1100" b="1" dirty="0">
                <a:solidFill>
                  <a:srgbClr val="000000"/>
                </a:solidFill>
              </a:rPr>
              <a:t>Lövbiffsgryta med champinjoner och </a:t>
            </a:r>
          </a:p>
          <a:p>
            <a:r>
              <a:rPr lang="sv-SE" sz="1100" b="1" dirty="0">
                <a:solidFill>
                  <a:srgbClr val="000000"/>
                </a:solidFill>
              </a:rPr>
              <a:t>grönsaksspagetti - 2 portioner</a:t>
            </a:r>
            <a:endParaRPr lang="sv-SE" sz="1100" dirty="0">
              <a:solidFill>
                <a:srgbClr val="000000"/>
              </a:solidFill>
            </a:endParaRPr>
          </a:p>
          <a:p>
            <a:r>
              <a:rPr lang="sv-SE" sz="1100" dirty="0">
                <a:solidFill>
                  <a:srgbClr val="000000"/>
                </a:solidFill>
              </a:rPr>
              <a:t>1/2 gul lök</a:t>
            </a:r>
          </a:p>
          <a:p>
            <a:r>
              <a:rPr lang="sv-SE" sz="1100" dirty="0">
                <a:solidFill>
                  <a:srgbClr val="000000"/>
                </a:solidFill>
              </a:rPr>
              <a:t>1/2 vitlöksklyfta</a:t>
            </a:r>
          </a:p>
          <a:p>
            <a:r>
              <a:rPr lang="sv-SE" sz="1100" dirty="0">
                <a:solidFill>
                  <a:srgbClr val="000000"/>
                </a:solidFill>
              </a:rPr>
              <a:t>8 champinjoner </a:t>
            </a:r>
          </a:p>
          <a:p>
            <a:r>
              <a:rPr lang="sv-SE" sz="1100" dirty="0">
                <a:solidFill>
                  <a:srgbClr val="FF0000"/>
                </a:solidFill>
              </a:rPr>
              <a:t>1/4 röd paprika</a:t>
            </a:r>
            <a:endParaRPr lang="sv-SE" sz="1100" dirty="0">
              <a:solidFill>
                <a:srgbClr val="FF0000"/>
              </a:solidFill>
              <a:ea typeface="Calibri"/>
              <a:cs typeface="Calibri"/>
            </a:endParaRPr>
          </a:p>
          <a:p>
            <a:r>
              <a:rPr lang="sv-SE" sz="1100" dirty="0">
                <a:solidFill>
                  <a:srgbClr val="FF0000"/>
                </a:solidFill>
              </a:rPr>
              <a:t>1/4 gul paprika</a:t>
            </a:r>
            <a:endParaRPr lang="sv-SE" sz="1100" dirty="0">
              <a:solidFill>
                <a:srgbClr val="FF0000"/>
              </a:solidFill>
              <a:ea typeface="Calibri"/>
              <a:cs typeface="Calibri"/>
            </a:endParaRPr>
          </a:p>
          <a:p>
            <a:r>
              <a:rPr lang="sv-SE" sz="1100" dirty="0">
                <a:solidFill>
                  <a:srgbClr val="FF0000"/>
                </a:solidFill>
              </a:rPr>
              <a:t>1/4 grön paprika</a:t>
            </a:r>
            <a:endParaRPr lang="sv-SE" sz="1100" dirty="0">
              <a:solidFill>
                <a:srgbClr val="FF0000"/>
              </a:solidFill>
              <a:ea typeface="Calibri"/>
              <a:cs typeface="Calibri"/>
            </a:endParaRPr>
          </a:p>
          <a:p>
            <a:r>
              <a:rPr lang="sv-SE" sz="1100" dirty="0">
                <a:solidFill>
                  <a:srgbClr val="000000"/>
                </a:solidFill>
              </a:rPr>
              <a:t>300 g lövbiff</a:t>
            </a:r>
          </a:p>
          <a:p>
            <a:r>
              <a:rPr lang="sv-SE" sz="1100" dirty="0">
                <a:solidFill>
                  <a:srgbClr val="000000"/>
                </a:solidFill>
              </a:rPr>
              <a:t>Salt och svartpeppar</a:t>
            </a:r>
          </a:p>
          <a:p>
            <a:r>
              <a:rPr lang="sv-SE" sz="1100" dirty="0">
                <a:solidFill>
                  <a:srgbClr val="000000"/>
                </a:solidFill>
              </a:rPr>
              <a:t>1/2 msk olivolja</a:t>
            </a:r>
          </a:p>
          <a:p>
            <a:r>
              <a:rPr lang="sv-SE" sz="1100" dirty="0">
                <a:solidFill>
                  <a:srgbClr val="1A1A1A"/>
                </a:solidFill>
              </a:rPr>
              <a:t>1 tsk </a:t>
            </a:r>
            <a:r>
              <a:rPr lang="sv-SE" sz="1100" dirty="0" err="1">
                <a:solidFill>
                  <a:srgbClr val="1A1A1A"/>
                </a:solidFill>
              </a:rPr>
              <a:t>ketjap</a:t>
            </a:r>
            <a:r>
              <a:rPr lang="sv-SE" sz="1100" dirty="0">
                <a:solidFill>
                  <a:srgbClr val="1A1A1A"/>
                </a:solidFill>
              </a:rPr>
              <a:t> manis </a:t>
            </a:r>
          </a:p>
          <a:p>
            <a:r>
              <a:rPr lang="sv-SE" sz="1100" dirty="0">
                <a:solidFill>
                  <a:srgbClr val="1A1A1A"/>
                </a:solidFill>
              </a:rPr>
              <a:t>1 dl havregrädde</a:t>
            </a:r>
          </a:p>
          <a:p>
            <a:r>
              <a:rPr lang="sv-SE" sz="1100" dirty="0">
                <a:solidFill>
                  <a:srgbClr val="1A1A1A"/>
                </a:solidFill>
              </a:rPr>
              <a:t>1 msk </a:t>
            </a:r>
            <a:r>
              <a:rPr lang="sv-SE" sz="1100" dirty="0" err="1">
                <a:solidFill>
                  <a:srgbClr val="1A1A1A"/>
                </a:solidFill>
              </a:rPr>
              <a:t>sötstark</a:t>
            </a:r>
            <a:r>
              <a:rPr lang="sv-SE" sz="1100" dirty="0">
                <a:solidFill>
                  <a:srgbClr val="1A1A1A"/>
                </a:solidFill>
              </a:rPr>
              <a:t> senap</a:t>
            </a:r>
          </a:p>
          <a:p>
            <a:r>
              <a:rPr lang="sv-SE" sz="1100" dirty="0">
                <a:solidFill>
                  <a:srgbClr val="1A1A1A"/>
                </a:solidFill>
              </a:rPr>
              <a:t>1 tsk </a:t>
            </a:r>
            <a:r>
              <a:rPr lang="sv-SE" sz="1100" dirty="0" err="1">
                <a:solidFill>
                  <a:srgbClr val="1A1A1A"/>
                </a:solidFill>
              </a:rPr>
              <a:t>dijon</a:t>
            </a:r>
            <a:r>
              <a:rPr lang="sv-SE" sz="1100" dirty="0">
                <a:solidFill>
                  <a:srgbClr val="1A1A1A"/>
                </a:solidFill>
              </a:rPr>
              <a:t> senap </a:t>
            </a:r>
          </a:p>
          <a:p>
            <a:r>
              <a:rPr lang="sv-SE" sz="1100" dirty="0">
                <a:solidFill>
                  <a:srgbClr val="1A1A1A"/>
                </a:solidFill>
              </a:rPr>
              <a:t>Salt och svartpeppar</a:t>
            </a:r>
          </a:p>
          <a:p>
            <a:r>
              <a:rPr lang="sv-SE" sz="1100" dirty="0">
                <a:solidFill>
                  <a:srgbClr val="1A1A1A"/>
                </a:solidFill>
              </a:rPr>
              <a:t>1 msk </a:t>
            </a:r>
            <a:r>
              <a:rPr lang="sv-SE" sz="1100" dirty="0">
                <a:solidFill>
                  <a:srgbClr val="FF0000"/>
                </a:solidFill>
              </a:rPr>
              <a:t>hackad</a:t>
            </a:r>
            <a:r>
              <a:rPr lang="sv-SE" sz="1100" dirty="0">
                <a:solidFill>
                  <a:srgbClr val="1A1A1A"/>
                </a:solidFill>
              </a:rPr>
              <a:t> färsk persilja </a:t>
            </a:r>
          </a:p>
          <a:p>
            <a:r>
              <a:rPr lang="sv-SE" sz="1100" dirty="0">
                <a:solidFill>
                  <a:srgbClr val="1A1A1A"/>
                </a:solidFill>
              </a:rPr>
              <a:t>1/2 squash</a:t>
            </a:r>
          </a:p>
          <a:p>
            <a:r>
              <a:rPr lang="sv-SE" sz="1100" dirty="0">
                <a:solidFill>
                  <a:srgbClr val="1A1A1A"/>
                </a:solidFill>
              </a:rPr>
              <a:t>1 morot</a:t>
            </a:r>
          </a:p>
          <a:p>
            <a:r>
              <a:rPr lang="sv-SE" sz="1100" dirty="0">
                <a:solidFill>
                  <a:srgbClr val="1A1A1A"/>
                </a:solidFill>
              </a:rPr>
              <a:t>3 msk riven parmesan</a:t>
            </a:r>
          </a:p>
          <a:p>
            <a:endParaRPr lang="sv-SE" sz="1100" dirty="0">
              <a:solidFill>
                <a:srgbClr val="1A1A1A"/>
              </a:solidFill>
            </a:endParaRPr>
          </a:p>
          <a:p>
            <a:r>
              <a:rPr lang="sv-SE" sz="1100" b="1" dirty="0" err="1">
                <a:solidFill>
                  <a:srgbClr val="1A1A1A"/>
                </a:solidFill>
              </a:rPr>
              <a:t>Topping</a:t>
            </a:r>
            <a:endParaRPr lang="sv-SE" sz="1100" dirty="0">
              <a:solidFill>
                <a:srgbClr val="1A1A1A"/>
              </a:solidFill>
            </a:endParaRPr>
          </a:p>
          <a:p>
            <a:r>
              <a:rPr lang="sv-SE" sz="1100" dirty="0">
                <a:solidFill>
                  <a:srgbClr val="1A1A1A"/>
                </a:solidFill>
              </a:rPr>
              <a:t>Persiljekvistar</a:t>
            </a:r>
          </a:p>
          <a:p>
            <a:endParaRPr lang="sv-SE" sz="1100" dirty="0">
              <a:solidFill>
                <a:srgbClr val="1A1A1A"/>
              </a:solidFill>
            </a:endParaRPr>
          </a:p>
          <a:p>
            <a:r>
              <a:rPr lang="sv-SE" sz="1100" dirty="0">
                <a:solidFill>
                  <a:srgbClr val="1A1A1A"/>
                </a:solidFill>
              </a:rPr>
              <a:t>Skala och grovhacka lök. Skala och riv vitlök. Dela champinjoner i 4 delar. Skär paprika i bitar. Strimla lövbiff. Hetta upp en stekpanna med olivolja. Lägg lök, vitlök, lövbiff och grönsaker i pannan och stek i några minuter till grönsakerna börjar mjukna. Blanda i </a:t>
            </a:r>
            <a:r>
              <a:rPr lang="sv-SE" sz="1100" dirty="0" err="1">
                <a:solidFill>
                  <a:srgbClr val="1A1A1A"/>
                </a:solidFill>
              </a:rPr>
              <a:t>ketjap</a:t>
            </a:r>
            <a:r>
              <a:rPr lang="sv-SE" sz="1100" dirty="0">
                <a:solidFill>
                  <a:srgbClr val="1A1A1A"/>
                </a:solidFill>
              </a:rPr>
              <a:t> manis och stek ytterligare någon minut. Tillsätt grädde och senap. Strö på salt, peppar och hackad persilja. Skala morot. Svarva morot och squash med en </a:t>
            </a:r>
            <a:r>
              <a:rPr lang="sv-SE" sz="1100" dirty="0" err="1">
                <a:solidFill>
                  <a:srgbClr val="1A1A1A"/>
                </a:solidFill>
              </a:rPr>
              <a:t>spirulizer</a:t>
            </a:r>
            <a:r>
              <a:rPr lang="sv-SE" sz="1100" dirty="0">
                <a:solidFill>
                  <a:srgbClr val="1A1A1A"/>
                </a:solidFill>
              </a:rPr>
              <a:t> eller hyvla tagliatelle med en potatisskalare. Lägg upp lövbiffsgryta på tallrikar och servera med grönsakspasta. Dekorera med persiljekvist. </a:t>
            </a:r>
          </a:p>
          <a:p>
            <a:br>
              <a:rPr lang="sv-SE" sz="1100" dirty="0">
                <a:solidFill>
                  <a:srgbClr val="1A1A1A"/>
                </a:solidFill>
              </a:rPr>
            </a:br>
            <a:endParaRPr lang="sv-SE" sz="1100" dirty="0">
              <a:solidFill>
                <a:srgbClr val="1A1A1A"/>
              </a:solidFill>
              <a:effectLst/>
            </a:endParaRPr>
          </a:p>
        </p:txBody>
      </p:sp>
      <p:sp>
        <p:nvSpPr>
          <p:cNvPr id="6" name="Ellips 5">
            <a:extLst>
              <a:ext uri="{FF2B5EF4-FFF2-40B4-BE49-F238E27FC236}">
                <a16:creationId xmlns:a16="http://schemas.microsoft.com/office/drawing/2014/main" id="{9512508A-ACAB-7148-B9E2-4ECCC632E675}"/>
              </a:ext>
            </a:extLst>
          </p:cNvPr>
          <p:cNvSpPr/>
          <p:nvPr/>
        </p:nvSpPr>
        <p:spPr>
          <a:xfrm>
            <a:off x="2006061" y="3009998"/>
            <a:ext cx="628650" cy="477837"/>
          </a:xfrm>
          <a:prstGeom prst="ellipse">
            <a:avLst/>
          </a:prstGeom>
          <a:solidFill>
            <a:srgbClr val="276564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v-SE" sz="1200" b="1" dirty="0">
                <a:solidFill>
                  <a:schemeClr val="bg1"/>
                </a:solidFill>
                <a:ea typeface="ＭＳ 明朝"/>
                <a:cs typeface="Avenir Light"/>
              </a:rPr>
              <a:t>440 kcal</a:t>
            </a:r>
            <a:endParaRPr sz="1200" b="1" dirty="0">
              <a:solidFill>
                <a:schemeClr val="bg1"/>
              </a:solidFill>
              <a:ea typeface="ＭＳ 明朝"/>
              <a:cs typeface="Avenir Light"/>
            </a:endParaRPr>
          </a:p>
        </p:txBody>
      </p:sp>
      <p:pic>
        <p:nvPicPr>
          <p:cNvPr id="7" name="Bildobjekt 6">
            <a:extLst>
              <a:ext uri="{FF2B5EF4-FFF2-40B4-BE49-F238E27FC236}">
                <a16:creationId xmlns:a16="http://schemas.microsoft.com/office/drawing/2014/main" id="{CF6E3CB4-FBAA-B24A-9485-E0CD8288B55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2920069" y="1111487"/>
            <a:ext cx="4277532" cy="3208149"/>
          </a:xfrm>
          <a:prstGeom prst="rect">
            <a:avLst/>
          </a:prstGeom>
        </p:spPr>
      </p:pic>
      <p:sp>
        <p:nvSpPr>
          <p:cNvPr id="9" name="Platshållare för sidfot 1">
            <a:extLst>
              <a:ext uri="{FF2B5EF4-FFF2-40B4-BE49-F238E27FC236}">
                <a16:creationId xmlns:a16="http://schemas.microsoft.com/office/drawing/2014/main" id="{76696B58-7CC2-5C4C-8674-F3DFEB69E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49203" y="8736459"/>
            <a:ext cx="3704917" cy="486833"/>
          </a:xfrm>
        </p:spPr>
        <p:txBody>
          <a:bodyPr/>
          <a:lstStyle/>
          <a:p>
            <a:r>
              <a:rPr lang="sv-SE" sz="900" dirty="0"/>
              <a:t>ULRIKA DAVIDSSON ● FUNCITIONAL FLOW  6 VECKOR ● RECEPT VECKA 2 </a:t>
            </a:r>
          </a:p>
        </p:txBody>
      </p:sp>
    </p:spTree>
    <p:extLst>
      <p:ext uri="{BB962C8B-B14F-4D97-AF65-F5344CB8AC3E}">
        <p14:creationId xmlns:p14="http://schemas.microsoft.com/office/powerpoint/2010/main" val="25168645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ruta 11">
            <a:extLst>
              <a:ext uri="{FF2B5EF4-FFF2-40B4-BE49-F238E27FC236}">
                <a16:creationId xmlns:a16="http://schemas.microsoft.com/office/drawing/2014/main" id="{60393B21-1D77-D34E-A111-AB16E8FA3B34}"/>
              </a:ext>
            </a:extLst>
          </p:cNvPr>
          <p:cNvSpPr txBox="1"/>
          <p:nvPr/>
        </p:nvSpPr>
        <p:spPr>
          <a:xfrm>
            <a:off x="160346" y="925866"/>
            <a:ext cx="6453815" cy="703269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sv-SE" sz="1100" b="1" dirty="0" err="1"/>
              <a:t>Ajvarspett</a:t>
            </a:r>
            <a:r>
              <a:rPr lang="sv-SE" sz="1100" b="1" dirty="0"/>
              <a:t> med grekisk sallad och tzatziki</a:t>
            </a:r>
          </a:p>
          <a:p>
            <a:r>
              <a:rPr lang="sv-SE" sz="1100" b="1" dirty="0"/>
              <a:t>– 2 portioner</a:t>
            </a:r>
            <a:endParaRPr lang="sv-SE" sz="1100" dirty="0"/>
          </a:p>
          <a:p>
            <a:r>
              <a:rPr lang="sv-SE" sz="1100" dirty="0"/>
              <a:t>1 liten vitlöksklyfta</a:t>
            </a:r>
          </a:p>
          <a:p>
            <a:r>
              <a:rPr lang="sv-SE" sz="1100" dirty="0"/>
              <a:t>3 msk </a:t>
            </a:r>
            <a:r>
              <a:rPr lang="sv-SE" sz="1100" dirty="0" err="1"/>
              <a:t>Panko</a:t>
            </a:r>
            <a:r>
              <a:rPr lang="sv-SE" sz="1100" dirty="0"/>
              <a:t> ströbröd</a:t>
            </a:r>
          </a:p>
          <a:p>
            <a:r>
              <a:rPr lang="sv-SE" sz="1100" dirty="0"/>
              <a:t>3 msk vatten</a:t>
            </a:r>
          </a:p>
          <a:p>
            <a:r>
              <a:rPr lang="sv-SE" sz="1100" dirty="0"/>
              <a:t>2 msk </a:t>
            </a:r>
            <a:r>
              <a:rPr lang="sv-SE" sz="1100" dirty="0">
                <a:solidFill>
                  <a:srgbClr val="FF0000"/>
                </a:solidFill>
              </a:rPr>
              <a:t>finhackad</a:t>
            </a:r>
            <a:r>
              <a:rPr lang="sv-SE" sz="1100" dirty="0"/>
              <a:t> timjan</a:t>
            </a:r>
          </a:p>
          <a:p>
            <a:r>
              <a:rPr lang="sv-SE" sz="1100" dirty="0"/>
              <a:t>Salt och svartpeppar</a:t>
            </a:r>
          </a:p>
          <a:p>
            <a:r>
              <a:rPr lang="sv-SE" sz="1100" dirty="0"/>
              <a:t>Lite örtagårdskrydda</a:t>
            </a:r>
          </a:p>
          <a:p>
            <a:r>
              <a:rPr lang="sv-SE" sz="1100" dirty="0"/>
              <a:t>300 g nötfärs eller blandfärs</a:t>
            </a:r>
          </a:p>
          <a:p>
            <a:r>
              <a:rPr lang="sv-SE" sz="1100" dirty="0"/>
              <a:t>½ ägg</a:t>
            </a:r>
          </a:p>
          <a:p>
            <a:r>
              <a:rPr lang="sv-SE" sz="1100" dirty="0"/>
              <a:t>2 msk </a:t>
            </a:r>
            <a:r>
              <a:rPr lang="sv-SE" sz="1100" dirty="0" err="1"/>
              <a:t>ajvar</a:t>
            </a:r>
            <a:r>
              <a:rPr lang="sv-SE" sz="1100" dirty="0"/>
              <a:t> </a:t>
            </a:r>
            <a:r>
              <a:rPr lang="sv-SE" sz="1100" dirty="0" err="1"/>
              <a:t>relish</a:t>
            </a:r>
            <a:endParaRPr lang="sv-SE" sz="1100" dirty="0"/>
          </a:p>
          <a:p>
            <a:endParaRPr lang="sv-SE" sz="1100" dirty="0"/>
          </a:p>
          <a:p>
            <a:r>
              <a:rPr lang="sv-SE" sz="1100" b="1" dirty="0"/>
              <a:t>Grekisk sallad</a:t>
            </a:r>
          </a:p>
          <a:p>
            <a:r>
              <a:rPr lang="sv-SE" sz="1100" dirty="0">
                <a:solidFill>
                  <a:srgbClr val="FF0000"/>
                </a:solidFill>
              </a:rPr>
              <a:t>¼ röd paprika</a:t>
            </a:r>
            <a:endParaRPr lang="sv-SE" sz="1100" dirty="0">
              <a:solidFill>
                <a:srgbClr val="FF0000"/>
              </a:solidFill>
              <a:ea typeface="Calibri"/>
              <a:cs typeface="Calibri"/>
            </a:endParaRPr>
          </a:p>
          <a:p>
            <a:r>
              <a:rPr lang="sv-SE" sz="1100" dirty="0">
                <a:solidFill>
                  <a:srgbClr val="FF0000"/>
                </a:solidFill>
              </a:rPr>
              <a:t>¼ grön paprika</a:t>
            </a:r>
            <a:endParaRPr lang="sv-SE" sz="1100" dirty="0">
              <a:solidFill>
                <a:srgbClr val="FF0000"/>
              </a:solidFill>
              <a:ea typeface="Calibri"/>
              <a:cs typeface="Calibri"/>
            </a:endParaRPr>
          </a:p>
          <a:p>
            <a:r>
              <a:rPr lang="sv-SE" sz="1100" dirty="0">
                <a:solidFill>
                  <a:srgbClr val="FF0000"/>
                </a:solidFill>
              </a:rPr>
              <a:t>¼ gul paprika</a:t>
            </a:r>
            <a:endParaRPr lang="sv-SE" sz="1100" dirty="0">
              <a:solidFill>
                <a:srgbClr val="FF0000"/>
              </a:solidFill>
              <a:ea typeface="Calibri"/>
              <a:cs typeface="Calibri"/>
            </a:endParaRPr>
          </a:p>
          <a:p>
            <a:r>
              <a:rPr lang="sv-SE" sz="1100" dirty="0"/>
              <a:t>1 tomat</a:t>
            </a:r>
          </a:p>
          <a:p>
            <a:r>
              <a:rPr lang="sv-SE" sz="1100" dirty="0"/>
              <a:t>10 cm gurka</a:t>
            </a:r>
          </a:p>
          <a:p>
            <a:r>
              <a:rPr lang="sv-SE" sz="1100" dirty="0"/>
              <a:t>1 tsk olivolja</a:t>
            </a:r>
          </a:p>
          <a:p>
            <a:r>
              <a:rPr lang="sv-SE" sz="1100" dirty="0"/>
              <a:t>1 tsk rödvinsvinäger</a:t>
            </a:r>
          </a:p>
          <a:p>
            <a:r>
              <a:rPr lang="sv-SE" sz="1100" dirty="0"/>
              <a:t>½ tsk flytande honung</a:t>
            </a:r>
          </a:p>
          <a:p>
            <a:r>
              <a:rPr lang="sv-SE" sz="1100" dirty="0"/>
              <a:t>Salt och svartpeppar</a:t>
            </a:r>
          </a:p>
          <a:p>
            <a:r>
              <a:rPr lang="sv-SE" sz="1100" dirty="0"/>
              <a:t>Lite örtagårdskrydda</a:t>
            </a:r>
          </a:p>
          <a:p>
            <a:r>
              <a:rPr lang="sv-SE" sz="1100" dirty="0"/>
              <a:t>50 g fetaost</a:t>
            </a:r>
          </a:p>
          <a:p>
            <a:endParaRPr lang="sv-SE" sz="1100" dirty="0"/>
          </a:p>
          <a:p>
            <a:r>
              <a:rPr lang="sv-SE" sz="1100" b="1" dirty="0"/>
              <a:t>Tzatziki</a:t>
            </a:r>
          </a:p>
          <a:p>
            <a:r>
              <a:rPr lang="sv-SE" sz="1100" dirty="0"/>
              <a:t>1 dl grekisk yoghurt</a:t>
            </a:r>
          </a:p>
          <a:p>
            <a:r>
              <a:rPr lang="sv-SE" sz="1100" dirty="0"/>
              <a:t>10 cm riven gurka</a:t>
            </a:r>
          </a:p>
          <a:p>
            <a:r>
              <a:rPr lang="sv-SE" sz="1100" dirty="0"/>
              <a:t>½ liten  </a:t>
            </a:r>
            <a:r>
              <a:rPr lang="sv-SE" sz="1100" dirty="0">
                <a:solidFill>
                  <a:srgbClr val="FF0000"/>
                </a:solidFill>
              </a:rPr>
              <a:t>riven</a:t>
            </a:r>
            <a:r>
              <a:rPr lang="sv-SE" sz="1100" dirty="0"/>
              <a:t> vitlöksklyfta</a:t>
            </a:r>
          </a:p>
          <a:p>
            <a:r>
              <a:rPr lang="sv-SE" sz="1100" dirty="0"/>
              <a:t>Salt och svartpeppar</a:t>
            </a:r>
          </a:p>
          <a:p>
            <a:r>
              <a:rPr lang="sv-SE" sz="1100" dirty="0"/>
              <a:t>1 tsk olivolja</a:t>
            </a:r>
          </a:p>
          <a:p>
            <a:endParaRPr lang="sv-SE" sz="1100" b="1" dirty="0"/>
          </a:p>
          <a:p>
            <a:r>
              <a:rPr lang="sv-SE" sz="1100" b="1" dirty="0"/>
              <a:t>Tillbehör: </a:t>
            </a:r>
            <a:r>
              <a:rPr lang="sv-SE" sz="1100" dirty="0"/>
              <a:t>färsk timjan, 4 msk </a:t>
            </a:r>
            <a:r>
              <a:rPr lang="sv-SE" sz="1100" dirty="0" err="1"/>
              <a:t>ajvar</a:t>
            </a:r>
            <a:r>
              <a:rPr lang="sv-SE" sz="1100" dirty="0"/>
              <a:t> </a:t>
            </a:r>
            <a:r>
              <a:rPr lang="sv-SE" sz="1100" dirty="0" err="1"/>
              <a:t>relish</a:t>
            </a:r>
            <a:r>
              <a:rPr lang="sv-SE" sz="1100" dirty="0"/>
              <a:t>,  citron</a:t>
            </a:r>
          </a:p>
          <a:p>
            <a:endParaRPr lang="sv-SE" sz="1100" dirty="0"/>
          </a:p>
          <a:p>
            <a:r>
              <a:rPr lang="sv-SE" sz="1100" dirty="0"/>
              <a:t>Sätt ugnen på 200 grader. Blötlägg spett. Skala och riv vitlök. Blanda </a:t>
            </a:r>
            <a:r>
              <a:rPr lang="sv-SE" sz="1100" dirty="0" err="1"/>
              <a:t>panko</a:t>
            </a:r>
            <a:r>
              <a:rPr lang="sv-SE" sz="1100" dirty="0"/>
              <a:t> ströbröd, vatten, vitlök, kryddor i en skål. Blanda ner ägg, färs och </a:t>
            </a:r>
            <a:r>
              <a:rPr lang="sv-SE" sz="1100" dirty="0" err="1"/>
              <a:t>ajvar</a:t>
            </a:r>
            <a:r>
              <a:rPr lang="sv-SE" sz="1100" dirty="0"/>
              <a:t>. Forma färs runt träspett och lägg på en ugnsplåt. Sätt in i ugnen i 12-13 minuter. Gör salladen genom att skära alla grönsaker i mindre bitar och lägg i en skål. Blanda ner olja, vinäger, honung, och kryddor tillsammans med fetaost. Gör tzatzikin genom att blanda ihop alla ingredienser i en skål. Ringla lite olivolja över.  Servera spetten med salladen, tzatzikin, och </a:t>
            </a:r>
            <a:r>
              <a:rPr lang="sv-SE" sz="1100" dirty="0" err="1"/>
              <a:t>ajvar</a:t>
            </a:r>
            <a:r>
              <a:rPr lang="sv-SE" sz="1100" dirty="0"/>
              <a:t> </a:t>
            </a:r>
            <a:r>
              <a:rPr lang="sv-SE" sz="1100" dirty="0" err="1"/>
              <a:t>relish</a:t>
            </a:r>
            <a:r>
              <a:rPr lang="sv-SE" sz="1100" dirty="0"/>
              <a:t>. Dekorera med timjan och citron.</a:t>
            </a:r>
          </a:p>
          <a:p>
            <a:endParaRPr lang="sv-SE" sz="1100" dirty="0"/>
          </a:p>
        </p:txBody>
      </p:sp>
      <p:sp>
        <p:nvSpPr>
          <p:cNvPr id="9" name="textruta 8">
            <a:extLst>
              <a:ext uri="{FF2B5EF4-FFF2-40B4-BE49-F238E27FC236}">
                <a16:creationId xmlns:a16="http://schemas.microsoft.com/office/drawing/2014/main" id="{2D12FF18-04E6-40E8-BDD8-BB475D1C0CCC}"/>
              </a:ext>
            </a:extLst>
          </p:cNvPr>
          <p:cNvSpPr txBox="1"/>
          <p:nvPr/>
        </p:nvSpPr>
        <p:spPr>
          <a:xfrm>
            <a:off x="160346" y="343312"/>
            <a:ext cx="43283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2400" dirty="0">
                <a:latin typeface="BigCaslonFB" panose="02000603080000020003" pitchFamily="50" charset="0"/>
              </a:rPr>
              <a:t>Kött</a:t>
            </a:r>
          </a:p>
        </p:txBody>
      </p:sp>
      <p:sp>
        <p:nvSpPr>
          <p:cNvPr id="10" name="Ellips 9">
            <a:extLst>
              <a:ext uri="{FF2B5EF4-FFF2-40B4-BE49-F238E27FC236}">
                <a16:creationId xmlns:a16="http://schemas.microsoft.com/office/drawing/2014/main" id="{10B16422-8636-4E40-AD9A-57977E752C3C}"/>
              </a:ext>
            </a:extLst>
          </p:cNvPr>
          <p:cNvSpPr/>
          <p:nvPr/>
        </p:nvSpPr>
        <p:spPr>
          <a:xfrm>
            <a:off x="1928479" y="2851440"/>
            <a:ext cx="628650" cy="477837"/>
          </a:xfrm>
          <a:prstGeom prst="ellipse">
            <a:avLst/>
          </a:prstGeom>
          <a:solidFill>
            <a:srgbClr val="276564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v-SE" sz="1200" b="1" dirty="0">
                <a:solidFill>
                  <a:schemeClr val="bg1"/>
                </a:solidFill>
                <a:ea typeface="ＭＳ 明朝"/>
                <a:cs typeface="Avenir Light"/>
              </a:rPr>
              <a:t>550kcal</a:t>
            </a:r>
            <a:endParaRPr sz="1200" b="1" dirty="0">
              <a:solidFill>
                <a:schemeClr val="bg1"/>
              </a:solidFill>
              <a:ea typeface="ＭＳ 明朝"/>
              <a:cs typeface="Avenir Light"/>
            </a:endParaRPr>
          </a:p>
        </p:txBody>
      </p:sp>
      <p:sp>
        <p:nvSpPr>
          <p:cNvPr id="3" name="Platshållare för bildnummer 2">
            <a:extLst>
              <a:ext uri="{FF2B5EF4-FFF2-40B4-BE49-F238E27FC236}">
                <a16:creationId xmlns:a16="http://schemas.microsoft.com/office/drawing/2014/main" id="{584454E1-D123-34B5-0AE2-4DF630DD3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091023" y="8657167"/>
            <a:ext cx="1600200" cy="486833"/>
          </a:xfrm>
        </p:spPr>
        <p:txBody>
          <a:bodyPr/>
          <a:lstStyle/>
          <a:p>
            <a:fld id="{97BA8967-5D92-4842-BAFB-0C8F679E5DC4}" type="slidenum">
              <a:rPr lang="sv-SE" sz="900" smtClean="0"/>
              <a:t>10</a:t>
            </a:fld>
            <a:endParaRPr lang="sv-SE" sz="900"/>
          </a:p>
        </p:txBody>
      </p:sp>
      <p:pic>
        <p:nvPicPr>
          <p:cNvPr id="5" name="Bildobjekt 4">
            <a:extLst>
              <a:ext uri="{FF2B5EF4-FFF2-40B4-BE49-F238E27FC236}">
                <a16:creationId xmlns:a16="http://schemas.microsoft.com/office/drawing/2014/main" id="{B35AE742-6B94-3A4F-9938-7F8AB2D4939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2375417" y="844700"/>
            <a:ext cx="4844278" cy="3633209"/>
          </a:xfrm>
          <a:prstGeom prst="rect">
            <a:avLst/>
          </a:prstGeom>
        </p:spPr>
      </p:pic>
      <p:pic>
        <p:nvPicPr>
          <p:cNvPr id="6" name="Bildobjekt 5">
            <a:extLst>
              <a:ext uri="{FF2B5EF4-FFF2-40B4-BE49-F238E27FC236}">
                <a16:creationId xmlns:a16="http://schemas.microsoft.com/office/drawing/2014/main" id="{A84CA1E7-1E86-27E8-32E7-3D6859D77E51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06783" y="3950419"/>
            <a:ext cx="618842" cy="512080"/>
          </a:xfrm>
          <a:prstGeom prst="rect">
            <a:avLst/>
          </a:prstGeom>
        </p:spPr>
      </p:pic>
      <p:sp>
        <p:nvSpPr>
          <p:cNvPr id="2" name="textruta 1">
            <a:extLst>
              <a:ext uri="{FF2B5EF4-FFF2-40B4-BE49-F238E27FC236}">
                <a16:creationId xmlns:a16="http://schemas.microsoft.com/office/drawing/2014/main" id="{7216A54E-6218-FF43-BAFF-285565AAC5B3}"/>
              </a:ext>
            </a:extLst>
          </p:cNvPr>
          <p:cNvSpPr txBox="1"/>
          <p:nvPr/>
        </p:nvSpPr>
        <p:spPr>
          <a:xfrm>
            <a:off x="4488654" y="5455403"/>
            <a:ext cx="10181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Laga Lätt</a:t>
            </a:r>
          </a:p>
        </p:txBody>
      </p:sp>
      <p:sp>
        <p:nvSpPr>
          <p:cNvPr id="11" name="Platshållare för sidfot 1">
            <a:extLst>
              <a:ext uri="{FF2B5EF4-FFF2-40B4-BE49-F238E27FC236}">
                <a16:creationId xmlns:a16="http://schemas.microsoft.com/office/drawing/2014/main" id="{D49377D0-BCB3-204C-8C2E-5B2B086D0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49203" y="8736459"/>
            <a:ext cx="3704917" cy="486833"/>
          </a:xfrm>
        </p:spPr>
        <p:txBody>
          <a:bodyPr/>
          <a:lstStyle/>
          <a:p>
            <a:r>
              <a:rPr lang="sv-SE" sz="900" dirty="0"/>
              <a:t>ULRIKA DAVIDSSON ● FUNCITIONAL FLOW  6 VECKOR ● RECEPT VECKA 2 </a:t>
            </a:r>
          </a:p>
        </p:txBody>
      </p:sp>
    </p:spTree>
    <p:extLst>
      <p:ext uri="{BB962C8B-B14F-4D97-AF65-F5344CB8AC3E}">
        <p14:creationId xmlns:p14="http://schemas.microsoft.com/office/powerpoint/2010/main" val="4485324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FBB45A7C-8AF3-3645-B2BA-3E0B6B53C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A8967-5D92-4842-BAFB-0C8F679E5DC4}" type="slidenum">
              <a:rPr lang="sv-SE" smtClean="0"/>
              <a:t>11</a:t>
            </a:fld>
            <a:endParaRPr lang="sv-SE"/>
          </a:p>
        </p:txBody>
      </p:sp>
      <p:sp>
        <p:nvSpPr>
          <p:cNvPr id="14" name="textruta 13">
            <a:extLst>
              <a:ext uri="{FF2B5EF4-FFF2-40B4-BE49-F238E27FC236}">
                <a16:creationId xmlns:a16="http://schemas.microsoft.com/office/drawing/2014/main" id="{3A0F5176-7E66-B948-8D80-90EA9B6582E5}"/>
              </a:ext>
            </a:extLst>
          </p:cNvPr>
          <p:cNvSpPr txBox="1"/>
          <p:nvPr/>
        </p:nvSpPr>
        <p:spPr>
          <a:xfrm>
            <a:off x="225220" y="224397"/>
            <a:ext cx="43283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2400" dirty="0">
                <a:latin typeface="BigCaslonFB" panose="02000603080000020003" pitchFamily="50" charset="0"/>
              </a:rPr>
              <a:t>Dessert</a:t>
            </a:r>
          </a:p>
        </p:txBody>
      </p:sp>
      <p:sp>
        <p:nvSpPr>
          <p:cNvPr id="18" name="Ellips 17">
            <a:extLst>
              <a:ext uri="{FF2B5EF4-FFF2-40B4-BE49-F238E27FC236}">
                <a16:creationId xmlns:a16="http://schemas.microsoft.com/office/drawing/2014/main" id="{D98A3AAB-CB9E-8048-B99F-47F5299540B6}"/>
              </a:ext>
            </a:extLst>
          </p:cNvPr>
          <p:cNvSpPr/>
          <p:nvPr/>
        </p:nvSpPr>
        <p:spPr>
          <a:xfrm>
            <a:off x="1928479" y="3269904"/>
            <a:ext cx="628650" cy="477837"/>
          </a:xfrm>
          <a:prstGeom prst="ellipse">
            <a:avLst/>
          </a:prstGeom>
          <a:solidFill>
            <a:srgbClr val="276564"/>
          </a:solidFill>
          <a:ln>
            <a:noFill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sv-SE" sz="1200" b="1" dirty="0">
                <a:solidFill>
                  <a:schemeClr val="bg1"/>
                </a:solidFill>
                <a:ea typeface="ＭＳ 明朝"/>
                <a:cs typeface="Avenir Light"/>
              </a:rPr>
              <a:t>264kcal</a:t>
            </a:r>
            <a:endParaRPr sz="1200" b="1" dirty="0">
              <a:solidFill>
                <a:schemeClr val="bg1"/>
              </a:solidFill>
              <a:ea typeface="ＭＳ 明朝"/>
              <a:cs typeface="Avenir Light"/>
            </a:endParaRPr>
          </a:p>
        </p:txBody>
      </p:sp>
      <p:pic>
        <p:nvPicPr>
          <p:cNvPr id="12" name="Bildobjekt 11">
            <a:extLst>
              <a:ext uri="{FF2B5EF4-FFF2-40B4-BE49-F238E27FC236}">
                <a16:creationId xmlns:a16="http://schemas.microsoft.com/office/drawing/2014/main" id="{0284F247-C75B-0647-A30A-4374D4D8980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2464878" y="940229"/>
            <a:ext cx="4628827" cy="3471620"/>
          </a:xfrm>
          <a:prstGeom prst="rect">
            <a:avLst/>
          </a:prstGeom>
        </p:spPr>
      </p:pic>
      <p:sp>
        <p:nvSpPr>
          <p:cNvPr id="15" name="Rektangel 14">
            <a:extLst>
              <a:ext uri="{FF2B5EF4-FFF2-40B4-BE49-F238E27FC236}">
                <a16:creationId xmlns:a16="http://schemas.microsoft.com/office/drawing/2014/main" id="{202415A0-8709-A446-AD44-2A5A9DC43D38}"/>
              </a:ext>
            </a:extLst>
          </p:cNvPr>
          <p:cNvSpPr/>
          <p:nvPr/>
        </p:nvSpPr>
        <p:spPr>
          <a:xfrm>
            <a:off x="351936" y="2733422"/>
            <a:ext cx="6163163" cy="415498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sv-SE" sz="1100" b="1" dirty="0">
                <a:solidFill>
                  <a:srgbClr val="1A1A1A"/>
                </a:solidFill>
              </a:rPr>
              <a:t>Zucchinikaka med kardemumma – 12 bitar</a:t>
            </a:r>
            <a:endParaRPr lang="sv-SE" sz="1100" dirty="0">
              <a:solidFill>
                <a:srgbClr val="1A1A1A"/>
              </a:solidFill>
            </a:endParaRPr>
          </a:p>
          <a:p>
            <a:r>
              <a:rPr lang="sv-SE" sz="1100" dirty="0">
                <a:solidFill>
                  <a:srgbClr val="1A1A1A"/>
                </a:solidFill>
              </a:rPr>
              <a:t>50 g smör</a:t>
            </a:r>
          </a:p>
          <a:p>
            <a:r>
              <a:rPr lang="sv-SE" sz="1100" dirty="0">
                <a:solidFill>
                  <a:srgbClr val="1A1A1A"/>
                </a:solidFill>
              </a:rPr>
              <a:t>1 zucchini</a:t>
            </a:r>
          </a:p>
          <a:p>
            <a:r>
              <a:rPr lang="sv-SE" sz="1100" dirty="0">
                <a:solidFill>
                  <a:srgbClr val="1A1A1A"/>
                </a:solidFill>
              </a:rPr>
              <a:t>2 ägg</a:t>
            </a:r>
          </a:p>
          <a:p>
            <a:r>
              <a:rPr lang="sv-SE" sz="1100" dirty="0">
                <a:solidFill>
                  <a:srgbClr val="1A1A1A"/>
                </a:solidFill>
              </a:rPr>
              <a:t>2 dl kokossocker </a:t>
            </a:r>
          </a:p>
          <a:p>
            <a:r>
              <a:rPr lang="sv-SE" sz="1100" dirty="0">
                <a:solidFill>
                  <a:srgbClr val="1A1A1A"/>
                </a:solidFill>
              </a:rPr>
              <a:t>1 dl </a:t>
            </a:r>
            <a:r>
              <a:rPr lang="sv-SE" sz="1100" dirty="0" err="1">
                <a:solidFill>
                  <a:srgbClr val="1A1A1A"/>
                </a:solidFill>
              </a:rPr>
              <a:t>mandelmjöl</a:t>
            </a:r>
            <a:endParaRPr lang="sv-SE" sz="1100" dirty="0">
              <a:solidFill>
                <a:srgbClr val="1A1A1A"/>
              </a:solidFill>
            </a:endParaRPr>
          </a:p>
          <a:p>
            <a:r>
              <a:rPr lang="sv-SE" sz="1100" dirty="0">
                <a:solidFill>
                  <a:srgbClr val="1A1A1A"/>
                </a:solidFill>
              </a:rPr>
              <a:t>1 dl </a:t>
            </a:r>
            <a:r>
              <a:rPr lang="sv-SE" sz="1100" dirty="0" err="1">
                <a:solidFill>
                  <a:srgbClr val="1A1A1A"/>
                </a:solidFill>
              </a:rPr>
              <a:t>kokosmjöl</a:t>
            </a:r>
            <a:endParaRPr lang="sv-SE" sz="1100" dirty="0">
              <a:solidFill>
                <a:srgbClr val="1A1A1A"/>
              </a:solidFill>
            </a:endParaRPr>
          </a:p>
          <a:p>
            <a:r>
              <a:rPr lang="sv-SE" sz="1100" dirty="0">
                <a:solidFill>
                  <a:srgbClr val="1A1A1A"/>
                </a:solidFill>
              </a:rPr>
              <a:t>1 dl majsmjöl </a:t>
            </a:r>
          </a:p>
          <a:p>
            <a:r>
              <a:rPr lang="sv-SE" sz="1100" dirty="0">
                <a:solidFill>
                  <a:srgbClr val="1A1A1A"/>
                </a:solidFill>
              </a:rPr>
              <a:t>1,5 msk malen kardemumma</a:t>
            </a:r>
          </a:p>
          <a:p>
            <a:r>
              <a:rPr lang="sv-SE" sz="1100" dirty="0">
                <a:solidFill>
                  <a:srgbClr val="1A1A1A"/>
                </a:solidFill>
              </a:rPr>
              <a:t>1,5 tsk bakpulver</a:t>
            </a:r>
            <a:br>
              <a:rPr lang="sv-SE" sz="1100" dirty="0">
                <a:solidFill>
                  <a:srgbClr val="1A1A1A"/>
                </a:solidFill>
              </a:rPr>
            </a:br>
            <a:endParaRPr lang="sv-SE" sz="1100" dirty="0">
              <a:solidFill>
                <a:srgbClr val="1A1A1A"/>
              </a:solidFill>
            </a:endParaRPr>
          </a:p>
          <a:p>
            <a:r>
              <a:rPr lang="sv-SE" sz="1100" b="1" dirty="0" err="1">
                <a:solidFill>
                  <a:srgbClr val="1A1A1A"/>
                </a:solidFill>
              </a:rPr>
              <a:t>Apelsinglasyr</a:t>
            </a:r>
            <a:endParaRPr lang="sv-SE" sz="1100" dirty="0">
              <a:solidFill>
                <a:srgbClr val="1A1A1A"/>
              </a:solidFill>
            </a:endParaRPr>
          </a:p>
          <a:p>
            <a:r>
              <a:rPr lang="sv-SE" sz="1100" dirty="0">
                <a:solidFill>
                  <a:srgbClr val="1A1A1A"/>
                </a:solidFill>
              </a:rPr>
              <a:t>200 g </a:t>
            </a:r>
            <a:r>
              <a:rPr lang="sv-SE" sz="1100" dirty="0" err="1">
                <a:solidFill>
                  <a:srgbClr val="1A1A1A"/>
                </a:solidFill>
              </a:rPr>
              <a:t>philadelphiaost</a:t>
            </a:r>
            <a:endParaRPr lang="sv-SE" sz="1100" dirty="0">
              <a:solidFill>
                <a:srgbClr val="1A1A1A"/>
              </a:solidFill>
            </a:endParaRPr>
          </a:p>
          <a:p>
            <a:r>
              <a:rPr lang="sv-SE" sz="1100" dirty="0">
                <a:solidFill>
                  <a:srgbClr val="1A1A1A"/>
                </a:solidFill>
              </a:rPr>
              <a:t>50 g rumsvarmt smör</a:t>
            </a:r>
          </a:p>
          <a:p>
            <a:r>
              <a:rPr lang="sv-SE" sz="1100" dirty="0">
                <a:solidFill>
                  <a:srgbClr val="1A1A1A"/>
                </a:solidFill>
              </a:rPr>
              <a:t>1/2 dl agavesirap</a:t>
            </a:r>
          </a:p>
          <a:p>
            <a:r>
              <a:rPr lang="sv-SE" sz="1100" dirty="0">
                <a:solidFill>
                  <a:srgbClr val="1A1A1A"/>
                </a:solidFill>
              </a:rPr>
              <a:t>Zest från en apelsin</a:t>
            </a:r>
          </a:p>
          <a:p>
            <a:endParaRPr lang="sv-SE" sz="1100" dirty="0">
              <a:solidFill>
                <a:srgbClr val="1A1A1A"/>
              </a:solidFill>
            </a:endParaRPr>
          </a:p>
          <a:p>
            <a:r>
              <a:rPr lang="sv-SE" sz="1100" dirty="0">
                <a:solidFill>
                  <a:srgbClr val="1A1A1A"/>
                </a:solidFill>
              </a:rPr>
              <a:t>Sätt ugnen på 175 grader. Riv </a:t>
            </a:r>
            <a:r>
              <a:rPr lang="sv-SE" sz="1100" dirty="0" err="1">
                <a:solidFill>
                  <a:srgbClr val="1A1A1A"/>
                </a:solidFill>
              </a:rPr>
              <a:t>zuccini</a:t>
            </a:r>
            <a:r>
              <a:rPr lang="sv-SE" sz="1100" dirty="0">
                <a:solidFill>
                  <a:srgbClr val="1A1A1A"/>
                </a:solidFill>
              </a:rPr>
              <a:t> grovt och pressa ur vätskan. Vispa ägg och kokossocker fluffigt. Blanda mjöl, kardemumma och bakpulver i en skål. Vänd ner </a:t>
            </a:r>
            <a:r>
              <a:rPr lang="sv-SE" sz="1100" dirty="0" err="1">
                <a:solidFill>
                  <a:srgbClr val="1A1A1A"/>
                </a:solidFill>
              </a:rPr>
              <a:t>mjölblandningen</a:t>
            </a:r>
            <a:r>
              <a:rPr lang="sv-SE" sz="1100" dirty="0">
                <a:solidFill>
                  <a:srgbClr val="1A1A1A"/>
                </a:solidFill>
              </a:rPr>
              <a:t> i smeten. Smält smör och vänd ner i smeten tillsammans med zucchini. Häll smeten i en form (15x10 cm) med bakplåtspapper och ställ i ugnen i cirka 35-40 minuter, eller tills kakan känns fast. Låt kakan svalna helt. Vispa ihop </a:t>
            </a:r>
            <a:r>
              <a:rPr lang="sv-SE" sz="1100" dirty="0" err="1">
                <a:solidFill>
                  <a:srgbClr val="1A1A1A"/>
                </a:solidFill>
              </a:rPr>
              <a:t>philadelphiaost</a:t>
            </a:r>
            <a:r>
              <a:rPr lang="sv-SE" sz="1100" dirty="0">
                <a:solidFill>
                  <a:srgbClr val="1A1A1A"/>
                </a:solidFill>
              </a:rPr>
              <a:t>, smör, agavesirap till en glasyr. Blanda ner apelsinzest och bred ut glasyren på kakan. </a:t>
            </a:r>
          </a:p>
          <a:p>
            <a:br>
              <a:rPr lang="sv-SE" sz="1100" dirty="0">
                <a:solidFill>
                  <a:srgbClr val="1A1A1A"/>
                </a:solidFill>
              </a:rPr>
            </a:br>
            <a:endParaRPr lang="sv-SE" sz="1100" dirty="0">
              <a:solidFill>
                <a:srgbClr val="1A1A1A"/>
              </a:solidFill>
              <a:effectLst/>
            </a:endParaRPr>
          </a:p>
        </p:txBody>
      </p:sp>
      <p:sp>
        <p:nvSpPr>
          <p:cNvPr id="8" name="Pratbubbla: rektangel med rundade hörn 5">
            <a:extLst>
              <a:ext uri="{FF2B5EF4-FFF2-40B4-BE49-F238E27FC236}">
                <a16:creationId xmlns:a16="http://schemas.microsoft.com/office/drawing/2014/main" id="{ECFDA75C-BC04-2245-9EB1-CE6A9CB1F638}"/>
              </a:ext>
            </a:extLst>
          </p:cNvPr>
          <p:cNvSpPr/>
          <p:nvPr/>
        </p:nvSpPr>
        <p:spPr>
          <a:xfrm>
            <a:off x="4797755" y="7435936"/>
            <a:ext cx="1671282" cy="631957"/>
          </a:xfrm>
          <a:prstGeom prst="wedgeRoundRectCallout">
            <a:avLst/>
          </a:prstGeom>
          <a:solidFill>
            <a:srgbClr val="2765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>
                <a:cs typeface="Avenir Light"/>
              </a:rPr>
              <a:t>Frys in i portionsbitar.</a:t>
            </a:r>
          </a:p>
        </p:txBody>
      </p:sp>
      <p:sp>
        <p:nvSpPr>
          <p:cNvPr id="10" name="Platshållare för sidfot 1">
            <a:extLst>
              <a:ext uri="{FF2B5EF4-FFF2-40B4-BE49-F238E27FC236}">
                <a16:creationId xmlns:a16="http://schemas.microsoft.com/office/drawing/2014/main" id="{9065C13E-2D3C-894F-A73B-6F95ECBB3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49203" y="8736459"/>
            <a:ext cx="3704917" cy="486833"/>
          </a:xfrm>
        </p:spPr>
        <p:txBody>
          <a:bodyPr/>
          <a:lstStyle/>
          <a:p>
            <a:r>
              <a:rPr lang="sv-SE" sz="900" dirty="0"/>
              <a:t>ULRIKA DAVIDSSON ● FUNCITIONAL FLOW  6 VECKOR ● RECEPT VECKA 2 </a:t>
            </a:r>
          </a:p>
        </p:txBody>
      </p:sp>
    </p:spTree>
    <p:extLst>
      <p:ext uri="{BB962C8B-B14F-4D97-AF65-F5344CB8AC3E}">
        <p14:creationId xmlns:p14="http://schemas.microsoft.com/office/powerpoint/2010/main" val="26742724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486598</TotalTime>
  <Words>1996</Words>
  <Application>Microsoft Macintosh PowerPoint</Application>
  <PresentationFormat>Bildspel på skärmen (4:3)</PresentationFormat>
  <Paragraphs>312</Paragraphs>
  <Slides>11</Slides>
  <Notes>4</Notes>
  <HiddenSlides>0</HiddenSlides>
  <MMClips>0</MMClips>
  <ScaleCrop>false</ScaleCrop>
  <HeadingPairs>
    <vt:vector size="6" baseType="variant">
      <vt:variant>
        <vt:lpstr>Använt teckensnitt</vt:lpstr>
      </vt:variant>
      <vt:variant>
        <vt:i4>8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11</vt:i4>
      </vt:variant>
    </vt:vector>
  </HeadingPairs>
  <TitlesOfParts>
    <vt:vector size="20" baseType="lpstr">
      <vt:lpstr>MS Mincho</vt:lpstr>
      <vt:lpstr>MS Mincho</vt:lpstr>
      <vt:lpstr>Arial</vt:lpstr>
      <vt:lpstr>Avenir Light</vt:lpstr>
      <vt:lpstr>BigCaslonFB</vt:lpstr>
      <vt:lpstr>Calibri</vt:lpstr>
      <vt:lpstr>Helvetica Neue</vt:lpstr>
      <vt:lpstr>Times New Roman</vt:lpstr>
      <vt:lpstr>Office-tema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</vt:vector>
  </TitlesOfParts>
  <Company>The Diet Shop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PowerPoint-presentation</dc:title>
  <dc:creator>Ulrika Davidsson</dc:creator>
  <cp:lastModifiedBy>ulrika.davidsson@dietshop.se</cp:lastModifiedBy>
  <cp:revision>1085</cp:revision>
  <cp:lastPrinted>2017-09-05T09:39:57Z</cp:lastPrinted>
  <dcterms:created xsi:type="dcterms:W3CDTF">2016-08-21T13:21:42Z</dcterms:created>
  <dcterms:modified xsi:type="dcterms:W3CDTF">2025-06-03T08:38:51Z</dcterms:modified>
</cp:coreProperties>
</file>