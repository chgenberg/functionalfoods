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7" r:id="rId2"/>
    <p:sldId id="368" r:id="rId3"/>
    <p:sldId id="496" r:id="rId4"/>
    <p:sldId id="484" r:id="rId5"/>
    <p:sldId id="500" r:id="rId6"/>
    <p:sldId id="446" r:id="rId7"/>
    <p:sldId id="281" r:id="rId8"/>
    <p:sldId id="418" r:id="rId9"/>
    <p:sldId id="434" r:id="rId10"/>
  </p:sldIdLst>
  <p:sldSz cx="6858000" cy="9144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564"/>
    <a:srgbClr val="009999"/>
    <a:srgbClr val="008080"/>
    <a:srgbClr val="65B7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035B7E-476A-437D-8E22-72380E1BF7A8}" v="21" dt="2025-03-21T12:32:17.2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30" autoAdjust="0"/>
    <p:restoredTop sz="94760" autoAdjust="0"/>
  </p:normalViewPr>
  <p:slideViewPr>
    <p:cSldViewPr snapToGrid="0" snapToObjects="1">
      <p:cViewPr varScale="1">
        <p:scale>
          <a:sx n="82" d="100"/>
          <a:sy n="82" d="100"/>
        </p:scale>
        <p:origin x="2696" y="16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Jungåker" userId="Jp51DZr2S3O2Kq/fECI9vz/Rf/nX3kiUVMBM7w9AVas=" providerId="None" clId="Web-{63035B7E-476A-437D-8E22-72380E1BF7A8}"/>
    <pc:docChg chg="modSld">
      <pc:chgData name="Paula Jungåker" userId="Jp51DZr2S3O2Kq/fECI9vz/Rf/nX3kiUVMBM7w9AVas=" providerId="None" clId="Web-{63035B7E-476A-437D-8E22-72380E1BF7A8}" dt="2025-03-21T12:32:17.236" v="7" actId="20577"/>
      <pc:docMkLst>
        <pc:docMk/>
      </pc:docMkLst>
      <pc:sldChg chg="modSp">
        <pc:chgData name="Paula Jungåker" userId="Jp51DZr2S3O2Kq/fECI9vz/Rf/nX3kiUVMBM7w9AVas=" providerId="None" clId="Web-{63035B7E-476A-437D-8E22-72380E1BF7A8}" dt="2025-03-21T12:23:21.166" v="0" actId="20577"/>
        <pc:sldMkLst>
          <pc:docMk/>
          <pc:sldMk cId="3788094998" sldId="257"/>
        </pc:sldMkLst>
        <pc:spChg chg="mod">
          <ac:chgData name="Paula Jungåker" userId="Jp51DZr2S3O2Kq/fECI9vz/Rf/nX3kiUVMBM7w9AVas=" providerId="None" clId="Web-{63035B7E-476A-437D-8E22-72380E1BF7A8}" dt="2025-03-21T12:23:21.166" v="0" actId="20577"/>
          <ac:spMkLst>
            <pc:docMk/>
            <pc:sldMk cId="3788094998" sldId="257"/>
            <ac:spMk id="4" creationId="{BD8424F7-31B5-7C45-BAAA-B26315C9B097}"/>
          </ac:spMkLst>
        </pc:spChg>
      </pc:sldChg>
      <pc:sldChg chg="modSp">
        <pc:chgData name="Paula Jungåker" userId="Jp51DZr2S3O2Kq/fECI9vz/Rf/nX3kiUVMBM7w9AVas=" providerId="None" clId="Web-{63035B7E-476A-437D-8E22-72380E1BF7A8}" dt="2025-03-21T12:32:17.236" v="7" actId="20577"/>
        <pc:sldMkLst>
          <pc:docMk/>
          <pc:sldMk cId="2236092047" sldId="281"/>
        </pc:sldMkLst>
        <pc:spChg chg="mod">
          <ac:chgData name="Paula Jungåker" userId="Jp51DZr2S3O2Kq/fECI9vz/Rf/nX3kiUVMBM7w9AVas=" providerId="None" clId="Web-{63035B7E-476A-437D-8E22-72380E1BF7A8}" dt="2025-03-21T12:32:17.236" v="7" actId="20577"/>
          <ac:spMkLst>
            <pc:docMk/>
            <pc:sldMk cId="2236092047" sldId="281"/>
            <ac:spMk id="8" creationId="{07413B7E-F348-4F4E-BA2E-D834F3335EAD}"/>
          </ac:spMkLst>
        </pc:spChg>
      </pc:sldChg>
      <pc:sldChg chg="modSp">
        <pc:chgData name="Paula Jungåker" userId="Jp51DZr2S3O2Kq/fECI9vz/Rf/nX3kiUVMBM7w9AVas=" providerId="None" clId="Web-{63035B7E-476A-437D-8E22-72380E1BF7A8}" dt="2025-03-21T12:23:35.120" v="1" actId="20577"/>
        <pc:sldMkLst>
          <pc:docMk/>
          <pc:sldMk cId="3136698234" sldId="368"/>
        </pc:sldMkLst>
        <pc:spChg chg="mod">
          <ac:chgData name="Paula Jungåker" userId="Jp51DZr2S3O2Kq/fECI9vz/Rf/nX3kiUVMBM7w9AVas=" providerId="None" clId="Web-{63035B7E-476A-437D-8E22-72380E1BF7A8}" dt="2025-03-21T12:23:35.120" v="1" actId="20577"/>
          <ac:spMkLst>
            <pc:docMk/>
            <pc:sldMk cId="3136698234" sldId="368"/>
            <ac:spMk id="10" creationId="{9B8F52E0-54FF-8D40-B5DF-1AF80E13B465}"/>
          </ac:spMkLst>
        </pc:spChg>
      </pc:sldChg>
      <pc:sldChg chg="modSp">
        <pc:chgData name="Paula Jungåker" userId="Jp51DZr2S3O2Kq/fECI9vz/Rf/nX3kiUVMBM7w9AVas=" providerId="None" clId="Web-{63035B7E-476A-437D-8E22-72380E1BF7A8}" dt="2025-03-21T12:26:20.929" v="4" actId="20577"/>
        <pc:sldMkLst>
          <pc:docMk/>
          <pc:sldMk cId="126299323" sldId="446"/>
        </pc:sldMkLst>
        <pc:spChg chg="mod">
          <ac:chgData name="Paula Jungåker" userId="Jp51DZr2S3O2Kq/fECI9vz/Rf/nX3kiUVMBM7w9AVas=" providerId="None" clId="Web-{63035B7E-476A-437D-8E22-72380E1BF7A8}" dt="2025-03-21T12:26:20.929" v="4" actId="20577"/>
          <ac:spMkLst>
            <pc:docMk/>
            <pc:sldMk cId="126299323" sldId="446"/>
            <ac:spMk id="10" creationId="{B2BF7BF0-45E9-7E49-BA78-3B31327A7BA5}"/>
          </ac:spMkLst>
        </pc:spChg>
      </pc:sldChg>
      <pc:sldChg chg="modSp">
        <pc:chgData name="Paula Jungåker" userId="Jp51DZr2S3O2Kq/fECI9vz/Rf/nX3kiUVMBM7w9AVas=" providerId="None" clId="Web-{63035B7E-476A-437D-8E22-72380E1BF7A8}" dt="2025-03-21T12:24:01.654" v="2" actId="20577"/>
        <pc:sldMkLst>
          <pc:docMk/>
          <pc:sldMk cId="266695324" sldId="500"/>
        </pc:sldMkLst>
        <pc:spChg chg="mod">
          <ac:chgData name="Paula Jungåker" userId="Jp51DZr2S3O2Kq/fECI9vz/Rf/nX3kiUVMBM7w9AVas=" providerId="None" clId="Web-{63035B7E-476A-437D-8E22-72380E1BF7A8}" dt="2025-03-21T12:24:01.654" v="2" actId="20577"/>
          <ac:spMkLst>
            <pc:docMk/>
            <pc:sldMk cId="266695324" sldId="500"/>
            <ac:spMk id="4" creationId="{A9BE2085-E4B2-0C4E-AEE4-A8F56893BA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F518D-D1B5-2545-B50F-6E9BBD888BCB}" type="datetimeFigureOut">
              <a:rPr lang="sv-SE" smtClean="0"/>
              <a:t>2025-03-21</a:t>
            </a:fld>
            <a:endParaRPr lang="sv-SE"/>
          </a:p>
        </p:txBody>
      </p:sp>
      <p:sp>
        <p:nvSpPr>
          <p:cNvPr id="4" name="Platshållare för bildobjekt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3415C0-1913-C443-8074-00E93713293E}" type="slidenum">
              <a:rPr lang="sv-SE" smtClean="0"/>
              <a:t>‹#›</a:t>
            </a:fld>
            <a:endParaRPr lang="sv-SE"/>
          </a:p>
        </p:txBody>
      </p:sp>
    </p:spTree>
    <p:extLst>
      <p:ext uri="{BB962C8B-B14F-4D97-AF65-F5344CB8AC3E}">
        <p14:creationId xmlns:p14="http://schemas.microsoft.com/office/powerpoint/2010/main" val="34977892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1</a:t>
            </a:fld>
            <a:endParaRPr lang="sv-SE"/>
          </a:p>
        </p:txBody>
      </p:sp>
    </p:spTree>
    <p:extLst>
      <p:ext uri="{BB962C8B-B14F-4D97-AF65-F5344CB8AC3E}">
        <p14:creationId xmlns:p14="http://schemas.microsoft.com/office/powerpoint/2010/main" val="251403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2</a:t>
            </a:fld>
            <a:endParaRPr lang="sv-SE"/>
          </a:p>
        </p:txBody>
      </p:sp>
    </p:spTree>
    <p:extLst>
      <p:ext uri="{BB962C8B-B14F-4D97-AF65-F5344CB8AC3E}">
        <p14:creationId xmlns:p14="http://schemas.microsoft.com/office/powerpoint/2010/main" val="3163457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7</a:t>
            </a:fld>
            <a:endParaRPr lang="sv-SE"/>
          </a:p>
        </p:txBody>
      </p:sp>
    </p:spTree>
    <p:extLst>
      <p:ext uri="{BB962C8B-B14F-4D97-AF65-F5344CB8AC3E}">
        <p14:creationId xmlns:p14="http://schemas.microsoft.com/office/powerpoint/2010/main" val="2141866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514350" y="2840568"/>
            <a:ext cx="5829300" cy="1960033"/>
          </a:xfrm>
        </p:spPr>
        <p:txBody>
          <a:bodyPr/>
          <a:lstStyle/>
          <a:p>
            <a:r>
              <a:rPr lang="sv-SE"/>
              <a:t>Klicka här för att ändra format</a:t>
            </a:r>
          </a:p>
        </p:txBody>
      </p:sp>
      <p:sp>
        <p:nvSpPr>
          <p:cNvPr id="3" name="Underrubrik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34FDA80A-1BE6-40A2-A134-482AAF037DFC}" type="datetime1">
              <a:rPr lang="sv-SE" smtClean="0"/>
              <a:t>2025-03-21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93280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9F7DF21-0883-43EC-91D5-C9424F5F8865}" type="datetime1">
              <a:rPr lang="sv-SE" smtClean="0"/>
              <a:t>2025-03-21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41783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541735" y="5875867"/>
            <a:ext cx="5829300" cy="1816100"/>
          </a:xfrm>
        </p:spPr>
        <p:txBody>
          <a:bodyPr anchor="t"/>
          <a:lstStyle>
            <a:lvl1pPr algn="l">
              <a:defRPr sz="4000" b="1" cap="all"/>
            </a:lvl1pPr>
          </a:lstStyle>
          <a:p>
            <a:r>
              <a:rPr lang="sv-SE"/>
              <a:t>Klicka här för att ändra format</a:t>
            </a:r>
          </a:p>
        </p:txBody>
      </p:sp>
      <p:sp>
        <p:nvSpPr>
          <p:cNvPr id="3" name="Platshållare för text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451640AB-E0B5-43CC-810E-D003D1BC6DFA}" type="datetime1">
              <a:rPr lang="sv-SE" smtClean="0"/>
              <a:t>2025-03-21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428217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7A845E01-A5E8-46B2-A7EB-D7DFD4EA7399}" type="datetime1">
              <a:rPr lang="sv-SE" smtClean="0"/>
              <a:t>2025-03-21</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27102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342900" y="366184"/>
            <a:ext cx="6172200" cy="1524000"/>
          </a:xfrm>
        </p:spPr>
        <p:txBody>
          <a:bodyPr/>
          <a:lstStyle>
            <a:lvl1pPr>
              <a:defRPr/>
            </a:lvl1pPr>
          </a:lstStyle>
          <a:p>
            <a:r>
              <a:rPr lang="sv-SE"/>
              <a:t>Klicka här för att ändra format</a:t>
            </a:r>
          </a:p>
        </p:txBody>
      </p:sp>
      <p:sp>
        <p:nvSpPr>
          <p:cNvPr id="3" name="Platshållare för text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3F3B0D4C-FCD8-4E77-B860-C0B2F667CB83}" type="datetime1">
              <a:rPr lang="sv-SE" smtClean="0"/>
              <a:t>2025-03-21</a:t>
            </a:fld>
            <a:endParaRPr lang="sv-SE"/>
          </a:p>
        </p:txBody>
      </p:sp>
      <p:sp>
        <p:nvSpPr>
          <p:cNvPr id="8" name="Platshållare för sidfot 7"/>
          <p:cNvSpPr>
            <a:spLocks noGrp="1"/>
          </p:cNvSpPr>
          <p:nvPr>
            <p:ph type="ftr" sz="quarter" idx="11"/>
          </p:nvPr>
        </p:nvSpPr>
        <p:spPr/>
        <p:txBody>
          <a:bodyPr/>
          <a:lstStyle/>
          <a:p>
            <a:r>
              <a:rPr lang="sv-SE"/>
              <a:t>ULRIKA DAVIDSSON ● LAGA LÄTT 6 VECKOR ● RECEPT  ● VECKA 1</a:t>
            </a:r>
          </a:p>
        </p:txBody>
      </p:sp>
      <p:sp>
        <p:nvSpPr>
          <p:cNvPr id="9" name="Platshållare för bildnummer 8"/>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39467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EC76126-DB9B-4BAA-A376-2217548CABED}" type="datetime1">
              <a:rPr lang="sv-SE" smtClean="0"/>
              <a:t>2025-03-21</a:t>
            </a:fld>
            <a:endParaRPr lang="sv-SE"/>
          </a:p>
        </p:txBody>
      </p:sp>
      <p:sp>
        <p:nvSpPr>
          <p:cNvPr id="4" name="Platshållare för sidfot 3"/>
          <p:cNvSpPr>
            <a:spLocks noGrp="1"/>
          </p:cNvSpPr>
          <p:nvPr>
            <p:ph type="ftr" sz="quarter" idx="11"/>
          </p:nvPr>
        </p:nvSpPr>
        <p:spPr/>
        <p:txBody>
          <a:bodyPr/>
          <a:lstStyle/>
          <a:p>
            <a:r>
              <a:rPr lang="sv-SE"/>
              <a:t>ULRIKA DAVIDSSON ● LAGA LÄTT 6 VECKOR ● RECEPT  ● VECKA 1</a:t>
            </a:r>
          </a:p>
        </p:txBody>
      </p:sp>
      <p:sp>
        <p:nvSpPr>
          <p:cNvPr id="5" name="Platshållare för bildnummer 4"/>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75122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6C1E6F0-24C7-41D4-B8C8-643F3434D7A8}" type="datetime1">
              <a:rPr lang="sv-SE" smtClean="0"/>
              <a:t>2025-03-21</a:t>
            </a:fld>
            <a:endParaRPr lang="sv-SE"/>
          </a:p>
        </p:txBody>
      </p:sp>
      <p:sp>
        <p:nvSpPr>
          <p:cNvPr id="3" name="Platshållare för sidfot 2"/>
          <p:cNvSpPr>
            <a:spLocks noGrp="1"/>
          </p:cNvSpPr>
          <p:nvPr>
            <p:ph type="ftr" sz="quarter" idx="11"/>
          </p:nvPr>
        </p:nvSpPr>
        <p:spPr/>
        <p:txBody>
          <a:bodyPr/>
          <a:lstStyle/>
          <a:p>
            <a:r>
              <a:rPr lang="sv-SE"/>
              <a:t>ULRIKA DAVIDSSON ● LAGA LÄTT 6 VECKOR ● RECEPT  ● VECKA 1</a:t>
            </a:r>
          </a:p>
        </p:txBody>
      </p:sp>
      <p:sp>
        <p:nvSpPr>
          <p:cNvPr id="4" name="Platshållare för bildnummer 3"/>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50216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342900" y="364067"/>
            <a:ext cx="2256235" cy="1549400"/>
          </a:xfrm>
        </p:spPr>
        <p:txBody>
          <a:bodyPr anchor="b"/>
          <a:lstStyle>
            <a:lvl1pPr algn="l">
              <a:defRPr sz="2000" b="1"/>
            </a:lvl1pPr>
          </a:lstStyle>
          <a:p>
            <a:r>
              <a:rPr lang="sv-SE"/>
              <a:t>Klicka här för att ändra format</a:t>
            </a:r>
          </a:p>
        </p:txBody>
      </p:sp>
      <p:sp>
        <p:nvSpPr>
          <p:cNvPr id="3" name="Platshållare för innehåll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85858CBC-F4EE-4838-AACD-F1AC7E759B58}" type="datetime1">
              <a:rPr lang="sv-SE" smtClean="0"/>
              <a:t>2025-03-21</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02030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344216" y="6400800"/>
            <a:ext cx="4114800" cy="755651"/>
          </a:xfrm>
        </p:spPr>
        <p:txBody>
          <a:bodyPr anchor="b"/>
          <a:lstStyle>
            <a:lvl1pPr algn="l">
              <a:defRPr sz="2000" b="1"/>
            </a:lvl1pPr>
          </a:lstStyle>
          <a:p>
            <a:r>
              <a:rPr lang="sv-SE"/>
              <a:t>Klicka här för att ändra format</a:t>
            </a:r>
          </a:p>
        </p:txBody>
      </p:sp>
      <p:sp>
        <p:nvSpPr>
          <p:cNvPr id="3" name="Platshållare för bild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5B5326A1-37BC-420F-86B7-C725CF2D32F4}" type="datetime1">
              <a:rPr lang="sv-SE" smtClean="0"/>
              <a:t>2025-03-21</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96427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B2C635E4-5849-42AC-A5E1-3E5BA8AE7326}" type="datetime1">
              <a:rPr lang="sv-SE" smtClean="0"/>
              <a:t>2025-03-21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80388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3729037" y="488951"/>
            <a:ext cx="1157288" cy="10401300"/>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257175" y="488951"/>
            <a:ext cx="3357563" cy="1040130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050FD217-3DCE-44BA-ACD5-81FAAB86E102}" type="datetime1">
              <a:rPr lang="sv-SE" smtClean="0"/>
              <a:t>2025-03-21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80006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6FAA230D-E3B8-4437-A196-7E6D616735AA}" type="datetime1">
              <a:rPr lang="sv-SE" smtClean="0"/>
              <a:t>2025-03-21</a:t>
            </a:fld>
            <a:endParaRPr lang="sv-SE"/>
          </a:p>
        </p:txBody>
      </p:sp>
      <p:sp>
        <p:nvSpPr>
          <p:cNvPr id="5" name="Platshållare för sidfot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ULRIKA DAVIDSSON ● LAGA LÄTT 6 VECKOR ● RECEPT  ● VECKA 1</a:t>
            </a:r>
          </a:p>
        </p:txBody>
      </p:sp>
      <p:sp>
        <p:nvSpPr>
          <p:cNvPr id="6" name="Platshållare för bildnumm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7BA8967-5D92-4842-BAFB-0C8F679E5DC4}" type="slidenum">
              <a:rPr lang="sv-SE" smtClean="0"/>
              <a:t>‹#›</a:t>
            </a:fld>
            <a:endParaRPr lang="sv-SE"/>
          </a:p>
        </p:txBody>
      </p:sp>
    </p:spTree>
    <p:extLst>
      <p:ext uri="{BB962C8B-B14F-4D97-AF65-F5344CB8AC3E}">
        <p14:creationId xmlns:p14="http://schemas.microsoft.com/office/powerpoint/2010/main" val="1524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ruta 3">
            <a:extLst>
              <a:ext uri="{FF2B5EF4-FFF2-40B4-BE49-F238E27FC236}">
                <a16:creationId xmlns:a16="http://schemas.microsoft.com/office/drawing/2014/main" id="{BD8424F7-31B5-7C45-BAAA-B26315C9B097}"/>
              </a:ext>
            </a:extLst>
          </p:cNvPr>
          <p:cNvSpPr txBox="1"/>
          <p:nvPr/>
        </p:nvSpPr>
        <p:spPr>
          <a:xfrm>
            <a:off x="177174" y="3411382"/>
            <a:ext cx="2681207" cy="1954381"/>
          </a:xfrm>
          <a:prstGeom prst="rect">
            <a:avLst/>
          </a:prstGeom>
          <a:noFill/>
        </p:spPr>
        <p:txBody>
          <a:bodyPr wrap="square" lIns="91440" tIns="45720" rIns="91440" bIns="45720" rtlCol="0" anchor="t">
            <a:spAutoFit/>
          </a:bodyPr>
          <a:lstStyle/>
          <a:p>
            <a:r>
              <a:rPr lang="sv-SE" sz="1100" b="1" dirty="0"/>
              <a:t>Keso med </a:t>
            </a:r>
            <a:r>
              <a:rPr lang="sv-SE" sz="1100" b="1" dirty="0" err="1"/>
              <a:t>bovetegranola</a:t>
            </a:r>
            <a:r>
              <a:rPr lang="sv-SE" sz="1100" b="1" dirty="0"/>
              <a:t> och frukt</a:t>
            </a:r>
          </a:p>
          <a:p>
            <a:r>
              <a:rPr lang="sv-SE" sz="1100" b="1" dirty="0"/>
              <a:t> – 1 portion</a:t>
            </a:r>
          </a:p>
          <a:p>
            <a:r>
              <a:rPr lang="sv-SE" sz="1100" dirty="0"/>
              <a:t>1 dl keso, 4%</a:t>
            </a:r>
          </a:p>
          <a:p>
            <a:r>
              <a:rPr lang="sv-SE" sz="1100" dirty="0"/>
              <a:t>1 dl </a:t>
            </a:r>
            <a:r>
              <a:rPr lang="sv-SE" sz="1100" dirty="0">
                <a:solidFill>
                  <a:srgbClr val="FF0000"/>
                </a:solidFill>
              </a:rPr>
              <a:t>hackad</a:t>
            </a:r>
            <a:r>
              <a:rPr lang="sv-SE" sz="1100" dirty="0"/>
              <a:t> frukt te x mango och papaya</a:t>
            </a:r>
          </a:p>
          <a:p>
            <a:r>
              <a:rPr lang="sv-SE" sz="1100" dirty="0"/>
              <a:t>½ dl hallon och blåbär</a:t>
            </a:r>
          </a:p>
          <a:p>
            <a:r>
              <a:rPr lang="sv-SE" sz="1100" dirty="0"/>
              <a:t>¾ dl </a:t>
            </a:r>
            <a:r>
              <a:rPr lang="sv-SE" sz="1100" dirty="0" err="1"/>
              <a:t>bovetegranola</a:t>
            </a:r>
            <a:r>
              <a:rPr lang="sv-SE" sz="1100" dirty="0"/>
              <a:t> </a:t>
            </a:r>
          </a:p>
          <a:p>
            <a:r>
              <a:rPr lang="sv-SE" sz="1100" dirty="0"/>
              <a:t>½ grapefrukt</a:t>
            </a:r>
          </a:p>
          <a:p>
            <a:endParaRPr lang="sv-SE" sz="1100" dirty="0"/>
          </a:p>
          <a:p>
            <a:r>
              <a:rPr lang="sv-SE" sz="1100" dirty="0"/>
              <a:t>Lägg keso på ett fat och lägg på frukt och bär. Toppa med </a:t>
            </a:r>
            <a:r>
              <a:rPr lang="sv-SE" sz="1100" dirty="0" err="1"/>
              <a:t>granolan</a:t>
            </a:r>
            <a:r>
              <a:rPr lang="sv-SE" sz="1100" dirty="0"/>
              <a:t>. Servera med grapefrukt.</a:t>
            </a:r>
          </a:p>
        </p:txBody>
      </p:sp>
      <p:sp>
        <p:nvSpPr>
          <p:cNvPr id="12" name="textruta 11">
            <a:extLst>
              <a:ext uri="{FF2B5EF4-FFF2-40B4-BE49-F238E27FC236}">
                <a16:creationId xmlns:a16="http://schemas.microsoft.com/office/drawing/2014/main" id="{F15FD6BF-CC30-43C5-AC4C-78E43C405451}"/>
              </a:ext>
            </a:extLst>
          </p:cNvPr>
          <p:cNvSpPr txBox="1"/>
          <p:nvPr/>
        </p:nvSpPr>
        <p:spPr>
          <a:xfrm>
            <a:off x="177174" y="1422978"/>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2" name="textruta 1">
            <a:extLst>
              <a:ext uri="{FF2B5EF4-FFF2-40B4-BE49-F238E27FC236}">
                <a16:creationId xmlns:a16="http://schemas.microsoft.com/office/drawing/2014/main" id="{95E5F092-0F5D-723B-359F-8A4FEE34AE49}"/>
              </a:ext>
            </a:extLst>
          </p:cNvPr>
          <p:cNvSpPr txBox="1"/>
          <p:nvPr/>
        </p:nvSpPr>
        <p:spPr>
          <a:xfrm>
            <a:off x="94595" y="330759"/>
            <a:ext cx="6814135" cy="954107"/>
          </a:xfrm>
          <a:prstGeom prst="rect">
            <a:avLst/>
          </a:prstGeom>
          <a:noFill/>
        </p:spPr>
        <p:txBody>
          <a:bodyPr wrap="square" rtlCol="0">
            <a:spAutoFit/>
          </a:bodyPr>
          <a:lstStyle/>
          <a:p>
            <a:r>
              <a:rPr lang="sv-SE" sz="2800" dirty="0">
                <a:latin typeface="BigCaslonFB" panose="02000603080000020003" pitchFamily="50" charset="0"/>
              </a:rPr>
              <a:t>RECEPT v. 3</a:t>
            </a:r>
          </a:p>
          <a:p>
            <a:r>
              <a:rPr lang="sv-SE" sz="2800" dirty="0" err="1">
                <a:latin typeface="BigCaslonFB" panose="02000603080000020003" pitchFamily="50" charset="0"/>
              </a:rPr>
              <a:t>Functional</a:t>
            </a:r>
            <a:r>
              <a:rPr lang="sv-SE" sz="2800" dirty="0">
                <a:latin typeface="BigCaslonFB" panose="02000603080000020003" pitchFamily="50" charset="0"/>
              </a:rPr>
              <a:t> </a:t>
            </a:r>
            <a:r>
              <a:rPr lang="sv-SE" sz="2800" dirty="0" err="1">
                <a:latin typeface="BigCaslonFB" panose="02000603080000020003" pitchFamily="50" charset="0"/>
              </a:rPr>
              <a:t>Flow</a:t>
            </a:r>
            <a:endParaRPr lang="sv-SE" sz="2800" dirty="0">
              <a:latin typeface="BigCaslonFB" panose="02000603080000020003" pitchFamily="50" charset="0"/>
            </a:endParaRPr>
          </a:p>
        </p:txBody>
      </p:sp>
      <p:cxnSp>
        <p:nvCxnSpPr>
          <p:cNvPr id="3" name="Rak koppling 2">
            <a:extLst>
              <a:ext uri="{FF2B5EF4-FFF2-40B4-BE49-F238E27FC236}">
                <a16:creationId xmlns:a16="http://schemas.microsoft.com/office/drawing/2014/main" id="{23ABB56F-1DE2-40DD-CB7B-08E8DD7BF20F}"/>
              </a:ext>
            </a:extLst>
          </p:cNvPr>
          <p:cNvCxnSpPr>
            <a:cxnSpLocks/>
          </p:cNvCxnSpPr>
          <p:nvPr/>
        </p:nvCxnSpPr>
        <p:spPr>
          <a:xfrm flipV="1">
            <a:off x="-50815" y="175928"/>
            <a:ext cx="6875766" cy="757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 name="Rak koppling 4">
            <a:extLst>
              <a:ext uri="{FF2B5EF4-FFF2-40B4-BE49-F238E27FC236}">
                <a16:creationId xmlns:a16="http://schemas.microsoft.com/office/drawing/2014/main" id="{6DB80FA7-3373-94E0-A093-91846E7D6631}"/>
              </a:ext>
            </a:extLst>
          </p:cNvPr>
          <p:cNvCxnSpPr>
            <a:cxnSpLocks/>
          </p:cNvCxnSpPr>
          <p:nvPr/>
        </p:nvCxnSpPr>
        <p:spPr>
          <a:xfrm flipV="1">
            <a:off x="21755" y="1346779"/>
            <a:ext cx="6843163" cy="64101"/>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1</a:t>
            </a:fld>
            <a:endParaRPr lang="sv-SE" sz="900" dirty="0"/>
          </a:p>
        </p:txBody>
      </p:sp>
      <p:sp>
        <p:nvSpPr>
          <p:cNvPr id="22" name="Ellips 21">
            <a:extLst>
              <a:ext uri="{FF2B5EF4-FFF2-40B4-BE49-F238E27FC236}">
                <a16:creationId xmlns:a16="http://schemas.microsoft.com/office/drawing/2014/main" id="{4092D12D-9A98-7844-8117-FBBAD82A9935}"/>
              </a:ext>
            </a:extLst>
          </p:cNvPr>
          <p:cNvSpPr/>
          <p:nvPr/>
        </p:nvSpPr>
        <p:spPr>
          <a:xfrm>
            <a:off x="2451182" y="336845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330kcal</a:t>
            </a:r>
            <a:endParaRPr sz="1200" b="1" dirty="0">
              <a:ea typeface="ＭＳ 明朝"/>
              <a:cs typeface="Avenir Light"/>
            </a:endParaRPr>
          </a:p>
        </p:txBody>
      </p:sp>
      <p:sp>
        <p:nvSpPr>
          <p:cNvPr id="9" name="Platshållare för sidfot 1">
            <a:extLst>
              <a:ext uri="{FF2B5EF4-FFF2-40B4-BE49-F238E27FC236}">
                <a16:creationId xmlns:a16="http://schemas.microsoft.com/office/drawing/2014/main" id="{CAF87825-4AB1-A641-AEBA-B45CDA49D937}"/>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3 </a:t>
            </a:r>
          </a:p>
        </p:txBody>
      </p:sp>
      <p:pic>
        <p:nvPicPr>
          <p:cNvPr id="10" name="Bildobjekt 9">
            <a:extLst>
              <a:ext uri="{FF2B5EF4-FFF2-40B4-BE49-F238E27FC236}">
                <a16:creationId xmlns:a16="http://schemas.microsoft.com/office/drawing/2014/main" id="{096F4C38-EACB-C84D-A149-80B70612B37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742452" y="2384860"/>
            <a:ext cx="4470647" cy="3352985"/>
          </a:xfrm>
          <a:prstGeom prst="rect">
            <a:avLst/>
          </a:prstGeom>
        </p:spPr>
      </p:pic>
    </p:spTree>
    <p:extLst>
      <p:ext uri="{BB962C8B-B14F-4D97-AF65-F5344CB8AC3E}">
        <p14:creationId xmlns:p14="http://schemas.microsoft.com/office/powerpoint/2010/main" val="378809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ktangel 9">
            <a:extLst>
              <a:ext uri="{FF2B5EF4-FFF2-40B4-BE49-F238E27FC236}">
                <a16:creationId xmlns:a16="http://schemas.microsoft.com/office/drawing/2014/main" id="{9B8F52E0-54FF-8D40-B5DF-1AF80E13B465}"/>
              </a:ext>
            </a:extLst>
          </p:cNvPr>
          <p:cNvSpPr/>
          <p:nvPr/>
        </p:nvSpPr>
        <p:spPr>
          <a:xfrm>
            <a:off x="3540270" y="4793960"/>
            <a:ext cx="3128189" cy="3647152"/>
          </a:xfrm>
          <a:prstGeom prst="rect">
            <a:avLst/>
          </a:prstGeom>
        </p:spPr>
        <p:txBody>
          <a:bodyPr wrap="square" lIns="91440" tIns="45720" rIns="91440" bIns="45720" anchor="t">
            <a:spAutoFit/>
          </a:bodyPr>
          <a:lstStyle/>
          <a:p>
            <a:r>
              <a:rPr lang="sv-SE" sz="1100" b="1" dirty="0" err="1">
                <a:solidFill>
                  <a:srgbClr val="1B1B1B"/>
                </a:solidFill>
              </a:rPr>
              <a:t>Bananmuffin</a:t>
            </a:r>
            <a:r>
              <a:rPr lang="sv-SE" sz="1100" b="1" dirty="0">
                <a:solidFill>
                  <a:srgbClr val="1B1B1B"/>
                </a:solidFill>
              </a:rPr>
              <a:t> med mandel och kanel - 6 </a:t>
            </a:r>
            <a:r>
              <a:rPr lang="sv-SE" sz="1100" b="1" dirty="0" err="1">
                <a:solidFill>
                  <a:srgbClr val="1B1B1B"/>
                </a:solidFill>
              </a:rPr>
              <a:t>st</a:t>
            </a:r>
            <a:r>
              <a:rPr lang="sv-SE" sz="1100" b="1" dirty="0">
                <a:solidFill>
                  <a:srgbClr val="1B1B1B"/>
                </a:solidFill>
              </a:rPr>
              <a:t> </a:t>
            </a:r>
            <a:endParaRPr lang="sv-SE" sz="1100" dirty="0">
              <a:solidFill>
                <a:srgbClr val="1B1B1B"/>
              </a:solidFill>
            </a:endParaRPr>
          </a:p>
          <a:p>
            <a:r>
              <a:rPr lang="sv-SE" sz="1100" dirty="0">
                <a:solidFill>
                  <a:srgbClr val="1B1B1B"/>
                </a:solidFill>
              </a:rPr>
              <a:t>1 1/2 banan</a:t>
            </a:r>
          </a:p>
          <a:p>
            <a:r>
              <a:rPr lang="sv-SE" sz="1100" dirty="0">
                <a:solidFill>
                  <a:srgbClr val="1B1B1B"/>
                </a:solidFill>
              </a:rPr>
              <a:t>1 ägg</a:t>
            </a:r>
          </a:p>
          <a:p>
            <a:r>
              <a:rPr lang="sv-SE" sz="1100" dirty="0">
                <a:solidFill>
                  <a:srgbClr val="1B1B1B"/>
                </a:solidFill>
              </a:rPr>
              <a:t>2 1/2 dl havregryn </a:t>
            </a:r>
          </a:p>
          <a:p>
            <a:r>
              <a:rPr lang="sv-SE" sz="1100" dirty="0">
                <a:solidFill>
                  <a:srgbClr val="1B1B1B"/>
                </a:solidFill>
              </a:rPr>
              <a:t>1/2 msk bakpulver </a:t>
            </a:r>
          </a:p>
          <a:p>
            <a:r>
              <a:rPr lang="sv-SE" sz="1100" dirty="0">
                <a:solidFill>
                  <a:srgbClr val="1B1B1B"/>
                </a:solidFill>
              </a:rPr>
              <a:t>1 dl mjölk </a:t>
            </a:r>
          </a:p>
          <a:p>
            <a:r>
              <a:rPr lang="sv-SE" sz="1100" dirty="0">
                <a:solidFill>
                  <a:srgbClr val="1B1B1B"/>
                </a:solidFill>
              </a:rPr>
              <a:t>1/2 tsk vaniljpulver</a:t>
            </a:r>
          </a:p>
          <a:p>
            <a:r>
              <a:rPr lang="sv-SE" sz="1100" dirty="0">
                <a:solidFill>
                  <a:srgbClr val="1B1B1B"/>
                </a:solidFill>
              </a:rPr>
              <a:t>1 krm salt </a:t>
            </a:r>
          </a:p>
          <a:p>
            <a:r>
              <a:rPr lang="sv-SE" sz="1100" dirty="0">
                <a:solidFill>
                  <a:srgbClr val="1B1B1B"/>
                </a:solidFill>
              </a:rPr>
              <a:t>1 tsk malen kanel</a:t>
            </a:r>
          </a:p>
          <a:p>
            <a:r>
              <a:rPr lang="sv-SE" sz="1100" dirty="0">
                <a:solidFill>
                  <a:srgbClr val="1B1B1B"/>
                </a:solidFill>
              </a:rPr>
              <a:t>1 tsk agavesirap </a:t>
            </a:r>
          </a:p>
          <a:p>
            <a:r>
              <a:rPr lang="sv-SE" sz="1100" dirty="0">
                <a:solidFill>
                  <a:srgbClr val="1B1B1B"/>
                </a:solidFill>
              </a:rPr>
              <a:t>1/2 dl kokosflingor</a:t>
            </a:r>
          </a:p>
          <a:p>
            <a:r>
              <a:rPr lang="sv-SE" sz="1100" dirty="0">
                <a:solidFill>
                  <a:srgbClr val="1B1B1B"/>
                </a:solidFill>
              </a:rPr>
              <a:t>10 </a:t>
            </a:r>
            <a:r>
              <a:rPr lang="sv-SE" sz="1100" dirty="0">
                <a:solidFill>
                  <a:srgbClr val="FF0000"/>
                </a:solidFill>
              </a:rPr>
              <a:t>hackade</a:t>
            </a:r>
            <a:r>
              <a:rPr lang="sv-SE" sz="1100" dirty="0">
                <a:solidFill>
                  <a:srgbClr val="1B1B1B"/>
                </a:solidFill>
              </a:rPr>
              <a:t> mandlar </a:t>
            </a:r>
          </a:p>
          <a:p>
            <a:endParaRPr lang="sv-SE" sz="1100" dirty="0">
              <a:solidFill>
                <a:srgbClr val="000000"/>
              </a:solidFill>
            </a:endParaRPr>
          </a:p>
          <a:p>
            <a:r>
              <a:rPr lang="sv-SE" sz="1100" dirty="0">
                <a:solidFill>
                  <a:srgbClr val="1B1B1B"/>
                </a:solidFill>
              </a:rPr>
              <a:t>Sätt ugnen på 180 grader. Förbered 6 muffinsformar på en ugnsplåt.  Mosa banan i en bunke. Tillsätt ägg. Blanda ner alla torra ingredienser och agavesirap. Rör om ordentligt och fördela smeten i formarna. Toppa med kokosflingor och hackade mandlar. Grädda i ugnen i 30 min. Låt svalna och f</a:t>
            </a:r>
            <a:r>
              <a:rPr lang="sv-SE" sz="1100" dirty="0"/>
              <a:t>örvara i frysen.</a:t>
            </a:r>
          </a:p>
          <a:p>
            <a:endParaRPr lang="sv-SE" sz="1100" dirty="0">
              <a:solidFill>
                <a:srgbClr val="1B1B1B"/>
              </a:solidFill>
              <a:effectLst/>
            </a:endParaRPr>
          </a:p>
        </p:txBody>
      </p:sp>
      <p:sp>
        <p:nvSpPr>
          <p:cNvPr id="12" name="textruta 11">
            <a:extLst>
              <a:ext uri="{FF2B5EF4-FFF2-40B4-BE49-F238E27FC236}">
                <a16:creationId xmlns:a16="http://schemas.microsoft.com/office/drawing/2014/main" id="{EA745202-70D2-4822-9DF5-D98FE15317DA}"/>
              </a:ext>
            </a:extLst>
          </p:cNvPr>
          <p:cNvSpPr txBox="1"/>
          <p:nvPr/>
        </p:nvSpPr>
        <p:spPr>
          <a:xfrm>
            <a:off x="391413" y="345219"/>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3" name="Platshållare för bildnummer 2">
            <a:extLst>
              <a:ext uri="{FF2B5EF4-FFF2-40B4-BE49-F238E27FC236}">
                <a16:creationId xmlns:a16="http://schemas.microsoft.com/office/drawing/2014/main" id="{951B1928-3D89-295A-9AE2-0F50731B449E}"/>
              </a:ext>
            </a:extLst>
          </p:cNvPr>
          <p:cNvSpPr>
            <a:spLocks noGrp="1"/>
          </p:cNvSpPr>
          <p:nvPr>
            <p:ph type="sldNum" sz="quarter" idx="12"/>
          </p:nvPr>
        </p:nvSpPr>
        <p:spPr>
          <a:xfrm>
            <a:off x="5068259" y="8634484"/>
            <a:ext cx="1600200" cy="486833"/>
          </a:xfrm>
        </p:spPr>
        <p:txBody>
          <a:bodyPr/>
          <a:lstStyle/>
          <a:p>
            <a:fld id="{97BA8967-5D92-4842-BAFB-0C8F679E5DC4}" type="slidenum">
              <a:rPr lang="sv-SE" sz="900" smtClean="0"/>
              <a:t>2</a:t>
            </a:fld>
            <a:endParaRPr lang="sv-SE" sz="900" dirty="0"/>
          </a:p>
        </p:txBody>
      </p:sp>
      <p:sp>
        <p:nvSpPr>
          <p:cNvPr id="17" name="Ellips 16">
            <a:extLst>
              <a:ext uri="{FF2B5EF4-FFF2-40B4-BE49-F238E27FC236}">
                <a16:creationId xmlns:a16="http://schemas.microsoft.com/office/drawing/2014/main" id="{4477CE95-FA88-F345-8083-7A810475D04A}"/>
              </a:ext>
            </a:extLst>
          </p:cNvPr>
          <p:cNvSpPr/>
          <p:nvPr/>
        </p:nvSpPr>
        <p:spPr>
          <a:xfrm>
            <a:off x="5633396" y="554702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169 kcal</a:t>
            </a:r>
            <a:endParaRPr sz="1200" b="1" dirty="0">
              <a:solidFill>
                <a:schemeClr val="bg1"/>
              </a:solidFill>
              <a:ea typeface="ＭＳ 明朝"/>
              <a:cs typeface="Avenir Light"/>
            </a:endParaRPr>
          </a:p>
        </p:txBody>
      </p:sp>
      <p:sp>
        <p:nvSpPr>
          <p:cNvPr id="7" name="Rektangel 6">
            <a:extLst>
              <a:ext uri="{FF2B5EF4-FFF2-40B4-BE49-F238E27FC236}">
                <a16:creationId xmlns:a16="http://schemas.microsoft.com/office/drawing/2014/main" id="{5E5B3A54-0E55-5448-BCB2-0145BC3D7B89}"/>
              </a:ext>
            </a:extLst>
          </p:cNvPr>
          <p:cNvSpPr/>
          <p:nvPr/>
        </p:nvSpPr>
        <p:spPr>
          <a:xfrm>
            <a:off x="383764" y="905083"/>
            <a:ext cx="2975675" cy="3816429"/>
          </a:xfrm>
          <a:prstGeom prst="rect">
            <a:avLst/>
          </a:prstGeom>
        </p:spPr>
        <p:txBody>
          <a:bodyPr wrap="square">
            <a:spAutoFit/>
          </a:bodyPr>
          <a:lstStyle/>
          <a:p>
            <a:r>
              <a:rPr lang="sv-SE" sz="1100" b="1" dirty="0" err="1">
                <a:solidFill>
                  <a:srgbClr val="000000"/>
                </a:solidFill>
              </a:rPr>
              <a:t>Chiapudding</a:t>
            </a:r>
            <a:r>
              <a:rPr lang="sv-SE" sz="1100" b="1" dirty="0">
                <a:solidFill>
                  <a:srgbClr val="000000"/>
                </a:solidFill>
              </a:rPr>
              <a:t> med jordgubbar och hallon</a:t>
            </a:r>
          </a:p>
          <a:p>
            <a:r>
              <a:rPr lang="sv-SE" sz="1100" b="1" dirty="0">
                <a:solidFill>
                  <a:srgbClr val="000000"/>
                </a:solidFill>
              </a:rPr>
              <a:t> - 2 portioner</a:t>
            </a:r>
            <a:endParaRPr lang="sv-SE" sz="1100" dirty="0">
              <a:solidFill>
                <a:srgbClr val="000000"/>
              </a:solidFill>
            </a:endParaRPr>
          </a:p>
          <a:p>
            <a:r>
              <a:rPr lang="sv-SE" sz="1100" dirty="0">
                <a:solidFill>
                  <a:srgbClr val="000000"/>
                </a:solidFill>
              </a:rPr>
              <a:t>2 dl frysta jordgubbar</a:t>
            </a:r>
          </a:p>
          <a:p>
            <a:r>
              <a:rPr lang="sv-SE" sz="1100" dirty="0">
                <a:solidFill>
                  <a:srgbClr val="000000"/>
                </a:solidFill>
              </a:rPr>
              <a:t>1 banan</a:t>
            </a:r>
          </a:p>
          <a:p>
            <a:r>
              <a:rPr lang="sv-SE" sz="1100" dirty="0">
                <a:solidFill>
                  <a:srgbClr val="000000"/>
                </a:solidFill>
              </a:rPr>
              <a:t>2 msk havregryn</a:t>
            </a:r>
          </a:p>
          <a:p>
            <a:r>
              <a:rPr lang="sv-SE" sz="1100" dirty="0">
                <a:solidFill>
                  <a:srgbClr val="000000"/>
                </a:solidFill>
              </a:rPr>
              <a:t>1/2 msk honung</a:t>
            </a:r>
          </a:p>
          <a:p>
            <a:r>
              <a:rPr lang="sv-SE" sz="1100" dirty="0">
                <a:solidFill>
                  <a:srgbClr val="000000"/>
                </a:solidFill>
              </a:rPr>
              <a:t>1,5 dl mandelmjölk</a:t>
            </a:r>
          </a:p>
          <a:p>
            <a:r>
              <a:rPr lang="sv-SE" sz="1100" dirty="0">
                <a:solidFill>
                  <a:srgbClr val="000000"/>
                </a:solidFill>
              </a:rPr>
              <a:t>3 msk </a:t>
            </a:r>
            <a:r>
              <a:rPr lang="sv-SE" sz="1100" dirty="0" err="1">
                <a:solidFill>
                  <a:srgbClr val="000000"/>
                </a:solidFill>
              </a:rPr>
              <a:t>chiafrön</a:t>
            </a:r>
            <a:endParaRPr lang="sv-SE" sz="1100" dirty="0">
              <a:solidFill>
                <a:srgbClr val="000000"/>
              </a:solidFill>
            </a:endParaRPr>
          </a:p>
          <a:p>
            <a:endParaRPr lang="sv-SE" sz="1100" dirty="0">
              <a:solidFill>
                <a:srgbClr val="000000"/>
              </a:solidFill>
            </a:endParaRPr>
          </a:p>
          <a:p>
            <a:r>
              <a:rPr lang="sv-SE" sz="1100" b="1" dirty="0" err="1">
                <a:solidFill>
                  <a:srgbClr val="000000"/>
                </a:solidFill>
              </a:rPr>
              <a:t>Topping</a:t>
            </a:r>
            <a:br>
              <a:rPr lang="sv-SE" sz="1100" dirty="0">
                <a:solidFill>
                  <a:srgbClr val="000000"/>
                </a:solidFill>
              </a:rPr>
            </a:br>
            <a:r>
              <a:rPr lang="sv-SE" sz="1100" dirty="0">
                <a:solidFill>
                  <a:srgbClr val="000000"/>
                </a:solidFill>
              </a:rPr>
              <a:t>6 </a:t>
            </a:r>
            <a:r>
              <a:rPr lang="sv-SE" sz="1100" dirty="0" err="1">
                <a:solidFill>
                  <a:srgbClr val="000000"/>
                </a:solidFill>
              </a:rPr>
              <a:t>st</a:t>
            </a:r>
            <a:r>
              <a:rPr lang="sv-SE" sz="1100" dirty="0">
                <a:solidFill>
                  <a:srgbClr val="000000"/>
                </a:solidFill>
              </a:rPr>
              <a:t> färska hallon</a:t>
            </a:r>
          </a:p>
          <a:p>
            <a:r>
              <a:rPr lang="sv-SE" sz="1100" dirty="0">
                <a:solidFill>
                  <a:srgbClr val="000000"/>
                </a:solidFill>
              </a:rPr>
              <a:t>½ dl grekisk yoghurt, 6%</a:t>
            </a:r>
          </a:p>
          <a:p>
            <a:r>
              <a:rPr lang="sv-SE" sz="1100" dirty="0">
                <a:solidFill>
                  <a:srgbClr val="000000"/>
                </a:solidFill>
              </a:rPr>
              <a:t>1 msk kokosskivor</a:t>
            </a:r>
          </a:p>
          <a:p>
            <a:endParaRPr lang="sv-SE" sz="1100" dirty="0">
              <a:solidFill>
                <a:srgbClr val="000000"/>
              </a:solidFill>
            </a:endParaRPr>
          </a:p>
          <a:p>
            <a:r>
              <a:rPr lang="sv-SE" sz="1100" dirty="0">
                <a:solidFill>
                  <a:srgbClr val="000000"/>
                </a:solidFill>
              </a:rPr>
              <a:t>Ta fram jordgubbar ur frysen och låt tina något. Lägg jordgubbar, banan, havregryn honung och mandelmjölk i en bunke och mixa slät med en stavmixer. Häll i </a:t>
            </a:r>
            <a:r>
              <a:rPr lang="sv-SE" sz="1100" dirty="0" err="1">
                <a:solidFill>
                  <a:srgbClr val="000000"/>
                </a:solidFill>
              </a:rPr>
              <a:t>chiafrön</a:t>
            </a:r>
            <a:r>
              <a:rPr lang="sv-SE" sz="1100" dirty="0">
                <a:solidFill>
                  <a:srgbClr val="000000"/>
                </a:solidFill>
              </a:rPr>
              <a:t> och blanda om ordentligt. Ställ in blandningen i kylen i 2-3 timmar eller över natten.  Rör om ordentligt innan servering. Toppa med grekisk yoghurt, kokosskivor och färska hallon.</a:t>
            </a:r>
            <a:endParaRPr lang="sv-SE" sz="1100" dirty="0">
              <a:solidFill>
                <a:srgbClr val="000000"/>
              </a:solidFill>
              <a:effectLst/>
            </a:endParaRPr>
          </a:p>
        </p:txBody>
      </p:sp>
      <p:pic>
        <p:nvPicPr>
          <p:cNvPr id="8" name="Bildobjekt 7">
            <a:extLst>
              <a:ext uri="{FF2B5EF4-FFF2-40B4-BE49-F238E27FC236}">
                <a16:creationId xmlns:a16="http://schemas.microsoft.com/office/drawing/2014/main" id="{18531CF1-F123-7A46-A7D7-A80B0CEDA94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155926" y="749502"/>
            <a:ext cx="4014323" cy="3010742"/>
          </a:xfrm>
          <a:prstGeom prst="rect">
            <a:avLst/>
          </a:prstGeom>
        </p:spPr>
      </p:pic>
      <p:sp>
        <p:nvSpPr>
          <p:cNvPr id="9" name="Ellips 8">
            <a:extLst>
              <a:ext uri="{FF2B5EF4-FFF2-40B4-BE49-F238E27FC236}">
                <a16:creationId xmlns:a16="http://schemas.microsoft.com/office/drawing/2014/main" id="{75A57EBC-FACB-E04C-BB06-125DBBC92A31}"/>
              </a:ext>
            </a:extLst>
          </p:cNvPr>
          <p:cNvSpPr/>
          <p:nvPr/>
        </p:nvSpPr>
        <p:spPr>
          <a:xfrm>
            <a:off x="2432512" y="190629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249kcal</a:t>
            </a:r>
            <a:endParaRPr sz="1200" b="1" dirty="0">
              <a:solidFill>
                <a:schemeClr val="bg1"/>
              </a:solidFill>
              <a:ea typeface="ＭＳ 明朝"/>
              <a:cs typeface="Avenir Light"/>
            </a:endParaRPr>
          </a:p>
        </p:txBody>
      </p:sp>
      <p:pic>
        <p:nvPicPr>
          <p:cNvPr id="11" name="Bildobjekt 10">
            <a:extLst>
              <a:ext uri="{FF2B5EF4-FFF2-40B4-BE49-F238E27FC236}">
                <a16:creationId xmlns:a16="http://schemas.microsoft.com/office/drawing/2014/main" id="{F2667742-2AE9-8640-836F-1802DB47BEA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1413" y="4819711"/>
            <a:ext cx="2975675" cy="3967567"/>
          </a:xfrm>
          <a:prstGeom prst="rect">
            <a:avLst/>
          </a:prstGeom>
        </p:spPr>
      </p:pic>
      <p:sp>
        <p:nvSpPr>
          <p:cNvPr id="13" name="Pratbubbla: rektangel med rundade hörn 5">
            <a:extLst>
              <a:ext uri="{FF2B5EF4-FFF2-40B4-BE49-F238E27FC236}">
                <a16:creationId xmlns:a16="http://schemas.microsoft.com/office/drawing/2014/main" id="{745745B9-03BA-4449-843C-A45675324BD5}"/>
              </a:ext>
            </a:extLst>
          </p:cNvPr>
          <p:cNvSpPr/>
          <p:nvPr/>
        </p:nvSpPr>
        <p:spPr>
          <a:xfrm>
            <a:off x="5089596" y="8223470"/>
            <a:ext cx="1464291" cy="526681"/>
          </a:xfrm>
          <a:prstGeom prst="wedgeRoundRectCallout">
            <a:avLst/>
          </a:prstGeom>
          <a:solidFill>
            <a:srgbClr val="27656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sv-SE" sz="1200" dirty="0">
                <a:cs typeface="Avenir Light"/>
              </a:rPr>
              <a:t>Lägg in i frysen</a:t>
            </a:r>
          </a:p>
        </p:txBody>
      </p:sp>
      <p:sp>
        <p:nvSpPr>
          <p:cNvPr id="14" name="Platshållare för sidfot 1">
            <a:extLst>
              <a:ext uri="{FF2B5EF4-FFF2-40B4-BE49-F238E27FC236}">
                <a16:creationId xmlns:a16="http://schemas.microsoft.com/office/drawing/2014/main" id="{96603582-E169-024B-9DD2-F3E6AD415F06}"/>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3 </a:t>
            </a:r>
          </a:p>
        </p:txBody>
      </p:sp>
    </p:spTree>
    <p:extLst>
      <p:ext uri="{BB962C8B-B14F-4D97-AF65-F5344CB8AC3E}">
        <p14:creationId xmlns:p14="http://schemas.microsoft.com/office/powerpoint/2010/main" val="313669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7C6411BE-0591-C244-ADC6-D62D3E4DDB08}"/>
              </a:ext>
            </a:extLst>
          </p:cNvPr>
          <p:cNvSpPr>
            <a:spLocks noGrp="1"/>
          </p:cNvSpPr>
          <p:nvPr>
            <p:ph type="sldNum" sz="quarter" idx="12"/>
          </p:nvPr>
        </p:nvSpPr>
        <p:spPr/>
        <p:txBody>
          <a:bodyPr/>
          <a:lstStyle/>
          <a:p>
            <a:fld id="{97BA8967-5D92-4842-BAFB-0C8F679E5DC4}" type="slidenum">
              <a:rPr lang="sv-SE" smtClean="0"/>
              <a:t>3</a:t>
            </a:fld>
            <a:endParaRPr lang="sv-SE"/>
          </a:p>
        </p:txBody>
      </p:sp>
      <p:sp>
        <p:nvSpPr>
          <p:cNvPr id="9" name="textruta 8">
            <a:extLst>
              <a:ext uri="{FF2B5EF4-FFF2-40B4-BE49-F238E27FC236}">
                <a16:creationId xmlns:a16="http://schemas.microsoft.com/office/drawing/2014/main" id="{8707E3D6-D352-3A49-9E09-BC365DF83D50}"/>
              </a:ext>
            </a:extLst>
          </p:cNvPr>
          <p:cNvSpPr txBox="1"/>
          <p:nvPr/>
        </p:nvSpPr>
        <p:spPr>
          <a:xfrm>
            <a:off x="239168" y="384592"/>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7" name="Platshållare för sidfot 1">
            <a:extLst>
              <a:ext uri="{FF2B5EF4-FFF2-40B4-BE49-F238E27FC236}">
                <a16:creationId xmlns:a16="http://schemas.microsoft.com/office/drawing/2014/main" id="{2CFF14CA-4F6E-4D4B-BE5A-1236DE494083}"/>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3 </a:t>
            </a:r>
          </a:p>
        </p:txBody>
      </p:sp>
      <p:sp>
        <p:nvSpPr>
          <p:cNvPr id="11" name="Ellips 10">
            <a:extLst>
              <a:ext uri="{FF2B5EF4-FFF2-40B4-BE49-F238E27FC236}">
                <a16:creationId xmlns:a16="http://schemas.microsoft.com/office/drawing/2014/main" id="{4CACC373-5E3C-3E4D-9431-D8B1C1188E19}"/>
              </a:ext>
            </a:extLst>
          </p:cNvPr>
          <p:cNvSpPr/>
          <p:nvPr/>
        </p:nvSpPr>
        <p:spPr>
          <a:xfrm>
            <a:off x="2675681" y="227700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231kcal</a:t>
            </a:r>
            <a:endParaRPr sz="1200" b="1" dirty="0">
              <a:solidFill>
                <a:schemeClr val="bg1"/>
              </a:solidFill>
              <a:ea typeface="ＭＳ 明朝"/>
              <a:cs typeface="Avenir Light"/>
            </a:endParaRPr>
          </a:p>
        </p:txBody>
      </p:sp>
      <p:sp>
        <p:nvSpPr>
          <p:cNvPr id="12" name="Rektangel 11">
            <a:extLst>
              <a:ext uri="{FF2B5EF4-FFF2-40B4-BE49-F238E27FC236}">
                <a16:creationId xmlns:a16="http://schemas.microsoft.com/office/drawing/2014/main" id="{C6FD1FD2-50EB-3E48-ACA1-4E921B371F99}"/>
              </a:ext>
            </a:extLst>
          </p:cNvPr>
          <p:cNvSpPr/>
          <p:nvPr/>
        </p:nvSpPr>
        <p:spPr>
          <a:xfrm>
            <a:off x="3429000" y="4838349"/>
            <a:ext cx="3429000" cy="3308598"/>
          </a:xfrm>
          <a:prstGeom prst="rect">
            <a:avLst/>
          </a:prstGeom>
        </p:spPr>
        <p:txBody>
          <a:bodyPr>
            <a:spAutoFit/>
          </a:bodyPr>
          <a:lstStyle/>
          <a:p>
            <a:r>
              <a:rPr lang="sv-SE" sz="1100" b="1" dirty="0">
                <a:solidFill>
                  <a:srgbClr val="000000"/>
                </a:solidFill>
              </a:rPr>
              <a:t>Omelettrulle - 2 portioner </a:t>
            </a:r>
            <a:endParaRPr lang="sv-SE" sz="1100" dirty="0">
              <a:solidFill>
                <a:srgbClr val="000000"/>
              </a:solidFill>
            </a:endParaRPr>
          </a:p>
          <a:p>
            <a:r>
              <a:rPr lang="sv-SE" sz="1100" dirty="0">
                <a:solidFill>
                  <a:srgbClr val="000000"/>
                </a:solidFill>
              </a:rPr>
              <a:t>3 ägg</a:t>
            </a:r>
          </a:p>
          <a:p>
            <a:r>
              <a:rPr lang="sv-SE" sz="1100" dirty="0">
                <a:solidFill>
                  <a:srgbClr val="000000"/>
                </a:solidFill>
              </a:rPr>
              <a:t>Salt och svartpeppar</a:t>
            </a:r>
          </a:p>
          <a:p>
            <a:r>
              <a:rPr lang="sv-SE" sz="1100" dirty="0">
                <a:solidFill>
                  <a:srgbClr val="000000"/>
                </a:solidFill>
              </a:rPr>
              <a:t>1/2 paprika röd</a:t>
            </a:r>
          </a:p>
          <a:p>
            <a:r>
              <a:rPr lang="sv-SE" sz="1100" dirty="0">
                <a:solidFill>
                  <a:srgbClr val="000000"/>
                </a:solidFill>
              </a:rPr>
              <a:t>3 skivor kalkon, 30 g</a:t>
            </a:r>
          </a:p>
          <a:p>
            <a:r>
              <a:rPr lang="sv-SE" sz="1100" dirty="0">
                <a:solidFill>
                  <a:srgbClr val="000000"/>
                </a:solidFill>
              </a:rPr>
              <a:t>2 skivor cheddarost</a:t>
            </a:r>
          </a:p>
          <a:p>
            <a:r>
              <a:rPr lang="sv-SE" sz="1100" dirty="0">
                <a:solidFill>
                  <a:srgbClr val="000000"/>
                </a:solidFill>
              </a:rPr>
              <a:t>20 g bladspenat</a:t>
            </a:r>
          </a:p>
          <a:p>
            <a:endParaRPr lang="sv-SE" sz="1100" dirty="0">
              <a:solidFill>
                <a:srgbClr val="000000"/>
              </a:solidFill>
            </a:endParaRPr>
          </a:p>
          <a:p>
            <a:r>
              <a:rPr lang="sv-SE" sz="1100" b="1" dirty="0">
                <a:solidFill>
                  <a:srgbClr val="000000"/>
                </a:solidFill>
              </a:rPr>
              <a:t>Tillbehör</a:t>
            </a:r>
            <a:endParaRPr lang="sv-SE" sz="1100" dirty="0">
              <a:solidFill>
                <a:srgbClr val="000000"/>
              </a:solidFill>
            </a:endParaRPr>
          </a:p>
          <a:p>
            <a:r>
              <a:rPr lang="sv-SE" sz="1100" dirty="0">
                <a:solidFill>
                  <a:srgbClr val="000000"/>
                </a:solidFill>
              </a:rPr>
              <a:t>Basilikakvistar </a:t>
            </a:r>
          </a:p>
          <a:p>
            <a:endParaRPr lang="sv-SE" sz="1100" dirty="0">
              <a:solidFill>
                <a:srgbClr val="000000"/>
              </a:solidFill>
            </a:endParaRPr>
          </a:p>
          <a:p>
            <a:r>
              <a:rPr lang="sv-SE" sz="1100" dirty="0">
                <a:solidFill>
                  <a:srgbClr val="1A1A1A"/>
                </a:solidFill>
              </a:rPr>
              <a:t>Vispa upp ägg i en skål. Strö på salt och peppar. Hetta upp en stekpanna med smör. Häll i omelettsmeten i stekpannan och stek ena sidan på svag värme tills den fått en fin färg. Strimla paprika. Lägg kalkon, cheddarost, paprika och bladspenat på omeletten Rulla ihop omeletten till en rulle och dela den i två delar. Ställ omelettrullen i en liten skål och dekorera med basilikakvistar. </a:t>
            </a:r>
          </a:p>
        </p:txBody>
      </p:sp>
      <p:pic>
        <p:nvPicPr>
          <p:cNvPr id="13" name="Bildobjekt 12">
            <a:extLst>
              <a:ext uri="{FF2B5EF4-FFF2-40B4-BE49-F238E27FC236}">
                <a16:creationId xmlns:a16="http://schemas.microsoft.com/office/drawing/2014/main" id="{D37E30E2-09A6-3544-AB0F-E6EA414D66B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14753" y="4989394"/>
            <a:ext cx="4021810" cy="3016358"/>
          </a:xfrm>
          <a:prstGeom prst="rect">
            <a:avLst/>
          </a:prstGeom>
        </p:spPr>
      </p:pic>
      <p:sp>
        <p:nvSpPr>
          <p:cNvPr id="14" name="Ellips 13">
            <a:extLst>
              <a:ext uri="{FF2B5EF4-FFF2-40B4-BE49-F238E27FC236}">
                <a16:creationId xmlns:a16="http://schemas.microsoft.com/office/drawing/2014/main" id="{FD7EF7C6-4554-1F4B-B9F0-E0E33FC97D9E}"/>
              </a:ext>
            </a:extLst>
          </p:cNvPr>
          <p:cNvSpPr/>
          <p:nvPr/>
        </p:nvSpPr>
        <p:spPr>
          <a:xfrm>
            <a:off x="5369106" y="525471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200kcal</a:t>
            </a:r>
            <a:endParaRPr sz="1200" b="1" dirty="0">
              <a:solidFill>
                <a:schemeClr val="bg1"/>
              </a:solidFill>
              <a:ea typeface="ＭＳ 明朝"/>
              <a:cs typeface="Avenir Light"/>
            </a:endParaRPr>
          </a:p>
        </p:txBody>
      </p:sp>
      <p:sp>
        <p:nvSpPr>
          <p:cNvPr id="15" name="Rektangel 14">
            <a:extLst>
              <a:ext uri="{FF2B5EF4-FFF2-40B4-BE49-F238E27FC236}">
                <a16:creationId xmlns:a16="http://schemas.microsoft.com/office/drawing/2014/main" id="{7AA9DEBD-5AA5-4443-9C70-F3993DE1B86C}"/>
              </a:ext>
            </a:extLst>
          </p:cNvPr>
          <p:cNvSpPr/>
          <p:nvPr/>
        </p:nvSpPr>
        <p:spPr>
          <a:xfrm>
            <a:off x="498124" y="2189759"/>
            <a:ext cx="3429000" cy="938719"/>
          </a:xfrm>
          <a:prstGeom prst="rect">
            <a:avLst/>
          </a:prstGeom>
        </p:spPr>
        <p:txBody>
          <a:bodyPr>
            <a:spAutoFit/>
          </a:bodyPr>
          <a:lstStyle/>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Kokt ägg med kaviar – 1 portion</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 ägg</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msk kaviar</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Koka äggen och servera med salt och kaviar.</a:t>
            </a:r>
          </a:p>
        </p:txBody>
      </p:sp>
      <p:pic>
        <p:nvPicPr>
          <p:cNvPr id="16" name="Bildobjekt 15">
            <a:extLst>
              <a:ext uri="{FF2B5EF4-FFF2-40B4-BE49-F238E27FC236}">
                <a16:creationId xmlns:a16="http://schemas.microsoft.com/office/drawing/2014/main" id="{08ABE02D-3140-FB4F-B846-937E6F819D3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203383" y="857694"/>
            <a:ext cx="3784820" cy="2838615"/>
          </a:xfrm>
          <a:prstGeom prst="rect">
            <a:avLst/>
          </a:prstGeom>
        </p:spPr>
      </p:pic>
    </p:spTree>
    <p:extLst>
      <p:ext uri="{BB962C8B-B14F-4D97-AF65-F5344CB8AC3E}">
        <p14:creationId xmlns:p14="http://schemas.microsoft.com/office/powerpoint/2010/main" val="199403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ruta 3">
            <a:extLst>
              <a:ext uri="{FF2B5EF4-FFF2-40B4-BE49-F238E27FC236}">
                <a16:creationId xmlns:a16="http://schemas.microsoft.com/office/drawing/2014/main" id="{19AF14BE-62D7-FB4E-83F3-45FE4B5A7EFF}"/>
              </a:ext>
            </a:extLst>
          </p:cNvPr>
          <p:cNvSpPr txBox="1"/>
          <p:nvPr/>
        </p:nvSpPr>
        <p:spPr>
          <a:xfrm>
            <a:off x="348773" y="2191766"/>
            <a:ext cx="2315454" cy="2970044"/>
          </a:xfrm>
          <a:prstGeom prst="rect">
            <a:avLst/>
          </a:prstGeom>
          <a:noFill/>
        </p:spPr>
        <p:txBody>
          <a:bodyPr wrap="square" rtlCol="0">
            <a:spAutoFit/>
          </a:bodyPr>
          <a:lstStyle/>
          <a:p>
            <a:r>
              <a:rPr lang="sv-SE" sz="1100" b="1" dirty="0"/>
              <a:t>Färgstark fetaostsallad – 2 portioner</a:t>
            </a:r>
          </a:p>
          <a:p>
            <a:r>
              <a:rPr lang="sv-SE" sz="1100" dirty="0"/>
              <a:t>30 g bladspenat</a:t>
            </a:r>
          </a:p>
          <a:p>
            <a:r>
              <a:rPr lang="sv-SE" sz="1100" dirty="0"/>
              <a:t>½ paprika</a:t>
            </a:r>
          </a:p>
          <a:p>
            <a:r>
              <a:rPr lang="sv-SE" sz="1100" dirty="0"/>
              <a:t>1 avokado</a:t>
            </a:r>
          </a:p>
          <a:p>
            <a:r>
              <a:rPr lang="sv-SE" sz="1100" dirty="0"/>
              <a:t>100 g sockerärtor</a:t>
            </a:r>
          </a:p>
          <a:p>
            <a:r>
              <a:rPr lang="sv-SE" sz="1100" dirty="0"/>
              <a:t>10 cocktailtomater</a:t>
            </a:r>
          </a:p>
          <a:p>
            <a:r>
              <a:rPr lang="sv-SE" sz="1100" dirty="0"/>
              <a:t>150 g fetaost</a:t>
            </a:r>
          </a:p>
          <a:p>
            <a:r>
              <a:rPr lang="sv-SE" sz="1100" dirty="0"/>
              <a:t>1 dl granatäpplekärnor</a:t>
            </a:r>
          </a:p>
          <a:p>
            <a:endParaRPr lang="sv-SE" sz="1100" dirty="0"/>
          </a:p>
          <a:p>
            <a:r>
              <a:rPr lang="sv-SE" sz="1100" dirty="0"/>
              <a:t>Lägg spenatblad på tallrikar. Skär paprika, avokado och sockerärtor i skivor och lägg runt om. Dela tomater och lägg på tallrikarna. Smula över fetaost och lägg på granatäpplekärnor.</a:t>
            </a:r>
          </a:p>
          <a:p>
            <a:r>
              <a:rPr lang="sv-SE" sz="1100" dirty="0"/>
              <a:t> </a:t>
            </a:r>
          </a:p>
          <a:p>
            <a:endParaRPr lang="sv-SE" sz="1100" dirty="0"/>
          </a:p>
        </p:txBody>
      </p:sp>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4</a:t>
            </a:fld>
            <a:endParaRPr lang="sv-SE"/>
          </a:p>
        </p:txBody>
      </p:sp>
      <p:sp>
        <p:nvSpPr>
          <p:cNvPr id="12" name="textruta 11">
            <a:extLst>
              <a:ext uri="{FF2B5EF4-FFF2-40B4-BE49-F238E27FC236}">
                <a16:creationId xmlns:a16="http://schemas.microsoft.com/office/drawing/2014/main" id="{8AFEA0A7-F2B5-9F4D-9D08-DBC77330C2DE}"/>
              </a:ext>
            </a:extLst>
          </p:cNvPr>
          <p:cNvSpPr txBox="1"/>
          <p:nvPr/>
        </p:nvSpPr>
        <p:spPr>
          <a:xfrm>
            <a:off x="285023" y="264300"/>
            <a:ext cx="4328308" cy="461665"/>
          </a:xfrm>
          <a:prstGeom prst="rect">
            <a:avLst/>
          </a:prstGeom>
          <a:noFill/>
        </p:spPr>
        <p:txBody>
          <a:bodyPr wrap="square" rtlCol="0">
            <a:spAutoFit/>
          </a:bodyPr>
          <a:lstStyle/>
          <a:p>
            <a:r>
              <a:rPr lang="sv-SE" sz="2400" dirty="0" err="1">
                <a:latin typeface="BigCaslonFB" panose="02000603080000020003" pitchFamily="50" charset="0"/>
              </a:rPr>
              <a:t>Vego</a:t>
            </a:r>
            <a:endParaRPr lang="sv-SE" sz="2400" dirty="0">
              <a:latin typeface="BigCaslonFB" panose="02000603080000020003" pitchFamily="50" charset="0"/>
            </a:endParaRPr>
          </a:p>
        </p:txBody>
      </p:sp>
      <p:sp>
        <p:nvSpPr>
          <p:cNvPr id="13" name="Ellips 12">
            <a:extLst>
              <a:ext uri="{FF2B5EF4-FFF2-40B4-BE49-F238E27FC236}">
                <a16:creationId xmlns:a16="http://schemas.microsoft.com/office/drawing/2014/main" id="{9B515530-971D-3C4C-A6FD-7BC8EE7CCF4B}"/>
              </a:ext>
            </a:extLst>
          </p:cNvPr>
          <p:cNvSpPr/>
          <p:nvPr/>
        </p:nvSpPr>
        <p:spPr>
          <a:xfrm>
            <a:off x="2035577" y="261656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410kcal</a:t>
            </a:r>
            <a:endParaRPr sz="1200" b="1" dirty="0">
              <a:solidFill>
                <a:schemeClr val="bg1"/>
              </a:solidFill>
              <a:ea typeface="ＭＳ 明朝"/>
              <a:cs typeface="Avenir Light"/>
            </a:endParaRPr>
          </a:p>
        </p:txBody>
      </p:sp>
      <p:pic>
        <p:nvPicPr>
          <p:cNvPr id="3" name="Bildobjekt 2">
            <a:extLst>
              <a:ext uri="{FF2B5EF4-FFF2-40B4-BE49-F238E27FC236}">
                <a16:creationId xmlns:a16="http://schemas.microsoft.com/office/drawing/2014/main" id="{13F2641B-0351-3542-B527-02D0010E80D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84473" y="149352"/>
            <a:ext cx="3660853" cy="4881137"/>
          </a:xfrm>
          <a:prstGeom prst="rect">
            <a:avLst/>
          </a:prstGeom>
        </p:spPr>
      </p:pic>
      <p:sp>
        <p:nvSpPr>
          <p:cNvPr id="8" name="Platshållare för sidfot 1">
            <a:extLst>
              <a:ext uri="{FF2B5EF4-FFF2-40B4-BE49-F238E27FC236}">
                <a16:creationId xmlns:a16="http://schemas.microsoft.com/office/drawing/2014/main" id="{E51AA20E-6C0D-9C44-B585-9B5AC9BFFBE2}"/>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3 </a:t>
            </a:r>
          </a:p>
        </p:txBody>
      </p:sp>
      <p:sp>
        <p:nvSpPr>
          <p:cNvPr id="2" name="textruta 1">
            <a:extLst>
              <a:ext uri="{FF2B5EF4-FFF2-40B4-BE49-F238E27FC236}">
                <a16:creationId xmlns:a16="http://schemas.microsoft.com/office/drawing/2014/main" id="{B8B02A10-B41E-5248-9D64-69A302A9CB25}"/>
              </a:ext>
            </a:extLst>
          </p:cNvPr>
          <p:cNvSpPr txBox="1"/>
          <p:nvPr/>
        </p:nvSpPr>
        <p:spPr>
          <a:xfrm>
            <a:off x="4153546" y="5579390"/>
            <a:ext cx="1777025" cy="369332"/>
          </a:xfrm>
          <a:prstGeom prst="rect">
            <a:avLst/>
          </a:prstGeom>
          <a:noFill/>
        </p:spPr>
        <p:txBody>
          <a:bodyPr wrap="none" rtlCol="0">
            <a:spAutoFit/>
          </a:bodyPr>
          <a:lstStyle/>
          <a:p>
            <a:r>
              <a:rPr lang="sv-SE" dirty="0"/>
              <a:t>Höstturbon 2024</a:t>
            </a:r>
          </a:p>
        </p:txBody>
      </p:sp>
    </p:spTree>
    <p:extLst>
      <p:ext uri="{BB962C8B-B14F-4D97-AF65-F5344CB8AC3E}">
        <p14:creationId xmlns:p14="http://schemas.microsoft.com/office/powerpoint/2010/main" val="721321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B89653FB-350D-304F-BA26-BD0AF874DFE6}"/>
              </a:ext>
            </a:extLst>
          </p:cNvPr>
          <p:cNvSpPr>
            <a:spLocks noGrp="1"/>
          </p:cNvSpPr>
          <p:nvPr>
            <p:ph type="sldNum" sz="quarter" idx="12"/>
          </p:nvPr>
        </p:nvSpPr>
        <p:spPr/>
        <p:txBody>
          <a:bodyPr/>
          <a:lstStyle/>
          <a:p>
            <a:fld id="{97BA8967-5D92-4842-BAFB-0C8F679E5DC4}" type="slidenum">
              <a:rPr lang="sv-SE" smtClean="0"/>
              <a:t>5</a:t>
            </a:fld>
            <a:endParaRPr lang="sv-SE"/>
          </a:p>
        </p:txBody>
      </p:sp>
      <p:pic>
        <p:nvPicPr>
          <p:cNvPr id="3" name="Bildobjekt 2">
            <a:extLst>
              <a:ext uri="{FF2B5EF4-FFF2-40B4-BE49-F238E27FC236}">
                <a16:creationId xmlns:a16="http://schemas.microsoft.com/office/drawing/2014/main" id="{B4ECC1C0-F9C7-7E42-8CC3-8745E16081C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943691" y="700451"/>
            <a:ext cx="4356851" cy="3267638"/>
          </a:xfrm>
          <a:prstGeom prst="rect">
            <a:avLst/>
          </a:prstGeom>
        </p:spPr>
      </p:pic>
      <p:sp>
        <p:nvSpPr>
          <p:cNvPr id="4" name="Rektangel 3">
            <a:extLst>
              <a:ext uri="{FF2B5EF4-FFF2-40B4-BE49-F238E27FC236}">
                <a16:creationId xmlns:a16="http://schemas.microsoft.com/office/drawing/2014/main" id="{A9BE2085-E4B2-0C4E-AEE4-A8F56893BA8B}"/>
              </a:ext>
            </a:extLst>
          </p:cNvPr>
          <p:cNvSpPr/>
          <p:nvPr/>
        </p:nvSpPr>
        <p:spPr>
          <a:xfrm>
            <a:off x="288656" y="2968658"/>
            <a:ext cx="6226443" cy="4154984"/>
          </a:xfrm>
          <a:prstGeom prst="rect">
            <a:avLst/>
          </a:prstGeom>
        </p:spPr>
        <p:txBody>
          <a:bodyPr wrap="square" lIns="91440" tIns="45720" rIns="91440" bIns="45720" anchor="t">
            <a:spAutoFit/>
          </a:bodyPr>
          <a:lstStyle/>
          <a:p>
            <a:r>
              <a:rPr lang="sv-SE" sz="1100" b="1" dirty="0">
                <a:solidFill>
                  <a:srgbClr val="000000"/>
                </a:solidFill>
              </a:rPr>
              <a:t>Morotssoppa med ingefära och rostade kikärtor</a:t>
            </a:r>
          </a:p>
          <a:p>
            <a:r>
              <a:rPr lang="sv-SE" sz="1100" b="1" dirty="0">
                <a:solidFill>
                  <a:srgbClr val="000000"/>
                </a:solidFill>
              </a:rPr>
              <a:t> - 2 portioner </a:t>
            </a:r>
            <a:endParaRPr lang="sv-SE" sz="1100" dirty="0">
              <a:solidFill>
                <a:srgbClr val="000000"/>
              </a:solidFill>
            </a:endParaRPr>
          </a:p>
          <a:p>
            <a:r>
              <a:rPr lang="sv-SE" sz="1100" dirty="0">
                <a:solidFill>
                  <a:srgbClr val="000000"/>
                </a:solidFill>
              </a:rPr>
              <a:t>1 dl torkade kikärtor </a:t>
            </a:r>
          </a:p>
          <a:p>
            <a:r>
              <a:rPr lang="sv-SE" sz="1100" dirty="0">
                <a:solidFill>
                  <a:srgbClr val="000000"/>
                </a:solidFill>
              </a:rPr>
              <a:t>1/2 tsk </a:t>
            </a:r>
            <a:r>
              <a:rPr lang="sv-SE" sz="1100" dirty="0" err="1">
                <a:solidFill>
                  <a:srgbClr val="000000"/>
                </a:solidFill>
              </a:rPr>
              <a:t>smoked</a:t>
            </a:r>
            <a:r>
              <a:rPr lang="sv-SE" sz="1100" dirty="0">
                <a:solidFill>
                  <a:srgbClr val="000000"/>
                </a:solidFill>
              </a:rPr>
              <a:t> paprikakrydda </a:t>
            </a:r>
          </a:p>
          <a:p>
            <a:r>
              <a:rPr lang="sv-SE" sz="1100" dirty="0">
                <a:solidFill>
                  <a:srgbClr val="000000"/>
                </a:solidFill>
              </a:rPr>
              <a:t>Salt och svartpeppar</a:t>
            </a:r>
          </a:p>
          <a:p>
            <a:r>
              <a:rPr lang="sv-SE" sz="1100" dirty="0">
                <a:solidFill>
                  <a:srgbClr val="000000"/>
                </a:solidFill>
              </a:rPr>
              <a:t>1 tsk färsk chili </a:t>
            </a:r>
          </a:p>
          <a:p>
            <a:r>
              <a:rPr lang="sv-SE" sz="1100" dirty="0">
                <a:solidFill>
                  <a:srgbClr val="000000"/>
                </a:solidFill>
              </a:rPr>
              <a:t>1 msk färsk ingefära  </a:t>
            </a:r>
          </a:p>
          <a:p>
            <a:r>
              <a:rPr lang="sv-SE" sz="1100" dirty="0">
                <a:solidFill>
                  <a:srgbClr val="000000"/>
                </a:solidFill>
              </a:rPr>
              <a:t>3 morötter</a:t>
            </a:r>
          </a:p>
          <a:p>
            <a:r>
              <a:rPr lang="sv-SE" sz="1100" dirty="0">
                <a:solidFill>
                  <a:srgbClr val="000000"/>
                </a:solidFill>
              </a:rPr>
              <a:t>1 msk olivolja </a:t>
            </a:r>
          </a:p>
          <a:p>
            <a:r>
              <a:rPr lang="sv-SE" sz="1100" dirty="0">
                <a:solidFill>
                  <a:srgbClr val="000000"/>
                </a:solidFill>
              </a:rPr>
              <a:t>1 liter vatten </a:t>
            </a:r>
          </a:p>
          <a:p>
            <a:r>
              <a:rPr lang="sv-SE" sz="1100" dirty="0">
                <a:solidFill>
                  <a:srgbClr val="000000"/>
                </a:solidFill>
              </a:rPr>
              <a:t>1 grönsaksbuljongtärning</a:t>
            </a:r>
          </a:p>
          <a:p>
            <a:r>
              <a:rPr lang="sv-SE" sz="1100" dirty="0">
                <a:solidFill>
                  <a:srgbClr val="000000"/>
                </a:solidFill>
              </a:rPr>
              <a:t>200 ml kokosmjölk </a:t>
            </a:r>
          </a:p>
          <a:p>
            <a:endParaRPr lang="sv-SE" sz="1100" dirty="0">
              <a:solidFill>
                <a:srgbClr val="000000"/>
              </a:solidFill>
            </a:endParaRPr>
          </a:p>
          <a:p>
            <a:r>
              <a:rPr lang="sv-SE" sz="1100" b="1" dirty="0" err="1">
                <a:solidFill>
                  <a:srgbClr val="000000"/>
                </a:solidFill>
              </a:rPr>
              <a:t>Topping</a:t>
            </a:r>
            <a:r>
              <a:rPr lang="sv-SE" sz="1100" dirty="0">
                <a:solidFill>
                  <a:srgbClr val="000000"/>
                </a:solidFill>
              </a:rPr>
              <a:t> </a:t>
            </a:r>
          </a:p>
          <a:p>
            <a:r>
              <a:rPr lang="sv-SE" sz="1100" dirty="0">
                <a:solidFill>
                  <a:srgbClr val="000000"/>
                </a:solidFill>
              </a:rPr>
              <a:t>1/2 msk </a:t>
            </a:r>
            <a:r>
              <a:rPr lang="sv-SE" sz="1100" dirty="0">
                <a:solidFill>
                  <a:srgbClr val="FF0000"/>
                </a:solidFill>
              </a:rPr>
              <a:t>hackad</a:t>
            </a:r>
            <a:r>
              <a:rPr lang="sv-SE" sz="1100" dirty="0">
                <a:solidFill>
                  <a:srgbClr val="000000"/>
                </a:solidFill>
              </a:rPr>
              <a:t> färsk chili</a:t>
            </a:r>
          </a:p>
          <a:p>
            <a:r>
              <a:rPr lang="sv-SE" sz="1100" dirty="0">
                <a:solidFill>
                  <a:srgbClr val="000000"/>
                </a:solidFill>
              </a:rPr>
              <a:t>Färska basilikablad</a:t>
            </a:r>
          </a:p>
          <a:p>
            <a:endParaRPr lang="sv-SE" sz="1100" dirty="0">
              <a:solidFill>
                <a:srgbClr val="000000"/>
              </a:solidFill>
            </a:endParaRPr>
          </a:p>
          <a:p>
            <a:r>
              <a:rPr lang="sv-SE" sz="1100" dirty="0">
                <a:solidFill>
                  <a:srgbClr val="1B1B1B"/>
                </a:solidFill>
              </a:rPr>
              <a:t>Sätt ugnen på 225 grader. Blötlägg kikärtor i kokande vatten i 10 minuter. Låt rinna av ordentligt och lägg kikärtor på en ugnsplåt. Ringla över olivolja och strö på </a:t>
            </a:r>
            <a:r>
              <a:rPr lang="sv-SE" sz="1100" dirty="0" err="1">
                <a:solidFill>
                  <a:srgbClr val="1B1B1B"/>
                </a:solidFill>
              </a:rPr>
              <a:t>smoked</a:t>
            </a:r>
            <a:r>
              <a:rPr lang="sv-SE" sz="1100" dirty="0">
                <a:solidFill>
                  <a:srgbClr val="1B1B1B"/>
                </a:solidFill>
              </a:rPr>
              <a:t> paprikakrydda, salt och peppar. Rör om på plåten så kryddblandningen täcker kikärtorna ordentligt. Ställ in i ugnen i 20 minuter. Rör om vid behov. </a:t>
            </a:r>
            <a:r>
              <a:rPr lang="sv-SE" sz="1100" dirty="0">
                <a:solidFill>
                  <a:srgbClr val="000000"/>
                </a:solidFill>
              </a:rPr>
              <a:t>Skala och riv ingefära. Finhacka chili. Skala och riv morötter. Hetta upp en kastrull med olivolja. Häll i chili, ingefära och morot och fräs i några minuter. Tillsätt vatten och buljong och låt koka upp. Tillsätt kokosmjölk och låt sjuda i 5 min. Strö på salt och peppar. Mixa soppan slät.</a:t>
            </a:r>
          </a:p>
          <a:p>
            <a:r>
              <a:rPr lang="sv-SE" sz="1100" dirty="0">
                <a:solidFill>
                  <a:srgbClr val="000000"/>
                </a:solidFill>
              </a:rPr>
              <a:t>Servera soppan i skålar och toppa med kikärtor, chili och basilika.</a:t>
            </a:r>
            <a:endParaRPr lang="sv-SE" sz="1100" dirty="0">
              <a:solidFill>
                <a:srgbClr val="000000"/>
              </a:solidFill>
              <a:effectLst/>
            </a:endParaRPr>
          </a:p>
        </p:txBody>
      </p:sp>
      <p:sp>
        <p:nvSpPr>
          <p:cNvPr id="8" name="textruta 7">
            <a:extLst>
              <a:ext uri="{FF2B5EF4-FFF2-40B4-BE49-F238E27FC236}">
                <a16:creationId xmlns:a16="http://schemas.microsoft.com/office/drawing/2014/main" id="{842A6D7C-9849-4E43-8DBB-3FAA610BDF33}"/>
              </a:ext>
            </a:extLst>
          </p:cNvPr>
          <p:cNvSpPr txBox="1"/>
          <p:nvPr/>
        </p:nvSpPr>
        <p:spPr>
          <a:xfrm>
            <a:off x="239168" y="384592"/>
            <a:ext cx="1951896" cy="461665"/>
          </a:xfrm>
          <a:prstGeom prst="rect">
            <a:avLst/>
          </a:prstGeom>
          <a:noFill/>
        </p:spPr>
        <p:txBody>
          <a:bodyPr wrap="square" rtlCol="0">
            <a:spAutoFit/>
          </a:bodyPr>
          <a:lstStyle/>
          <a:p>
            <a:r>
              <a:rPr lang="sv-SE" sz="2400" dirty="0" err="1">
                <a:latin typeface="BigCaslonFB" panose="02000603080000020003" pitchFamily="50" charset="0"/>
              </a:rPr>
              <a:t>Vego</a:t>
            </a:r>
            <a:endParaRPr lang="sv-SE" sz="2400" dirty="0">
              <a:latin typeface="BigCaslonFB" panose="02000603080000020003" pitchFamily="50" charset="0"/>
            </a:endParaRPr>
          </a:p>
        </p:txBody>
      </p:sp>
      <p:sp>
        <p:nvSpPr>
          <p:cNvPr id="9" name="Platshållare för sidfot 1">
            <a:extLst>
              <a:ext uri="{FF2B5EF4-FFF2-40B4-BE49-F238E27FC236}">
                <a16:creationId xmlns:a16="http://schemas.microsoft.com/office/drawing/2014/main" id="{867AAF78-BE34-F24B-9C14-CDF983698E20}"/>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3 </a:t>
            </a:r>
          </a:p>
        </p:txBody>
      </p:sp>
      <p:sp>
        <p:nvSpPr>
          <p:cNvPr id="10" name="Ellips 9">
            <a:extLst>
              <a:ext uri="{FF2B5EF4-FFF2-40B4-BE49-F238E27FC236}">
                <a16:creationId xmlns:a16="http://schemas.microsoft.com/office/drawing/2014/main" id="{0ED26B83-125C-3B43-9AE3-A3CEBDC69D06}"/>
              </a:ext>
            </a:extLst>
          </p:cNvPr>
          <p:cNvSpPr/>
          <p:nvPr/>
        </p:nvSpPr>
        <p:spPr>
          <a:xfrm>
            <a:off x="2393431" y="370488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365kcal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266695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ktangel 9">
            <a:extLst>
              <a:ext uri="{FF2B5EF4-FFF2-40B4-BE49-F238E27FC236}">
                <a16:creationId xmlns:a16="http://schemas.microsoft.com/office/drawing/2014/main" id="{B2BF7BF0-45E9-7E49-BA78-3B31327A7BA5}"/>
              </a:ext>
            </a:extLst>
          </p:cNvPr>
          <p:cNvSpPr/>
          <p:nvPr/>
        </p:nvSpPr>
        <p:spPr>
          <a:xfrm>
            <a:off x="236844" y="947387"/>
            <a:ext cx="6621156" cy="4832092"/>
          </a:xfrm>
          <a:prstGeom prst="rect">
            <a:avLst/>
          </a:prstGeom>
        </p:spPr>
        <p:txBody>
          <a:bodyPr wrap="square" lIns="91440" tIns="45720" rIns="91440" bIns="45720" anchor="t">
            <a:spAutoFit/>
          </a:bodyPr>
          <a:lstStyle/>
          <a:p>
            <a:r>
              <a:rPr lang="sv-SE" sz="1100" b="1" dirty="0">
                <a:solidFill>
                  <a:srgbClr val="000000"/>
                </a:solidFill>
              </a:rPr>
              <a:t>Torsk med guacamole och sötpotatis - 2 portioner </a:t>
            </a:r>
            <a:endParaRPr lang="sv-SE" sz="1100" dirty="0">
              <a:solidFill>
                <a:srgbClr val="000000"/>
              </a:solidFill>
            </a:endParaRPr>
          </a:p>
          <a:p>
            <a:r>
              <a:rPr lang="sv-SE" sz="1100" dirty="0">
                <a:solidFill>
                  <a:srgbClr val="000000"/>
                </a:solidFill>
              </a:rPr>
              <a:t>1 sötpotatis</a:t>
            </a:r>
          </a:p>
          <a:p>
            <a:r>
              <a:rPr lang="sv-SE" sz="1100" dirty="0">
                <a:solidFill>
                  <a:srgbClr val="000000"/>
                </a:solidFill>
              </a:rPr>
              <a:t>1 tsk olivolja</a:t>
            </a:r>
          </a:p>
          <a:p>
            <a:r>
              <a:rPr lang="sv-SE" sz="1100" dirty="0">
                <a:solidFill>
                  <a:srgbClr val="000000"/>
                </a:solidFill>
              </a:rPr>
              <a:t>Salt och svartpeppar</a:t>
            </a:r>
          </a:p>
          <a:p>
            <a:r>
              <a:rPr lang="sv-SE" sz="1100" dirty="0">
                <a:solidFill>
                  <a:srgbClr val="000000"/>
                </a:solidFill>
              </a:rPr>
              <a:t>1 krm örtagårdskrydda </a:t>
            </a:r>
          </a:p>
          <a:p>
            <a:r>
              <a:rPr lang="sv-SE" sz="1100" dirty="0">
                <a:solidFill>
                  <a:srgbClr val="000000"/>
                </a:solidFill>
              </a:rPr>
              <a:t>400 g torskrygg</a:t>
            </a:r>
          </a:p>
          <a:p>
            <a:r>
              <a:rPr lang="sv-SE" sz="1100" dirty="0">
                <a:solidFill>
                  <a:srgbClr val="000000"/>
                </a:solidFill>
              </a:rPr>
              <a:t>1 tsk olivolja</a:t>
            </a:r>
          </a:p>
          <a:p>
            <a:r>
              <a:rPr lang="sv-SE" sz="1100" dirty="0">
                <a:solidFill>
                  <a:srgbClr val="000000"/>
                </a:solidFill>
              </a:rPr>
              <a:t>60 g bladspenat</a:t>
            </a:r>
          </a:p>
          <a:p>
            <a:endParaRPr lang="sv-SE" sz="1100" dirty="0">
              <a:solidFill>
                <a:srgbClr val="000000"/>
              </a:solidFill>
            </a:endParaRPr>
          </a:p>
          <a:p>
            <a:r>
              <a:rPr lang="sv-SE" sz="1100" b="1" dirty="0">
                <a:solidFill>
                  <a:srgbClr val="000000"/>
                </a:solidFill>
              </a:rPr>
              <a:t>Guacamole </a:t>
            </a:r>
            <a:endParaRPr lang="sv-SE" sz="1100" dirty="0">
              <a:solidFill>
                <a:srgbClr val="000000"/>
              </a:solidFill>
            </a:endParaRPr>
          </a:p>
          <a:p>
            <a:r>
              <a:rPr lang="sv-SE" sz="1100" dirty="0">
                <a:solidFill>
                  <a:srgbClr val="000000"/>
                </a:solidFill>
              </a:rPr>
              <a:t>1 avokado</a:t>
            </a:r>
          </a:p>
          <a:p>
            <a:r>
              <a:rPr lang="sv-SE" sz="1100" dirty="0">
                <a:solidFill>
                  <a:srgbClr val="000000"/>
                </a:solidFill>
              </a:rPr>
              <a:t>1/4 vitlöksklyfta</a:t>
            </a:r>
          </a:p>
          <a:p>
            <a:r>
              <a:rPr lang="sv-SE" sz="1100" dirty="0">
                <a:solidFill>
                  <a:srgbClr val="000000"/>
                </a:solidFill>
              </a:rPr>
              <a:t>1/4 rödlök</a:t>
            </a:r>
          </a:p>
          <a:p>
            <a:r>
              <a:rPr lang="sv-SE" sz="1100" dirty="0">
                <a:solidFill>
                  <a:srgbClr val="000000"/>
                </a:solidFill>
              </a:rPr>
              <a:t>Saften från 1/2 lime </a:t>
            </a:r>
          </a:p>
          <a:p>
            <a:r>
              <a:rPr lang="sv-SE" sz="1100" dirty="0">
                <a:solidFill>
                  <a:srgbClr val="000000"/>
                </a:solidFill>
              </a:rPr>
              <a:t>1 msk </a:t>
            </a:r>
            <a:r>
              <a:rPr lang="sv-SE" sz="1100" dirty="0">
                <a:solidFill>
                  <a:srgbClr val="FF0000"/>
                </a:solidFill>
              </a:rPr>
              <a:t>hackad</a:t>
            </a:r>
            <a:r>
              <a:rPr lang="sv-SE" sz="1100" dirty="0">
                <a:solidFill>
                  <a:srgbClr val="000000"/>
                </a:solidFill>
              </a:rPr>
              <a:t> koriander </a:t>
            </a:r>
          </a:p>
          <a:p>
            <a:r>
              <a:rPr lang="sv-SE" sz="1100" dirty="0">
                <a:solidFill>
                  <a:srgbClr val="000000"/>
                </a:solidFill>
              </a:rPr>
              <a:t>1/4 </a:t>
            </a:r>
            <a:r>
              <a:rPr lang="sv-SE" sz="1100" dirty="0">
                <a:solidFill>
                  <a:srgbClr val="FF0000"/>
                </a:solidFill>
              </a:rPr>
              <a:t>hackad</a:t>
            </a:r>
            <a:r>
              <a:rPr lang="sv-SE" sz="1100" dirty="0">
                <a:solidFill>
                  <a:srgbClr val="000000"/>
                </a:solidFill>
              </a:rPr>
              <a:t> röd chili</a:t>
            </a:r>
          </a:p>
          <a:p>
            <a:r>
              <a:rPr lang="sv-SE" sz="1100" dirty="0">
                <a:solidFill>
                  <a:srgbClr val="000000"/>
                </a:solidFill>
              </a:rPr>
              <a:t>Salt och svartpeppar</a:t>
            </a:r>
            <a:br>
              <a:rPr lang="sv-SE" sz="1100" dirty="0">
                <a:solidFill>
                  <a:srgbClr val="000000"/>
                </a:solidFill>
              </a:rPr>
            </a:br>
            <a:endParaRPr lang="sv-SE" sz="1100" dirty="0">
              <a:solidFill>
                <a:srgbClr val="000000"/>
              </a:solidFill>
            </a:endParaRPr>
          </a:p>
          <a:p>
            <a:r>
              <a:rPr lang="sv-SE" sz="1100" dirty="0">
                <a:solidFill>
                  <a:srgbClr val="000000"/>
                </a:solidFill>
              </a:rPr>
              <a:t>Sätt ugnen på 200 grader. Skala och skär sötpotatis i tunna bitar. Lägg sötpotatisen på en ugnsplåt med bakplåtspapper och häll på olivolja, salt, peppar och örtagårdskrydda. Blanda om och ställ in i ugnen i ca 25 minuter. Gör guacamolen genom att mosa avokado i en skål. Skala och riv vitlök. Skala och finhacka rödlök. Blanda den mosade avokadon med vitlök, rödlök, limesaft, koriander och röd chili. Strö på salt och peppar. Strö på salt och svartpeppar på fisken. Hetta upp en stekpanna med olivolja. Lägg torsken i pannan och stek på medelvärme i ca 3 minuter på varje sida. Lägg bladspenat på tallrikar. Lägg på sötpotatis och torsk. Toppa med guacamole och dekorera med korianderkvistar och limeklyftor.  </a:t>
            </a:r>
          </a:p>
          <a:p>
            <a:br>
              <a:rPr lang="sv-SE" sz="1100" dirty="0"/>
            </a:br>
            <a:endParaRPr lang="sv-SE" sz="1100" dirty="0"/>
          </a:p>
        </p:txBody>
      </p:sp>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6</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6" name="Ellips 5">
            <a:extLst>
              <a:ext uri="{FF2B5EF4-FFF2-40B4-BE49-F238E27FC236}">
                <a16:creationId xmlns:a16="http://schemas.microsoft.com/office/drawing/2014/main" id="{F439330D-F48B-334F-A377-9CB18DEB095D}"/>
              </a:ext>
            </a:extLst>
          </p:cNvPr>
          <p:cNvSpPr/>
          <p:nvPr/>
        </p:nvSpPr>
        <p:spPr>
          <a:xfrm>
            <a:off x="1962234" y="135874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518kcal</a:t>
            </a:r>
            <a:endParaRPr sz="1200" b="1" dirty="0">
              <a:solidFill>
                <a:schemeClr val="bg1"/>
              </a:solidFill>
              <a:ea typeface="ＭＳ 明朝"/>
              <a:cs typeface="Avenir Light"/>
            </a:endParaRPr>
          </a:p>
        </p:txBody>
      </p:sp>
      <p:sp>
        <p:nvSpPr>
          <p:cNvPr id="7" name="Platshållare för sidfot 1">
            <a:extLst>
              <a:ext uri="{FF2B5EF4-FFF2-40B4-BE49-F238E27FC236}">
                <a16:creationId xmlns:a16="http://schemas.microsoft.com/office/drawing/2014/main" id="{2544100A-BE6B-514D-BD0A-7A408247AC94}"/>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3 </a:t>
            </a:r>
          </a:p>
        </p:txBody>
      </p:sp>
      <p:pic>
        <p:nvPicPr>
          <p:cNvPr id="8" name="Bildobjekt 7">
            <a:extLst>
              <a:ext uri="{FF2B5EF4-FFF2-40B4-BE49-F238E27FC236}">
                <a16:creationId xmlns:a16="http://schemas.microsoft.com/office/drawing/2014/main" id="{486B5419-78E3-9647-A283-2B3836B3F6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101240" y="5697734"/>
            <a:ext cx="3512106" cy="2634079"/>
          </a:xfrm>
          <a:prstGeom prst="rect">
            <a:avLst/>
          </a:prstGeom>
        </p:spPr>
      </p:pic>
      <p:pic>
        <p:nvPicPr>
          <p:cNvPr id="9" name="Bildobjekt 8">
            <a:extLst>
              <a:ext uri="{FF2B5EF4-FFF2-40B4-BE49-F238E27FC236}">
                <a16:creationId xmlns:a16="http://schemas.microsoft.com/office/drawing/2014/main" id="{9C7931A6-CAA1-C34A-B263-635D96971B0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396813" y="607081"/>
            <a:ext cx="3760312" cy="2820234"/>
          </a:xfrm>
          <a:prstGeom prst="rect">
            <a:avLst/>
          </a:prstGeom>
        </p:spPr>
      </p:pic>
      <p:sp>
        <p:nvSpPr>
          <p:cNvPr id="12" name="Rektangel 11">
            <a:extLst>
              <a:ext uri="{FF2B5EF4-FFF2-40B4-BE49-F238E27FC236}">
                <a16:creationId xmlns:a16="http://schemas.microsoft.com/office/drawing/2014/main" id="{B51F3D3E-8EA4-5946-8839-E8C714277644}"/>
              </a:ext>
            </a:extLst>
          </p:cNvPr>
          <p:cNvSpPr/>
          <p:nvPr/>
        </p:nvSpPr>
        <p:spPr>
          <a:xfrm>
            <a:off x="3200426" y="5445112"/>
            <a:ext cx="3429000" cy="3139321"/>
          </a:xfrm>
          <a:prstGeom prst="rect">
            <a:avLst/>
          </a:prstGeom>
        </p:spPr>
        <p:txBody>
          <a:bodyPr>
            <a:spAutoFit/>
          </a:bodyPr>
          <a:lstStyle/>
          <a:p>
            <a:r>
              <a:rPr lang="sv-SE" sz="1100" b="1" dirty="0">
                <a:solidFill>
                  <a:srgbClr val="000000"/>
                </a:solidFill>
                <a:latin typeface="+mj-lt"/>
              </a:rPr>
              <a:t>Laxsallad med fetaost  - 2 portioner </a:t>
            </a:r>
            <a:endParaRPr lang="sv-SE" sz="1100" dirty="0">
              <a:solidFill>
                <a:srgbClr val="000000"/>
              </a:solidFill>
              <a:latin typeface="+mj-lt"/>
            </a:endParaRPr>
          </a:p>
          <a:p>
            <a:r>
              <a:rPr lang="sv-SE" sz="1100" dirty="0">
                <a:solidFill>
                  <a:srgbClr val="000000"/>
                </a:solidFill>
                <a:latin typeface="+mj-lt"/>
              </a:rPr>
              <a:t>250 g laxfilé</a:t>
            </a:r>
          </a:p>
          <a:p>
            <a:r>
              <a:rPr lang="sv-SE" sz="1100" dirty="0">
                <a:solidFill>
                  <a:srgbClr val="000000"/>
                </a:solidFill>
                <a:latin typeface="+mj-lt"/>
              </a:rPr>
              <a:t>1/2 tsk olivolja</a:t>
            </a:r>
          </a:p>
          <a:p>
            <a:r>
              <a:rPr lang="sv-SE" sz="1100" dirty="0">
                <a:solidFill>
                  <a:srgbClr val="000000"/>
                </a:solidFill>
                <a:latin typeface="+mj-lt"/>
              </a:rPr>
              <a:t>salt och svartpeppar</a:t>
            </a:r>
          </a:p>
          <a:p>
            <a:r>
              <a:rPr lang="sv-SE" sz="1100" dirty="0">
                <a:solidFill>
                  <a:srgbClr val="000000"/>
                </a:solidFill>
                <a:latin typeface="+mj-lt"/>
              </a:rPr>
              <a:t>3 tomater</a:t>
            </a:r>
          </a:p>
          <a:p>
            <a:r>
              <a:rPr lang="sv-SE" sz="1100" dirty="0">
                <a:solidFill>
                  <a:srgbClr val="000000"/>
                </a:solidFill>
              </a:rPr>
              <a:t>¼ rödlök</a:t>
            </a:r>
            <a:endParaRPr lang="sv-SE" sz="1100" dirty="0">
              <a:solidFill>
                <a:srgbClr val="000000"/>
              </a:solidFill>
              <a:latin typeface="+mj-lt"/>
            </a:endParaRPr>
          </a:p>
          <a:p>
            <a:r>
              <a:rPr lang="sv-SE" sz="1100" dirty="0">
                <a:solidFill>
                  <a:srgbClr val="000000"/>
                </a:solidFill>
                <a:latin typeface="+mj-lt"/>
              </a:rPr>
              <a:t>1 msk grön pesto</a:t>
            </a:r>
          </a:p>
          <a:p>
            <a:r>
              <a:rPr lang="sv-SE" sz="1100" dirty="0">
                <a:solidFill>
                  <a:srgbClr val="000000"/>
                </a:solidFill>
                <a:latin typeface="+mj-lt"/>
              </a:rPr>
              <a:t>1 msk balsamvinäger</a:t>
            </a:r>
          </a:p>
          <a:p>
            <a:r>
              <a:rPr lang="sv-SE" sz="1100" dirty="0">
                <a:solidFill>
                  <a:srgbClr val="000000"/>
                </a:solidFill>
                <a:latin typeface="+mj-lt"/>
              </a:rPr>
              <a:t>50 g fetaost i kuber</a:t>
            </a:r>
          </a:p>
          <a:p>
            <a:r>
              <a:rPr lang="sv-SE" sz="1100" dirty="0">
                <a:solidFill>
                  <a:srgbClr val="000000"/>
                </a:solidFill>
                <a:latin typeface="+mj-lt"/>
              </a:rPr>
              <a:t>½ kruka färsk basilika</a:t>
            </a:r>
          </a:p>
          <a:p>
            <a:r>
              <a:rPr lang="sv-SE" sz="1100" dirty="0">
                <a:solidFill>
                  <a:srgbClr val="000000"/>
                </a:solidFill>
                <a:latin typeface="+mj-lt"/>
              </a:rPr>
              <a:t>2 msk pinjenötter</a:t>
            </a:r>
            <a:br>
              <a:rPr lang="sv-SE" sz="1100" dirty="0">
                <a:solidFill>
                  <a:srgbClr val="000000"/>
                </a:solidFill>
                <a:latin typeface="+mj-lt"/>
              </a:rPr>
            </a:br>
            <a:endParaRPr lang="sv-SE" sz="1100" dirty="0">
              <a:solidFill>
                <a:srgbClr val="000000"/>
              </a:solidFill>
              <a:latin typeface="+mj-lt"/>
            </a:endParaRPr>
          </a:p>
          <a:p>
            <a:r>
              <a:rPr lang="sv-SE" sz="1100" dirty="0">
                <a:solidFill>
                  <a:srgbClr val="000000"/>
                </a:solidFill>
                <a:latin typeface="+mj-lt"/>
              </a:rPr>
              <a:t>Skär lax i kuber. Hetta upp en stekpanna med olivolja. Bryn lax 3-4 minuter. Salta och peppra. Skiva tomat och rödlök och fördela på tallrikar. Blanda pesto med balsamvinäger i en skål och ringla över tomaterna. Lägg på lax, fetaost och färska basilikablad. Rosta pinjenötter i en torr stekpanna och strö över salladen.  </a:t>
            </a:r>
            <a:endParaRPr lang="sv-SE" sz="1100" dirty="0">
              <a:solidFill>
                <a:srgbClr val="000000"/>
              </a:solidFill>
              <a:effectLst/>
              <a:latin typeface="+mj-lt"/>
            </a:endParaRPr>
          </a:p>
        </p:txBody>
      </p:sp>
      <p:sp>
        <p:nvSpPr>
          <p:cNvPr id="2" name="Rektangel 1">
            <a:extLst>
              <a:ext uri="{FF2B5EF4-FFF2-40B4-BE49-F238E27FC236}">
                <a16:creationId xmlns:a16="http://schemas.microsoft.com/office/drawing/2014/main" id="{924BF486-0F7E-344E-99CF-8986DF2F3E35}"/>
              </a:ext>
            </a:extLst>
          </p:cNvPr>
          <p:cNvSpPr/>
          <p:nvPr/>
        </p:nvSpPr>
        <p:spPr>
          <a:xfrm>
            <a:off x="2131884" y="3194020"/>
            <a:ext cx="3429000" cy="600164"/>
          </a:xfrm>
          <a:prstGeom prst="rect">
            <a:avLst/>
          </a:prstGeom>
        </p:spPr>
        <p:txBody>
          <a:bodyPr>
            <a:spAutoFit/>
          </a:bodyPr>
          <a:lstStyle/>
          <a:p>
            <a:r>
              <a:rPr lang="sv-SE" sz="1100" b="1" dirty="0" err="1">
                <a:solidFill>
                  <a:srgbClr val="000000"/>
                </a:solidFill>
              </a:rPr>
              <a:t>Topping</a:t>
            </a:r>
            <a:endParaRPr lang="sv-SE" sz="1100" dirty="0">
              <a:solidFill>
                <a:srgbClr val="000000"/>
              </a:solidFill>
            </a:endParaRPr>
          </a:p>
          <a:p>
            <a:r>
              <a:rPr lang="sv-SE" sz="1100" dirty="0">
                <a:solidFill>
                  <a:srgbClr val="000000"/>
                </a:solidFill>
              </a:rPr>
              <a:t>Korianderkvistar</a:t>
            </a:r>
          </a:p>
          <a:p>
            <a:r>
              <a:rPr lang="sv-SE" sz="1100" dirty="0">
                <a:solidFill>
                  <a:srgbClr val="000000"/>
                </a:solidFill>
              </a:rPr>
              <a:t>Limeklyftor</a:t>
            </a:r>
          </a:p>
        </p:txBody>
      </p:sp>
      <p:sp>
        <p:nvSpPr>
          <p:cNvPr id="13" name="Ellips 12">
            <a:extLst>
              <a:ext uri="{FF2B5EF4-FFF2-40B4-BE49-F238E27FC236}">
                <a16:creationId xmlns:a16="http://schemas.microsoft.com/office/drawing/2014/main" id="{5572C15A-E6AE-EC49-A898-636DD5E0FA9B}"/>
              </a:ext>
            </a:extLst>
          </p:cNvPr>
          <p:cNvSpPr/>
          <p:nvPr/>
        </p:nvSpPr>
        <p:spPr>
          <a:xfrm>
            <a:off x="5039795" y="5888187"/>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486kcal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126299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C88496A0-6F4D-634F-B246-E385C00F8CAC}"/>
              </a:ext>
            </a:extLst>
          </p:cNvPr>
          <p:cNvSpPr txBox="1"/>
          <p:nvPr/>
        </p:nvSpPr>
        <p:spPr>
          <a:xfrm>
            <a:off x="3461739" y="5170270"/>
            <a:ext cx="184731" cy="646331"/>
          </a:xfrm>
          <a:prstGeom prst="rect">
            <a:avLst/>
          </a:prstGeom>
          <a:noFill/>
        </p:spPr>
        <p:txBody>
          <a:bodyPr wrap="none" rtlCol="0">
            <a:spAutoFit/>
          </a:bodyPr>
          <a:lstStyle/>
          <a:p>
            <a:endParaRPr lang="sv-SE" dirty="0"/>
          </a:p>
          <a:p>
            <a:endParaRPr lang="sv-SE" dirty="0"/>
          </a:p>
        </p:txBody>
      </p:sp>
      <p:sp>
        <p:nvSpPr>
          <p:cNvPr id="14" name="textruta 13">
            <a:extLst>
              <a:ext uri="{FF2B5EF4-FFF2-40B4-BE49-F238E27FC236}">
                <a16:creationId xmlns:a16="http://schemas.microsoft.com/office/drawing/2014/main" id="{4A69283C-4A4E-4841-B44F-F9250AD08036}"/>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8" name="Rektangel 7">
            <a:extLst>
              <a:ext uri="{FF2B5EF4-FFF2-40B4-BE49-F238E27FC236}">
                <a16:creationId xmlns:a16="http://schemas.microsoft.com/office/drawing/2014/main" id="{07413B7E-F348-4F4E-BA2E-D834F3335EAD}"/>
              </a:ext>
            </a:extLst>
          </p:cNvPr>
          <p:cNvSpPr/>
          <p:nvPr/>
        </p:nvSpPr>
        <p:spPr>
          <a:xfrm>
            <a:off x="505632" y="618304"/>
            <a:ext cx="5848674" cy="7540526"/>
          </a:xfrm>
          <a:prstGeom prst="rect">
            <a:avLst/>
          </a:prstGeom>
        </p:spPr>
        <p:txBody>
          <a:bodyPr wrap="square" lIns="91440" tIns="45720" rIns="91440" bIns="45720" anchor="t">
            <a:spAutoFit/>
          </a:bodyPr>
          <a:lstStyle/>
          <a:p>
            <a:r>
              <a:rPr lang="sv-SE" sz="1100" b="1" dirty="0">
                <a:solidFill>
                  <a:srgbClr val="000000"/>
                </a:solidFill>
              </a:rPr>
              <a:t>Biff med nudelsallad och jordnötssås</a:t>
            </a:r>
          </a:p>
          <a:p>
            <a:r>
              <a:rPr lang="sv-SE" sz="1100" b="1" dirty="0">
                <a:solidFill>
                  <a:srgbClr val="000000"/>
                </a:solidFill>
              </a:rPr>
              <a:t>- 2 portioner</a:t>
            </a:r>
            <a:endParaRPr lang="sv-SE" sz="1100" dirty="0">
              <a:solidFill>
                <a:srgbClr val="000000"/>
              </a:solidFill>
            </a:endParaRPr>
          </a:p>
          <a:p>
            <a:r>
              <a:rPr lang="sv-SE" sz="1100" dirty="0">
                <a:solidFill>
                  <a:srgbClr val="000000"/>
                </a:solidFill>
              </a:rPr>
              <a:t>100 g äggnudlar</a:t>
            </a:r>
          </a:p>
          <a:p>
            <a:r>
              <a:rPr lang="sv-SE" sz="1100" dirty="0">
                <a:solidFill>
                  <a:srgbClr val="000000"/>
                </a:solidFill>
              </a:rPr>
              <a:t>1/4 röd paprika</a:t>
            </a:r>
          </a:p>
          <a:p>
            <a:r>
              <a:rPr lang="sv-SE" sz="1100" dirty="0">
                <a:solidFill>
                  <a:srgbClr val="000000"/>
                </a:solidFill>
              </a:rPr>
              <a:t>1/4 gul paprika</a:t>
            </a:r>
          </a:p>
          <a:p>
            <a:r>
              <a:rPr lang="sv-SE" sz="1100" dirty="0">
                <a:solidFill>
                  <a:srgbClr val="000000"/>
                </a:solidFill>
              </a:rPr>
              <a:t>100 g rödkål</a:t>
            </a:r>
          </a:p>
          <a:p>
            <a:r>
              <a:rPr lang="sv-SE" sz="1100" dirty="0">
                <a:solidFill>
                  <a:srgbClr val="000000"/>
                </a:solidFill>
              </a:rPr>
              <a:t>2 msk </a:t>
            </a:r>
            <a:r>
              <a:rPr lang="sv-SE" sz="1100" dirty="0">
                <a:solidFill>
                  <a:srgbClr val="FF0000"/>
                </a:solidFill>
              </a:rPr>
              <a:t>hackad</a:t>
            </a:r>
            <a:r>
              <a:rPr lang="sv-SE" sz="1100" dirty="0">
                <a:solidFill>
                  <a:srgbClr val="000000"/>
                </a:solidFill>
              </a:rPr>
              <a:t> färsk koriander</a:t>
            </a:r>
          </a:p>
          <a:p>
            <a:r>
              <a:rPr lang="sv-SE" sz="1100" dirty="0">
                <a:solidFill>
                  <a:srgbClr val="000000"/>
                </a:solidFill>
              </a:rPr>
              <a:t>300 g ryggbiff</a:t>
            </a:r>
          </a:p>
          <a:p>
            <a:r>
              <a:rPr lang="sv-SE" sz="1100" dirty="0">
                <a:solidFill>
                  <a:srgbClr val="000000"/>
                </a:solidFill>
              </a:rPr>
              <a:t>Salt och svartpeppar</a:t>
            </a:r>
          </a:p>
          <a:p>
            <a:r>
              <a:rPr lang="sv-SE" sz="1100" dirty="0">
                <a:solidFill>
                  <a:srgbClr val="000000"/>
                </a:solidFill>
              </a:rPr>
              <a:t>1 tsk smör</a:t>
            </a:r>
          </a:p>
          <a:p>
            <a:endParaRPr lang="sv-SE" sz="1100" dirty="0">
              <a:solidFill>
                <a:srgbClr val="000000"/>
              </a:solidFill>
            </a:endParaRPr>
          </a:p>
          <a:p>
            <a:r>
              <a:rPr lang="sv-SE" sz="1100" b="1" dirty="0">
                <a:solidFill>
                  <a:srgbClr val="000000"/>
                </a:solidFill>
              </a:rPr>
              <a:t>Dressing</a:t>
            </a:r>
            <a:endParaRPr lang="sv-SE" sz="1100" dirty="0">
              <a:solidFill>
                <a:srgbClr val="000000"/>
              </a:solidFill>
            </a:endParaRPr>
          </a:p>
          <a:p>
            <a:r>
              <a:rPr lang="sv-SE" sz="1100" dirty="0">
                <a:solidFill>
                  <a:srgbClr val="000000"/>
                </a:solidFill>
              </a:rPr>
              <a:t>1/4 röd chili</a:t>
            </a:r>
          </a:p>
          <a:p>
            <a:r>
              <a:rPr lang="sv-SE" sz="1100" dirty="0">
                <a:solidFill>
                  <a:srgbClr val="000000"/>
                </a:solidFill>
              </a:rPr>
              <a:t>1/2 msk sesamolja </a:t>
            </a:r>
          </a:p>
          <a:p>
            <a:r>
              <a:rPr lang="sv-SE" sz="1100" dirty="0">
                <a:solidFill>
                  <a:srgbClr val="000000"/>
                </a:solidFill>
              </a:rPr>
              <a:t>1 msk </a:t>
            </a:r>
            <a:r>
              <a:rPr lang="sv-SE" sz="1100" dirty="0" err="1">
                <a:solidFill>
                  <a:srgbClr val="000000"/>
                </a:solidFill>
              </a:rPr>
              <a:t>ketjap</a:t>
            </a:r>
            <a:r>
              <a:rPr lang="sv-SE" sz="1100" dirty="0">
                <a:solidFill>
                  <a:srgbClr val="000000"/>
                </a:solidFill>
              </a:rPr>
              <a:t> manis </a:t>
            </a:r>
          </a:p>
          <a:p>
            <a:r>
              <a:rPr lang="sv-SE" sz="1100" dirty="0">
                <a:solidFill>
                  <a:srgbClr val="000000"/>
                </a:solidFill>
              </a:rPr>
              <a:t>1 msk sweet chilisås</a:t>
            </a:r>
          </a:p>
          <a:p>
            <a:r>
              <a:rPr lang="sv-SE" sz="1100" dirty="0">
                <a:solidFill>
                  <a:srgbClr val="000000"/>
                </a:solidFill>
              </a:rPr>
              <a:t>1 tsk risvinäger</a:t>
            </a:r>
          </a:p>
          <a:p>
            <a:r>
              <a:rPr lang="sv-SE" sz="1100" dirty="0">
                <a:solidFill>
                  <a:srgbClr val="000000"/>
                </a:solidFill>
              </a:rPr>
              <a:t>Saft från 1/4 lime</a:t>
            </a:r>
          </a:p>
          <a:p>
            <a:r>
              <a:rPr lang="sv-SE" sz="1100" dirty="0">
                <a:solidFill>
                  <a:srgbClr val="000000"/>
                </a:solidFill>
              </a:rPr>
              <a:t>Salt och svartpeppar </a:t>
            </a:r>
            <a:br>
              <a:rPr lang="sv-SE" sz="1100" dirty="0">
                <a:solidFill>
                  <a:srgbClr val="000000"/>
                </a:solidFill>
              </a:rPr>
            </a:br>
            <a:endParaRPr lang="sv-SE" sz="1100" dirty="0">
              <a:solidFill>
                <a:srgbClr val="000000"/>
              </a:solidFill>
            </a:endParaRPr>
          </a:p>
          <a:p>
            <a:r>
              <a:rPr lang="sv-SE" sz="1100" b="1" dirty="0">
                <a:solidFill>
                  <a:srgbClr val="000000"/>
                </a:solidFill>
              </a:rPr>
              <a:t>Jordnötssås</a:t>
            </a:r>
            <a:endParaRPr lang="sv-SE" sz="1100" dirty="0">
              <a:solidFill>
                <a:srgbClr val="000000"/>
              </a:solidFill>
            </a:endParaRPr>
          </a:p>
          <a:p>
            <a:r>
              <a:rPr lang="sv-SE" sz="1100" dirty="0">
                <a:solidFill>
                  <a:srgbClr val="000000"/>
                </a:solidFill>
              </a:rPr>
              <a:t>1/4 gul lök</a:t>
            </a:r>
          </a:p>
          <a:p>
            <a:r>
              <a:rPr lang="sv-SE" sz="1100" dirty="0">
                <a:solidFill>
                  <a:srgbClr val="000000"/>
                </a:solidFill>
              </a:rPr>
              <a:t>1/4 vitlök</a:t>
            </a:r>
          </a:p>
          <a:p>
            <a:r>
              <a:rPr lang="sv-SE" sz="1100" dirty="0">
                <a:solidFill>
                  <a:srgbClr val="000000"/>
                </a:solidFill>
              </a:rPr>
              <a:t>½ dl jordnötter</a:t>
            </a:r>
          </a:p>
          <a:p>
            <a:r>
              <a:rPr lang="sv-SE" sz="1100" dirty="0">
                <a:solidFill>
                  <a:srgbClr val="000000"/>
                </a:solidFill>
              </a:rPr>
              <a:t>1/4 röd chili</a:t>
            </a:r>
          </a:p>
          <a:p>
            <a:r>
              <a:rPr lang="sv-SE" sz="1100" dirty="0">
                <a:solidFill>
                  <a:srgbClr val="000000"/>
                </a:solidFill>
              </a:rPr>
              <a:t>1 tsk olivolja</a:t>
            </a:r>
          </a:p>
          <a:p>
            <a:r>
              <a:rPr lang="sv-SE" sz="1100" dirty="0">
                <a:solidFill>
                  <a:srgbClr val="000000"/>
                </a:solidFill>
              </a:rPr>
              <a:t>3 msk kokosgrädde</a:t>
            </a:r>
          </a:p>
          <a:p>
            <a:r>
              <a:rPr lang="sv-SE" sz="1100" dirty="0">
                <a:solidFill>
                  <a:srgbClr val="000000"/>
                </a:solidFill>
              </a:rPr>
              <a:t>1/2 tsk </a:t>
            </a:r>
            <a:r>
              <a:rPr lang="sv-SE" sz="1100" dirty="0" err="1">
                <a:solidFill>
                  <a:srgbClr val="000000"/>
                </a:solidFill>
              </a:rPr>
              <a:t>ketjap</a:t>
            </a:r>
            <a:r>
              <a:rPr lang="sv-SE" sz="1100" dirty="0">
                <a:solidFill>
                  <a:srgbClr val="000000"/>
                </a:solidFill>
              </a:rPr>
              <a:t> manis </a:t>
            </a:r>
          </a:p>
          <a:p>
            <a:r>
              <a:rPr lang="sv-SE" sz="1100" dirty="0">
                <a:solidFill>
                  <a:srgbClr val="000000"/>
                </a:solidFill>
              </a:rPr>
              <a:t>1 msk jordnötssmör</a:t>
            </a:r>
          </a:p>
          <a:p>
            <a:r>
              <a:rPr lang="sv-SE" sz="1100" dirty="0">
                <a:solidFill>
                  <a:srgbClr val="000000"/>
                </a:solidFill>
              </a:rPr>
              <a:t>1/2 dl vatten </a:t>
            </a:r>
          </a:p>
          <a:p>
            <a:r>
              <a:rPr lang="sv-SE" sz="1100" dirty="0">
                <a:solidFill>
                  <a:srgbClr val="000000"/>
                </a:solidFill>
              </a:rPr>
              <a:t>Salt och svartpeppar </a:t>
            </a:r>
          </a:p>
          <a:p>
            <a:endParaRPr lang="sv-SE" sz="1100" dirty="0">
              <a:solidFill>
                <a:srgbClr val="000000"/>
              </a:solidFill>
            </a:endParaRPr>
          </a:p>
          <a:p>
            <a:r>
              <a:rPr lang="sv-SE" sz="1100" b="1" err="1">
                <a:solidFill>
                  <a:srgbClr val="000000"/>
                </a:solidFill>
              </a:rPr>
              <a:t>Topping</a:t>
            </a:r>
            <a:r>
              <a:rPr lang="sv-SE" sz="1100" b="1" dirty="0">
                <a:solidFill>
                  <a:srgbClr val="000000"/>
                </a:solidFill>
              </a:rPr>
              <a:t>: </a:t>
            </a:r>
            <a:r>
              <a:rPr lang="sv-SE" sz="1100" dirty="0">
                <a:solidFill>
                  <a:srgbClr val="000000"/>
                </a:solidFill>
              </a:rPr>
              <a:t>Korianderkvistar, 2 msk </a:t>
            </a:r>
            <a:r>
              <a:rPr lang="sv-SE" sz="1100" dirty="0">
                <a:solidFill>
                  <a:srgbClr val="FF0000"/>
                </a:solidFill>
              </a:rPr>
              <a:t>hackade</a:t>
            </a:r>
            <a:r>
              <a:rPr lang="sv-SE" sz="1100" dirty="0">
                <a:solidFill>
                  <a:srgbClr val="000000"/>
                </a:solidFill>
              </a:rPr>
              <a:t> jordnötter</a:t>
            </a:r>
          </a:p>
          <a:p>
            <a:endParaRPr lang="sv-SE" sz="1100" dirty="0">
              <a:solidFill>
                <a:srgbClr val="000000"/>
              </a:solidFill>
            </a:endParaRPr>
          </a:p>
          <a:p>
            <a:r>
              <a:rPr lang="sv-SE" sz="1100" dirty="0">
                <a:solidFill>
                  <a:srgbClr val="000000"/>
                </a:solidFill>
              </a:rPr>
              <a:t>Koka upp en kastrull med vatten och lite salt. Lägg i nudlarna och koka enligt anvisning på förpackningen. Strimla paprika och rödkål. Blanda nudlar, grönsaker och hackad koriander i en skål. Finhacka röd chili. Blanda chili, sesamolja, </a:t>
            </a:r>
            <a:r>
              <a:rPr lang="sv-SE" sz="1100" dirty="0" err="1">
                <a:solidFill>
                  <a:srgbClr val="000000"/>
                </a:solidFill>
              </a:rPr>
              <a:t>ketjap</a:t>
            </a:r>
            <a:r>
              <a:rPr lang="sv-SE" sz="1100" dirty="0">
                <a:solidFill>
                  <a:srgbClr val="000000"/>
                </a:solidFill>
              </a:rPr>
              <a:t> manis, sweet chili, risvinäger och limesaft i en liten skål. Strö på salt och peppar och rör om. Häll dressingen över nudelsalladen och blanda om ordentligt. Lägg ryggbiff på en skärbräda. Strö salt och peppar på båda sidorna av köttet. Hetta upp en stekpanna med smör. Stek ryggbiffen på hög värme på båda sidor tills den fått fin färg, ca 2 min per sida. Skala och riv vitlök. Skala och finhacka lök. Finhacka jordnötter och chili. Blanda vitlök, lök, jordnötter, chili, olivolja, kokosgrädde, </a:t>
            </a:r>
            <a:r>
              <a:rPr lang="sv-SE" sz="1100" dirty="0" err="1">
                <a:solidFill>
                  <a:srgbClr val="000000"/>
                </a:solidFill>
              </a:rPr>
              <a:t>ketjap</a:t>
            </a:r>
            <a:r>
              <a:rPr lang="sv-SE" sz="1100" dirty="0">
                <a:solidFill>
                  <a:srgbClr val="000000"/>
                </a:solidFill>
              </a:rPr>
              <a:t> manis, jordnötssmör och vatten i en skål och blanda om ordentligt. Smaka av med salt och peppar. Lägg på nudelsallad och ryggbiff på tallrikar. Servera med jordnötssåsen  och dekorera med korianderkvistar och hackade jordnötter. </a:t>
            </a:r>
            <a:endParaRPr lang="sv-SE" sz="1100" dirty="0">
              <a:solidFill>
                <a:srgbClr val="000000"/>
              </a:solidFill>
              <a:effectLst/>
            </a:endParaRPr>
          </a:p>
        </p:txBody>
      </p:sp>
      <p:sp>
        <p:nvSpPr>
          <p:cNvPr id="11" name="Ellips 10">
            <a:extLst>
              <a:ext uri="{FF2B5EF4-FFF2-40B4-BE49-F238E27FC236}">
                <a16:creationId xmlns:a16="http://schemas.microsoft.com/office/drawing/2014/main" id="{F56D5E47-828A-3E45-BE35-7A398068B633}"/>
              </a:ext>
            </a:extLst>
          </p:cNvPr>
          <p:cNvSpPr/>
          <p:nvPr/>
        </p:nvSpPr>
        <p:spPr>
          <a:xfrm>
            <a:off x="2134852" y="107996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670 kcal</a:t>
            </a:r>
            <a:endParaRPr sz="1200" b="1" dirty="0">
              <a:solidFill>
                <a:schemeClr val="bg1"/>
              </a:solidFill>
              <a:ea typeface="ＭＳ 明朝"/>
              <a:cs typeface="Avenir Light"/>
            </a:endParaRPr>
          </a:p>
        </p:txBody>
      </p:sp>
      <p:pic>
        <p:nvPicPr>
          <p:cNvPr id="13" name="Bildobjekt 12">
            <a:extLst>
              <a:ext uri="{FF2B5EF4-FFF2-40B4-BE49-F238E27FC236}">
                <a16:creationId xmlns:a16="http://schemas.microsoft.com/office/drawing/2014/main" id="{E6F19C0F-675A-7341-B3A8-AD7EACADE90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590359" y="972723"/>
            <a:ext cx="4485418" cy="3364064"/>
          </a:xfrm>
          <a:prstGeom prst="rect">
            <a:avLst/>
          </a:prstGeom>
        </p:spPr>
      </p:pic>
      <p:sp>
        <p:nvSpPr>
          <p:cNvPr id="15" name="Platshållare för sidfot 1">
            <a:extLst>
              <a:ext uri="{FF2B5EF4-FFF2-40B4-BE49-F238E27FC236}">
                <a16:creationId xmlns:a16="http://schemas.microsoft.com/office/drawing/2014/main" id="{3DCD6583-CC64-FE40-8F5E-0AD3B9DB2856}"/>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3 </a:t>
            </a:r>
          </a:p>
        </p:txBody>
      </p:sp>
    </p:spTree>
    <p:extLst>
      <p:ext uri="{BB962C8B-B14F-4D97-AF65-F5344CB8AC3E}">
        <p14:creationId xmlns:p14="http://schemas.microsoft.com/office/powerpoint/2010/main" val="2236092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8</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4" name="Platshållare för sidfot 1">
            <a:extLst>
              <a:ext uri="{FF2B5EF4-FFF2-40B4-BE49-F238E27FC236}">
                <a16:creationId xmlns:a16="http://schemas.microsoft.com/office/drawing/2014/main" id="{A1717C78-3987-E448-BBCD-14903D019B35}"/>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3 </a:t>
            </a:r>
          </a:p>
        </p:txBody>
      </p:sp>
      <p:pic>
        <p:nvPicPr>
          <p:cNvPr id="9" name="Bildobjekt 8">
            <a:extLst>
              <a:ext uri="{FF2B5EF4-FFF2-40B4-BE49-F238E27FC236}">
                <a16:creationId xmlns:a16="http://schemas.microsoft.com/office/drawing/2014/main" id="{6AF9DCA8-4FC7-D647-A22C-11A7B5052A9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956071" y="757730"/>
            <a:ext cx="4257821" cy="3193366"/>
          </a:xfrm>
          <a:prstGeom prst="rect">
            <a:avLst/>
          </a:prstGeom>
        </p:spPr>
      </p:pic>
      <p:sp>
        <p:nvSpPr>
          <p:cNvPr id="10" name="Rektangel 9">
            <a:extLst>
              <a:ext uri="{FF2B5EF4-FFF2-40B4-BE49-F238E27FC236}">
                <a16:creationId xmlns:a16="http://schemas.microsoft.com/office/drawing/2014/main" id="{58B463B5-7FE9-5940-B1E8-8467876F07B4}"/>
              </a:ext>
            </a:extLst>
          </p:cNvPr>
          <p:cNvSpPr/>
          <p:nvPr/>
        </p:nvSpPr>
        <p:spPr>
          <a:xfrm>
            <a:off x="288655" y="1609995"/>
            <a:ext cx="3429000" cy="5678478"/>
          </a:xfrm>
          <a:prstGeom prst="rect">
            <a:avLst/>
          </a:prstGeom>
        </p:spPr>
        <p:txBody>
          <a:bodyPr>
            <a:spAutoFit/>
          </a:bodyPr>
          <a:lstStyle/>
          <a:p>
            <a:r>
              <a:rPr lang="sv-SE" sz="1100" b="1" dirty="0">
                <a:solidFill>
                  <a:srgbClr val="000000"/>
                </a:solidFill>
              </a:rPr>
              <a:t>Nötfärstimbaler med </a:t>
            </a:r>
            <a:r>
              <a:rPr lang="sv-SE" sz="1100" b="1" dirty="0" err="1">
                <a:solidFill>
                  <a:srgbClr val="000000"/>
                </a:solidFill>
              </a:rPr>
              <a:t>chèvreost</a:t>
            </a:r>
            <a:r>
              <a:rPr lang="sv-SE" sz="1100" b="1" dirty="0">
                <a:solidFill>
                  <a:srgbClr val="000000"/>
                </a:solidFill>
              </a:rPr>
              <a:t> och soltorkad tomat </a:t>
            </a:r>
          </a:p>
          <a:p>
            <a:r>
              <a:rPr lang="sv-SE" sz="1100" b="1" dirty="0">
                <a:solidFill>
                  <a:srgbClr val="000000"/>
                </a:solidFill>
              </a:rPr>
              <a:t>- 2 portioner</a:t>
            </a:r>
            <a:endParaRPr lang="sv-SE" sz="1100" dirty="0">
              <a:solidFill>
                <a:srgbClr val="000000"/>
              </a:solidFill>
            </a:endParaRPr>
          </a:p>
          <a:p>
            <a:r>
              <a:rPr lang="sv-SE" sz="1100" dirty="0">
                <a:solidFill>
                  <a:srgbClr val="000000"/>
                </a:solidFill>
              </a:rPr>
              <a:t>300 g nötfärs  </a:t>
            </a:r>
          </a:p>
          <a:p>
            <a:r>
              <a:rPr lang="sv-SE" sz="1100" dirty="0">
                <a:solidFill>
                  <a:srgbClr val="000000"/>
                </a:solidFill>
              </a:rPr>
              <a:t>1 msk olivolja  </a:t>
            </a:r>
          </a:p>
          <a:p>
            <a:r>
              <a:rPr lang="sv-SE" sz="1100" dirty="0">
                <a:solidFill>
                  <a:srgbClr val="000000"/>
                </a:solidFill>
              </a:rPr>
              <a:t>Salt och svartpeppar  </a:t>
            </a:r>
          </a:p>
          <a:p>
            <a:r>
              <a:rPr lang="sv-SE" sz="1100" dirty="0">
                <a:solidFill>
                  <a:srgbClr val="000000"/>
                </a:solidFill>
              </a:rPr>
              <a:t>1/2 tsk örtagårdskrydda  </a:t>
            </a:r>
          </a:p>
          <a:p>
            <a:r>
              <a:rPr lang="sv-SE" sz="1100" dirty="0">
                <a:solidFill>
                  <a:srgbClr val="000000"/>
                </a:solidFill>
              </a:rPr>
              <a:t>1 ägg  </a:t>
            </a:r>
          </a:p>
          <a:p>
            <a:r>
              <a:rPr lang="sv-SE" sz="1100" dirty="0">
                <a:solidFill>
                  <a:srgbClr val="000000"/>
                </a:solidFill>
              </a:rPr>
              <a:t>4 </a:t>
            </a:r>
            <a:r>
              <a:rPr lang="sv-SE" sz="1100" dirty="0" err="1">
                <a:solidFill>
                  <a:srgbClr val="000000"/>
                </a:solidFill>
              </a:rPr>
              <a:t>st</a:t>
            </a:r>
            <a:r>
              <a:rPr lang="sv-SE" sz="1100" dirty="0">
                <a:solidFill>
                  <a:srgbClr val="000000"/>
                </a:solidFill>
              </a:rPr>
              <a:t> soltorkade tomater  </a:t>
            </a:r>
          </a:p>
          <a:p>
            <a:r>
              <a:rPr lang="sv-SE" sz="1100" dirty="0">
                <a:solidFill>
                  <a:srgbClr val="000000"/>
                </a:solidFill>
              </a:rPr>
              <a:t>60 g </a:t>
            </a:r>
            <a:r>
              <a:rPr lang="sv-SE" sz="1100" dirty="0" err="1">
                <a:solidFill>
                  <a:srgbClr val="000000"/>
                </a:solidFill>
              </a:rPr>
              <a:t>chevreost</a:t>
            </a:r>
            <a:r>
              <a:rPr lang="sv-SE" sz="1100" dirty="0">
                <a:solidFill>
                  <a:srgbClr val="000000"/>
                </a:solidFill>
              </a:rPr>
              <a:t>  </a:t>
            </a:r>
          </a:p>
          <a:p>
            <a:r>
              <a:rPr lang="sv-SE" sz="1100" dirty="0">
                <a:solidFill>
                  <a:srgbClr val="000000"/>
                </a:solidFill>
              </a:rPr>
              <a:t>2 msk färsk hackad basilika  </a:t>
            </a:r>
          </a:p>
          <a:p>
            <a:r>
              <a:rPr lang="sv-SE" sz="1100" dirty="0">
                <a:solidFill>
                  <a:srgbClr val="000000"/>
                </a:solidFill>
              </a:rPr>
              <a:t>1 palsternacka  </a:t>
            </a:r>
          </a:p>
          <a:p>
            <a:r>
              <a:rPr lang="sv-SE" sz="1100" dirty="0">
                <a:solidFill>
                  <a:srgbClr val="000000"/>
                </a:solidFill>
              </a:rPr>
              <a:t>1 fänkål  </a:t>
            </a:r>
          </a:p>
          <a:p>
            <a:r>
              <a:rPr lang="sv-SE" sz="1100" dirty="0">
                <a:solidFill>
                  <a:srgbClr val="000000"/>
                </a:solidFill>
              </a:rPr>
              <a:t>1/2 vitlöksklyfta</a:t>
            </a:r>
          </a:p>
          <a:p>
            <a:endParaRPr lang="sv-SE" sz="1100" dirty="0">
              <a:solidFill>
                <a:srgbClr val="000000"/>
              </a:solidFill>
            </a:endParaRPr>
          </a:p>
          <a:p>
            <a:r>
              <a:rPr lang="sv-SE" sz="1100" b="1" dirty="0">
                <a:solidFill>
                  <a:srgbClr val="000000"/>
                </a:solidFill>
              </a:rPr>
              <a:t>Tillbehör</a:t>
            </a:r>
            <a:r>
              <a:rPr lang="sv-SE" sz="1100" dirty="0">
                <a:solidFill>
                  <a:srgbClr val="000000"/>
                </a:solidFill>
              </a:rPr>
              <a:t> </a:t>
            </a:r>
          </a:p>
          <a:p>
            <a:r>
              <a:rPr lang="sv-SE" sz="1100" dirty="0">
                <a:solidFill>
                  <a:srgbClr val="000000"/>
                </a:solidFill>
              </a:rPr>
              <a:t>25 g rucolasallad</a:t>
            </a:r>
          </a:p>
          <a:p>
            <a:r>
              <a:rPr lang="sv-SE" sz="1100" dirty="0">
                <a:solidFill>
                  <a:srgbClr val="000000"/>
                </a:solidFill>
              </a:rPr>
              <a:t>Basilikakvistar  </a:t>
            </a:r>
          </a:p>
          <a:p>
            <a:endParaRPr lang="sv-SE" sz="1100" dirty="0">
              <a:solidFill>
                <a:srgbClr val="000000"/>
              </a:solidFill>
            </a:endParaRPr>
          </a:p>
          <a:p>
            <a:r>
              <a:rPr lang="sv-SE" sz="1100" dirty="0">
                <a:solidFill>
                  <a:srgbClr val="000000"/>
                </a:solidFill>
              </a:rPr>
              <a:t>Sätt ugnen på 200 grader. Smörj 6 muffinsformar med hälften av oljan. Lägg färsen i en skål. Krydda med salt, peppar och örtagårdskrydda. Tillsätt ägg och blanda om ordentligt. Fyll muffinsformarna med färs och gör en fördjupning i mitten. Finhacka soltorkade tomater och blanda med </a:t>
            </a:r>
            <a:r>
              <a:rPr lang="sv-SE" sz="1100" dirty="0" err="1">
                <a:solidFill>
                  <a:srgbClr val="000000"/>
                </a:solidFill>
              </a:rPr>
              <a:t>chèvre</a:t>
            </a:r>
            <a:r>
              <a:rPr lang="sv-SE" sz="1100" dirty="0">
                <a:solidFill>
                  <a:srgbClr val="000000"/>
                </a:solidFill>
              </a:rPr>
              <a:t>. Tillsätt hälften av basilikan och rör ihop till en </a:t>
            </a:r>
            <a:r>
              <a:rPr lang="sv-SE" sz="1100" dirty="0" err="1">
                <a:solidFill>
                  <a:srgbClr val="000000"/>
                </a:solidFill>
              </a:rPr>
              <a:t>creme</a:t>
            </a:r>
            <a:r>
              <a:rPr lang="sv-SE" sz="1100" dirty="0">
                <a:solidFill>
                  <a:srgbClr val="000000"/>
                </a:solidFill>
              </a:rPr>
              <a:t>. Fyll timbalerna med </a:t>
            </a:r>
            <a:r>
              <a:rPr lang="sv-SE" sz="1100" dirty="0" err="1">
                <a:solidFill>
                  <a:srgbClr val="000000"/>
                </a:solidFill>
              </a:rPr>
              <a:t>cremen</a:t>
            </a:r>
            <a:r>
              <a:rPr lang="sv-SE" sz="1100" dirty="0">
                <a:solidFill>
                  <a:srgbClr val="000000"/>
                </a:solidFill>
              </a:rPr>
              <a:t> och grädda i ugnen i 15 min. Strimla palsternacka och fänkål på längden. Skala och riv vitlök. Hetta upp en stekpanna med resten av oljan. Stek palsternacka och fänkål tills de får färg. Tillsätt vitlök och resten av basilikan och stek ytterligare ett par minuter. Lägg upp de stekta grönsakerna på tallrikar. Lägg timbalerna ovanpå och servera tillsammans med rucolasallad. Dekorera med basilikakvistar.</a:t>
            </a:r>
            <a:endParaRPr lang="sv-SE" sz="1100" dirty="0">
              <a:solidFill>
                <a:srgbClr val="000000"/>
              </a:solidFill>
              <a:effectLst/>
            </a:endParaRPr>
          </a:p>
        </p:txBody>
      </p:sp>
      <p:sp>
        <p:nvSpPr>
          <p:cNvPr id="12" name="Ellips 11">
            <a:extLst>
              <a:ext uri="{FF2B5EF4-FFF2-40B4-BE49-F238E27FC236}">
                <a16:creationId xmlns:a16="http://schemas.microsoft.com/office/drawing/2014/main" id="{FF3C4ECE-D980-434A-8B29-927BA68B4ABE}"/>
              </a:ext>
            </a:extLst>
          </p:cNvPr>
          <p:cNvSpPr/>
          <p:nvPr/>
        </p:nvSpPr>
        <p:spPr>
          <a:xfrm>
            <a:off x="2134852" y="238070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534</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2516864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FBB45A7C-8AF3-3645-B2BA-3E0B6B53C4ED}"/>
              </a:ext>
            </a:extLst>
          </p:cNvPr>
          <p:cNvSpPr>
            <a:spLocks noGrp="1"/>
          </p:cNvSpPr>
          <p:nvPr>
            <p:ph type="sldNum" sz="quarter" idx="12"/>
          </p:nvPr>
        </p:nvSpPr>
        <p:spPr/>
        <p:txBody>
          <a:bodyPr/>
          <a:lstStyle/>
          <a:p>
            <a:fld id="{97BA8967-5D92-4842-BAFB-0C8F679E5DC4}" type="slidenum">
              <a:rPr lang="sv-SE" smtClean="0"/>
              <a:t>9</a:t>
            </a:fld>
            <a:endParaRPr lang="sv-SE"/>
          </a:p>
        </p:txBody>
      </p:sp>
      <p:sp>
        <p:nvSpPr>
          <p:cNvPr id="14" name="textruta 13">
            <a:extLst>
              <a:ext uri="{FF2B5EF4-FFF2-40B4-BE49-F238E27FC236}">
                <a16:creationId xmlns:a16="http://schemas.microsoft.com/office/drawing/2014/main" id="{3A0F5176-7E66-B948-8D80-90EA9B6582E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Dessert</a:t>
            </a:r>
          </a:p>
        </p:txBody>
      </p:sp>
      <p:sp>
        <p:nvSpPr>
          <p:cNvPr id="13" name="textruta 12">
            <a:extLst>
              <a:ext uri="{FF2B5EF4-FFF2-40B4-BE49-F238E27FC236}">
                <a16:creationId xmlns:a16="http://schemas.microsoft.com/office/drawing/2014/main" id="{D02EBE04-4ED0-D843-A8A3-A84BFC9AF87E}"/>
              </a:ext>
            </a:extLst>
          </p:cNvPr>
          <p:cNvSpPr txBox="1"/>
          <p:nvPr/>
        </p:nvSpPr>
        <p:spPr>
          <a:xfrm>
            <a:off x="207901" y="942732"/>
            <a:ext cx="3139733" cy="2462213"/>
          </a:xfrm>
          <a:prstGeom prst="rect">
            <a:avLst/>
          </a:prstGeom>
          <a:noFill/>
        </p:spPr>
        <p:txBody>
          <a:bodyPr wrap="square" rtlCol="0">
            <a:spAutoFit/>
          </a:bodyPr>
          <a:lstStyle/>
          <a:p>
            <a:r>
              <a:rPr lang="sv-SE" sz="1100" b="1" dirty="0"/>
              <a:t>Chokladbars med majskakor – 15 bitar</a:t>
            </a:r>
          </a:p>
          <a:p>
            <a:r>
              <a:rPr lang="sv-SE" sz="1100" dirty="0"/>
              <a:t>130 g majskakor</a:t>
            </a:r>
          </a:p>
          <a:p>
            <a:r>
              <a:rPr lang="sv-SE" sz="1100" dirty="0"/>
              <a:t>1 dl jordnötssmör</a:t>
            </a:r>
          </a:p>
          <a:p>
            <a:r>
              <a:rPr lang="sv-SE" sz="1100" dirty="0"/>
              <a:t>2 msk flytande honung</a:t>
            </a:r>
          </a:p>
          <a:p>
            <a:r>
              <a:rPr lang="sv-SE" sz="1100" dirty="0"/>
              <a:t>Lite salt</a:t>
            </a:r>
          </a:p>
          <a:p>
            <a:r>
              <a:rPr lang="sv-SE" sz="1100" dirty="0"/>
              <a:t>200 g mörk choklad, 70%</a:t>
            </a:r>
          </a:p>
          <a:p>
            <a:endParaRPr lang="sv-SE" sz="1100" dirty="0"/>
          </a:p>
          <a:p>
            <a:r>
              <a:rPr lang="sv-SE" sz="1100" dirty="0"/>
              <a:t>Smula majskakorna i en skål och blanda ner jordnötssmör, honung och salt. Blanda om ordentligt och lägg på en plåt med bakplåtspapper eller folie. Platta ut till en ruta, ca 20 cm x 30 cm. Smält chokladen över ett vattenbad och häll över kakan. Ställ in i kylen i minst en timme. Skär i rutor. </a:t>
            </a:r>
          </a:p>
          <a:p>
            <a:r>
              <a:rPr lang="sv-SE" sz="1100" dirty="0"/>
              <a:t>Förvara i frysen.</a:t>
            </a:r>
          </a:p>
        </p:txBody>
      </p:sp>
      <p:sp>
        <p:nvSpPr>
          <p:cNvPr id="18" name="Ellips 17">
            <a:extLst>
              <a:ext uri="{FF2B5EF4-FFF2-40B4-BE49-F238E27FC236}">
                <a16:creationId xmlns:a16="http://schemas.microsoft.com/office/drawing/2014/main" id="{D98A3AAB-CB9E-8048-B99F-47F5299540B6}"/>
              </a:ext>
            </a:extLst>
          </p:cNvPr>
          <p:cNvSpPr/>
          <p:nvPr/>
        </p:nvSpPr>
        <p:spPr>
          <a:xfrm>
            <a:off x="2170577" y="144110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162kcal</a:t>
            </a:r>
            <a:endParaRPr sz="1200" b="1" dirty="0">
              <a:solidFill>
                <a:schemeClr val="bg1"/>
              </a:solidFill>
              <a:ea typeface="ＭＳ 明朝"/>
              <a:cs typeface="Avenir Light"/>
            </a:endParaRPr>
          </a:p>
        </p:txBody>
      </p:sp>
      <p:pic>
        <p:nvPicPr>
          <p:cNvPr id="19" name="Bildobjekt 18">
            <a:extLst>
              <a:ext uri="{FF2B5EF4-FFF2-40B4-BE49-F238E27FC236}">
                <a16:creationId xmlns:a16="http://schemas.microsoft.com/office/drawing/2014/main" id="{EF91C0BE-0D25-6D45-8EBE-DA55733E59E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772635" y="689218"/>
            <a:ext cx="4502407" cy="3376805"/>
          </a:xfrm>
          <a:prstGeom prst="rect">
            <a:avLst/>
          </a:prstGeom>
        </p:spPr>
      </p:pic>
      <p:sp>
        <p:nvSpPr>
          <p:cNvPr id="2" name="textruta 1">
            <a:extLst>
              <a:ext uri="{FF2B5EF4-FFF2-40B4-BE49-F238E27FC236}">
                <a16:creationId xmlns:a16="http://schemas.microsoft.com/office/drawing/2014/main" id="{3F38B8E4-6230-0C42-9D39-AB28C0074E46}"/>
              </a:ext>
            </a:extLst>
          </p:cNvPr>
          <p:cNvSpPr txBox="1"/>
          <p:nvPr/>
        </p:nvSpPr>
        <p:spPr>
          <a:xfrm>
            <a:off x="852407" y="3704095"/>
            <a:ext cx="1071062" cy="369332"/>
          </a:xfrm>
          <a:prstGeom prst="rect">
            <a:avLst/>
          </a:prstGeom>
          <a:noFill/>
        </p:spPr>
        <p:txBody>
          <a:bodyPr wrap="none" rtlCol="0">
            <a:spAutoFit/>
          </a:bodyPr>
          <a:lstStyle/>
          <a:p>
            <a:r>
              <a:rPr lang="sv-SE" dirty="0"/>
              <a:t>Laga Lätt </a:t>
            </a:r>
          </a:p>
        </p:txBody>
      </p:sp>
      <p:sp>
        <p:nvSpPr>
          <p:cNvPr id="12" name="Platshållare för sidfot 1">
            <a:extLst>
              <a:ext uri="{FF2B5EF4-FFF2-40B4-BE49-F238E27FC236}">
                <a16:creationId xmlns:a16="http://schemas.microsoft.com/office/drawing/2014/main" id="{B07BAFD6-2E90-7443-ADB4-8F8951E0C2D1}"/>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3 </a:t>
            </a:r>
          </a:p>
        </p:txBody>
      </p:sp>
    </p:spTree>
    <p:extLst>
      <p:ext uri="{BB962C8B-B14F-4D97-AF65-F5344CB8AC3E}">
        <p14:creationId xmlns:p14="http://schemas.microsoft.com/office/powerpoint/2010/main" val="2674272433"/>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485685</TotalTime>
  <Words>1685</Words>
  <Application>Microsoft Macintosh PowerPoint</Application>
  <PresentationFormat>Bildspel på skärmen (4:3)</PresentationFormat>
  <Paragraphs>227</Paragraphs>
  <Slides>9</Slides>
  <Notes>3</Notes>
  <HiddenSlides>0</HiddenSlides>
  <MMClips>0</MMClips>
  <ScaleCrop>false</ScaleCrop>
  <HeadingPairs>
    <vt:vector size="6" baseType="variant">
      <vt:variant>
        <vt:lpstr>Använt teckensnitt</vt:lpstr>
      </vt:variant>
      <vt:variant>
        <vt:i4>6</vt:i4>
      </vt:variant>
      <vt:variant>
        <vt:lpstr>Tema</vt:lpstr>
      </vt:variant>
      <vt:variant>
        <vt:i4>1</vt:i4>
      </vt:variant>
      <vt:variant>
        <vt:lpstr>Bildrubriker</vt:lpstr>
      </vt:variant>
      <vt:variant>
        <vt:i4>9</vt:i4>
      </vt:variant>
    </vt:vector>
  </HeadingPairs>
  <TitlesOfParts>
    <vt:vector size="16" baseType="lpstr">
      <vt:lpstr>ＭＳ 明朝</vt:lpstr>
      <vt:lpstr>Arial</vt:lpstr>
      <vt:lpstr>Avenir Light</vt:lpstr>
      <vt:lpstr>BigCaslonFB</vt:lpstr>
      <vt:lpstr>Calibri</vt:lpstr>
      <vt:lpstr>Times New Roman</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The Diet Shop</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Ulrika Davidsson</dc:creator>
  <cp:lastModifiedBy>ulrika.davidsson@dietshop.se</cp:lastModifiedBy>
  <cp:revision>1063</cp:revision>
  <cp:lastPrinted>2017-09-05T09:39:57Z</cp:lastPrinted>
  <dcterms:created xsi:type="dcterms:W3CDTF">2016-08-21T13:21:42Z</dcterms:created>
  <dcterms:modified xsi:type="dcterms:W3CDTF">2025-03-21T14:53:17Z</dcterms:modified>
</cp:coreProperties>
</file>