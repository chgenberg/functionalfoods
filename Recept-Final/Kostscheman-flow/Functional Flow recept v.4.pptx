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7" r:id="rId2"/>
    <p:sldId id="368" r:id="rId3"/>
    <p:sldId id="502" r:id="rId4"/>
    <p:sldId id="499" r:id="rId5"/>
    <p:sldId id="501" r:id="rId6"/>
    <p:sldId id="281" r:id="rId7"/>
    <p:sldId id="442" r:id="rId8"/>
    <p:sldId id="418" r:id="rId9"/>
    <p:sldId id="434" r:id="rId10"/>
  </p:sldIdLst>
  <p:sldSz cx="6858000" cy="9144000" type="screen4x3"/>
  <p:notesSz cx="6858000" cy="9144000"/>
  <p:defaultText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6564"/>
    <a:srgbClr val="009999"/>
    <a:srgbClr val="008080"/>
    <a:srgbClr val="65B7A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806665-1F91-46CA-AE15-83670A370EB6}" v="130" dt="2025-04-14T13:40:54.7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45" autoAdjust="0"/>
    <p:restoredTop sz="94760" autoAdjust="0"/>
  </p:normalViewPr>
  <p:slideViewPr>
    <p:cSldViewPr snapToGrid="0" snapToObjects="1">
      <p:cViewPr varScale="1">
        <p:scale>
          <a:sx n="82" d="100"/>
          <a:sy n="82" d="100"/>
        </p:scale>
        <p:origin x="2696" y="16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 Jungåker" userId="Jp51DZr2S3O2Kq/fECI9vz/Rf/nX3kiUVMBM7w9AVas=" providerId="None" clId="Web-{5E806665-1F91-46CA-AE15-83670A370EB6}"/>
    <pc:docChg chg="modSld">
      <pc:chgData name="Paula Jungåker" userId="Jp51DZr2S3O2Kq/fECI9vz/Rf/nX3kiUVMBM7w9AVas=" providerId="None" clId="Web-{5E806665-1F91-46CA-AE15-83670A370EB6}" dt="2025-04-14T13:39:44.185" v="61" actId="20577"/>
      <pc:docMkLst>
        <pc:docMk/>
      </pc:docMkLst>
      <pc:sldChg chg="modSp">
        <pc:chgData name="Paula Jungåker" userId="Jp51DZr2S3O2Kq/fECI9vz/Rf/nX3kiUVMBM7w9AVas=" providerId="None" clId="Web-{5E806665-1F91-46CA-AE15-83670A370EB6}" dt="2025-04-14T13:11:49.985" v="57" actId="20577"/>
        <pc:sldMkLst>
          <pc:docMk/>
          <pc:sldMk cId="2236092047" sldId="281"/>
        </pc:sldMkLst>
        <pc:spChg chg="mod">
          <ac:chgData name="Paula Jungåker" userId="Jp51DZr2S3O2Kq/fECI9vz/Rf/nX3kiUVMBM7w9AVas=" providerId="None" clId="Web-{5E806665-1F91-46CA-AE15-83670A370EB6}" dt="2025-04-14T13:11:49.985" v="57" actId="20577"/>
          <ac:spMkLst>
            <pc:docMk/>
            <pc:sldMk cId="2236092047" sldId="281"/>
            <ac:spMk id="9" creationId="{E1DF74A1-48E9-F54B-9240-C03A804B037E}"/>
          </ac:spMkLst>
        </pc:spChg>
      </pc:sldChg>
      <pc:sldChg chg="modSp">
        <pc:chgData name="Paula Jungåker" userId="Jp51DZr2S3O2Kq/fECI9vz/Rf/nX3kiUVMBM7w9AVas=" providerId="None" clId="Web-{5E806665-1F91-46CA-AE15-83670A370EB6}" dt="2025-04-14T13:39:44.185" v="61" actId="20577"/>
        <pc:sldMkLst>
          <pc:docMk/>
          <pc:sldMk cId="2516864540" sldId="418"/>
        </pc:sldMkLst>
        <pc:spChg chg="mod">
          <ac:chgData name="Paula Jungåker" userId="Jp51DZr2S3O2Kq/fECI9vz/Rf/nX3kiUVMBM7w9AVas=" providerId="None" clId="Web-{5E806665-1F91-46CA-AE15-83670A370EB6}" dt="2025-04-14T13:39:44.185" v="61" actId="20577"/>
          <ac:spMkLst>
            <pc:docMk/>
            <pc:sldMk cId="2516864540" sldId="418"/>
            <ac:spMk id="7" creationId="{3865C605-39FD-414C-9E2A-2C78A321593F}"/>
          </ac:spMkLst>
        </pc:spChg>
      </pc:sldChg>
      <pc:sldChg chg="modSp">
        <pc:chgData name="Paula Jungåker" userId="Jp51DZr2S3O2Kq/fECI9vz/Rf/nX3kiUVMBM7w9AVas=" providerId="None" clId="Web-{5E806665-1F91-46CA-AE15-83670A370EB6}" dt="2025-04-14T13:36:14.442" v="58" actId="20577"/>
        <pc:sldMkLst>
          <pc:docMk/>
          <pc:sldMk cId="2366104599" sldId="442"/>
        </pc:sldMkLst>
        <pc:spChg chg="mod">
          <ac:chgData name="Paula Jungåker" userId="Jp51DZr2S3O2Kq/fECI9vz/Rf/nX3kiUVMBM7w9AVas=" providerId="None" clId="Web-{5E806665-1F91-46CA-AE15-83670A370EB6}" dt="2025-04-14T13:36:14.442" v="58" actId="20577"/>
          <ac:spMkLst>
            <pc:docMk/>
            <pc:sldMk cId="2366104599" sldId="442"/>
            <ac:spMk id="12" creationId="{7BAABC1B-A0D4-0548-A517-39E9A4CFE8E0}"/>
          </ac:spMkLst>
        </pc:spChg>
      </pc:sldChg>
      <pc:sldChg chg="modSp">
        <pc:chgData name="Paula Jungåker" userId="Jp51DZr2S3O2Kq/fECI9vz/Rf/nX3kiUVMBM7w9AVas=" providerId="None" clId="Web-{5E806665-1F91-46CA-AE15-83670A370EB6}" dt="2025-04-14T13:06:53.524" v="54" actId="20577"/>
        <pc:sldMkLst>
          <pc:docMk/>
          <pc:sldMk cId="2437638443" sldId="499"/>
        </pc:sldMkLst>
        <pc:spChg chg="mod">
          <ac:chgData name="Paula Jungåker" userId="Jp51DZr2S3O2Kq/fECI9vz/Rf/nX3kiUVMBM7w9AVas=" providerId="None" clId="Web-{5E806665-1F91-46CA-AE15-83670A370EB6}" dt="2025-04-14T13:06:53.524" v="54" actId="20577"/>
          <ac:spMkLst>
            <pc:docMk/>
            <pc:sldMk cId="2437638443" sldId="499"/>
            <ac:spMk id="2" creationId="{5B60B846-EA2F-564B-BDFD-35D42868E344}"/>
          </ac:spMkLst>
        </pc:spChg>
      </pc:sldChg>
      <pc:sldChg chg="modSp">
        <pc:chgData name="Paula Jungåker" userId="Jp51DZr2S3O2Kq/fECI9vz/Rf/nX3kiUVMBM7w9AVas=" providerId="None" clId="Web-{5E806665-1F91-46CA-AE15-83670A370EB6}" dt="2025-04-14T12:59:59.248" v="2" actId="20577"/>
        <pc:sldMkLst>
          <pc:docMk/>
          <pc:sldMk cId="698166287" sldId="502"/>
        </pc:sldMkLst>
        <pc:spChg chg="mod">
          <ac:chgData name="Paula Jungåker" userId="Jp51DZr2S3O2Kq/fECI9vz/Rf/nX3kiUVMBM7w9AVas=" providerId="None" clId="Web-{5E806665-1F91-46CA-AE15-83670A370EB6}" dt="2025-04-14T12:59:59.248" v="2" actId="20577"/>
          <ac:spMkLst>
            <pc:docMk/>
            <pc:sldMk cId="698166287" sldId="502"/>
            <ac:spMk id="6" creationId="{1F85BF2C-8832-AE46-9979-4978ACFC7D4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AF518D-D1B5-2545-B50F-6E9BBD888BCB}" type="datetimeFigureOut">
              <a:rPr lang="sv-SE" smtClean="0"/>
              <a:t>2025-04-14</a:t>
            </a:fld>
            <a:endParaRPr lang="sv-SE"/>
          </a:p>
        </p:txBody>
      </p:sp>
      <p:sp>
        <p:nvSpPr>
          <p:cNvPr id="4" name="Platshållare för bildobjekt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3415C0-1913-C443-8074-00E93713293E}" type="slidenum">
              <a:rPr lang="sv-SE" smtClean="0"/>
              <a:t>‹#›</a:t>
            </a:fld>
            <a:endParaRPr lang="sv-SE"/>
          </a:p>
        </p:txBody>
      </p:sp>
    </p:spTree>
    <p:extLst>
      <p:ext uri="{BB962C8B-B14F-4D97-AF65-F5344CB8AC3E}">
        <p14:creationId xmlns:p14="http://schemas.microsoft.com/office/powerpoint/2010/main" val="349778927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1</a:t>
            </a:fld>
            <a:endParaRPr lang="sv-SE"/>
          </a:p>
        </p:txBody>
      </p:sp>
    </p:spTree>
    <p:extLst>
      <p:ext uri="{BB962C8B-B14F-4D97-AF65-F5344CB8AC3E}">
        <p14:creationId xmlns:p14="http://schemas.microsoft.com/office/powerpoint/2010/main" val="2514039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2</a:t>
            </a:fld>
            <a:endParaRPr lang="sv-SE"/>
          </a:p>
        </p:txBody>
      </p:sp>
    </p:spTree>
    <p:extLst>
      <p:ext uri="{BB962C8B-B14F-4D97-AF65-F5344CB8AC3E}">
        <p14:creationId xmlns:p14="http://schemas.microsoft.com/office/powerpoint/2010/main" val="3163457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10"/>
          </p:nvPr>
        </p:nvSpPr>
        <p:spPr/>
        <p:txBody>
          <a:bodyPr/>
          <a:lstStyle/>
          <a:p>
            <a:fld id="{313415C0-1913-C443-8074-00E93713293E}" type="slidenum">
              <a:rPr lang="sv-SE" smtClean="0"/>
              <a:t>6</a:t>
            </a:fld>
            <a:endParaRPr lang="sv-SE"/>
          </a:p>
        </p:txBody>
      </p:sp>
    </p:spTree>
    <p:extLst>
      <p:ext uri="{BB962C8B-B14F-4D97-AF65-F5344CB8AC3E}">
        <p14:creationId xmlns:p14="http://schemas.microsoft.com/office/powerpoint/2010/main" val="2141866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514350" y="2840568"/>
            <a:ext cx="5829300" cy="1960033"/>
          </a:xfrm>
        </p:spPr>
        <p:txBody>
          <a:bodyPr/>
          <a:lstStyle/>
          <a:p>
            <a:r>
              <a:rPr lang="sv-SE"/>
              <a:t>Klicka här för att ändra format</a:t>
            </a:r>
          </a:p>
        </p:txBody>
      </p:sp>
      <p:sp>
        <p:nvSpPr>
          <p:cNvPr id="3" name="Underrubrik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sv-SE"/>
              <a:t>Klicka här för att ändra format på underrubrik i bakgrunden</a:t>
            </a:r>
          </a:p>
        </p:txBody>
      </p:sp>
      <p:sp>
        <p:nvSpPr>
          <p:cNvPr id="4" name="Platshållare för datum 3"/>
          <p:cNvSpPr>
            <a:spLocks noGrp="1"/>
          </p:cNvSpPr>
          <p:nvPr>
            <p:ph type="dt" sz="half" idx="10"/>
          </p:nvPr>
        </p:nvSpPr>
        <p:spPr/>
        <p:txBody>
          <a:bodyPr/>
          <a:lstStyle/>
          <a:p>
            <a:fld id="{34FDA80A-1BE6-40A2-A134-482AAF037DFC}" type="datetime1">
              <a:rPr lang="sv-SE" smtClean="0"/>
              <a:t>2025-04-14</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932805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19F7DF21-0883-43EC-91D5-C9424F5F8865}" type="datetime1">
              <a:rPr lang="sv-SE" smtClean="0"/>
              <a:t>2025-04-14</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417834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541735" y="5875867"/>
            <a:ext cx="5829300" cy="1816100"/>
          </a:xfrm>
        </p:spPr>
        <p:txBody>
          <a:bodyPr anchor="t"/>
          <a:lstStyle>
            <a:lvl1pPr algn="l">
              <a:defRPr sz="4000" b="1" cap="all"/>
            </a:lvl1pPr>
          </a:lstStyle>
          <a:p>
            <a:r>
              <a:rPr lang="sv-SE"/>
              <a:t>Klicka här för att ändra format</a:t>
            </a:r>
          </a:p>
        </p:txBody>
      </p:sp>
      <p:sp>
        <p:nvSpPr>
          <p:cNvPr id="3" name="Platshållare för text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a:t>Klicka här för att ändra format på bakgrundstexten</a:t>
            </a:r>
          </a:p>
        </p:txBody>
      </p:sp>
      <p:sp>
        <p:nvSpPr>
          <p:cNvPr id="4" name="Platshållare för datum 3"/>
          <p:cNvSpPr>
            <a:spLocks noGrp="1"/>
          </p:cNvSpPr>
          <p:nvPr>
            <p:ph type="dt" sz="half" idx="10"/>
          </p:nvPr>
        </p:nvSpPr>
        <p:spPr/>
        <p:txBody>
          <a:bodyPr/>
          <a:lstStyle/>
          <a:p>
            <a:fld id="{451640AB-E0B5-43CC-810E-D003D1BC6DFA}" type="datetime1">
              <a:rPr lang="sv-SE" smtClean="0"/>
              <a:t>2025-04-14</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4282179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innehåll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p:cNvSpPr>
            <a:spLocks noGrp="1"/>
          </p:cNvSpPr>
          <p:nvPr>
            <p:ph type="dt" sz="half" idx="10"/>
          </p:nvPr>
        </p:nvSpPr>
        <p:spPr/>
        <p:txBody>
          <a:bodyPr/>
          <a:lstStyle/>
          <a:p>
            <a:fld id="{7A845E01-A5E8-46B2-A7EB-D7DFD4EA7399}" type="datetime1">
              <a:rPr lang="sv-SE" smtClean="0"/>
              <a:t>2025-04-14</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271029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342900" y="366184"/>
            <a:ext cx="6172200" cy="1524000"/>
          </a:xfrm>
        </p:spPr>
        <p:txBody>
          <a:bodyPr/>
          <a:lstStyle>
            <a:lvl1pPr>
              <a:defRPr/>
            </a:lvl1pPr>
          </a:lstStyle>
          <a:p>
            <a:r>
              <a:rPr lang="sv-SE"/>
              <a:t>Klicka här för att ändra format</a:t>
            </a:r>
          </a:p>
        </p:txBody>
      </p:sp>
      <p:sp>
        <p:nvSpPr>
          <p:cNvPr id="3" name="Platshållare för text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p:cNvSpPr>
            <a:spLocks noGrp="1"/>
          </p:cNvSpPr>
          <p:nvPr>
            <p:ph type="dt" sz="half" idx="10"/>
          </p:nvPr>
        </p:nvSpPr>
        <p:spPr/>
        <p:txBody>
          <a:bodyPr/>
          <a:lstStyle/>
          <a:p>
            <a:fld id="{3F3B0D4C-FCD8-4E77-B860-C0B2F667CB83}" type="datetime1">
              <a:rPr lang="sv-SE" smtClean="0"/>
              <a:t>2025-04-14</a:t>
            </a:fld>
            <a:endParaRPr lang="sv-SE"/>
          </a:p>
        </p:txBody>
      </p:sp>
      <p:sp>
        <p:nvSpPr>
          <p:cNvPr id="8" name="Platshållare för sidfot 7"/>
          <p:cNvSpPr>
            <a:spLocks noGrp="1"/>
          </p:cNvSpPr>
          <p:nvPr>
            <p:ph type="ftr" sz="quarter" idx="11"/>
          </p:nvPr>
        </p:nvSpPr>
        <p:spPr/>
        <p:txBody>
          <a:bodyPr/>
          <a:lstStyle/>
          <a:p>
            <a:r>
              <a:rPr lang="sv-SE"/>
              <a:t>ULRIKA DAVIDSSON ● LAGA LÄTT 6 VECKOR ● RECEPT  ● VECKA 1</a:t>
            </a:r>
          </a:p>
        </p:txBody>
      </p:sp>
      <p:sp>
        <p:nvSpPr>
          <p:cNvPr id="9" name="Platshållare för bildnummer 8"/>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3946790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datum 2"/>
          <p:cNvSpPr>
            <a:spLocks noGrp="1"/>
          </p:cNvSpPr>
          <p:nvPr>
            <p:ph type="dt" sz="half" idx="10"/>
          </p:nvPr>
        </p:nvSpPr>
        <p:spPr/>
        <p:txBody>
          <a:bodyPr/>
          <a:lstStyle/>
          <a:p>
            <a:fld id="{1EC76126-DB9B-4BAA-A376-2217548CABED}" type="datetime1">
              <a:rPr lang="sv-SE" smtClean="0"/>
              <a:t>2025-04-14</a:t>
            </a:fld>
            <a:endParaRPr lang="sv-SE"/>
          </a:p>
        </p:txBody>
      </p:sp>
      <p:sp>
        <p:nvSpPr>
          <p:cNvPr id="4" name="Platshållare för sidfot 3"/>
          <p:cNvSpPr>
            <a:spLocks noGrp="1"/>
          </p:cNvSpPr>
          <p:nvPr>
            <p:ph type="ftr" sz="quarter" idx="11"/>
          </p:nvPr>
        </p:nvSpPr>
        <p:spPr/>
        <p:txBody>
          <a:bodyPr/>
          <a:lstStyle/>
          <a:p>
            <a:r>
              <a:rPr lang="sv-SE"/>
              <a:t>ULRIKA DAVIDSSON ● LAGA LÄTT 6 VECKOR ● RECEPT  ● VECKA 1</a:t>
            </a:r>
          </a:p>
        </p:txBody>
      </p:sp>
      <p:sp>
        <p:nvSpPr>
          <p:cNvPr id="5" name="Platshållare för bildnummer 4"/>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75122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tshållare för datum 1"/>
          <p:cNvSpPr>
            <a:spLocks noGrp="1"/>
          </p:cNvSpPr>
          <p:nvPr>
            <p:ph type="dt" sz="half" idx="10"/>
          </p:nvPr>
        </p:nvSpPr>
        <p:spPr/>
        <p:txBody>
          <a:bodyPr/>
          <a:lstStyle/>
          <a:p>
            <a:fld id="{26C1E6F0-24C7-41D4-B8C8-643F3434D7A8}" type="datetime1">
              <a:rPr lang="sv-SE" smtClean="0"/>
              <a:t>2025-04-14</a:t>
            </a:fld>
            <a:endParaRPr lang="sv-SE"/>
          </a:p>
        </p:txBody>
      </p:sp>
      <p:sp>
        <p:nvSpPr>
          <p:cNvPr id="3" name="Platshållare för sidfot 2"/>
          <p:cNvSpPr>
            <a:spLocks noGrp="1"/>
          </p:cNvSpPr>
          <p:nvPr>
            <p:ph type="ftr" sz="quarter" idx="11"/>
          </p:nvPr>
        </p:nvSpPr>
        <p:spPr/>
        <p:txBody>
          <a:bodyPr/>
          <a:lstStyle/>
          <a:p>
            <a:r>
              <a:rPr lang="sv-SE"/>
              <a:t>ULRIKA DAVIDSSON ● LAGA LÄTT 6 VECKOR ● RECEPT  ● VECKA 1</a:t>
            </a:r>
          </a:p>
        </p:txBody>
      </p:sp>
      <p:sp>
        <p:nvSpPr>
          <p:cNvPr id="4" name="Platshållare för bildnummer 3"/>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502167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342900" y="364067"/>
            <a:ext cx="2256235" cy="1549400"/>
          </a:xfrm>
        </p:spPr>
        <p:txBody>
          <a:bodyPr anchor="b"/>
          <a:lstStyle>
            <a:lvl1pPr algn="l">
              <a:defRPr sz="2000" b="1"/>
            </a:lvl1pPr>
          </a:lstStyle>
          <a:p>
            <a:r>
              <a:rPr lang="sv-SE"/>
              <a:t>Klicka här för att ändra format</a:t>
            </a:r>
          </a:p>
        </p:txBody>
      </p:sp>
      <p:sp>
        <p:nvSpPr>
          <p:cNvPr id="3" name="Platshållare för innehåll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85858CBC-F4EE-4838-AACD-F1AC7E759B58}" type="datetime1">
              <a:rPr lang="sv-SE" smtClean="0"/>
              <a:t>2025-04-14</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020306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1344216" y="6400800"/>
            <a:ext cx="4114800" cy="755651"/>
          </a:xfrm>
        </p:spPr>
        <p:txBody>
          <a:bodyPr anchor="b"/>
          <a:lstStyle>
            <a:lvl1pPr algn="l">
              <a:defRPr sz="2000" b="1"/>
            </a:lvl1pPr>
          </a:lstStyle>
          <a:p>
            <a:r>
              <a:rPr lang="sv-SE"/>
              <a:t>Klicka här för att ändra format</a:t>
            </a:r>
          </a:p>
        </p:txBody>
      </p:sp>
      <p:sp>
        <p:nvSpPr>
          <p:cNvPr id="3" name="Platshållare för bild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sv-SE"/>
              <a:t>Klicka här för att ändra format på bakgrundstexten</a:t>
            </a:r>
          </a:p>
        </p:txBody>
      </p:sp>
      <p:sp>
        <p:nvSpPr>
          <p:cNvPr id="5" name="Platshållare för datum 4"/>
          <p:cNvSpPr>
            <a:spLocks noGrp="1"/>
          </p:cNvSpPr>
          <p:nvPr>
            <p:ph type="dt" sz="half" idx="10"/>
          </p:nvPr>
        </p:nvSpPr>
        <p:spPr/>
        <p:txBody>
          <a:bodyPr/>
          <a:lstStyle/>
          <a:p>
            <a:fld id="{5B5326A1-37BC-420F-86B7-C725CF2D32F4}" type="datetime1">
              <a:rPr lang="sv-SE" smtClean="0"/>
              <a:t>2025-04-14</a:t>
            </a:fld>
            <a:endParaRPr lang="sv-SE"/>
          </a:p>
        </p:txBody>
      </p:sp>
      <p:sp>
        <p:nvSpPr>
          <p:cNvPr id="6" name="Platshållare för sidfot 5"/>
          <p:cNvSpPr>
            <a:spLocks noGrp="1"/>
          </p:cNvSpPr>
          <p:nvPr>
            <p:ph type="ftr" sz="quarter" idx="11"/>
          </p:nvPr>
        </p:nvSpPr>
        <p:spPr/>
        <p:txBody>
          <a:bodyPr/>
          <a:lstStyle/>
          <a:p>
            <a:r>
              <a:rPr lang="sv-SE"/>
              <a:t>ULRIKA DAVIDSSON ● LAGA LÄTT 6 VECKOR ● RECEPT  ● VECKA 1</a:t>
            </a:r>
          </a:p>
        </p:txBody>
      </p:sp>
      <p:sp>
        <p:nvSpPr>
          <p:cNvPr id="7" name="Platshållare för bildnummer 6"/>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2964272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sv-SE"/>
              <a:t>Klicka här för att ändra format</a:t>
            </a:r>
          </a:p>
        </p:txBody>
      </p:sp>
      <p:sp>
        <p:nvSpPr>
          <p:cNvPr id="3" name="Platshållare för lodrät text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B2C635E4-5849-42AC-A5E1-3E5BA8AE7326}" type="datetime1">
              <a:rPr lang="sv-SE" smtClean="0"/>
              <a:t>2025-04-14</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803887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3729037" y="488951"/>
            <a:ext cx="1157288" cy="10401300"/>
          </a:xfrm>
        </p:spPr>
        <p:txBody>
          <a:bodyPr vert="eaVert"/>
          <a:lstStyle/>
          <a:p>
            <a:r>
              <a:rPr lang="sv-SE"/>
              <a:t>Klicka här för att ändra format</a:t>
            </a:r>
          </a:p>
        </p:txBody>
      </p:sp>
      <p:sp>
        <p:nvSpPr>
          <p:cNvPr id="3" name="Platshållare för lodrät text 2"/>
          <p:cNvSpPr>
            <a:spLocks noGrp="1"/>
          </p:cNvSpPr>
          <p:nvPr>
            <p:ph type="body" orient="vert" idx="1"/>
          </p:nvPr>
        </p:nvSpPr>
        <p:spPr>
          <a:xfrm>
            <a:off x="257175" y="488951"/>
            <a:ext cx="3357563" cy="10401300"/>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10"/>
          </p:nvPr>
        </p:nvSpPr>
        <p:spPr/>
        <p:txBody>
          <a:bodyPr/>
          <a:lstStyle/>
          <a:p>
            <a:fld id="{050FD217-3DCE-44BA-ACD5-81FAAB86E102}" type="datetime1">
              <a:rPr lang="sv-SE" smtClean="0"/>
              <a:t>2025-04-14</a:t>
            </a:fld>
            <a:endParaRPr lang="sv-SE"/>
          </a:p>
        </p:txBody>
      </p:sp>
      <p:sp>
        <p:nvSpPr>
          <p:cNvPr id="5" name="Platshållare för sidfot 4"/>
          <p:cNvSpPr>
            <a:spLocks noGrp="1"/>
          </p:cNvSpPr>
          <p:nvPr>
            <p:ph type="ftr" sz="quarter" idx="11"/>
          </p:nvPr>
        </p:nvSpPr>
        <p:spPr/>
        <p:txBody>
          <a:bodyPr/>
          <a:lstStyle/>
          <a:p>
            <a:r>
              <a:rPr lang="sv-SE"/>
              <a:t>ULRIKA DAVIDSSON ● LAGA LÄTT 6 VECKOR ● RECEPT  ● VECKA 1</a:t>
            </a:r>
          </a:p>
        </p:txBody>
      </p:sp>
      <p:sp>
        <p:nvSpPr>
          <p:cNvPr id="6" name="Platshållare för bildnummer 5"/>
          <p:cNvSpPr>
            <a:spLocks noGrp="1"/>
          </p:cNvSpPr>
          <p:nvPr>
            <p:ph type="sldNum" sz="quarter" idx="12"/>
          </p:nvPr>
        </p:nvSpPr>
        <p:spPr/>
        <p:txBody>
          <a:bodyPr/>
          <a:lstStyle/>
          <a:p>
            <a:fld id="{97BA8967-5D92-4842-BAFB-0C8F679E5DC4}" type="slidenum">
              <a:rPr lang="sv-SE" smtClean="0"/>
              <a:t>‹#›</a:t>
            </a:fld>
            <a:endParaRPr lang="sv-SE"/>
          </a:p>
        </p:txBody>
      </p:sp>
    </p:spTree>
    <p:extLst>
      <p:ext uri="{BB962C8B-B14F-4D97-AF65-F5344CB8AC3E}">
        <p14:creationId xmlns:p14="http://schemas.microsoft.com/office/powerpoint/2010/main" val="1800062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6FAA230D-E3B8-4437-A196-7E6D616735AA}" type="datetime1">
              <a:rPr lang="sv-SE" smtClean="0"/>
              <a:t>2025-04-14</a:t>
            </a:fld>
            <a:endParaRPr lang="sv-SE"/>
          </a:p>
        </p:txBody>
      </p:sp>
      <p:sp>
        <p:nvSpPr>
          <p:cNvPr id="5" name="Platshållare för sidfot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ULRIKA DAVIDSSON ● LAGA LÄTT 6 VECKOR ● RECEPT  ● VECKA 1</a:t>
            </a:r>
          </a:p>
        </p:txBody>
      </p:sp>
      <p:sp>
        <p:nvSpPr>
          <p:cNvPr id="6" name="Platshållare för bildnumm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97BA8967-5D92-4842-BAFB-0C8F679E5DC4}" type="slidenum">
              <a:rPr lang="sv-SE" smtClean="0"/>
              <a:t>‹#›</a:t>
            </a:fld>
            <a:endParaRPr lang="sv-SE"/>
          </a:p>
        </p:txBody>
      </p:sp>
    </p:spTree>
    <p:extLst>
      <p:ext uri="{BB962C8B-B14F-4D97-AF65-F5344CB8AC3E}">
        <p14:creationId xmlns:p14="http://schemas.microsoft.com/office/powerpoint/2010/main" val="1524801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ruta 11">
            <a:extLst>
              <a:ext uri="{FF2B5EF4-FFF2-40B4-BE49-F238E27FC236}">
                <a16:creationId xmlns:a16="http://schemas.microsoft.com/office/drawing/2014/main" id="{F15FD6BF-CC30-43C5-AC4C-78E43C405451}"/>
              </a:ext>
            </a:extLst>
          </p:cNvPr>
          <p:cNvSpPr txBox="1"/>
          <p:nvPr/>
        </p:nvSpPr>
        <p:spPr>
          <a:xfrm>
            <a:off x="177174" y="1422978"/>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2" name="textruta 1">
            <a:extLst>
              <a:ext uri="{FF2B5EF4-FFF2-40B4-BE49-F238E27FC236}">
                <a16:creationId xmlns:a16="http://schemas.microsoft.com/office/drawing/2014/main" id="{95E5F092-0F5D-723B-359F-8A4FEE34AE49}"/>
              </a:ext>
            </a:extLst>
          </p:cNvPr>
          <p:cNvSpPr txBox="1"/>
          <p:nvPr/>
        </p:nvSpPr>
        <p:spPr>
          <a:xfrm>
            <a:off x="94595" y="330759"/>
            <a:ext cx="6814135" cy="954107"/>
          </a:xfrm>
          <a:prstGeom prst="rect">
            <a:avLst/>
          </a:prstGeom>
          <a:noFill/>
        </p:spPr>
        <p:txBody>
          <a:bodyPr wrap="square" rtlCol="0">
            <a:spAutoFit/>
          </a:bodyPr>
          <a:lstStyle/>
          <a:p>
            <a:r>
              <a:rPr lang="sv-SE" sz="2800" dirty="0">
                <a:latin typeface="BigCaslonFB" panose="02000603080000020003" pitchFamily="50" charset="0"/>
              </a:rPr>
              <a:t>RECEPT v. 4</a:t>
            </a:r>
          </a:p>
          <a:p>
            <a:r>
              <a:rPr lang="sv-SE" sz="2800" dirty="0" err="1">
                <a:latin typeface="BigCaslonFB" panose="02000603080000020003" pitchFamily="50" charset="0"/>
              </a:rPr>
              <a:t>Functional</a:t>
            </a:r>
            <a:r>
              <a:rPr lang="sv-SE" sz="2800" dirty="0">
                <a:latin typeface="BigCaslonFB" panose="02000603080000020003" pitchFamily="50" charset="0"/>
              </a:rPr>
              <a:t> </a:t>
            </a:r>
            <a:r>
              <a:rPr lang="sv-SE" sz="2800" dirty="0" err="1">
                <a:latin typeface="BigCaslonFB" panose="02000603080000020003" pitchFamily="50" charset="0"/>
              </a:rPr>
              <a:t>Flow</a:t>
            </a:r>
            <a:endParaRPr lang="sv-SE" sz="2800" dirty="0">
              <a:latin typeface="BigCaslonFB" panose="02000603080000020003" pitchFamily="50" charset="0"/>
            </a:endParaRPr>
          </a:p>
        </p:txBody>
      </p:sp>
      <p:cxnSp>
        <p:nvCxnSpPr>
          <p:cNvPr id="3" name="Rak koppling 2">
            <a:extLst>
              <a:ext uri="{FF2B5EF4-FFF2-40B4-BE49-F238E27FC236}">
                <a16:creationId xmlns:a16="http://schemas.microsoft.com/office/drawing/2014/main" id="{23ABB56F-1DE2-40DD-CB7B-08E8DD7BF20F}"/>
              </a:ext>
            </a:extLst>
          </p:cNvPr>
          <p:cNvCxnSpPr>
            <a:cxnSpLocks/>
          </p:cNvCxnSpPr>
          <p:nvPr/>
        </p:nvCxnSpPr>
        <p:spPr>
          <a:xfrm flipV="1">
            <a:off x="-50815" y="175928"/>
            <a:ext cx="6875766" cy="7574"/>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cxnSp>
        <p:nvCxnSpPr>
          <p:cNvPr id="5" name="Rak koppling 4">
            <a:extLst>
              <a:ext uri="{FF2B5EF4-FFF2-40B4-BE49-F238E27FC236}">
                <a16:creationId xmlns:a16="http://schemas.microsoft.com/office/drawing/2014/main" id="{6DB80FA7-3373-94E0-A093-91846E7D6631}"/>
              </a:ext>
            </a:extLst>
          </p:cNvPr>
          <p:cNvCxnSpPr>
            <a:cxnSpLocks/>
          </p:cNvCxnSpPr>
          <p:nvPr/>
        </p:nvCxnSpPr>
        <p:spPr>
          <a:xfrm flipV="1">
            <a:off x="21755" y="1346779"/>
            <a:ext cx="6843163" cy="64101"/>
          </a:xfrm>
          <a:prstGeom prst="line">
            <a:avLst/>
          </a:prstGeom>
          <a:ln>
            <a:solidFill>
              <a:schemeClr val="tx1"/>
            </a:solidFill>
          </a:ln>
        </p:spPr>
        <p:style>
          <a:lnRef idx="1">
            <a:schemeClr val="accent6"/>
          </a:lnRef>
          <a:fillRef idx="0">
            <a:schemeClr val="accent6"/>
          </a:fillRef>
          <a:effectRef idx="0">
            <a:schemeClr val="accent6"/>
          </a:effectRef>
          <a:fontRef idx="minor">
            <a:schemeClr val="tx1"/>
          </a:fontRef>
        </p:style>
      </p:cxnSp>
      <p:sp>
        <p:nvSpPr>
          <p:cNvPr id="11" name="Platshållare för bildnummer 10">
            <a:extLst>
              <a:ext uri="{FF2B5EF4-FFF2-40B4-BE49-F238E27FC236}">
                <a16:creationId xmlns:a16="http://schemas.microsoft.com/office/drawing/2014/main" id="{C9C33FCE-78BF-62D1-0F45-0A991C93B821}"/>
              </a:ext>
            </a:extLst>
          </p:cNvPr>
          <p:cNvSpPr>
            <a:spLocks noGrp="1"/>
          </p:cNvSpPr>
          <p:nvPr>
            <p:ph type="sldNum" sz="quarter" idx="12"/>
          </p:nvPr>
        </p:nvSpPr>
        <p:spPr>
          <a:xfrm>
            <a:off x="5072643" y="8667028"/>
            <a:ext cx="1600200" cy="486833"/>
          </a:xfrm>
        </p:spPr>
        <p:txBody>
          <a:bodyPr/>
          <a:lstStyle/>
          <a:p>
            <a:fld id="{97BA8967-5D92-4842-BAFB-0C8F679E5DC4}" type="slidenum">
              <a:rPr lang="sv-SE" sz="900" smtClean="0"/>
              <a:t>1</a:t>
            </a:fld>
            <a:endParaRPr lang="sv-SE" sz="900" dirty="0"/>
          </a:p>
        </p:txBody>
      </p:sp>
      <p:sp>
        <p:nvSpPr>
          <p:cNvPr id="22" name="Ellips 21">
            <a:extLst>
              <a:ext uri="{FF2B5EF4-FFF2-40B4-BE49-F238E27FC236}">
                <a16:creationId xmlns:a16="http://schemas.microsoft.com/office/drawing/2014/main" id="{4092D12D-9A98-7844-8117-FBBAD82A9935}"/>
              </a:ext>
            </a:extLst>
          </p:cNvPr>
          <p:cNvSpPr/>
          <p:nvPr/>
        </p:nvSpPr>
        <p:spPr>
          <a:xfrm>
            <a:off x="2258241" y="2574157"/>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ea typeface="ＭＳ 明朝"/>
                <a:cs typeface="Avenir Light"/>
              </a:rPr>
              <a:t>279kcal</a:t>
            </a:r>
            <a:endParaRPr sz="1200" b="1" dirty="0">
              <a:ea typeface="ＭＳ 明朝"/>
              <a:cs typeface="Avenir Light"/>
            </a:endParaRPr>
          </a:p>
        </p:txBody>
      </p:sp>
      <p:sp>
        <p:nvSpPr>
          <p:cNvPr id="4" name="textruta 3">
            <a:extLst>
              <a:ext uri="{FF2B5EF4-FFF2-40B4-BE49-F238E27FC236}">
                <a16:creationId xmlns:a16="http://schemas.microsoft.com/office/drawing/2014/main" id="{BD8424F7-31B5-7C45-BAAA-B26315C9B097}"/>
              </a:ext>
            </a:extLst>
          </p:cNvPr>
          <p:cNvSpPr txBox="1"/>
          <p:nvPr/>
        </p:nvSpPr>
        <p:spPr>
          <a:xfrm>
            <a:off x="340318" y="2413357"/>
            <a:ext cx="2320205" cy="1277273"/>
          </a:xfrm>
          <a:prstGeom prst="rect">
            <a:avLst/>
          </a:prstGeom>
          <a:noFill/>
        </p:spPr>
        <p:txBody>
          <a:bodyPr wrap="square" rtlCol="0">
            <a:spAutoFit/>
          </a:bodyPr>
          <a:lstStyle/>
          <a:p>
            <a:r>
              <a:rPr lang="sv-SE" sz="1100" b="1" dirty="0"/>
              <a:t>Yoghurt med </a:t>
            </a:r>
            <a:r>
              <a:rPr lang="sv-SE" sz="1100" b="1" dirty="0" err="1"/>
              <a:t>bovetegranola</a:t>
            </a:r>
            <a:r>
              <a:rPr lang="sv-SE" sz="1100" b="1" dirty="0"/>
              <a:t> </a:t>
            </a:r>
          </a:p>
          <a:p>
            <a:r>
              <a:rPr lang="sv-SE" sz="1100" b="1" dirty="0"/>
              <a:t>– 1 portion</a:t>
            </a:r>
          </a:p>
          <a:p>
            <a:r>
              <a:rPr lang="sv-SE" sz="1100" dirty="0"/>
              <a:t>1 dl grekisk yoghurt, 6%</a:t>
            </a:r>
          </a:p>
          <a:p>
            <a:r>
              <a:rPr lang="sv-SE" sz="1100" dirty="0"/>
              <a:t>¾ dl </a:t>
            </a:r>
            <a:r>
              <a:rPr lang="sv-SE" sz="1100" dirty="0" err="1"/>
              <a:t>bovetegranola</a:t>
            </a:r>
            <a:r>
              <a:rPr lang="sv-SE" sz="1100" dirty="0"/>
              <a:t> </a:t>
            </a:r>
          </a:p>
          <a:p>
            <a:endParaRPr lang="sv-SE" sz="1100" dirty="0"/>
          </a:p>
          <a:p>
            <a:r>
              <a:rPr lang="sv-SE" sz="1100" dirty="0"/>
              <a:t>Häll yoghurt i en skål och toppa med </a:t>
            </a:r>
            <a:r>
              <a:rPr lang="sv-SE" sz="1100" dirty="0" err="1"/>
              <a:t>granola</a:t>
            </a:r>
            <a:r>
              <a:rPr lang="sv-SE" sz="1100" dirty="0"/>
              <a:t>.</a:t>
            </a:r>
          </a:p>
        </p:txBody>
      </p:sp>
      <p:sp>
        <p:nvSpPr>
          <p:cNvPr id="9" name="Platshållare för sidfot 1">
            <a:extLst>
              <a:ext uri="{FF2B5EF4-FFF2-40B4-BE49-F238E27FC236}">
                <a16:creationId xmlns:a16="http://schemas.microsoft.com/office/drawing/2014/main" id="{CAF87825-4AB1-A641-AEBA-B45CDA49D937}"/>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4 </a:t>
            </a:r>
          </a:p>
        </p:txBody>
      </p:sp>
      <p:pic>
        <p:nvPicPr>
          <p:cNvPr id="10" name="Bildobjekt 9">
            <a:extLst>
              <a:ext uri="{FF2B5EF4-FFF2-40B4-BE49-F238E27FC236}">
                <a16:creationId xmlns:a16="http://schemas.microsoft.com/office/drawing/2014/main" id="{6FAA4C99-062B-F24F-AC12-5BE4618C420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252276" y="5339226"/>
            <a:ext cx="3882553" cy="2911915"/>
          </a:xfrm>
          <a:prstGeom prst="rect">
            <a:avLst/>
          </a:prstGeom>
        </p:spPr>
      </p:pic>
      <p:sp>
        <p:nvSpPr>
          <p:cNvPr id="13" name="Rektangel 12">
            <a:extLst>
              <a:ext uri="{FF2B5EF4-FFF2-40B4-BE49-F238E27FC236}">
                <a16:creationId xmlns:a16="http://schemas.microsoft.com/office/drawing/2014/main" id="{385D5BB1-0665-CE45-BDC1-50E2E5C33D9D}"/>
              </a:ext>
            </a:extLst>
          </p:cNvPr>
          <p:cNvSpPr/>
          <p:nvPr/>
        </p:nvSpPr>
        <p:spPr>
          <a:xfrm>
            <a:off x="3363712" y="5341797"/>
            <a:ext cx="3086100" cy="2462213"/>
          </a:xfrm>
          <a:prstGeom prst="rect">
            <a:avLst/>
          </a:prstGeom>
        </p:spPr>
        <p:txBody>
          <a:bodyPr wrap="square">
            <a:spAutoFit/>
          </a:bodyPr>
          <a:lstStyle/>
          <a:p>
            <a:r>
              <a:rPr lang="sv-SE" sz="1100" b="1" dirty="0">
                <a:solidFill>
                  <a:srgbClr val="1A1A1A"/>
                </a:solidFill>
              </a:rPr>
              <a:t>Omelett med keso och bär - 1 portion</a:t>
            </a:r>
            <a:endParaRPr lang="sv-SE" sz="1100" dirty="0">
              <a:solidFill>
                <a:srgbClr val="1A1A1A"/>
              </a:solidFill>
            </a:endParaRPr>
          </a:p>
          <a:p>
            <a:r>
              <a:rPr lang="sv-SE" sz="1100" dirty="0">
                <a:solidFill>
                  <a:srgbClr val="1A1A1A"/>
                </a:solidFill>
              </a:rPr>
              <a:t>2 ägg</a:t>
            </a:r>
          </a:p>
          <a:p>
            <a:r>
              <a:rPr lang="sv-SE" sz="1100" dirty="0">
                <a:solidFill>
                  <a:srgbClr val="1A1A1A"/>
                </a:solidFill>
              </a:rPr>
              <a:t>Salt och svartpeppar</a:t>
            </a:r>
          </a:p>
          <a:p>
            <a:r>
              <a:rPr lang="sv-SE" sz="1100" dirty="0">
                <a:solidFill>
                  <a:srgbClr val="1A1A1A"/>
                </a:solidFill>
              </a:rPr>
              <a:t>1 tsk smör</a:t>
            </a:r>
          </a:p>
          <a:p>
            <a:r>
              <a:rPr lang="sv-SE" sz="1100" dirty="0">
                <a:solidFill>
                  <a:srgbClr val="1A1A1A"/>
                </a:solidFill>
              </a:rPr>
              <a:t>2 msk keso, 4%</a:t>
            </a:r>
          </a:p>
          <a:p>
            <a:r>
              <a:rPr lang="sv-SE" sz="1100" dirty="0">
                <a:solidFill>
                  <a:srgbClr val="1A1A1A"/>
                </a:solidFill>
              </a:rPr>
              <a:t>3 jordgubbar</a:t>
            </a:r>
          </a:p>
          <a:p>
            <a:r>
              <a:rPr lang="sv-SE" sz="1100" dirty="0">
                <a:solidFill>
                  <a:srgbClr val="1A1A1A"/>
                </a:solidFill>
              </a:rPr>
              <a:t>1 dl amerikanska blåbär</a:t>
            </a:r>
          </a:p>
          <a:p>
            <a:br>
              <a:rPr lang="sv-SE" sz="1100" dirty="0">
                <a:solidFill>
                  <a:srgbClr val="1A1A1A"/>
                </a:solidFill>
              </a:rPr>
            </a:br>
            <a:r>
              <a:rPr lang="sv-SE" sz="1100" dirty="0">
                <a:solidFill>
                  <a:srgbClr val="1A1A1A"/>
                </a:solidFill>
              </a:rPr>
              <a:t>Dela jordgubbar i mindre bitar. Vispa upp  ägg, salt och peppar i en skål. Hetta upp en stekpanna med smör. Häll  omelettsmeten i stekpannan och stek ena sidan på svag värme tills den fått en fin färg. Lägg omeletten på en tallrik och toppa med keso, jordgubbar och blåbär.</a:t>
            </a:r>
            <a:endParaRPr lang="sv-SE" sz="1100" dirty="0">
              <a:solidFill>
                <a:srgbClr val="1A1A1A"/>
              </a:solidFill>
              <a:effectLst/>
            </a:endParaRPr>
          </a:p>
        </p:txBody>
      </p:sp>
      <p:sp>
        <p:nvSpPr>
          <p:cNvPr id="14" name="Ellips 13">
            <a:extLst>
              <a:ext uri="{FF2B5EF4-FFF2-40B4-BE49-F238E27FC236}">
                <a16:creationId xmlns:a16="http://schemas.microsoft.com/office/drawing/2014/main" id="{082199D0-FF17-DC4E-9B17-F13D46950BEF}"/>
              </a:ext>
            </a:extLst>
          </p:cNvPr>
          <p:cNvSpPr/>
          <p:nvPr/>
        </p:nvSpPr>
        <p:spPr>
          <a:xfrm>
            <a:off x="5558418" y="5882814"/>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307 kcal</a:t>
            </a:r>
            <a:endParaRPr sz="1200" b="1" dirty="0">
              <a:solidFill>
                <a:schemeClr val="bg1"/>
              </a:solidFill>
              <a:ea typeface="ＭＳ 明朝"/>
              <a:cs typeface="Avenir Light"/>
            </a:endParaRPr>
          </a:p>
        </p:txBody>
      </p:sp>
      <p:pic>
        <p:nvPicPr>
          <p:cNvPr id="7" name="Bildobjekt 6">
            <a:extLst>
              <a:ext uri="{FF2B5EF4-FFF2-40B4-BE49-F238E27FC236}">
                <a16:creationId xmlns:a16="http://schemas.microsoft.com/office/drawing/2014/main" id="{5C6E5DEC-7F33-E245-9248-C960E8D33C44}"/>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5400000">
            <a:off x="2931273" y="1031107"/>
            <a:ext cx="4282740" cy="3086100"/>
          </a:xfrm>
          <a:prstGeom prst="rect">
            <a:avLst/>
          </a:prstGeom>
        </p:spPr>
      </p:pic>
    </p:spTree>
    <p:extLst>
      <p:ext uri="{BB962C8B-B14F-4D97-AF65-F5344CB8AC3E}">
        <p14:creationId xmlns:p14="http://schemas.microsoft.com/office/powerpoint/2010/main" val="3788094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ruta 11">
            <a:extLst>
              <a:ext uri="{FF2B5EF4-FFF2-40B4-BE49-F238E27FC236}">
                <a16:creationId xmlns:a16="http://schemas.microsoft.com/office/drawing/2014/main" id="{EA745202-70D2-4822-9DF5-D98FE15317DA}"/>
              </a:ext>
            </a:extLst>
          </p:cNvPr>
          <p:cNvSpPr txBox="1"/>
          <p:nvPr/>
        </p:nvSpPr>
        <p:spPr>
          <a:xfrm>
            <a:off x="391413" y="345219"/>
            <a:ext cx="1951896" cy="461665"/>
          </a:xfrm>
          <a:prstGeom prst="rect">
            <a:avLst/>
          </a:prstGeom>
          <a:noFill/>
        </p:spPr>
        <p:txBody>
          <a:bodyPr wrap="square" rtlCol="0">
            <a:spAutoFit/>
          </a:bodyPr>
          <a:lstStyle/>
          <a:p>
            <a:r>
              <a:rPr lang="sv-SE" sz="2400" dirty="0">
                <a:latin typeface="BigCaslonFB" panose="02000603080000020003" pitchFamily="50" charset="0"/>
              </a:rPr>
              <a:t>Frukost</a:t>
            </a:r>
          </a:p>
        </p:txBody>
      </p:sp>
      <p:sp>
        <p:nvSpPr>
          <p:cNvPr id="3" name="Platshållare för bildnummer 2">
            <a:extLst>
              <a:ext uri="{FF2B5EF4-FFF2-40B4-BE49-F238E27FC236}">
                <a16:creationId xmlns:a16="http://schemas.microsoft.com/office/drawing/2014/main" id="{951B1928-3D89-295A-9AE2-0F50731B449E}"/>
              </a:ext>
            </a:extLst>
          </p:cNvPr>
          <p:cNvSpPr>
            <a:spLocks noGrp="1"/>
          </p:cNvSpPr>
          <p:nvPr>
            <p:ph type="sldNum" sz="quarter" idx="12"/>
          </p:nvPr>
        </p:nvSpPr>
        <p:spPr>
          <a:xfrm>
            <a:off x="5068259" y="8634484"/>
            <a:ext cx="1600200" cy="486833"/>
          </a:xfrm>
        </p:spPr>
        <p:txBody>
          <a:bodyPr/>
          <a:lstStyle/>
          <a:p>
            <a:fld id="{97BA8967-5D92-4842-BAFB-0C8F679E5DC4}" type="slidenum">
              <a:rPr lang="sv-SE" sz="900" smtClean="0"/>
              <a:t>2</a:t>
            </a:fld>
            <a:endParaRPr lang="sv-SE" sz="900" dirty="0"/>
          </a:p>
        </p:txBody>
      </p:sp>
      <p:sp>
        <p:nvSpPr>
          <p:cNvPr id="13" name="Rektangel 12">
            <a:extLst>
              <a:ext uri="{FF2B5EF4-FFF2-40B4-BE49-F238E27FC236}">
                <a16:creationId xmlns:a16="http://schemas.microsoft.com/office/drawing/2014/main" id="{2CBC90F4-ED28-7B42-B472-9B0D65FA60B7}"/>
              </a:ext>
            </a:extLst>
          </p:cNvPr>
          <p:cNvSpPr/>
          <p:nvPr/>
        </p:nvSpPr>
        <p:spPr>
          <a:xfrm>
            <a:off x="368167" y="1434387"/>
            <a:ext cx="2762345" cy="1785104"/>
          </a:xfrm>
          <a:prstGeom prst="rect">
            <a:avLst/>
          </a:prstGeom>
        </p:spPr>
        <p:txBody>
          <a:bodyPr wrap="square">
            <a:spAutoFit/>
          </a:bodyPr>
          <a:lstStyle/>
          <a:p>
            <a:pPr>
              <a:spcAft>
                <a:spcPts val="0"/>
              </a:spcAft>
            </a:pPr>
            <a:r>
              <a:rPr lang="sv-SE" sz="1100" b="1" dirty="0" err="1">
                <a:ea typeface="MS Mincho" panose="02020609040205080304" pitchFamily="49" charset="-128"/>
                <a:cs typeface="Times New Roman" panose="02020603050405020304" pitchFamily="18" charset="0"/>
              </a:rPr>
              <a:t>Blåbärssmoothie</a:t>
            </a:r>
            <a:r>
              <a:rPr lang="sv-SE" sz="1100" b="1" dirty="0">
                <a:ea typeface="MS Mincho" panose="02020609040205080304" pitchFamily="49" charset="-128"/>
                <a:cs typeface="Times New Roman" panose="02020603050405020304" pitchFamily="18" charset="0"/>
              </a:rPr>
              <a:t> – 2 portioner</a:t>
            </a:r>
          </a:p>
          <a:p>
            <a:pPr>
              <a:spcAft>
                <a:spcPts val="0"/>
              </a:spcAft>
            </a:pPr>
            <a:r>
              <a:rPr lang="sv-SE" sz="1100" dirty="0">
                <a:ea typeface="MS Mincho" panose="02020609040205080304" pitchFamily="49" charset="-128"/>
                <a:cs typeface="Times New Roman" panose="02020603050405020304" pitchFamily="18" charset="0"/>
              </a:rPr>
              <a:t>150 g fryst mango</a:t>
            </a:r>
          </a:p>
          <a:p>
            <a:pPr>
              <a:spcAft>
                <a:spcPts val="0"/>
              </a:spcAft>
            </a:pPr>
            <a:r>
              <a:rPr lang="sv-SE" sz="1100" dirty="0">
                <a:ea typeface="MS Mincho" panose="02020609040205080304" pitchFamily="49" charset="-128"/>
                <a:cs typeface="Times New Roman" panose="02020603050405020304" pitchFamily="18" charset="0"/>
              </a:rPr>
              <a:t>3 dl frysta blåbär</a:t>
            </a:r>
          </a:p>
          <a:p>
            <a:pPr>
              <a:spcAft>
                <a:spcPts val="0"/>
              </a:spcAft>
            </a:pPr>
            <a:r>
              <a:rPr lang="sv-SE" sz="1100" dirty="0">
                <a:ea typeface="MS Mincho" panose="02020609040205080304" pitchFamily="49" charset="-128"/>
                <a:cs typeface="Times New Roman" panose="02020603050405020304" pitchFamily="18" charset="0"/>
              </a:rPr>
              <a:t>1,5 msk proteinpulver</a:t>
            </a:r>
          </a:p>
          <a:p>
            <a:pPr>
              <a:spcAft>
                <a:spcPts val="0"/>
              </a:spcAft>
            </a:pPr>
            <a:r>
              <a:rPr lang="sv-SE" sz="1100" dirty="0">
                <a:ea typeface="MS Mincho" panose="02020609040205080304" pitchFamily="49" charset="-128"/>
                <a:cs typeface="Times New Roman" panose="02020603050405020304" pitchFamily="18" charset="0"/>
              </a:rPr>
              <a:t>1 dl yoghurt, 6%</a:t>
            </a:r>
          </a:p>
          <a:p>
            <a:r>
              <a:rPr lang="sv-SE" sz="1100" dirty="0">
                <a:ea typeface="MS Mincho" panose="02020609040205080304" pitchFamily="49" charset="-128"/>
                <a:cs typeface="Times New Roman" panose="02020603050405020304" pitchFamily="18" charset="0"/>
              </a:rPr>
              <a:t>5 dl vatten</a:t>
            </a:r>
          </a:p>
          <a:p>
            <a:pPr>
              <a:spcAft>
                <a:spcPts val="0"/>
              </a:spcAft>
            </a:pPr>
            <a:endParaRPr lang="sv-SE" sz="1100" dirty="0">
              <a:ea typeface="MS Mincho" panose="02020609040205080304" pitchFamily="49" charset="-128"/>
              <a:cs typeface="Times New Roman" panose="02020603050405020304" pitchFamily="18" charset="0"/>
            </a:endParaRPr>
          </a:p>
          <a:p>
            <a:pPr>
              <a:spcAft>
                <a:spcPts val="0"/>
              </a:spcAft>
            </a:pPr>
            <a:r>
              <a:rPr lang="sv-SE" sz="1100" dirty="0">
                <a:ea typeface="MS Mincho" panose="02020609040205080304" pitchFamily="49" charset="-128"/>
                <a:cs typeface="Times New Roman" panose="02020603050405020304" pitchFamily="18" charset="0"/>
              </a:rPr>
              <a:t>Lägg ner alla ingredienser i en </a:t>
            </a:r>
            <a:r>
              <a:rPr lang="sv-SE" sz="1100" dirty="0" err="1">
                <a:ea typeface="MS Mincho" panose="02020609040205080304" pitchFamily="49" charset="-128"/>
                <a:cs typeface="Times New Roman" panose="02020603050405020304" pitchFamily="18" charset="0"/>
              </a:rPr>
              <a:t>blender</a:t>
            </a:r>
            <a:r>
              <a:rPr lang="sv-SE" sz="1100" dirty="0">
                <a:ea typeface="MS Mincho" panose="02020609040205080304" pitchFamily="49" charset="-128"/>
                <a:cs typeface="Times New Roman" panose="02020603050405020304" pitchFamily="18" charset="0"/>
              </a:rPr>
              <a:t> och mixa till en jämn </a:t>
            </a:r>
            <a:r>
              <a:rPr lang="sv-SE" sz="1100" dirty="0" err="1">
                <a:ea typeface="MS Mincho" panose="02020609040205080304" pitchFamily="49" charset="-128"/>
                <a:cs typeface="Times New Roman" panose="02020603050405020304" pitchFamily="18" charset="0"/>
              </a:rPr>
              <a:t>smoothie</a:t>
            </a:r>
            <a:r>
              <a:rPr lang="sv-SE" sz="1100" dirty="0">
                <a:ea typeface="MS Mincho" panose="02020609040205080304" pitchFamily="49" charset="-128"/>
                <a:cs typeface="Times New Roman" panose="02020603050405020304" pitchFamily="18" charset="0"/>
              </a:rPr>
              <a:t>. Häll upp på glas och förvara rester i kylen. </a:t>
            </a:r>
          </a:p>
        </p:txBody>
      </p:sp>
      <p:sp>
        <p:nvSpPr>
          <p:cNvPr id="14" name="Ellips 13">
            <a:extLst>
              <a:ext uri="{FF2B5EF4-FFF2-40B4-BE49-F238E27FC236}">
                <a16:creationId xmlns:a16="http://schemas.microsoft.com/office/drawing/2014/main" id="{75959654-BCEE-D744-A520-2696CABAD051}"/>
              </a:ext>
            </a:extLst>
          </p:cNvPr>
          <p:cNvSpPr/>
          <p:nvPr/>
        </p:nvSpPr>
        <p:spPr>
          <a:xfrm>
            <a:off x="2005738" y="197904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160 kcal</a:t>
            </a:r>
            <a:endParaRPr sz="1200" b="1" dirty="0">
              <a:solidFill>
                <a:schemeClr val="bg1"/>
              </a:solidFill>
              <a:ea typeface="ＭＳ 明朝"/>
              <a:cs typeface="Avenir Light"/>
            </a:endParaRPr>
          </a:p>
        </p:txBody>
      </p:sp>
      <p:sp>
        <p:nvSpPr>
          <p:cNvPr id="6" name="Platshållare för sidfot 1">
            <a:extLst>
              <a:ext uri="{FF2B5EF4-FFF2-40B4-BE49-F238E27FC236}">
                <a16:creationId xmlns:a16="http://schemas.microsoft.com/office/drawing/2014/main" id="{DC663114-5E1C-4647-BD69-BC38513CD08A}"/>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4 </a:t>
            </a:r>
          </a:p>
        </p:txBody>
      </p:sp>
      <p:pic>
        <p:nvPicPr>
          <p:cNvPr id="4" name="Bildobjekt 3">
            <a:extLst>
              <a:ext uri="{FF2B5EF4-FFF2-40B4-BE49-F238E27FC236}">
                <a16:creationId xmlns:a16="http://schemas.microsoft.com/office/drawing/2014/main" id="{7FACD767-1B75-9D45-8DBC-397E1612323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2775041" y="852483"/>
            <a:ext cx="4321729" cy="3241297"/>
          </a:xfrm>
          <a:prstGeom prst="rect">
            <a:avLst/>
          </a:prstGeom>
        </p:spPr>
      </p:pic>
      <p:sp>
        <p:nvSpPr>
          <p:cNvPr id="11" name="Rektangel 10">
            <a:extLst>
              <a:ext uri="{FF2B5EF4-FFF2-40B4-BE49-F238E27FC236}">
                <a16:creationId xmlns:a16="http://schemas.microsoft.com/office/drawing/2014/main" id="{67421A3F-CF0E-5143-8157-510B22B8FF35}"/>
              </a:ext>
            </a:extLst>
          </p:cNvPr>
          <p:cNvSpPr/>
          <p:nvPr/>
        </p:nvSpPr>
        <p:spPr>
          <a:xfrm>
            <a:off x="3639620" y="5098231"/>
            <a:ext cx="2916934" cy="3139321"/>
          </a:xfrm>
          <a:prstGeom prst="rect">
            <a:avLst/>
          </a:prstGeom>
        </p:spPr>
        <p:txBody>
          <a:bodyPr wrap="square">
            <a:spAutoFit/>
          </a:bodyPr>
          <a:lstStyle/>
          <a:p>
            <a:r>
              <a:rPr lang="sv-SE" sz="1100" b="1" dirty="0">
                <a:solidFill>
                  <a:srgbClr val="000000"/>
                </a:solidFill>
              </a:rPr>
              <a:t>Äggröra med fetaost och spenat - 1 portion </a:t>
            </a:r>
            <a:endParaRPr lang="sv-SE" sz="1100" dirty="0">
              <a:solidFill>
                <a:srgbClr val="000000"/>
              </a:solidFill>
            </a:endParaRPr>
          </a:p>
          <a:p>
            <a:r>
              <a:rPr lang="sv-SE" sz="1100" dirty="0">
                <a:solidFill>
                  <a:srgbClr val="1A1A1A"/>
                </a:solidFill>
              </a:rPr>
              <a:t>2 ägg</a:t>
            </a:r>
          </a:p>
          <a:p>
            <a:r>
              <a:rPr lang="sv-SE" sz="1100" dirty="0">
                <a:solidFill>
                  <a:srgbClr val="1A1A1A"/>
                </a:solidFill>
              </a:rPr>
              <a:t>1/2 msk havregrädde</a:t>
            </a:r>
          </a:p>
          <a:p>
            <a:r>
              <a:rPr lang="sv-SE" sz="1100" dirty="0">
                <a:solidFill>
                  <a:srgbClr val="1A1A1A"/>
                </a:solidFill>
              </a:rPr>
              <a:t>Salt och svartpeppar </a:t>
            </a:r>
          </a:p>
          <a:p>
            <a:r>
              <a:rPr lang="sv-SE" sz="1100" dirty="0">
                <a:solidFill>
                  <a:srgbClr val="1A1A1A"/>
                </a:solidFill>
              </a:rPr>
              <a:t>1 tsk smör</a:t>
            </a:r>
          </a:p>
          <a:p>
            <a:r>
              <a:rPr lang="sv-SE" sz="1100" dirty="0">
                <a:solidFill>
                  <a:srgbClr val="1A1A1A"/>
                </a:solidFill>
              </a:rPr>
              <a:t>2 cocktailtomater</a:t>
            </a:r>
          </a:p>
          <a:p>
            <a:r>
              <a:rPr lang="sv-SE" sz="1100" dirty="0">
                <a:solidFill>
                  <a:srgbClr val="1A1A1A"/>
                </a:solidFill>
              </a:rPr>
              <a:t>20 g bladspenat</a:t>
            </a:r>
          </a:p>
          <a:p>
            <a:r>
              <a:rPr lang="sv-SE" sz="1100" dirty="0">
                <a:solidFill>
                  <a:srgbClr val="1A1A1A"/>
                </a:solidFill>
              </a:rPr>
              <a:t>30 g fetaost</a:t>
            </a:r>
          </a:p>
          <a:p>
            <a:r>
              <a:rPr lang="sv-SE" sz="1100" dirty="0">
                <a:solidFill>
                  <a:srgbClr val="000000"/>
                </a:solidFill>
              </a:rPr>
              <a:t>Persiljekvist</a:t>
            </a:r>
            <a:br>
              <a:rPr lang="sv-SE" sz="1100" dirty="0">
                <a:solidFill>
                  <a:srgbClr val="1A1A1A"/>
                </a:solidFill>
              </a:rPr>
            </a:br>
            <a:endParaRPr lang="sv-SE" sz="1100" dirty="0">
              <a:solidFill>
                <a:srgbClr val="1A1A1A"/>
              </a:solidFill>
            </a:endParaRPr>
          </a:p>
          <a:p>
            <a:r>
              <a:rPr lang="sv-SE" sz="1100" dirty="0">
                <a:solidFill>
                  <a:srgbClr val="1A1A1A"/>
                </a:solidFill>
              </a:rPr>
              <a:t>Blanda ägg och grädde i en skål. Strö på salt och peppar. Hetta upp en stekpanna med smör. Häll i äggröran i pannan och rör om på svag värme tills äggröran blivit mjuk och krämig. Dela cocktailtomater i 4 delar. Lägg bladspenat på botten på en djup tallrik. Lägg på äggröra och tomat. Toppa med  smulad fetaost och persiljekvist.</a:t>
            </a:r>
            <a:endParaRPr lang="sv-SE" sz="1100" dirty="0">
              <a:solidFill>
                <a:srgbClr val="1A1A1A"/>
              </a:solidFill>
              <a:effectLst/>
            </a:endParaRPr>
          </a:p>
        </p:txBody>
      </p:sp>
      <p:pic>
        <p:nvPicPr>
          <p:cNvPr id="15" name="Bildobjekt 14">
            <a:extLst>
              <a:ext uri="{FF2B5EF4-FFF2-40B4-BE49-F238E27FC236}">
                <a16:creationId xmlns:a16="http://schemas.microsoft.com/office/drawing/2014/main" id="{D8D080F2-9DC5-BF4B-AEDE-95B6560DF91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91618" y="5405534"/>
            <a:ext cx="3864244" cy="2898183"/>
          </a:xfrm>
          <a:prstGeom prst="rect">
            <a:avLst/>
          </a:prstGeom>
        </p:spPr>
      </p:pic>
      <p:sp>
        <p:nvSpPr>
          <p:cNvPr id="16" name="Ellips 15">
            <a:extLst>
              <a:ext uri="{FF2B5EF4-FFF2-40B4-BE49-F238E27FC236}">
                <a16:creationId xmlns:a16="http://schemas.microsoft.com/office/drawing/2014/main" id="{DAC9853E-B41B-8E45-9FC3-2FDE16BE31B5}"/>
              </a:ext>
            </a:extLst>
          </p:cNvPr>
          <p:cNvSpPr/>
          <p:nvPr/>
        </p:nvSpPr>
        <p:spPr>
          <a:xfrm>
            <a:off x="5540585" y="5795346"/>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317kcal</a:t>
            </a:r>
            <a:endParaRPr sz="1200" b="1" dirty="0">
              <a:solidFill>
                <a:schemeClr val="bg1"/>
              </a:solidFill>
              <a:ea typeface="ＭＳ 明朝"/>
              <a:cs typeface="Avenir Light"/>
            </a:endParaRPr>
          </a:p>
        </p:txBody>
      </p:sp>
    </p:spTree>
    <p:extLst>
      <p:ext uri="{BB962C8B-B14F-4D97-AF65-F5344CB8AC3E}">
        <p14:creationId xmlns:p14="http://schemas.microsoft.com/office/powerpoint/2010/main" val="3136698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ruta 15">
            <a:extLst>
              <a:ext uri="{FF2B5EF4-FFF2-40B4-BE49-F238E27FC236}">
                <a16:creationId xmlns:a16="http://schemas.microsoft.com/office/drawing/2014/main" id="{9CC8EAC3-B1D1-9A45-8F77-86ED715DFE86}"/>
              </a:ext>
            </a:extLst>
          </p:cNvPr>
          <p:cNvSpPr txBox="1"/>
          <p:nvPr/>
        </p:nvSpPr>
        <p:spPr>
          <a:xfrm>
            <a:off x="178821" y="188293"/>
            <a:ext cx="4328308" cy="461665"/>
          </a:xfrm>
          <a:prstGeom prst="rect">
            <a:avLst/>
          </a:prstGeom>
          <a:noFill/>
        </p:spPr>
        <p:txBody>
          <a:bodyPr wrap="square" rtlCol="0">
            <a:spAutoFit/>
          </a:bodyPr>
          <a:lstStyle/>
          <a:p>
            <a:r>
              <a:rPr lang="sv-SE" sz="2400" dirty="0" err="1">
                <a:latin typeface="BigCaslonFB" panose="02000603080000020003" pitchFamily="50" charset="0"/>
              </a:rPr>
              <a:t>Vego</a:t>
            </a:r>
            <a:endParaRPr lang="sv-SE" sz="2400" dirty="0">
              <a:latin typeface="BigCaslonFB" panose="02000603080000020003" pitchFamily="50" charset="0"/>
            </a:endParaRPr>
          </a:p>
        </p:txBody>
      </p:sp>
      <p:sp>
        <p:nvSpPr>
          <p:cNvPr id="4" name="Platshållare för sidfot 1">
            <a:extLst>
              <a:ext uri="{FF2B5EF4-FFF2-40B4-BE49-F238E27FC236}">
                <a16:creationId xmlns:a16="http://schemas.microsoft.com/office/drawing/2014/main" id="{CC061282-F0B0-2B4F-8992-C000EAA3D9FB}"/>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4 </a:t>
            </a:r>
          </a:p>
        </p:txBody>
      </p:sp>
      <p:sp>
        <p:nvSpPr>
          <p:cNvPr id="6" name="Rektangel 5">
            <a:extLst>
              <a:ext uri="{FF2B5EF4-FFF2-40B4-BE49-F238E27FC236}">
                <a16:creationId xmlns:a16="http://schemas.microsoft.com/office/drawing/2014/main" id="{1F85BF2C-8832-AE46-9979-4978ACFC7D4B}"/>
              </a:ext>
            </a:extLst>
          </p:cNvPr>
          <p:cNvSpPr/>
          <p:nvPr/>
        </p:nvSpPr>
        <p:spPr>
          <a:xfrm>
            <a:off x="178821" y="765696"/>
            <a:ext cx="6361464" cy="5339923"/>
          </a:xfrm>
          <a:prstGeom prst="rect">
            <a:avLst/>
          </a:prstGeom>
        </p:spPr>
        <p:txBody>
          <a:bodyPr wrap="square" lIns="91440" tIns="45720" rIns="91440" bIns="45720" anchor="t">
            <a:spAutoFit/>
          </a:bodyPr>
          <a:lstStyle/>
          <a:p>
            <a:r>
              <a:rPr lang="sv-SE" sz="1100" b="1" dirty="0">
                <a:solidFill>
                  <a:srgbClr val="000000"/>
                </a:solidFill>
              </a:rPr>
              <a:t>Ugnsbakad blomkål med ratatouille -  3 portioner </a:t>
            </a:r>
            <a:endParaRPr lang="sv-SE" sz="1100" dirty="0">
              <a:solidFill>
                <a:srgbClr val="000000"/>
              </a:solidFill>
            </a:endParaRPr>
          </a:p>
          <a:p>
            <a:r>
              <a:rPr lang="sv-SE" sz="1100" dirty="0">
                <a:solidFill>
                  <a:srgbClr val="000000"/>
                </a:solidFill>
              </a:rPr>
              <a:t>1 litet blomkålshuvud </a:t>
            </a:r>
          </a:p>
          <a:p>
            <a:r>
              <a:rPr lang="sv-SE" sz="1100" dirty="0">
                <a:solidFill>
                  <a:srgbClr val="000000"/>
                </a:solidFill>
              </a:rPr>
              <a:t>1/2 gul lök</a:t>
            </a:r>
          </a:p>
          <a:p>
            <a:r>
              <a:rPr lang="sv-SE" sz="1100" dirty="0">
                <a:solidFill>
                  <a:srgbClr val="000000"/>
                </a:solidFill>
              </a:rPr>
              <a:t>1 vitlöksklyfta</a:t>
            </a:r>
          </a:p>
          <a:p>
            <a:r>
              <a:rPr lang="sv-SE" sz="1100" dirty="0">
                <a:solidFill>
                  <a:srgbClr val="000000"/>
                </a:solidFill>
              </a:rPr>
              <a:t>1/4 aubergine </a:t>
            </a:r>
          </a:p>
          <a:p>
            <a:r>
              <a:rPr lang="sv-SE" sz="1100" dirty="0">
                <a:solidFill>
                  <a:srgbClr val="000000"/>
                </a:solidFill>
              </a:rPr>
              <a:t>1/4 squash</a:t>
            </a:r>
          </a:p>
          <a:p>
            <a:r>
              <a:rPr lang="sv-SE" sz="1100" dirty="0">
                <a:solidFill>
                  <a:srgbClr val="000000"/>
                </a:solidFill>
              </a:rPr>
              <a:t>1/4 </a:t>
            </a:r>
            <a:r>
              <a:rPr lang="sv-SE" sz="1100" dirty="0">
                <a:solidFill>
                  <a:srgbClr val="FF0000"/>
                </a:solidFill>
              </a:rPr>
              <a:t>röd paprika </a:t>
            </a:r>
            <a:endParaRPr lang="sv-SE" sz="1100" dirty="0">
              <a:solidFill>
                <a:srgbClr val="FF0000"/>
              </a:solidFill>
              <a:ea typeface="Calibri"/>
              <a:cs typeface="Calibri"/>
            </a:endParaRPr>
          </a:p>
          <a:p>
            <a:r>
              <a:rPr lang="sv-SE" sz="1100" dirty="0">
                <a:solidFill>
                  <a:srgbClr val="000000"/>
                </a:solidFill>
              </a:rPr>
              <a:t>1/4 </a:t>
            </a:r>
            <a:r>
              <a:rPr lang="sv-SE" sz="1100" dirty="0">
                <a:solidFill>
                  <a:srgbClr val="FF0000"/>
                </a:solidFill>
              </a:rPr>
              <a:t>grön paprika</a:t>
            </a:r>
            <a:endParaRPr lang="sv-SE" sz="1100" dirty="0">
              <a:solidFill>
                <a:srgbClr val="FF0000"/>
              </a:solidFill>
              <a:ea typeface="Calibri"/>
              <a:cs typeface="Calibri"/>
            </a:endParaRPr>
          </a:p>
          <a:p>
            <a:r>
              <a:rPr lang="sv-SE" sz="1100" dirty="0">
                <a:solidFill>
                  <a:srgbClr val="000000"/>
                </a:solidFill>
              </a:rPr>
              <a:t>2 msk olivolja</a:t>
            </a:r>
          </a:p>
          <a:p>
            <a:r>
              <a:rPr lang="sv-SE" sz="1100" dirty="0">
                <a:solidFill>
                  <a:srgbClr val="000000"/>
                </a:solidFill>
              </a:rPr>
              <a:t>Salt och svartpeppar</a:t>
            </a:r>
          </a:p>
          <a:p>
            <a:r>
              <a:rPr lang="sv-SE" sz="1100" dirty="0">
                <a:solidFill>
                  <a:srgbClr val="000000"/>
                </a:solidFill>
              </a:rPr>
              <a:t>1/2 tsk malen curry</a:t>
            </a:r>
          </a:p>
          <a:p>
            <a:r>
              <a:rPr lang="sv-SE" sz="1100" dirty="0">
                <a:solidFill>
                  <a:srgbClr val="000000"/>
                </a:solidFill>
              </a:rPr>
              <a:t>1/2 tsk malen kanel</a:t>
            </a:r>
          </a:p>
          <a:p>
            <a:r>
              <a:rPr lang="sv-SE" sz="1100" dirty="0">
                <a:solidFill>
                  <a:srgbClr val="000000"/>
                </a:solidFill>
              </a:rPr>
              <a:t>1/2 tsk spiskummin </a:t>
            </a:r>
          </a:p>
          <a:p>
            <a:r>
              <a:rPr lang="sv-SE" sz="1100" dirty="0">
                <a:solidFill>
                  <a:srgbClr val="000000"/>
                </a:solidFill>
              </a:rPr>
              <a:t>1/2 tsk torkad oregano</a:t>
            </a:r>
          </a:p>
          <a:p>
            <a:r>
              <a:rPr lang="sv-SE" sz="1100" dirty="0">
                <a:solidFill>
                  <a:srgbClr val="000000"/>
                </a:solidFill>
              </a:rPr>
              <a:t>1/2 tsk </a:t>
            </a:r>
            <a:r>
              <a:rPr lang="sv-SE" sz="1100" dirty="0" err="1">
                <a:solidFill>
                  <a:srgbClr val="000000"/>
                </a:solidFill>
              </a:rPr>
              <a:t>srirachasås</a:t>
            </a:r>
            <a:endParaRPr lang="sv-SE" sz="1100" dirty="0">
              <a:solidFill>
                <a:srgbClr val="000000"/>
              </a:solidFill>
            </a:endParaRPr>
          </a:p>
          <a:p>
            <a:r>
              <a:rPr lang="sv-SE" sz="1100" dirty="0">
                <a:solidFill>
                  <a:srgbClr val="000000"/>
                </a:solidFill>
              </a:rPr>
              <a:t>1/2 tsk honung</a:t>
            </a:r>
          </a:p>
          <a:p>
            <a:r>
              <a:rPr lang="sv-SE" sz="1100" dirty="0">
                <a:solidFill>
                  <a:srgbClr val="000000"/>
                </a:solidFill>
              </a:rPr>
              <a:t>400 ml  krossade tomater</a:t>
            </a:r>
          </a:p>
          <a:p>
            <a:endParaRPr lang="sv-SE" sz="1100" dirty="0">
              <a:solidFill>
                <a:srgbClr val="000000"/>
              </a:solidFill>
            </a:endParaRPr>
          </a:p>
          <a:p>
            <a:r>
              <a:rPr lang="sv-SE" sz="1100" b="1" dirty="0" err="1">
                <a:solidFill>
                  <a:srgbClr val="000000"/>
                </a:solidFill>
              </a:rPr>
              <a:t>Topping</a:t>
            </a:r>
            <a:endParaRPr lang="sv-SE" sz="1100" dirty="0">
              <a:solidFill>
                <a:srgbClr val="000000"/>
              </a:solidFill>
            </a:endParaRPr>
          </a:p>
          <a:p>
            <a:r>
              <a:rPr lang="sv-SE" sz="1100" dirty="0">
                <a:solidFill>
                  <a:srgbClr val="000000"/>
                </a:solidFill>
              </a:rPr>
              <a:t>50 g fetaost</a:t>
            </a:r>
          </a:p>
          <a:p>
            <a:r>
              <a:rPr lang="sv-SE" sz="1100" dirty="0">
                <a:solidFill>
                  <a:srgbClr val="000000"/>
                </a:solidFill>
              </a:rPr>
              <a:t>1/2 dl russin</a:t>
            </a:r>
          </a:p>
          <a:p>
            <a:r>
              <a:rPr lang="sv-SE" sz="1100" dirty="0">
                <a:solidFill>
                  <a:srgbClr val="000000"/>
                </a:solidFill>
              </a:rPr>
              <a:t>1/2 dl </a:t>
            </a:r>
            <a:r>
              <a:rPr lang="sv-SE" sz="1100" dirty="0">
                <a:solidFill>
                  <a:srgbClr val="FF0000"/>
                </a:solidFill>
              </a:rPr>
              <a:t>grovhackade</a:t>
            </a:r>
            <a:r>
              <a:rPr lang="sv-SE" sz="1100" dirty="0">
                <a:solidFill>
                  <a:srgbClr val="000000"/>
                </a:solidFill>
              </a:rPr>
              <a:t> valnötter</a:t>
            </a:r>
          </a:p>
          <a:p>
            <a:r>
              <a:rPr lang="sv-SE" sz="1100" dirty="0">
                <a:solidFill>
                  <a:srgbClr val="000000"/>
                </a:solidFill>
              </a:rPr>
              <a:t>1 krm torkad oregano</a:t>
            </a:r>
          </a:p>
          <a:p>
            <a:r>
              <a:rPr lang="sv-SE" sz="1100" dirty="0">
                <a:solidFill>
                  <a:srgbClr val="000000"/>
                </a:solidFill>
              </a:rPr>
              <a:t>Persiljekvistar</a:t>
            </a:r>
          </a:p>
          <a:p>
            <a:endParaRPr lang="sv-SE" sz="1100" dirty="0">
              <a:solidFill>
                <a:srgbClr val="000000"/>
              </a:solidFill>
            </a:endParaRPr>
          </a:p>
          <a:p>
            <a:r>
              <a:rPr lang="sv-SE" sz="1100" dirty="0">
                <a:solidFill>
                  <a:srgbClr val="000000"/>
                </a:solidFill>
              </a:rPr>
              <a:t>Sätt ugnen påg 200 grader. Lägg blomkål i en kastrull med lättsaltat vatten och koka i 10 minuter. Skala och grovhacka lök. Skala och riv vitlöksklyftan. Skär aubergine, squash och paprika i lika stora bitar. Hetta upp en gryta med olivolja. Lägg i riven vitlök, lök och grönsakerna och stek några minuter. Strö på salt och peppar. Tillsätt kryddor, </a:t>
            </a:r>
            <a:r>
              <a:rPr lang="sv-SE" sz="1100" dirty="0" err="1">
                <a:solidFill>
                  <a:srgbClr val="000000"/>
                </a:solidFill>
              </a:rPr>
              <a:t>srirachasås</a:t>
            </a:r>
            <a:r>
              <a:rPr lang="sv-SE" sz="1100" dirty="0">
                <a:solidFill>
                  <a:srgbClr val="000000"/>
                </a:solidFill>
              </a:rPr>
              <a:t>, honung och krossade tomater. Rör om och låt koka 10 minuter. Lägg det förkokta blomkålshuvudet på en ugnsplåt. Häll ratatouille över blomkålen och smula över fetaosten. Toppa med valnötter, russin och torkad oregano. Ställ in i ugnen i 10-15 minuter. Dekorera med persiljekvistar. </a:t>
            </a:r>
            <a:endParaRPr lang="sv-SE" sz="1100" dirty="0">
              <a:solidFill>
                <a:srgbClr val="000000"/>
              </a:solidFill>
              <a:effectLst/>
            </a:endParaRPr>
          </a:p>
        </p:txBody>
      </p:sp>
      <p:pic>
        <p:nvPicPr>
          <p:cNvPr id="7" name="Bildobjekt 6">
            <a:extLst>
              <a:ext uri="{FF2B5EF4-FFF2-40B4-BE49-F238E27FC236}">
                <a16:creationId xmlns:a16="http://schemas.microsoft.com/office/drawing/2014/main" id="{8D8CBED0-B978-3A42-87D1-805E39E51C2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969868" y="823633"/>
            <a:ext cx="4080476" cy="3060357"/>
          </a:xfrm>
          <a:prstGeom prst="rect">
            <a:avLst/>
          </a:prstGeom>
        </p:spPr>
      </p:pic>
      <p:sp>
        <p:nvSpPr>
          <p:cNvPr id="8" name="Ellips 7">
            <a:extLst>
              <a:ext uri="{FF2B5EF4-FFF2-40B4-BE49-F238E27FC236}">
                <a16:creationId xmlns:a16="http://schemas.microsoft.com/office/drawing/2014/main" id="{C97AF354-08C4-C446-8CBC-377827AEC156}"/>
              </a:ext>
            </a:extLst>
          </p:cNvPr>
          <p:cNvSpPr/>
          <p:nvPr/>
        </p:nvSpPr>
        <p:spPr>
          <a:xfrm>
            <a:off x="2306668" y="2313199"/>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332kcal</a:t>
            </a:r>
            <a:endParaRPr sz="1200" b="1" dirty="0">
              <a:solidFill>
                <a:schemeClr val="bg1"/>
              </a:solidFill>
              <a:ea typeface="ＭＳ 明朝"/>
              <a:cs typeface="Avenir Light"/>
            </a:endParaRPr>
          </a:p>
        </p:txBody>
      </p:sp>
      <p:sp>
        <p:nvSpPr>
          <p:cNvPr id="9" name="Pratbubbla: rektangel med rundade hörn 5">
            <a:extLst>
              <a:ext uri="{FF2B5EF4-FFF2-40B4-BE49-F238E27FC236}">
                <a16:creationId xmlns:a16="http://schemas.microsoft.com/office/drawing/2014/main" id="{8F79D28F-8BB0-FE4B-9855-787CF3009791}"/>
              </a:ext>
            </a:extLst>
          </p:cNvPr>
          <p:cNvSpPr/>
          <p:nvPr/>
        </p:nvSpPr>
        <p:spPr>
          <a:xfrm>
            <a:off x="4518479" y="6557742"/>
            <a:ext cx="1671282" cy="631957"/>
          </a:xfrm>
          <a:prstGeom prst="wedgeRoundRectCallout">
            <a:avLst/>
          </a:prstGeom>
          <a:solidFill>
            <a:srgbClr val="276564"/>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sv-SE" sz="1200" dirty="0">
                <a:cs typeface="Avenir Light"/>
              </a:rPr>
              <a:t>Frys in en portion till nästa vecka!</a:t>
            </a:r>
          </a:p>
        </p:txBody>
      </p:sp>
    </p:spTree>
    <p:extLst>
      <p:ext uri="{BB962C8B-B14F-4D97-AF65-F5344CB8AC3E}">
        <p14:creationId xmlns:p14="http://schemas.microsoft.com/office/powerpoint/2010/main" val="698166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70426C5D-A421-8446-A8EB-6EACDED36D3D}"/>
              </a:ext>
            </a:extLst>
          </p:cNvPr>
          <p:cNvSpPr>
            <a:spLocks noGrp="1"/>
          </p:cNvSpPr>
          <p:nvPr>
            <p:ph type="sldNum" sz="quarter" idx="12"/>
          </p:nvPr>
        </p:nvSpPr>
        <p:spPr/>
        <p:txBody>
          <a:bodyPr/>
          <a:lstStyle/>
          <a:p>
            <a:fld id="{97BA8967-5D92-4842-BAFB-0C8F679E5DC4}" type="slidenum">
              <a:rPr lang="sv-SE" smtClean="0"/>
              <a:t>4</a:t>
            </a:fld>
            <a:endParaRPr lang="sv-SE"/>
          </a:p>
        </p:txBody>
      </p:sp>
      <p:sp>
        <p:nvSpPr>
          <p:cNvPr id="2" name="Rektangel 1">
            <a:extLst>
              <a:ext uri="{FF2B5EF4-FFF2-40B4-BE49-F238E27FC236}">
                <a16:creationId xmlns:a16="http://schemas.microsoft.com/office/drawing/2014/main" id="{5B60B846-EA2F-564B-BDFD-35D42868E344}"/>
              </a:ext>
            </a:extLst>
          </p:cNvPr>
          <p:cNvSpPr/>
          <p:nvPr/>
        </p:nvSpPr>
        <p:spPr>
          <a:xfrm>
            <a:off x="304154" y="1201395"/>
            <a:ext cx="6210946" cy="6186309"/>
          </a:xfrm>
          <a:prstGeom prst="rect">
            <a:avLst/>
          </a:prstGeom>
        </p:spPr>
        <p:txBody>
          <a:bodyPr wrap="square" lIns="91440" tIns="45720" rIns="91440" bIns="45720" anchor="t">
            <a:spAutoFit/>
          </a:bodyPr>
          <a:lstStyle/>
          <a:p>
            <a:r>
              <a:rPr lang="sv-SE" sz="1100" b="1" dirty="0">
                <a:solidFill>
                  <a:srgbClr val="000000"/>
                </a:solidFill>
              </a:rPr>
              <a:t>Zucchiniplättar med yoghurtsås – 2 portioner</a:t>
            </a:r>
            <a:endParaRPr lang="sv-SE" sz="1100" dirty="0">
              <a:solidFill>
                <a:srgbClr val="000000"/>
              </a:solidFill>
            </a:endParaRPr>
          </a:p>
          <a:p>
            <a:r>
              <a:rPr lang="sv-SE" sz="1100" dirty="0">
                <a:solidFill>
                  <a:srgbClr val="000000"/>
                </a:solidFill>
              </a:rPr>
              <a:t>½ dl vit </a:t>
            </a:r>
            <a:r>
              <a:rPr lang="sv-SE" sz="1100" dirty="0" err="1">
                <a:solidFill>
                  <a:srgbClr val="000000"/>
                </a:solidFill>
              </a:rPr>
              <a:t>quinoa</a:t>
            </a:r>
            <a:endParaRPr lang="sv-SE" sz="1100" dirty="0">
              <a:solidFill>
                <a:srgbClr val="000000"/>
              </a:solidFill>
            </a:endParaRPr>
          </a:p>
          <a:p>
            <a:r>
              <a:rPr lang="sv-SE" sz="1100" dirty="0">
                <a:solidFill>
                  <a:srgbClr val="000000"/>
                </a:solidFill>
              </a:rPr>
              <a:t>½ zucchini</a:t>
            </a:r>
          </a:p>
          <a:p>
            <a:r>
              <a:rPr lang="sv-SE" sz="1100" dirty="0">
                <a:solidFill>
                  <a:srgbClr val="000000"/>
                </a:solidFill>
              </a:rPr>
              <a:t>10 cm purjolök</a:t>
            </a:r>
          </a:p>
          <a:p>
            <a:r>
              <a:rPr lang="sv-SE" sz="1100" dirty="0">
                <a:solidFill>
                  <a:srgbClr val="000000"/>
                </a:solidFill>
              </a:rPr>
              <a:t>½ vitlöksklyfta </a:t>
            </a:r>
          </a:p>
          <a:p>
            <a:r>
              <a:rPr lang="sv-SE" sz="1100" dirty="0">
                <a:solidFill>
                  <a:srgbClr val="000000"/>
                </a:solidFill>
              </a:rPr>
              <a:t>30 g fetaost</a:t>
            </a:r>
          </a:p>
          <a:p>
            <a:r>
              <a:rPr lang="sv-SE" sz="1100" dirty="0">
                <a:solidFill>
                  <a:srgbClr val="000000"/>
                </a:solidFill>
              </a:rPr>
              <a:t>1/4 dl riven parmesanost</a:t>
            </a:r>
          </a:p>
          <a:p>
            <a:r>
              <a:rPr lang="sv-SE" sz="1100" dirty="0">
                <a:solidFill>
                  <a:srgbClr val="000000"/>
                </a:solidFill>
              </a:rPr>
              <a:t>½ dl Crumbs glutenfritt ströbröd</a:t>
            </a:r>
          </a:p>
          <a:p>
            <a:r>
              <a:rPr lang="sv-SE" sz="1100" dirty="0">
                <a:solidFill>
                  <a:srgbClr val="000000"/>
                </a:solidFill>
              </a:rPr>
              <a:t>1 ägg</a:t>
            </a:r>
          </a:p>
          <a:p>
            <a:r>
              <a:rPr lang="sv-SE" sz="1100" dirty="0">
                <a:solidFill>
                  <a:srgbClr val="000000"/>
                </a:solidFill>
              </a:rPr>
              <a:t>1 msk färsk persilja</a:t>
            </a:r>
            <a:endParaRPr lang="sv-SE" sz="1100">
              <a:solidFill>
                <a:srgbClr val="000000"/>
              </a:solidFill>
              <a:ea typeface="Calibri"/>
              <a:cs typeface="Calibri"/>
            </a:endParaRPr>
          </a:p>
          <a:p>
            <a:r>
              <a:rPr lang="sv-SE" sz="1100" dirty="0">
                <a:solidFill>
                  <a:srgbClr val="000000"/>
                </a:solidFill>
              </a:rPr>
              <a:t>1 krm torkad oregano</a:t>
            </a:r>
          </a:p>
          <a:p>
            <a:r>
              <a:rPr lang="sv-SE" sz="1100" dirty="0">
                <a:solidFill>
                  <a:srgbClr val="000000"/>
                </a:solidFill>
              </a:rPr>
              <a:t>1 krm chiliflakes</a:t>
            </a:r>
          </a:p>
          <a:p>
            <a:r>
              <a:rPr lang="sv-SE" sz="1100" dirty="0">
                <a:solidFill>
                  <a:srgbClr val="000000"/>
                </a:solidFill>
              </a:rPr>
              <a:t>Salt och svartpeppar</a:t>
            </a:r>
          </a:p>
          <a:p>
            <a:r>
              <a:rPr lang="sv-SE" sz="1100" dirty="0">
                <a:solidFill>
                  <a:srgbClr val="000000"/>
                </a:solidFill>
              </a:rPr>
              <a:t>½ msk olivolja</a:t>
            </a:r>
          </a:p>
          <a:p>
            <a:r>
              <a:rPr lang="sv-SE" sz="1100" dirty="0">
                <a:solidFill>
                  <a:srgbClr val="000000"/>
                </a:solidFill>
              </a:rPr>
              <a:t>1 msk gräslök</a:t>
            </a:r>
            <a:endParaRPr lang="sv-SE" sz="1100">
              <a:solidFill>
                <a:srgbClr val="000000"/>
              </a:solidFill>
              <a:ea typeface="Calibri"/>
              <a:cs typeface="Calibri"/>
            </a:endParaRPr>
          </a:p>
          <a:p>
            <a:r>
              <a:rPr lang="sv-SE" sz="1100" dirty="0">
                <a:solidFill>
                  <a:srgbClr val="000000"/>
                </a:solidFill>
              </a:rPr>
              <a:t>Dillkvistar</a:t>
            </a:r>
          </a:p>
          <a:p>
            <a:br>
              <a:rPr lang="sv-SE" sz="1100" dirty="0">
                <a:solidFill>
                  <a:srgbClr val="000000"/>
                </a:solidFill>
              </a:rPr>
            </a:br>
            <a:r>
              <a:rPr lang="sv-SE" sz="1100" b="1" dirty="0">
                <a:solidFill>
                  <a:srgbClr val="000000"/>
                </a:solidFill>
              </a:rPr>
              <a:t>Yoghurtsås</a:t>
            </a:r>
            <a:endParaRPr lang="sv-SE" sz="1100" dirty="0">
              <a:solidFill>
                <a:srgbClr val="000000"/>
              </a:solidFill>
            </a:endParaRPr>
          </a:p>
          <a:p>
            <a:r>
              <a:rPr lang="sv-SE" sz="1100" dirty="0">
                <a:solidFill>
                  <a:srgbClr val="000000"/>
                </a:solidFill>
              </a:rPr>
              <a:t>3/4 dl grekisk yoghurt, 6%</a:t>
            </a:r>
          </a:p>
          <a:p>
            <a:r>
              <a:rPr lang="sv-SE" sz="1100" dirty="0">
                <a:solidFill>
                  <a:srgbClr val="000000"/>
                </a:solidFill>
              </a:rPr>
              <a:t>1 msk citronsaft</a:t>
            </a:r>
          </a:p>
          <a:p>
            <a:r>
              <a:rPr lang="sv-SE" sz="1100" dirty="0">
                <a:solidFill>
                  <a:srgbClr val="000000"/>
                </a:solidFill>
              </a:rPr>
              <a:t>1 tsk färsk dill</a:t>
            </a:r>
          </a:p>
          <a:p>
            <a:r>
              <a:rPr lang="sv-SE" sz="1100" dirty="0">
                <a:solidFill>
                  <a:srgbClr val="000000"/>
                </a:solidFill>
              </a:rPr>
              <a:t>Salt och svartpeppar</a:t>
            </a:r>
          </a:p>
          <a:p>
            <a:endParaRPr lang="sv-SE" sz="1100" dirty="0">
              <a:solidFill>
                <a:srgbClr val="000000"/>
              </a:solidFill>
            </a:endParaRPr>
          </a:p>
          <a:p>
            <a:r>
              <a:rPr lang="sv-SE" sz="1100" b="1" dirty="0">
                <a:solidFill>
                  <a:srgbClr val="000000"/>
                </a:solidFill>
              </a:rPr>
              <a:t>Tillbehör</a:t>
            </a:r>
          </a:p>
          <a:p>
            <a:r>
              <a:rPr lang="sv-SE" sz="1100" dirty="0">
                <a:solidFill>
                  <a:srgbClr val="000000"/>
                </a:solidFill>
              </a:rPr>
              <a:t>2 dl morot</a:t>
            </a:r>
          </a:p>
          <a:p>
            <a:r>
              <a:rPr lang="sv-SE" sz="1100" dirty="0">
                <a:solidFill>
                  <a:srgbClr val="000000"/>
                </a:solidFill>
              </a:rPr>
              <a:t>20 g rucolasallad</a:t>
            </a:r>
          </a:p>
          <a:p>
            <a:endParaRPr lang="sv-SE" sz="1100" dirty="0">
              <a:solidFill>
                <a:srgbClr val="000000"/>
              </a:solidFill>
            </a:endParaRPr>
          </a:p>
          <a:p>
            <a:r>
              <a:rPr lang="sv-SE" sz="1100" dirty="0">
                <a:solidFill>
                  <a:srgbClr val="000000"/>
                </a:solidFill>
              </a:rPr>
              <a:t>Koka </a:t>
            </a:r>
            <a:r>
              <a:rPr lang="sv-SE" sz="1100" dirty="0" err="1">
                <a:solidFill>
                  <a:srgbClr val="000000"/>
                </a:solidFill>
              </a:rPr>
              <a:t>quinoa</a:t>
            </a:r>
            <a:r>
              <a:rPr lang="sv-SE" sz="1100" dirty="0">
                <a:solidFill>
                  <a:srgbClr val="000000"/>
                </a:solidFill>
              </a:rPr>
              <a:t> enligt anvisningen på paketet, ca: 13 min. Häll av vattnet och låt svalna. Riv zucchini grovt och lägg i en ren kökshandduk. Kläm ut så mycket vätska om möjligt ur zucchinin. Finhacka purjolök. Skala och riv vitlök. Hacka örter. Strimla morot tunt. Blanda </a:t>
            </a:r>
            <a:r>
              <a:rPr lang="sv-SE" sz="1100" dirty="0" err="1">
                <a:solidFill>
                  <a:srgbClr val="000000"/>
                </a:solidFill>
              </a:rPr>
              <a:t>quinoa</a:t>
            </a:r>
            <a:r>
              <a:rPr lang="sv-SE" sz="1100" dirty="0">
                <a:solidFill>
                  <a:srgbClr val="000000"/>
                </a:solidFill>
              </a:rPr>
              <a:t>, zucchini, purjolök, vitlök, fetaost, parmesan, ströbröd, ägg, persilja, oregano och chiliflakes i en skål. Format till 6 plättar . Placera plättarna på en plåt och och ställ in i kylskåpet i cirka 15-20 minuter. Hetta upp en stekpanna med olivolja. Stek plättar på medelvärme till de fått en fin färg, ca 3-4 minuter på varje sida. Rör ihop grekisk yoghurt, citronsaft, dill, salt och peppar i en liten skål. Lägg upp zucchiniplättar på en tallrik och toppa med yoghurtsås, hackad gräslök och dillkvistar.  Servera med strimlad morot och rucolasallad.</a:t>
            </a:r>
            <a:endParaRPr lang="sv-SE" sz="1100" dirty="0">
              <a:solidFill>
                <a:srgbClr val="000000"/>
              </a:solidFill>
              <a:effectLst/>
              <a:ea typeface="Calibri"/>
              <a:cs typeface="Calibri"/>
            </a:endParaRPr>
          </a:p>
        </p:txBody>
      </p:sp>
      <p:pic>
        <p:nvPicPr>
          <p:cNvPr id="4" name="Bildobjekt 3">
            <a:extLst>
              <a:ext uri="{FF2B5EF4-FFF2-40B4-BE49-F238E27FC236}">
                <a16:creationId xmlns:a16="http://schemas.microsoft.com/office/drawing/2014/main" id="{DD8871E8-3AC6-324F-912B-21141896008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708348" y="999125"/>
            <a:ext cx="4470983" cy="3353238"/>
          </a:xfrm>
          <a:prstGeom prst="rect">
            <a:avLst/>
          </a:prstGeom>
        </p:spPr>
      </p:pic>
      <p:sp>
        <p:nvSpPr>
          <p:cNvPr id="12" name="Ellips 11">
            <a:extLst>
              <a:ext uri="{FF2B5EF4-FFF2-40B4-BE49-F238E27FC236}">
                <a16:creationId xmlns:a16="http://schemas.microsoft.com/office/drawing/2014/main" id="{6A74D7AF-92F9-C940-8CE2-E55D5FC2E962}"/>
              </a:ext>
            </a:extLst>
          </p:cNvPr>
          <p:cNvSpPr/>
          <p:nvPr/>
        </p:nvSpPr>
        <p:spPr>
          <a:xfrm>
            <a:off x="2351885" y="166306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341kcal</a:t>
            </a:r>
            <a:endParaRPr sz="1200" b="1" dirty="0">
              <a:solidFill>
                <a:schemeClr val="bg1"/>
              </a:solidFill>
              <a:ea typeface="ＭＳ 明朝"/>
              <a:cs typeface="Avenir Light"/>
            </a:endParaRPr>
          </a:p>
        </p:txBody>
      </p:sp>
      <p:sp>
        <p:nvSpPr>
          <p:cNvPr id="7" name="textruta 6">
            <a:extLst>
              <a:ext uri="{FF2B5EF4-FFF2-40B4-BE49-F238E27FC236}">
                <a16:creationId xmlns:a16="http://schemas.microsoft.com/office/drawing/2014/main" id="{A40C3ADE-7232-B549-A9C9-2AE8D9496D08}"/>
              </a:ext>
            </a:extLst>
          </p:cNvPr>
          <p:cNvSpPr txBox="1"/>
          <p:nvPr/>
        </p:nvSpPr>
        <p:spPr>
          <a:xfrm>
            <a:off x="178821" y="188293"/>
            <a:ext cx="4328308" cy="461665"/>
          </a:xfrm>
          <a:prstGeom prst="rect">
            <a:avLst/>
          </a:prstGeom>
          <a:noFill/>
        </p:spPr>
        <p:txBody>
          <a:bodyPr wrap="square" rtlCol="0">
            <a:spAutoFit/>
          </a:bodyPr>
          <a:lstStyle/>
          <a:p>
            <a:r>
              <a:rPr lang="sv-SE" sz="2400" dirty="0" err="1">
                <a:latin typeface="BigCaslonFB" panose="02000603080000020003" pitchFamily="50" charset="0"/>
              </a:rPr>
              <a:t>Vego</a:t>
            </a:r>
            <a:endParaRPr lang="sv-SE" sz="2400" dirty="0">
              <a:latin typeface="BigCaslonFB" panose="02000603080000020003" pitchFamily="50" charset="0"/>
            </a:endParaRPr>
          </a:p>
        </p:txBody>
      </p:sp>
      <p:sp>
        <p:nvSpPr>
          <p:cNvPr id="8" name="Platshållare för sidfot 1">
            <a:extLst>
              <a:ext uri="{FF2B5EF4-FFF2-40B4-BE49-F238E27FC236}">
                <a16:creationId xmlns:a16="http://schemas.microsoft.com/office/drawing/2014/main" id="{2519A32E-174C-9C44-BD58-4CA26B713B11}"/>
              </a:ext>
            </a:extLst>
          </p:cNvPr>
          <p:cNvSpPr txBox="1">
            <a:spLocks/>
          </p:cNvSpPr>
          <p:nvPr/>
        </p:nvSpPr>
        <p:spPr>
          <a:xfrm>
            <a:off x="1669121" y="8561128"/>
            <a:ext cx="3704917" cy="486833"/>
          </a:xfrm>
          <a:prstGeom prst="rect">
            <a:avLst/>
          </a:prstGeom>
        </p:spPr>
        <p:txBody>
          <a:bodyPr vert="horz" lIns="91440" tIns="45720" rIns="91440" bIns="45720" rtlCol="0" anchor="ctr"/>
          <a:lstStyle>
            <a:defPPr>
              <a:defRPr lang="sv-SE"/>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sv-SE" sz="900" dirty="0"/>
              <a:t>ULRIKA DAVIDSSON ● FUNCITIONAL FLOW  6 VECKOR ● RECEPT VECKA 4 </a:t>
            </a:r>
          </a:p>
        </p:txBody>
      </p:sp>
    </p:spTree>
    <p:extLst>
      <p:ext uri="{BB962C8B-B14F-4D97-AF65-F5344CB8AC3E}">
        <p14:creationId xmlns:p14="http://schemas.microsoft.com/office/powerpoint/2010/main" val="2437638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C13C0C45-6398-3E40-A5DE-31AA7C358185}"/>
              </a:ext>
            </a:extLst>
          </p:cNvPr>
          <p:cNvSpPr>
            <a:spLocks noGrp="1"/>
          </p:cNvSpPr>
          <p:nvPr>
            <p:ph type="sldNum" sz="quarter" idx="12"/>
          </p:nvPr>
        </p:nvSpPr>
        <p:spPr/>
        <p:txBody>
          <a:bodyPr/>
          <a:lstStyle/>
          <a:p>
            <a:fld id="{97BA8967-5D92-4842-BAFB-0C8F679E5DC4}" type="slidenum">
              <a:rPr lang="sv-SE" smtClean="0"/>
              <a:t>5</a:t>
            </a:fld>
            <a:endParaRPr lang="sv-SE"/>
          </a:p>
        </p:txBody>
      </p:sp>
      <p:sp>
        <p:nvSpPr>
          <p:cNvPr id="8" name="textruta 7">
            <a:extLst>
              <a:ext uri="{FF2B5EF4-FFF2-40B4-BE49-F238E27FC236}">
                <a16:creationId xmlns:a16="http://schemas.microsoft.com/office/drawing/2014/main" id="{EDAB3DE7-6ADF-DE48-9756-52DF4FBC33A8}"/>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Kyckling</a:t>
            </a:r>
          </a:p>
        </p:txBody>
      </p:sp>
      <p:sp>
        <p:nvSpPr>
          <p:cNvPr id="7" name="Platshållare för sidfot 1">
            <a:extLst>
              <a:ext uri="{FF2B5EF4-FFF2-40B4-BE49-F238E27FC236}">
                <a16:creationId xmlns:a16="http://schemas.microsoft.com/office/drawing/2014/main" id="{EAE645A4-67EE-5841-85C2-DD7E372AE71B}"/>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4 </a:t>
            </a:r>
          </a:p>
        </p:txBody>
      </p:sp>
      <p:sp>
        <p:nvSpPr>
          <p:cNvPr id="9" name="Rektangel 8">
            <a:extLst>
              <a:ext uri="{FF2B5EF4-FFF2-40B4-BE49-F238E27FC236}">
                <a16:creationId xmlns:a16="http://schemas.microsoft.com/office/drawing/2014/main" id="{2E6E6898-ED19-884E-B377-DC108E99422D}"/>
              </a:ext>
            </a:extLst>
          </p:cNvPr>
          <p:cNvSpPr/>
          <p:nvPr/>
        </p:nvSpPr>
        <p:spPr>
          <a:xfrm>
            <a:off x="285023" y="2137731"/>
            <a:ext cx="5856442" cy="5001369"/>
          </a:xfrm>
          <a:prstGeom prst="rect">
            <a:avLst/>
          </a:prstGeom>
        </p:spPr>
        <p:txBody>
          <a:bodyPr wrap="square">
            <a:spAutoFit/>
          </a:bodyPr>
          <a:lstStyle/>
          <a:p>
            <a:r>
              <a:rPr lang="sv-SE" sz="1100" b="1" dirty="0">
                <a:solidFill>
                  <a:srgbClr val="000000"/>
                </a:solidFill>
              </a:rPr>
              <a:t>Kycklingrullader med gorgonzola - 2 portioner </a:t>
            </a:r>
            <a:endParaRPr lang="sv-SE" sz="1100" dirty="0">
              <a:solidFill>
                <a:srgbClr val="000000"/>
              </a:solidFill>
            </a:endParaRPr>
          </a:p>
          <a:p>
            <a:r>
              <a:rPr lang="sv-SE" sz="1100" dirty="0">
                <a:solidFill>
                  <a:srgbClr val="000000"/>
                </a:solidFill>
              </a:rPr>
              <a:t>1/2 vitlöksklyfta</a:t>
            </a:r>
          </a:p>
          <a:p>
            <a:r>
              <a:rPr lang="sv-SE" sz="1100" dirty="0">
                <a:solidFill>
                  <a:srgbClr val="000000"/>
                </a:solidFill>
              </a:rPr>
              <a:t>1/4 rödlök </a:t>
            </a:r>
          </a:p>
          <a:p>
            <a:r>
              <a:rPr lang="sv-SE" sz="1100" dirty="0">
                <a:solidFill>
                  <a:srgbClr val="000000"/>
                </a:solidFill>
              </a:rPr>
              <a:t>1 tomat</a:t>
            </a:r>
          </a:p>
          <a:p>
            <a:r>
              <a:rPr lang="sv-SE" sz="1100" dirty="0">
                <a:solidFill>
                  <a:srgbClr val="000000"/>
                </a:solidFill>
              </a:rPr>
              <a:t>5 cm squash </a:t>
            </a:r>
          </a:p>
          <a:p>
            <a:r>
              <a:rPr lang="sv-SE" sz="1100" dirty="0">
                <a:solidFill>
                  <a:srgbClr val="000000"/>
                </a:solidFill>
              </a:rPr>
              <a:t>4 champinjoner  </a:t>
            </a:r>
          </a:p>
          <a:p>
            <a:r>
              <a:rPr lang="sv-SE" sz="1100" dirty="0">
                <a:solidFill>
                  <a:srgbClr val="000000"/>
                </a:solidFill>
              </a:rPr>
              <a:t>300 g tunnskivad kycklingfilé</a:t>
            </a:r>
          </a:p>
          <a:p>
            <a:r>
              <a:rPr lang="sv-SE" sz="1100" dirty="0">
                <a:solidFill>
                  <a:srgbClr val="000000"/>
                </a:solidFill>
              </a:rPr>
              <a:t>1 msk </a:t>
            </a:r>
            <a:r>
              <a:rPr lang="sv-SE" sz="1100" dirty="0" err="1">
                <a:solidFill>
                  <a:srgbClr val="000000"/>
                </a:solidFill>
              </a:rPr>
              <a:t>sötstark</a:t>
            </a:r>
            <a:r>
              <a:rPr lang="sv-SE" sz="1100" dirty="0">
                <a:solidFill>
                  <a:srgbClr val="000000"/>
                </a:solidFill>
              </a:rPr>
              <a:t> senap</a:t>
            </a:r>
          </a:p>
          <a:p>
            <a:r>
              <a:rPr lang="sv-SE" sz="1100" dirty="0">
                <a:solidFill>
                  <a:srgbClr val="000000"/>
                </a:solidFill>
              </a:rPr>
              <a:t>Salt och svartpeppar</a:t>
            </a:r>
          </a:p>
          <a:p>
            <a:r>
              <a:rPr lang="sv-SE" sz="1100" dirty="0">
                <a:solidFill>
                  <a:srgbClr val="000000"/>
                </a:solidFill>
              </a:rPr>
              <a:t>1 krm örtagårdskrydda</a:t>
            </a:r>
          </a:p>
          <a:p>
            <a:r>
              <a:rPr lang="sv-SE" sz="1100" dirty="0">
                <a:solidFill>
                  <a:srgbClr val="000000"/>
                </a:solidFill>
              </a:rPr>
              <a:t>75 g gorgonzolaost </a:t>
            </a:r>
          </a:p>
          <a:p>
            <a:r>
              <a:rPr lang="sv-SE" sz="1100" dirty="0">
                <a:solidFill>
                  <a:srgbClr val="000000"/>
                </a:solidFill>
              </a:rPr>
              <a:t>10 cocktailtomater </a:t>
            </a:r>
          </a:p>
          <a:p>
            <a:r>
              <a:rPr lang="sv-SE" sz="1100" dirty="0">
                <a:solidFill>
                  <a:srgbClr val="000000"/>
                </a:solidFill>
              </a:rPr>
              <a:t>1/5 squash </a:t>
            </a:r>
          </a:p>
          <a:p>
            <a:r>
              <a:rPr lang="sv-SE" sz="1100" dirty="0">
                <a:solidFill>
                  <a:srgbClr val="000000"/>
                </a:solidFill>
              </a:rPr>
              <a:t>1/4 rödlök</a:t>
            </a:r>
          </a:p>
          <a:p>
            <a:r>
              <a:rPr lang="sv-SE" sz="1100" dirty="0">
                <a:solidFill>
                  <a:srgbClr val="000000"/>
                </a:solidFill>
              </a:rPr>
              <a:t>1 tsk olivolja</a:t>
            </a:r>
          </a:p>
          <a:p>
            <a:r>
              <a:rPr lang="sv-SE" sz="1100" dirty="0">
                <a:solidFill>
                  <a:srgbClr val="000000"/>
                </a:solidFill>
              </a:rPr>
              <a:t>1/2 msk </a:t>
            </a:r>
            <a:r>
              <a:rPr lang="sv-SE" sz="1100" dirty="0" err="1">
                <a:solidFill>
                  <a:srgbClr val="000000"/>
                </a:solidFill>
              </a:rPr>
              <a:t>balsamico</a:t>
            </a:r>
            <a:endParaRPr lang="sv-SE" sz="1100" dirty="0">
              <a:solidFill>
                <a:srgbClr val="000000"/>
              </a:solidFill>
            </a:endParaRPr>
          </a:p>
          <a:p>
            <a:endParaRPr lang="sv-SE" sz="1100" dirty="0">
              <a:solidFill>
                <a:srgbClr val="000000"/>
              </a:solidFill>
            </a:endParaRPr>
          </a:p>
          <a:p>
            <a:r>
              <a:rPr lang="sv-SE" sz="1100" b="1" dirty="0" err="1">
                <a:solidFill>
                  <a:srgbClr val="000000"/>
                </a:solidFill>
              </a:rPr>
              <a:t>Topping</a:t>
            </a:r>
            <a:endParaRPr lang="sv-SE" sz="1100" dirty="0">
              <a:solidFill>
                <a:srgbClr val="000000"/>
              </a:solidFill>
            </a:endParaRPr>
          </a:p>
          <a:p>
            <a:r>
              <a:rPr lang="sv-SE" sz="1100" dirty="0">
                <a:solidFill>
                  <a:srgbClr val="000000"/>
                </a:solidFill>
              </a:rPr>
              <a:t>Persiljekvistar </a:t>
            </a:r>
          </a:p>
          <a:p>
            <a:endParaRPr lang="sv-SE" sz="1100" dirty="0">
              <a:solidFill>
                <a:srgbClr val="000000"/>
              </a:solidFill>
            </a:endParaRPr>
          </a:p>
          <a:p>
            <a:r>
              <a:rPr lang="sv-SE" sz="1100" dirty="0">
                <a:solidFill>
                  <a:srgbClr val="000000"/>
                </a:solidFill>
              </a:rPr>
              <a:t>Sätt ungen på 200 grader Skala och riv vitlök. Strimla rödlök. Finhacka tomat. Riv squash och skiva champinjoner. Placera kycklingfiléerna på en skärbräda. Gnid in vitlök på kycklingfilén. Bred på senap. Strö på salt, peppar och örtagårdskrydda. Lägg champinjoner, rödlök, tomat och squash på kycklingen. Rulla ihop kycklingen till rullader och placera på en ugnsplåt. Lägg en klick gorgonzola på rulladerna. Skiva squash i tunna skivor. Skala och strimla rödlök. Placera cocktailtomater, squashskivor och rödlök på plåten med kycklingen. Ringla på olivolja och </a:t>
            </a:r>
            <a:r>
              <a:rPr lang="sv-SE" sz="1100" dirty="0" err="1">
                <a:solidFill>
                  <a:srgbClr val="000000"/>
                </a:solidFill>
              </a:rPr>
              <a:t>balsamico</a:t>
            </a:r>
            <a:r>
              <a:rPr lang="sv-SE" sz="1100" dirty="0">
                <a:solidFill>
                  <a:srgbClr val="000000"/>
                </a:solidFill>
              </a:rPr>
              <a:t>. Ställ in i ugnen i 15 minuter. Servera kycklingrullader med ugnsrostade grönsaker. Dekorera med persiljekvistar. </a:t>
            </a:r>
          </a:p>
          <a:p>
            <a:br>
              <a:rPr lang="sv-SE" sz="1100" dirty="0">
                <a:solidFill>
                  <a:srgbClr val="000000"/>
                </a:solidFill>
              </a:rPr>
            </a:br>
            <a:endParaRPr lang="sv-SE" sz="1100" dirty="0">
              <a:solidFill>
                <a:srgbClr val="000000"/>
              </a:solidFill>
              <a:effectLst/>
            </a:endParaRPr>
          </a:p>
        </p:txBody>
      </p:sp>
      <p:sp>
        <p:nvSpPr>
          <p:cNvPr id="10" name="Ellips 9">
            <a:extLst>
              <a:ext uri="{FF2B5EF4-FFF2-40B4-BE49-F238E27FC236}">
                <a16:creationId xmlns:a16="http://schemas.microsoft.com/office/drawing/2014/main" id="{60230669-F661-A044-AAE1-A503228801D0}"/>
              </a:ext>
            </a:extLst>
          </p:cNvPr>
          <p:cNvSpPr/>
          <p:nvPr/>
        </p:nvSpPr>
        <p:spPr>
          <a:xfrm>
            <a:off x="2449177" y="2527910"/>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401 kcal</a:t>
            </a:r>
            <a:endParaRPr sz="1200" b="1" dirty="0">
              <a:solidFill>
                <a:schemeClr val="bg1"/>
              </a:solidFill>
              <a:ea typeface="ＭＳ 明朝"/>
              <a:cs typeface="Avenir Light"/>
            </a:endParaRPr>
          </a:p>
        </p:txBody>
      </p:sp>
      <p:pic>
        <p:nvPicPr>
          <p:cNvPr id="11" name="Bildobjekt 10">
            <a:extLst>
              <a:ext uri="{FF2B5EF4-FFF2-40B4-BE49-F238E27FC236}">
                <a16:creationId xmlns:a16="http://schemas.microsoft.com/office/drawing/2014/main" id="{3114FB00-AD46-DA4C-BBDD-274711702DE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48135" y="324532"/>
            <a:ext cx="3266966" cy="4355955"/>
          </a:xfrm>
          <a:prstGeom prst="rect">
            <a:avLst/>
          </a:prstGeom>
        </p:spPr>
      </p:pic>
    </p:spTree>
    <p:extLst>
      <p:ext uri="{BB962C8B-B14F-4D97-AF65-F5344CB8AC3E}">
        <p14:creationId xmlns:p14="http://schemas.microsoft.com/office/powerpoint/2010/main" val="3123923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ruta 2">
            <a:extLst>
              <a:ext uri="{FF2B5EF4-FFF2-40B4-BE49-F238E27FC236}">
                <a16:creationId xmlns:a16="http://schemas.microsoft.com/office/drawing/2014/main" id="{C88496A0-6F4D-634F-B246-E385C00F8CAC}"/>
              </a:ext>
            </a:extLst>
          </p:cNvPr>
          <p:cNvSpPr txBox="1"/>
          <p:nvPr/>
        </p:nvSpPr>
        <p:spPr>
          <a:xfrm>
            <a:off x="3461739" y="5170270"/>
            <a:ext cx="184731" cy="646331"/>
          </a:xfrm>
          <a:prstGeom prst="rect">
            <a:avLst/>
          </a:prstGeom>
          <a:noFill/>
        </p:spPr>
        <p:txBody>
          <a:bodyPr wrap="none" rtlCol="0">
            <a:spAutoFit/>
          </a:bodyPr>
          <a:lstStyle/>
          <a:p>
            <a:endParaRPr lang="sv-SE" dirty="0"/>
          </a:p>
          <a:p>
            <a:endParaRPr lang="sv-SE" dirty="0"/>
          </a:p>
        </p:txBody>
      </p:sp>
      <p:sp>
        <p:nvSpPr>
          <p:cNvPr id="14" name="textruta 13">
            <a:extLst>
              <a:ext uri="{FF2B5EF4-FFF2-40B4-BE49-F238E27FC236}">
                <a16:creationId xmlns:a16="http://schemas.microsoft.com/office/drawing/2014/main" id="{4A69283C-4A4E-4841-B44F-F9250AD08036}"/>
              </a:ext>
            </a:extLst>
          </p:cNvPr>
          <p:cNvSpPr txBox="1"/>
          <p:nvPr/>
        </p:nvSpPr>
        <p:spPr>
          <a:xfrm>
            <a:off x="285023" y="264300"/>
            <a:ext cx="4328308" cy="461665"/>
          </a:xfrm>
          <a:prstGeom prst="rect">
            <a:avLst/>
          </a:prstGeom>
          <a:noFill/>
        </p:spPr>
        <p:txBody>
          <a:bodyPr wrap="square" rtlCol="0">
            <a:spAutoFit/>
          </a:bodyPr>
          <a:lstStyle/>
          <a:p>
            <a:r>
              <a:rPr lang="sv-SE" sz="2400" dirty="0">
                <a:latin typeface="BigCaslonFB" panose="02000603080000020003" pitchFamily="50" charset="0"/>
              </a:rPr>
              <a:t>Kyckling</a:t>
            </a:r>
          </a:p>
        </p:txBody>
      </p:sp>
      <p:sp>
        <p:nvSpPr>
          <p:cNvPr id="9" name="Rektangel 8">
            <a:extLst>
              <a:ext uri="{FF2B5EF4-FFF2-40B4-BE49-F238E27FC236}">
                <a16:creationId xmlns:a16="http://schemas.microsoft.com/office/drawing/2014/main" id="{E1DF74A1-48E9-F54B-9240-C03A804B037E}"/>
              </a:ext>
            </a:extLst>
          </p:cNvPr>
          <p:cNvSpPr/>
          <p:nvPr/>
        </p:nvSpPr>
        <p:spPr>
          <a:xfrm>
            <a:off x="307422" y="1399054"/>
            <a:ext cx="5803559" cy="4493538"/>
          </a:xfrm>
          <a:prstGeom prst="rect">
            <a:avLst/>
          </a:prstGeom>
        </p:spPr>
        <p:txBody>
          <a:bodyPr wrap="square" lIns="91440" tIns="45720" rIns="91440" bIns="45720" anchor="t">
            <a:spAutoFit/>
          </a:bodyPr>
          <a:lstStyle/>
          <a:p>
            <a:r>
              <a:rPr lang="sv-SE" sz="1100" b="1" dirty="0" err="1">
                <a:cs typeface="Avenir Light"/>
              </a:rPr>
              <a:t>Grönsakswok</a:t>
            </a:r>
            <a:r>
              <a:rPr lang="sv-SE" sz="1100" b="1" dirty="0">
                <a:cs typeface="Avenir Light"/>
              </a:rPr>
              <a:t> med kycklingfärs– 2 portioner</a:t>
            </a:r>
          </a:p>
          <a:p>
            <a:r>
              <a:rPr lang="sv-SE" sz="1100" dirty="0">
                <a:cs typeface="Avenir Light"/>
              </a:rPr>
              <a:t>½ gul lök</a:t>
            </a:r>
          </a:p>
          <a:p>
            <a:r>
              <a:rPr lang="sv-SE" sz="1100" dirty="0">
                <a:cs typeface="Avenir Light"/>
              </a:rPr>
              <a:t>1 liten vitlöksklyfta</a:t>
            </a:r>
          </a:p>
          <a:p>
            <a:r>
              <a:rPr lang="sv-SE" sz="1100" dirty="0">
                <a:cs typeface="Avenir Light"/>
              </a:rPr>
              <a:t>½ röd chili</a:t>
            </a:r>
          </a:p>
          <a:p>
            <a:r>
              <a:rPr lang="sv-SE" sz="1100" dirty="0">
                <a:cs typeface="Avenir Light"/>
              </a:rPr>
              <a:t>1 tsk olivolja</a:t>
            </a:r>
          </a:p>
          <a:p>
            <a:r>
              <a:rPr lang="sv-SE" sz="1100" dirty="0">
                <a:cs typeface="Avenir Light"/>
              </a:rPr>
              <a:t>½ msk </a:t>
            </a:r>
            <a:r>
              <a:rPr lang="sv-SE" sz="1100" dirty="0">
                <a:solidFill>
                  <a:srgbClr val="FF0000"/>
                </a:solidFill>
                <a:cs typeface="Avenir Light"/>
              </a:rPr>
              <a:t>riven</a:t>
            </a:r>
            <a:r>
              <a:rPr lang="sv-SE" sz="1100" dirty="0">
                <a:cs typeface="Avenir Light"/>
              </a:rPr>
              <a:t> färsk ingefära</a:t>
            </a:r>
          </a:p>
          <a:p>
            <a:r>
              <a:rPr lang="sv-SE" sz="1100" dirty="0">
                <a:cs typeface="Avenir Light"/>
              </a:rPr>
              <a:t>300 g kycklingfärs</a:t>
            </a:r>
          </a:p>
          <a:p>
            <a:r>
              <a:rPr lang="sv-SE" sz="1100" dirty="0">
                <a:cs typeface="Avenir Light"/>
              </a:rPr>
              <a:t>Salt och svartpeppar</a:t>
            </a:r>
          </a:p>
          <a:p>
            <a:r>
              <a:rPr lang="sv-SE" sz="1100" dirty="0">
                <a:cs typeface="Avenir Light"/>
              </a:rPr>
              <a:t>1 tsk sesamolja</a:t>
            </a:r>
          </a:p>
          <a:p>
            <a:r>
              <a:rPr lang="sv-SE" sz="1100" dirty="0">
                <a:cs typeface="Avenir Light"/>
              </a:rPr>
              <a:t>1 tsk ljus soja</a:t>
            </a:r>
          </a:p>
          <a:p>
            <a:r>
              <a:rPr lang="sv-SE" sz="1100" dirty="0">
                <a:cs typeface="Avenir Light"/>
              </a:rPr>
              <a:t>1 msk </a:t>
            </a:r>
            <a:r>
              <a:rPr lang="sv-SE" sz="1100" dirty="0" err="1">
                <a:cs typeface="Avenir Light"/>
              </a:rPr>
              <a:t>ketjap</a:t>
            </a:r>
            <a:r>
              <a:rPr lang="sv-SE" sz="1100" dirty="0">
                <a:cs typeface="Avenir Light"/>
              </a:rPr>
              <a:t> manis</a:t>
            </a:r>
          </a:p>
          <a:p>
            <a:r>
              <a:rPr lang="sv-SE" sz="1100" dirty="0">
                <a:cs typeface="Avenir Light"/>
              </a:rPr>
              <a:t>½ msk stark chilisås</a:t>
            </a:r>
          </a:p>
          <a:p>
            <a:r>
              <a:rPr lang="sv-SE" sz="1100" dirty="0">
                <a:cs typeface="Avenir Light"/>
              </a:rPr>
              <a:t>1 röd paprika</a:t>
            </a:r>
          </a:p>
          <a:p>
            <a:r>
              <a:rPr lang="sv-SE" sz="1100" dirty="0">
                <a:cs typeface="Avenir Light"/>
              </a:rPr>
              <a:t>100 g broccolibuketter</a:t>
            </a:r>
          </a:p>
          <a:p>
            <a:r>
              <a:rPr lang="sv-SE" sz="1100" dirty="0">
                <a:cs typeface="Avenir Light"/>
              </a:rPr>
              <a:t>100 g blomkålsbuketter</a:t>
            </a:r>
          </a:p>
          <a:p>
            <a:r>
              <a:rPr lang="sv-SE" sz="1100" dirty="0">
                <a:cs typeface="Avenir Light"/>
              </a:rPr>
              <a:t>½ lime</a:t>
            </a:r>
          </a:p>
          <a:p>
            <a:r>
              <a:rPr lang="sv-SE" sz="1100" dirty="0">
                <a:cs typeface="Avenir Light"/>
              </a:rPr>
              <a:t>½ dl </a:t>
            </a:r>
            <a:r>
              <a:rPr lang="sv-SE" sz="1100" dirty="0">
                <a:solidFill>
                  <a:srgbClr val="FF0000"/>
                </a:solidFill>
                <a:cs typeface="Avenir Light"/>
              </a:rPr>
              <a:t>strimlad</a:t>
            </a:r>
            <a:r>
              <a:rPr lang="sv-SE" sz="1100" dirty="0">
                <a:cs typeface="Avenir Light"/>
              </a:rPr>
              <a:t> purjolök</a:t>
            </a:r>
          </a:p>
          <a:p>
            <a:r>
              <a:rPr lang="sv-SE" sz="1100" dirty="0">
                <a:cs typeface="Avenir Light"/>
              </a:rPr>
              <a:t>2 msk </a:t>
            </a:r>
            <a:r>
              <a:rPr lang="sv-SE" sz="1100" dirty="0">
                <a:solidFill>
                  <a:srgbClr val="FF0000"/>
                </a:solidFill>
                <a:cs typeface="Avenir Light"/>
              </a:rPr>
              <a:t>hackad</a:t>
            </a:r>
            <a:r>
              <a:rPr lang="sv-SE" sz="1100" dirty="0">
                <a:cs typeface="Avenir Light"/>
              </a:rPr>
              <a:t> färsk koriander</a:t>
            </a:r>
          </a:p>
          <a:p>
            <a:endParaRPr lang="sv-SE" sz="1100" dirty="0">
              <a:cs typeface="Avenir Light"/>
            </a:endParaRPr>
          </a:p>
          <a:p>
            <a:r>
              <a:rPr lang="sv-SE" sz="1100" b="1" dirty="0">
                <a:cs typeface="Avenir Light"/>
              </a:rPr>
              <a:t>Dekoration: </a:t>
            </a:r>
            <a:r>
              <a:rPr lang="sv-SE" sz="1100" dirty="0" err="1">
                <a:cs typeface="Avenir Light"/>
              </a:rPr>
              <a:t>limeskivor</a:t>
            </a:r>
            <a:endParaRPr lang="sv-SE" sz="1100" dirty="0">
              <a:cs typeface="Avenir Light"/>
            </a:endParaRPr>
          </a:p>
          <a:p>
            <a:endParaRPr lang="sv-SE" sz="1100" dirty="0">
              <a:cs typeface="Avenir Light"/>
            </a:endParaRPr>
          </a:p>
          <a:p>
            <a:r>
              <a:rPr lang="sv-SE" sz="1100" dirty="0">
                <a:cs typeface="Avenir Light"/>
              </a:rPr>
              <a:t>Skala och hacka lök och riv vitlök. Finhacka chilin. Skala och riv ingefäran. Hetta upp en stekpanna med olja och lägg ner lök, vitlök, chili, ingefära och kycklingfärs. Krydda med salt och peppar. Tillsätt sesamolja, soja, </a:t>
            </a:r>
            <a:r>
              <a:rPr lang="sv-SE" sz="1100" dirty="0" err="1">
                <a:cs typeface="Avenir Light"/>
              </a:rPr>
              <a:t>ketjap</a:t>
            </a:r>
            <a:r>
              <a:rPr lang="sv-SE" sz="1100" dirty="0">
                <a:cs typeface="Avenir Light"/>
              </a:rPr>
              <a:t> manis och chilisås och låt steka några minuter.  Blanda ner broccoli, blomkål och paprika. Pressa lime över och toppa med strimlad purjolök och färsk koriander.</a:t>
            </a:r>
          </a:p>
        </p:txBody>
      </p:sp>
      <p:sp>
        <p:nvSpPr>
          <p:cNvPr id="10" name="Ellips 9">
            <a:extLst>
              <a:ext uri="{FF2B5EF4-FFF2-40B4-BE49-F238E27FC236}">
                <a16:creationId xmlns:a16="http://schemas.microsoft.com/office/drawing/2014/main" id="{E88ACD5E-94EF-A247-8171-B73A55DE9FDA}"/>
              </a:ext>
            </a:extLst>
          </p:cNvPr>
          <p:cNvSpPr/>
          <p:nvPr/>
        </p:nvSpPr>
        <p:spPr>
          <a:xfrm>
            <a:off x="2134852" y="1713086"/>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328kcal</a:t>
            </a:r>
            <a:endParaRPr sz="1200" b="1" dirty="0">
              <a:solidFill>
                <a:schemeClr val="bg1"/>
              </a:solidFill>
              <a:ea typeface="ＭＳ 明朝"/>
              <a:cs typeface="Avenir Light"/>
            </a:endParaRPr>
          </a:p>
        </p:txBody>
      </p:sp>
      <p:pic>
        <p:nvPicPr>
          <p:cNvPr id="12" name="Bildobjekt 11">
            <a:extLst>
              <a:ext uri="{FF2B5EF4-FFF2-40B4-BE49-F238E27FC236}">
                <a16:creationId xmlns:a16="http://schemas.microsoft.com/office/drawing/2014/main" id="{8366CD3C-644B-7C4C-AC91-1577467F029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2790119" y="959063"/>
            <a:ext cx="4377043" cy="3282782"/>
          </a:xfrm>
          <a:prstGeom prst="rect">
            <a:avLst/>
          </a:prstGeom>
        </p:spPr>
      </p:pic>
      <p:sp>
        <p:nvSpPr>
          <p:cNvPr id="2" name="textruta 1">
            <a:extLst>
              <a:ext uri="{FF2B5EF4-FFF2-40B4-BE49-F238E27FC236}">
                <a16:creationId xmlns:a16="http://schemas.microsoft.com/office/drawing/2014/main" id="{4CE96825-E4CA-4C44-A6F1-40403CA27088}"/>
              </a:ext>
            </a:extLst>
          </p:cNvPr>
          <p:cNvSpPr txBox="1"/>
          <p:nvPr/>
        </p:nvSpPr>
        <p:spPr>
          <a:xfrm>
            <a:off x="559407" y="6097091"/>
            <a:ext cx="1777025" cy="369332"/>
          </a:xfrm>
          <a:prstGeom prst="rect">
            <a:avLst/>
          </a:prstGeom>
          <a:noFill/>
        </p:spPr>
        <p:txBody>
          <a:bodyPr wrap="none" rtlCol="0">
            <a:spAutoFit/>
          </a:bodyPr>
          <a:lstStyle/>
          <a:p>
            <a:r>
              <a:rPr lang="sv-SE" dirty="0"/>
              <a:t>Höstturbon 2024</a:t>
            </a:r>
          </a:p>
        </p:txBody>
      </p:sp>
      <p:sp>
        <p:nvSpPr>
          <p:cNvPr id="8" name="Platshållare för sidfot 1">
            <a:extLst>
              <a:ext uri="{FF2B5EF4-FFF2-40B4-BE49-F238E27FC236}">
                <a16:creationId xmlns:a16="http://schemas.microsoft.com/office/drawing/2014/main" id="{68073443-5774-0640-A548-66CDA0CB48CC}"/>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4 </a:t>
            </a:r>
            <a:r>
              <a:rPr lang="sv-SE" sz="900" dirty="0" err="1"/>
              <a:t>ç</a:t>
            </a:r>
            <a:endParaRPr lang="sv-SE" sz="900" dirty="0"/>
          </a:p>
        </p:txBody>
      </p:sp>
    </p:spTree>
    <p:extLst>
      <p:ext uri="{BB962C8B-B14F-4D97-AF65-F5344CB8AC3E}">
        <p14:creationId xmlns:p14="http://schemas.microsoft.com/office/powerpoint/2010/main" val="2236092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ktangel 5">
            <a:extLst>
              <a:ext uri="{FF2B5EF4-FFF2-40B4-BE49-F238E27FC236}">
                <a16:creationId xmlns:a16="http://schemas.microsoft.com/office/drawing/2014/main" id="{AC23D414-2E00-A541-ADE0-E8A9FEF75AE0}"/>
              </a:ext>
            </a:extLst>
          </p:cNvPr>
          <p:cNvSpPr/>
          <p:nvPr/>
        </p:nvSpPr>
        <p:spPr>
          <a:xfrm>
            <a:off x="273094" y="659615"/>
            <a:ext cx="6489676" cy="4324261"/>
          </a:xfrm>
          <a:prstGeom prst="rect">
            <a:avLst/>
          </a:prstGeom>
        </p:spPr>
        <p:txBody>
          <a:bodyPr wrap="square">
            <a:spAutoFit/>
          </a:bodyPr>
          <a:lstStyle/>
          <a:p>
            <a:r>
              <a:rPr lang="sv-SE" sz="1100" b="1" dirty="0">
                <a:cs typeface="Avenir Light"/>
              </a:rPr>
              <a:t>Torsk med saffranssås – 2 portioner</a:t>
            </a:r>
            <a:endParaRPr lang="sv-SE" sz="1100" dirty="0">
              <a:cs typeface="Avenir Light"/>
            </a:endParaRPr>
          </a:p>
          <a:p>
            <a:r>
              <a:rPr lang="sv-SE" sz="1100" dirty="0">
                <a:cs typeface="Avenir Light"/>
              </a:rPr>
              <a:t>2 skivor broccoli, ca: 200 g</a:t>
            </a:r>
          </a:p>
          <a:p>
            <a:r>
              <a:rPr lang="sv-SE" sz="1100" dirty="0">
                <a:cs typeface="Avenir Light"/>
              </a:rPr>
              <a:t>1 tsk olivolja</a:t>
            </a:r>
          </a:p>
          <a:p>
            <a:r>
              <a:rPr lang="sv-SE" sz="1100" dirty="0">
                <a:cs typeface="Avenir Light"/>
              </a:rPr>
              <a:t>Salt och svartpeppar</a:t>
            </a:r>
          </a:p>
          <a:p>
            <a:r>
              <a:rPr lang="sv-SE" sz="1100" dirty="0">
                <a:cs typeface="Avenir Light"/>
              </a:rPr>
              <a:t>350 g torskfilé</a:t>
            </a:r>
          </a:p>
          <a:p>
            <a:r>
              <a:rPr lang="sv-SE" sz="1100" dirty="0">
                <a:cs typeface="Avenir Light"/>
              </a:rPr>
              <a:t>salt och vitpeppar</a:t>
            </a:r>
          </a:p>
          <a:p>
            <a:r>
              <a:rPr lang="sv-SE" sz="1100" dirty="0">
                <a:cs typeface="Avenir Light"/>
              </a:rPr>
              <a:t>1 tsk olivolja</a:t>
            </a:r>
          </a:p>
          <a:p>
            <a:r>
              <a:rPr lang="sv-SE" sz="1100" dirty="0">
                <a:cs typeface="Avenir Light"/>
              </a:rPr>
              <a:t>½ dl vatten</a:t>
            </a:r>
          </a:p>
          <a:p>
            <a:endParaRPr lang="sv-SE" sz="1100" dirty="0">
              <a:cs typeface="Avenir Light"/>
            </a:endParaRPr>
          </a:p>
          <a:p>
            <a:r>
              <a:rPr lang="sv-SE" sz="1100" b="1" dirty="0">
                <a:cs typeface="Avenir Light"/>
              </a:rPr>
              <a:t>Saffransås</a:t>
            </a:r>
          </a:p>
          <a:p>
            <a:r>
              <a:rPr lang="sv-SE" sz="1100" dirty="0">
                <a:cs typeface="Avenir Light"/>
              </a:rPr>
              <a:t>¼ gul lök</a:t>
            </a:r>
          </a:p>
          <a:p>
            <a:r>
              <a:rPr lang="sv-SE" sz="1100" dirty="0">
                <a:cs typeface="Avenir Light"/>
              </a:rPr>
              <a:t>¼ vitlöksklyfta</a:t>
            </a:r>
          </a:p>
          <a:p>
            <a:r>
              <a:rPr lang="sv-SE" sz="1100" dirty="0">
                <a:cs typeface="Avenir Light"/>
              </a:rPr>
              <a:t>1 tsk smör</a:t>
            </a:r>
          </a:p>
          <a:p>
            <a:r>
              <a:rPr lang="sv-SE" sz="1100" dirty="0">
                <a:cs typeface="Avenir Light"/>
              </a:rPr>
              <a:t>0,3 g malen saffran</a:t>
            </a:r>
          </a:p>
          <a:p>
            <a:r>
              <a:rPr lang="sv-SE" sz="1100" dirty="0">
                <a:cs typeface="Avenir Light"/>
              </a:rPr>
              <a:t>1 dl havregrädde</a:t>
            </a:r>
          </a:p>
          <a:p>
            <a:r>
              <a:rPr lang="sv-SE" sz="1100" dirty="0">
                <a:cs typeface="Avenir Light"/>
              </a:rPr>
              <a:t>½ dl mjölk</a:t>
            </a:r>
          </a:p>
          <a:p>
            <a:r>
              <a:rPr lang="sv-SE" sz="1100" dirty="0">
                <a:cs typeface="Avenir Light"/>
              </a:rPr>
              <a:t>Salt och svartpeppar</a:t>
            </a:r>
          </a:p>
          <a:p>
            <a:r>
              <a:rPr lang="sv-SE" sz="1100" dirty="0">
                <a:cs typeface="Avenir Light"/>
              </a:rPr>
              <a:t> </a:t>
            </a:r>
          </a:p>
          <a:p>
            <a:r>
              <a:rPr lang="sv-SE" sz="1100" dirty="0">
                <a:cs typeface="Avenir Light"/>
              </a:rPr>
              <a:t>Gör först saffranssåsen genom att skala och finhacka lök fint och riv vitlök. Hetta upp en kastrull med smör och bryn lök och vitlök någon minut. Strö på saffran och häll på grädde. Låt koka upp och späd med mjölk. Smaka av med salt och peppar. Hetta upp en stekpanna med olja och bryn broccoliskivorna någon minut per sida och strö på salt och peppar. Lägg upp på tallrikar. Strö på salt och peppar på torsken. Hetta upp en stekpanna med olja och bryn torskfiléerna på bägge sidor någon minut. Häll på vatten och låt ångkoka klart. Lägg fisken på broccolin och häll över saffranssåsen. Toppa med granatäppelkärnor och pistagenötter. Dekorera med citronskivor och dillkvistar.</a:t>
            </a:r>
          </a:p>
        </p:txBody>
      </p:sp>
      <p:sp>
        <p:nvSpPr>
          <p:cNvPr id="5" name="Platshållare för bildnummer 4">
            <a:extLst>
              <a:ext uri="{FF2B5EF4-FFF2-40B4-BE49-F238E27FC236}">
                <a16:creationId xmlns:a16="http://schemas.microsoft.com/office/drawing/2014/main" id="{4D067D2F-B212-B946-B788-4278406BA836}"/>
              </a:ext>
            </a:extLst>
          </p:cNvPr>
          <p:cNvSpPr>
            <a:spLocks noGrp="1"/>
          </p:cNvSpPr>
          <p:nvPr>
            <p:ph type="sldNum" sz="quarter" idx="12"/>
          </p:nvPr>
        </p:nvSpPr>
        <p:spPr/>
        <p:txBody>
          <a:bodyPr/>
          <a:lstStyle/>
          <a:p>
            <a:fld id="{97BA8967-5D92-4842-BAFB-0C8F679E5DC4}" type="slidenum">
              <a:rPr lang="sv-SE" smtClean="0"/>
              <a:t>7</a:t>
            </a:fld>
            <a:endParaRPr lang="sv-SE"/>
          </a:p>
        </p:txBody>
      </p:sp>
      <p:sp>
        <p:nvSpPr>
          <p:cNvPr id="14" name="textruta 13">
            <a:extLst>
              <a:ext uri="{FF2B5EF4-FFF2-40B4-BE49-F238E27FC236}">
                <a16:creationId xmlns:a16="http://schemas.microsoft.com/office/drawing/2014/main" id="{6EFFA874-F316-B044-9F76-ABB259B7CD4B}"/>
              </a:ext>
            </a:extLst>
          </p:cNvPr>
          <p:cNvSpPr txBox="1"/>
          <p:nvPr/>
        </p:nvSpPr>
        <p:spPr>
          <a:xfrm>
            <a:off x="285023" y="115883"/>
            <a:ext cx="4328308" cy="461665"/>
          </a:xfrm>
          <a:prstGeom prst="rect">
            <a:avLst/>
          </a:prstGeom>
          <a:noFill/>
        </p:spPr>
        <p:txBody>
          <a:bodyPr wrap="square" rtlCol="0">
            <a:spAutoFit/>
          </a:bodyPr>
          <a:lstStyle/>
          <a:p>
            <a:r>
              <a:rPr lang="sv-SE" sz="2400" dirty="0">
                <a:latin typeface="BigCaslonFB" panose="02000603080000020003" pitchFamily="50" charset="0"/>
              </a:rPr>
              <a:t>Fisk</a:t>
            </a:r>
          </a:p>
        </p:txBody>
      </p:sp>
      <p:sp>
        <p:nvSpPr>
          <p:cNvPr id="7" name="Ellips 6">
            <a:extLst>
              <a:ext uri="{FF2B5EF4-FFF2-40B4-BE49-F238E27FC236}">
                <a16:creationId xmlns:a16="http://schemas.microsoft.com/office/drawing/2014/main" id="{A366D2F2-A9DD-244C-9B60-D2D2DC547B82}"/>
              </a:ext>
            </a:extLst>
          </p:cNvPr>
          <p:cNvSpPr/>
          <p:nvPr/>
        </p:nvSpPr>
        <p:spPr>
          <a:xfrm>
            <a:off x="2647339" y="133269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436kcal</a:t>
            </a:r>
            <a:endParaRPr sz="1200" b="1" dirty="0">
              <a:solidFill>
                <a:schemeClr val="bg1"/>
              </a:solidFill>
              <a:ea typeface="ＭＳ 明朝"/>
              <a:cs typeface="Avenir Light"/>
            </a:endParaRPr>
          </a:p>
        </p:txBody>
      </p:sp>
      <p:pic>
        <p:nvPicPr>
          <p:cNvPr id="8" name="Bildobjekt 7">
            <a:extLst>
              <a:ext uri="{FF2B5EF4-FFF2-40B4-BE49-F238E27FC236}">
                <a16:creationId xmlns:a16="http://schemas.microsoft.com/office/drawing/2014/main" id="{A66E6108-AED8-8C49-A34F-486916657FE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809080" y="611248"/>
            <a:ext cx="3375646" cy="2531734"/>
          </a:xfrm>
          <a:prstGeom prst="rect">
            <a:avLst/>
          </a:prstGeom>
        </p:spPr>
      </p:pic>
      <p:sp>
        <p:nvSpPr>
          <p:cNvPr id="9" name="textruta 8">
            <a:extLst>
              <a:ext uri="{FF2B5EF4-FFF2-40B4-BE49-F238E27FC236}">
                <a16:creationId xmlns:a16="http://schemas.microsoft.com/office/drawing/2014/main" id="{CD187EC3-EDB3-6849-939B-FDC35FDF199F}"/>
              </a:ext>
            </a:extLst>
          </p:cNvPr>
          <p:cNvSpPr txBox="1"/>
          <p:nvPr/>
        </p:nvSpPr>
        <p:spPr>
          <a:xfrm>
            <a:off x="1882017" y="2393104"/>
            <a:ext cx="1709122" cy="769441"/>
          </a:xfrm>
          <a:prstGeom prst="rect">
            <a:avLst/>
          </a:prstGeom>
          <a:noFill/>
        </p:spPr>
        <p:txBody>
          <a:bodyPr wrap="none" rtlCol="0">
            <a:spAutoFit/>
          </a:bodyPr>
          <a:lstStyle/>
          <a:p>
            <a:r>
              <a:rPr lang="sv-SE" sz="1100" b="1" dirty="0"/>
              <a:t>Dekoration: </a:t>
            </a:r>
          </a:p>
          <a:p>
            <a:r>
              <a:rPr lang="sv-SE" sz="1100" dirty="0"/>
              <a:t>½ dl granatäppelkärnor, </a:t>
            </a:r>
          </a:p>
          <a:p>
            <a:r>
              <a:rPr lang="sv-SE" sz="1100" dirty="0"/>
              <a:t>2 msk pistagenötter, </a:t>
            </a:r>
          </a:p>
          <a:p>
            <a:r>
              <a:rPr lang="sv-SE" sz="1100" dirty="0"/>
              <a:t>citronskivor och dillkvistar </a:t>
            </a:r>
          </a:p>
        </p:txBody>
      </p:sp>
      <p:sp>
        <p:nvSpPr>
          <p:cNvPr id="2" name="textruta 1">
            <a:extLst>
              <a:ext uri="{FF2B5EF4-FFF2-40B4-BE49-F238E27FC236}">
                <a16:creationId xmlns:a16="http://schemas.microsoft.com/office/drawing/2014/main" id="{45F0DDCA-55E4-CE43-9C1D-770C3EB55CD0}"/>
              </a:ext>
            </a:extLst>
          </p:cNvPr>
          <p:cNvSpPr txBox="1"/>
          <p:nvPr/>
        </p:nvSpPr>
        <p:spPr>
          <a:xfrm>
            <a:off x="2324047" y="2062503"/>
            <a:ext cx="1351973" cy="369332"/>
          </a:xfrm>
          <a:prstGeom prst="rect">
            <a:avLst/>
          </a:prstGeom>
          <a:noFill/>
        </p:spPr>
        <p:txBody>
          <a:bodyPr wrap="none" rtlCol="0">
            <a:spAutoFit/>
          </a:bodyPr>
          <a:lstStyle/>
          <a:p>
            <a:r>
              <a:rPr lang="sv-SE" dirty="0"/>
              <a:t>14 </a:t>
            </a:r>
            <a:r>
              <a:rPr lang="sv-SE" dirty="0" err="1"/>
              <a:t>days</a:t>
            </a:r>
            <a:r>
              <a:rPr lang="sv-SE" dirty="0"/>
              <a:t> </a:t>
            </a:r>
            <a:r>
              <a:rPr lang="sv-SE" dirty="0" err="1"/>
              <a:t>keto</a:t>
            </a:r>
            <a:endParaRPr lang="sv-SE" dirty="0"/>
          </a:p>
        </p:txBody>
      </p:sp>
      <p:pic>
        <p:nvPicPr>
          <p:cNvPr id="11" name="Bildobjekt 10">
            <a:extLst>
              <a:ext uri="{FF2B5EF4-FFF2-40B4-BE49-F238E27FC236}">
                <a16:creationId xmlns:a16="http://schemas.microsoft.com/office/drawing/2014/main" id="{E86AC4D2-9D8A-D849-BB44-ADAF155E434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3803237" y="5186958"/>
            <a:ext cx="3101766" cy="2326324"/>
          </a:xfrm>
          <a:prstGeom prst="rect">
            <a:avLst/>
          </a:prstGeom>
        </p:spPr>
      </p:pic>
      <p:sp>
        <p:nvSpPr>
          <p:cNvPr id="12" name="Rektangel 11">
            <a:extLst>
              <a:ext uri="{FF2B5EF4-FFF2-40B4-BE49-F238E27FC236}">
                <a16:creationId xmlns:a16="http://schemas.microsoft.com/office/drawing/2014/main" id="{7BAABC1B-A0D4-0548-A517-39E9A4CFE8E0}"/>
              </a:ext>
            </a:extLst>
          </p:cNvPr>
          <p:cNvSpPr/>
          <p:nvPr/>
        </p:nvSpPr>
        <p:spPr>
          <a:xfrm>
            <a:off x="285023" y="5451623"/>
            <a:ext cx="6477747" cy="3477875"/>
          </a:xfrm>
          <a:prstGeom prst="rect">
            <a:avLst/>
          </a:prstGeom>
        </p:spPr>
        <p:txBody>
          <a:bodyPr wrap="square" lIns="91440" tIns="45720" rIns="91440" bIns="45720" anchor="t">
            <a:spAutoFit/>
          </a:bodyPr>
          <a:lstStyle/>
          <a:p>
            <a:r>
              <a:rPr lang="sv-SE" sz="1100" b="1" dirty="0">
                <a:solidFill>
                  <a:srgbClr val="000000"/>
                </a:solidFill>
              </a:rPr>
              <a:t>Valnötslax med </a:t>
            </a:r>
            <a:r>
              <a:rPr lang="sv-SE" sz="1100" b="1" dirty="0" err="1">
                <a:solidFill>
                  <a:srgbClr val="000000"/>
                </a:solidFill>
              </a:rPr>
              <a:t>fetaostcreme</a:t>
            </a:r>
            <a:r>
              <a:rPr lang="sv-SE" sz="1100" b="1" dirty="0">
                <a:solidFill>
                  <a:srgbClr val="000000"/>
                </a:solidFill>
              </a:rPr>
              <a:t> - 2 portioner</a:t>
            </a:r>
            <a:endParaRPr lang="sv-SE" sz="1100" dirty="0">
              <a:solidFill>
                <a:srgbClr val="000000"/>
              </a:solidFill>
            </a:endParaRPr>
          </a:p>
          <a:p>
            <a:r>
              <a:rPr lang="sv-SE" sz="1100" dirty="0">
                <a:solidFill>
                  <a:srgbClr val="000000"/>
                </a:solidFill>
              </a:rPr>
              <a:t>300 g laxfilé</a:t>
            </a:r>
          </a:p>
          <a:p>
            <a:r>
              <a:rPr lang="sv-SE" sz="1100" dirty="0">
                <a:solidFill>
                  <a:srgbClr val="000000"/>
                </a:solidFill>
              </a:rPr>
              <a:t>Salt och svartpeppar </a:t>
            </a:r>
          </a:p>
          <a:p>
            <a:r>
              <a:rPr lang="sv-SE" sz="1100" dirty="0">
                <a:solidFill>
                  <a:srgbClr val="000000"/>
                </a:solidFill>
              </a:rPr>
              <a:t>1 msk honung </a:t>
            </a:r>
          </a:p>
          <a:p>
            <a:r>
              <a:rPr lang="sv-SE" sz="1100" dirty="0">
                <a:solidFill>
                  <a:srgbClr val="000000"/>
                </a:solidFill>
              </a:rPr>
              <a:t>2 msk valnötter ’</a:t>
            </a:r>
          </a:p>
          <a:p>
            <a:r>
              <a:rPr lang="sv-SE" sz="1100" dirty="0">
                <a:solidFill>
                  <a:srgbClr val="000000"/>
                </a:solidFill>
              </a:rPr>
              <a:t>300 g sockerärtor </a:t>
            </a:r>
          </a:p>
          <a:p>
            <a:r>
              <a:rPr lang="sv-SE" sz="1100" dirty="0">
                <a:solidFill>
                  <a:srgbClr val="000000"/>
                </a:solidFill>
              </a:rPr>
              <a:t>1/4 rödlök</a:t>
            </a:r>
            <a:r>
              <a:rPr lang="sv-SE" sz="1100" b="1" dirty="0">
                <a:solidFill>
                  <a:srgbClr val="000000"/>
                </a:solidFill>
              </a:rPr>
              <a:t> </a:t>
            </a:r>
            <a:endParaRPr lang="sv-SE" sz="1100" dirty="0">
              <a:solidFill>
                <a:srgbClr val="000000"/>
              </a:solidFill>
            </a:endParaRPr>
          </a:p>
          <a:p>
            <a:r>
              <a:rPr lang="sv-SE" sz="1100" dirty="0">
                <a:solidFill>
                  <a:srgbClr val="000000"/>
                </a:solidFill>
              </a:rPr>
              <a:t>3 torkade aprikoser</a:t>
            </a:r>
          </a:p>
          <a:p>
            <a:r>
              <a:rPr lang="sv-SE" sz="1100" dirty="0">
                <a:solidFill>
                  <a:srgbClr val="000000"/>
                </a:solidFill>
              </a:rPr>
              <a:t>1 msk olivolja </a:t>
            </a:r>
          </a:p>
          <a:p>
            <a:endParaRPr lang="sv-SE" sz="1100" dirty="0">
              <a:solidFill>
                <a:srgbClr val="000000"/>
              </a:solidFill>
            </a:endParaRPr>
          </a:p>
          <a:p>
            <a:r>
              <a:rPr lang="sv-SE" sz="1100" b="1" dirty="0" err="1">
                <a:solidFill>
                  <a:srgbClr val="000000"/>
                </a:solidFill>
              </a:rPr>
              <a:t>Fetaostcréme</a:t>
            </a:r>
            <a:endParaRPr lang="sv-SE" sz="1100" b="1" dirty="0">
              <a:solidFill>
                <a:srgbClr val="000000"/>
              </a:solidFill>
            </a:endParaRPr>
          </a:p>
          <a:p>
            <a:r>
              <a:rPr lang="sv-SE" sz="1100" dirty="0">
                <a:solidFill>
                  <a:srgbClr val="000000"/>
                </a:solidFill>
              </a:rPr>
              <a:t>1 dl grekisk yoghurt, 6%</a:t>
            </a:r>
          </a:p>
          <a:p>
            <a:r>
              <a:rPr lang="sv-SE" sz="1100" dirty="0">
                <a:solidFill>
                  <a:srgbClr val="000000"/>
                </a:solidFill>
              </a:rPr>
              <a:t>50 g fetaost </a:t>
            </a:r>
          </a:p>
          <a:p>
            <a:r>
              <a:rPr lang="sv-SE" sz="1100" dirty="0">
                <a:solidFill>
                  <a:srgbClr val="000000"/>
                </a:solidFill>
              </a:rPr>
              <a:t>1 msk </a:t>
            </a:r>
            <a:r>
              <a:rPr lang="sv-SE" sz="1100" dirty="0">
                <a:solidFill>
                  <a:srgbClr val="FF0000"/>
                </a:solidFill>
              </a:rPr>
              <a:t>hackad</a:t>
            </a:r>
            <a:r>
              <a:rPr lang="sv-SE" sz="1100" dirty="0">
                <a:solidFill>
                  <a:srgbClr val="000000"/>
                </a:solidFill>
              </a:rPr>
              <a:t> mynta  </a:t>
            </a:r>
            <a:br>
              <a:rPr lang="sv-SE" sz="1100" dirty="0">
                <a:solidFill>
                  <a:srgbClr val="000000"/>
                </a:solidFill>
              </a:rPr>
            </a:br>
            <a:endParaRPr lang="sv-SE" sz="1100" dirty="0">
              <a:solidFill>
                <a:srgbClr val="000000"/>
              </a:solidFill>
            </a:endParaRPr>
          </a:p>
          <a:p>
            <a:r>
              <a:rPr lang="sv-SE" sz="1100" dirty="0">
                <a:solidFill>
                  <a:srgbClr val="000000"/>
                </a:solidFill>
              </a:rPr>
              <a:t>Sätt ugnen på 200 grader. Lägg laxen på en bakplåtsklädd ugnsform och strö över salt och peppar. Ringla över honung och strö över valnötter. Ställ in laxen i ugnen i 10 min. Blanda ihop yoghurt, fetaost och mynta i en bunke. Strö på salt och peppar. Mixa såsen slät. Skär sockerärtor i mindre bitar. Strimla rödlök och aprikoser. Lägg grönsakerna i en skål och ringla över olivolja och strö på salt och peppar. Lägg upp laxen på fat och servera med sockerärtssallad och </a:t>
            </a:r>
            <a:r>
              <a:rPr lang="sv-SE" sz="1100" dirty="0" err="1">
                <a:solidFill>
                  <a:srgbClr val="000000"/>
                </a:solidFill>
              </a:rPr>
              <a:t>fetaostreme</a:t>
            </a:r>
            <a:r>
              <a:rPr lang="sv-SE" sz="1100" dirty="0">
                <a:solidFill>
                  <a:srgbClr val="000000"/>
                </a:solidFill>
              </a:rPr>
              <a:t>.</a:t>
            </a:r>
            <a:endParaRPr lang="sv-SE" sz="1100" dirty="0">
              <a:solidFill>
                <a:srgbClr val="000000"/>
              </a:solidFill>
              <a:effectLst/>
            </a:endParaRPr>
          </a:p>
        </p:txBody>
      </p:sp>
      <p:sp>
        <p:nvSpPr>
          <p:cNvPr id="15" name="Platshållare för sidfot 1">
            <a:extLst>
              <a:ext uri="{FF2B5EF4-FFF2-40B4-BE49-F238E27FC236}">
                <a16:creationId xmlns:a16="http://schemas.microsoft.com/office/drawing/2014/main" id="{EBFC7801-75B8-BA49-9EFD-8CA4E12135A9}"/>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4 </a:t>
            </a:r>
            <a:r>
              <a:rPr lang="sv-SE" sz="900" dirty="0" err="1"/>
              <a:t>ç</a:t>
            </a:r>
            <a:endParaRPr lang="sv-SE" sz="900" dirty="0"/>
          </a:p>
        </p:txBody>
      </p:sp>
      <p:sp>
        <p:nvSpPr>
          <p:cNvPr id="16" name="Ellips 15">
            <a:extLst>
              <a:ext uri="{FF2B5EF4-FFF2-40B4-BE49-F238E27FC236}">
                <a16:creationId xmlns:a16="http://schemas.microsoft.com/office/drawing/2014/main" id="{253AC20F-0CDA-144A-8990-F589946A6B12}"/>
              </a:ext>
            </a:extLst>
          </p:cNvPr>
          <p:cNvSpPr/>
          <p:nvPr/>
        </p:nvSpPr>
        <p:spPr>
          <a:xfrm>
            <a:off x="2801366" y="6037817"/>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548kcal</a:t>
            </a:r>
            <a:endParaRPr sz="1200" b="1" dirty="0">
              <a:solidFill>
                <a:schemeClr val="bg1"/>
              </a:solidFill>
              <a:ea typeface="ＭＳ 明朝"/>
              <a:cs typeface="Avenir Light"/>
            </a:endParaRPr>
          </a:p>
        </p:txBody>
      </p:sp>
    </p:spTree>
    <p:extLst>
      <p:ext uri="{BB962C8B-B14F-4D97-AF65-F5344CB8AC3E}">
        <p14:creationId xmlns:p14="http://schemas.microsoft.com/office/powerpoint/2010/main" val="2366104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AA87304A-35B7-4042-BF22-9FDF22A04105}"/>
              </a:ext>
            </a:extLst>
          </p:cNvPr>
          <p:cNvSpPr>
            <a:spLocks noGrp="1"/>
          </p:cNvSpPr>
          <p:nvPr>
            <p:ph type="sldNum" sz="quarter" idx="12"/>
          </p:nvPr>
        </p:nvSpPr>
        <p:spPr/>
        <p:txBody>
          <a:bodyPr/>
          <a:lstStyle/>
          <a:p>
            <a:fld id="{97BA8967-5D92-4842-BAFB-0C8F679E5DC4}" type="slidenum">
              <a:rPr lang="sv-SE" smtClean="0"/>
              <a:t>8</a:t>
            </a:fld>
            <a:endParaRPr lang="sv-SE"/>
          </a:p>
        </p:txBody>
      </p:sp>
      <p:sp>
        <p:nvSpPr>
          <p:cNvPr id="11" name="textruta 10">
            <a:extLst>
              <a:ext uri="{FF2B5EF4-FFF2-40B4-BE49-F238E27FC236}">
                <a16:creationId xmlns:a16="http://schemas.microsoft.com/office/drawing/2014/main" id="{D3FFF5D6-C53C-A34C-9DB1-E9EE5DD0D74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Kött</a:t>
            </a:r>
          </a:p>
        </p:txBody>
      </p:sp>
      <p:sp>
        <p:nvSpPr>
          <p:cNvPr id="4" name="Platshållare för sidfot 1">
            <a:extLst>
              <a:ext uri="{FF2B5EF4-FFF2-40B4-BE49-F238E27FC236}">
                <a16:creationId xmlns:a16="http://schemas.microsoft.com/office/drawing/2014/main" id="{A1717C78-3987-E448-BBCD-14903D019B35}"/>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4 </a:t>
            </a:r>
          </a:p>
        </p:txBody>
      </p:sp>
      <p:pic>
        <p:nvPicPr>
          <p:cNvPr id="6" name="Bildobjekt 5">
            <a:extLst>
              <a:ext uri="{FF2B5EF4-FFF2-40B4-BE49-F238E27FC236}">
                <a16:creationId xmlns:a16="http://schemas.microsoft.com/office/drawing/2014/main" id="{C27346CE-1E52-8341-B82E-DAF14F64D9E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2748475" y="1021273"/>
            <a:ext cx="4304714" cy="3228536"/>
          </a:xfrm>
          <a:prstGeom prst="rect">
            <a:avLst/>
          </a:prstGeom>
        </p:spPr>
      </p:pic>
      <p:sp>
        <p:nvSpPr>
          <p:cNvPr id="7" name="Rektangel 6">
            <a:extLst>
              <a:ext uri="{FF2B5EF4-FFF2-40B4-BE49-F238E27FC236}">
                <a16:creationId xmlns:a16="http://schemas.microsoft.com/office/drawing/2014/main" id="{3865C605-39FD-414C-9E2A-2C78A321593F}"/>
              </a:ext>
            </a:extLst>
          </p:cNvPr>
          <p:cNvSpPr/>
          <p:nvPr/>
        </p:nvSpPr>
        <p:spPr>
          <a:xfrm>
            <a:off x="225220" y="2207446"/>
            <a:ext cx="6325669" cy="5847755"/>
          </a:xfrm>
          <a:prstGeom prst="rect">
            <a:avLst/>
          </a:prstGeom>
        </p:spPr>
        <p:txBody>
          <a:bodyPr wrap="square" lIns="91440" tIns="45720" rIns="91440" bIns="45720" anchor="t">
            <a:spAutoFit/>
          </a:bodyPr>
          <a:lstStyle/>
          <a:p>
            <a:pPr>
              <a:spcAft>
                <a:spcPts val="0"/>
              </a:spcAft>
            </a:pPr>
            <a:r>
              <a:rPr lang="sv-SE" sz="1100" b="1" kern="0" dirty="0">
                <a:solidFill>
                  <a:srgbClr val="000000"/>
                </a:solidFill>
                <a:ea typeface="Calibri" panose="020F0502020204030204" pitchFamily="34" charset="0"/>
                <a:cs typeface="Times New Roman" panose="02020603050405020304" pitchFamily="18" charset="0"/>
              </a:rPr>
              <a:t>Lövbiffsrullader med brie, pesto och rödbetor</a:t>
            </a:r>
          </a:p>
          <a:p>
            <a:pPr>
              <a:spcAft>
                <a:spcPts val="0"/>
              </a:spcAft>
            </a:pPr>
            <a:r>
              <a:rPr lang="sv-SE" sz="1100" b="1" kern="0" dirty="0">
                <a:solidFill>
                  <a:srgbClr val="000000"/>
                </a:solidFill>
                <a:ea typeface="Calibri" panose="020F0502020204030204" pitchFamily="34" charset="0"/>
                <a:cs typeface="Times New Roman" panose="02020603050405020304" pitchFamily="18" charset="0"/>
              </a:rPr>
              <a:t>- 2 personer </a:t>
            </a:r>
            <a:endParaRPr lang="sv-SE" sz="1100" kern="100" dirty="0">
              <a:ea typeface="Calibri" panose="020F0502020204030204" pitchFamily="34" charset="0"/>
              <a:cs typeface="Times New Roman" panose="02020603050405020304" pitchFamily="18" charset="0"/>
            </a:endParaRPr>
          </a:p>
          <a:p>
            <a:pPr>
              <a:spcAft>
                <a:spcPts val="0"/>
              </a:spcAft>
            </a:pPr>
            <a:r>
              <a:rPr lang="sv-SE" sz="1100" kern="100" dirty="0">
                <a:ea typeface="Calibri" panose="020F0502020204030204" pitchFamily="34" charset="0"/>
                <a:cs typeface="Times New Roman" panose="02020603050405020304" pitchFamily="18" charset="0"/>
              </a:rPr>
              <a:t>3  rödbetor</a:t>
            </a:r>
          </a:p>
          <a:p>
            <a:pPr>
              <a:spcAft>
                <a:spcPts val="0"/>
              </a:spcAft>
            </a:pPr>
            <a:r>
              <a:rPr lang="sv-SE" sz="1100" kern="100" dirty="0">
                <a:ea typeface="Calibri" panose="020F0502020204030204" pitchFamily="34" charset="0"/>
                <a:cs typeface="Times New Roman" panose="02020603050405020304" pitchFamily="18" charset="0"/>
              </a:rPr>
              <a:t>1 tsk olivolja</a:t>
            </a:r>
          </a:p>
          <a:p>
            <a:pPr>
              <a:spcAft>
                <a:spcPts val="0"/>
              </a:spcAft>
            </a:pPr>
            <a:r>
              <a:rPr lang="sv-SE" sz="1100" kern="100" dirty="0">
                <a:ea typeface="Calibri" panose="020F0502020204030204" pitchFamily="34" charset="0"/>
                <a:cs typeface="Times New Roman" panose="02020603050405020304" pitchFamily="18" charset="0"/>
              </a:rPr>
              <a:t>Salt och svartpeppar</a:t>
            </a:r>
          </a:p>
          <a:p>
            <a:pPr>
              <a:spcAft>
                <a:spcPts val="0"/>
              </a:spcAft>
            </a:pPr>
            <a:r>
              <a:rPr lang="sv-SE" sz="1100" kern="100" dirty="0">
                <a:ea typeface="Calibri" panose="020F0502020204030204" pitchFamily="34" charset="0"/>
                <a:cs typeface="Times New Roman" panose="02020603050405020304" pitchFamily="18" charset="0"/>
              </a:rPr>
              <a:t>1 krm örtagårdskydda </a:t>
            </a:r>
          </a:p>
          <a:p>
            <a:pPr>
              <a:spcAft>
                <a:spcPts val="0"/>
              </a:spcAft>
            </a:pPr>
            <a:r>
              <a:rPr lang="sv-SE" sz="1100" kern="0" dirty="0">
                <a:solidFill>
                  <a:srgbClr val="000000"/>
                </a:solidFill>
                <a:ea typeface="Calibri" panose="020F0502020204030204" pitchFamily="34" charset="0"/>
                <a:cs typeface="Times New Roman" panose="02020603050405020304" pitchFamily="18" charset="0"/>
              </a:rPr>
              <a:t>300 g lövbiff</a:t>
            </a:r>
            <a:endParaRPr lang="sv-SE" sz="1100" kern="100" dirty="0">
              <a:ea typeface="Calibri" panose="020F0502020204030204" pitchFamily="34" charset="0"/>
              <a:cs typeface="Times New Roman" panose="02020603050405020304" pitchFamily="18" charset="0"/>
            </a:endParaRPr>
          </a:p>
          <a:p>
            <a:pPr>
              <a:spcAft>
                <a:spcPts val="0"/>
              </a:spcAft>
            </a:pPr>
            <a:r>
              <a:rPr lang="sv-SE" sz="1100" kern="0" dirty="0">
                <a:solidFill>
                  <a:srgbClr val="000000"/>
                </a:solidFill>
                <a:ea typeface="Calibri" panose="020F0502020204030204" pitchFamily="34" charset="0"/>
                <a:cs typeface="Times New Roman" panose="02020603050405020304" pitchFamily="18" charset="0"/>
              </a:rPr>
              <a:t>1,5 msk grön pesto</a:t>
            </a:r>
            <a:endParaRPr lang="sv-SE" sz="1100" kern="100" dirty="0">
              <a:ea typeface="Calibri" panose="020F0502020204030204" pitchFamily="34" charset="0"/>
              <a:cs typeface="Times New Roman" panose="02020603050405020304" pitchFamily="18" charset="0"/>
            </a:endParaRPr>
          </a:p>
          <a:p>
            <a:pPr>
              <a:spcAft>
                <a:spcPts val="0"/>
              </a:spcAft>
            </a:pPr>
            <a:r>
              <a:rPr lang="sv-SE" sz="1100" kern="0" dirty="0">
                <a:solidFill>
                  <a:srgbClr val="000000"/>
                </a:solidFill>
                <a:ea typeface="Calibri" panose="020F0502020204030204" pitchFamily="34" charset="0"/>
                <a:cs typeface="Times New Roman" panose="02020603050405020304" pitchFamily="18" charset="0"/>
              </a:rPr>
              <a:t>50 g brieost</a:t>
            </a:r>
            <a:endParaRPr lang="sv-SE" sz="1100" kern="100" dirty="0">
              <a:ea typeface="Calibri" panose="020F0502020204030204" pitchFamily="34" charset="0"/>
              <a:cs typeface="Times New Roman" panose="02020603050405020304" pitchFamily="18" charset="0"/>
            </a:endParaRPr>
          </a:p>
          <a:p>
            <a:pPr>
              <a:spcAft>
                <a:spcPts val="0"/>
              </a:spcAft>
            </a:pPr>
            <a:r>
              <a:rPr lang="sv-SE" sz="1100" kern="0" dirty="0">
                <a:solidFill>
                  <a:srgbClr val="000000"/>
                </a:solidFill>
                <a:ea typeface="Calibri" panose="020F0502020204030204" pitchFamily="34" charset="0"/>
                <a:cs typeface="Times New Roman" panose="02020603050405020304" pitchFamily="18" charset="0"/>
              </a:rPr>
              <a:t>4 torkade aprikoser</a:t>
            </a:r>
            <a:endParaRPr lang="sv-SE" sz="1100" kern="100" dirty="0">
              <a:ea typeface="Calibri" panose="020F0502020204030204" pitchFamily="34" charset="0"/>
              <a:cs typeface="Times New Roman" panose="02020603050405020304" pitchFamily="18" charset="0"/>
            </a:endParaRPr>
          </a:p>
          <a:p>
            <a:pPr>
              <a:spcAft>
                <a:spcPts val="0"/>
              </a:spcAft>
            </a:pPr>
            <a:r>
              <a:rPr lang="sv-SE" sz="1100" kern="0" dirty="0">
                <a:solidFill>
                  <a:srgbClr val="000000"/>
                </a:solidFill>
                <a:ea typeface="Calibri" panose="020F0502020204030204" pitchFamily="34" charset="0"/>
                <a:cs typeface="Times New Roman" panose="02020603050405020304" pitchFamily="18" charset="0"/>
              </a:rPr>
              <a:t>10 basilikablad </a:t>
            </a:r>
            <a:endParaRPr lang="sv-SE" sz="1100" kern="100" dirty="0">
              <a:ea typeface="Calibri" panose="020F0502020204030204" pitchFamily="34" charset="0"/>
              <a:cs typeface="Times New Roman" panose="02020603050405020304" pitchFamily="18" charset="0"/>
            </a:endParaRPr>
          </a:p>
          <a:p>
            <a:pPr>
              <a:spcAft>
                <a:spcPts val="0"/>
              </a:spcAft>
            </a:pPr>
            <a:r>
              <a:rPr lang="sv-SE" sz="1100" kern="0" dirty="0">
                <a:solidFill>
                  <a:srgbClr val="000000"/>
                </a:solidFill>
                <a:ea typeface="Calibri" panose="020F0502020204030204" pitchFamily="34" charset="0"/>
                <a:cs typeface="Times New Roman" panose="02020603050405020304" pitchFamily="18" charset="0"/>
              </a:rPr>
              <a:t>1 tsk olivolja</a:t>
            </a:r>
            <a:endParaRPr lang="sv-SE" sz="1100" kern="100" dirty="0">
              <a:ea typeface="Calibri" panose="020F0502020204030204" pitchFamily="34" charset="0"/>
              <a:cs typeface="Times New Roman" panose="02020603050405020304" pitchFamily="18" charset="0"/>
            </a:endParaRPr>
          </a:p>
          <a:p>
            <a:pPr>
              <a:spcAft>
                <a:spcPts val="0"/>
              </a:spcAft>
            </a:pPr>
            <a:endParaRPr lang="sv-SE" sz="1100" kern="100" dirty="0">
              <a:ea typeface="Calibri" panose="020F0502020204030204" pitchFamily="34" charset="0"/>
              <a:cs typeface="Times New Roman" panose="02020603050405020304" pitchFamily="18" charset="0"/>
            </a:endParaRPr>
          </a:p>
          <a:p>
            <a:pPr>
              <a:spcAft>
                <a:spcPts val="0"/>
              </a:spcAft>
            </a:pPr>
            <a:r>
              <a:rPr lang="sv-SE" sz="1100" b="1" kern="0" dirty="0">
                <a:solidFill>
                  <a:srgbClr val="000000"/>
                </a:solidFill>
                <a:ea typeface="Calibri" panose="020F0502020204030204" pitchFamily="34" charset="0"/>
                <a:cs typeface="Times New Roman" panose="02020603050405020304" pitchFamily="18" charset="0"/>
              </a:rPr>
              <a:t>Pestosås</a:t>
            </a:r>
            <a:endParaRPr lang="sv-SE" sz="1100" kern="100" dirty="0">
              <a:ea typeface="Calibri" panose="020F0502020204030204" pitchFamily="34" charset="0"/>
              <a:cs typeface="Times New Roman" panose="02020603050405020304" pitchFamily="18" charset="0"/>
            </a:endParaRPr>
          </a:p>
          <a:p>
            <a:pPr>
              <a:spcAft>
                <a:spcPts val="0"/>
              </a:spcAft>
            </a:pPr>
            <a:r>
              <a:rPr lang="sv-SE" sz="1100" kern="0" dirty="0">
                <a:solidFill>
                  <a:srgbClr val="000000"/>
                </a:solidFill>
                <a:ea typeface="Calibri" panose="020F0502020204030204" pitchFamily="34" charset="0"/>
                <a:cs typeface="Times New Roman" panose="02020603050405020304" pitchFamily="18" charset="0"/>
              </a:rPr>
              <a:t>½ dl grekisk yoghurt, 6%</a:t>
            </a:r>
            <a:endParaRPr lang="sv-SE" sz="1100" kern="100" dirty="0">
              <a:ea typeface="Calibri" panose="020F0502020204030204" pitchFamily="34" charset="0"/>
              <a:cs typeface="Times New Roman" panose="02020603050405020304" pitchFamily="18" charset="0"/>
            </a:endParaRPr>
          </a:p>
          <a:p>
            <a:pPr>
              <a:spcAft>
                <a:spcPts val="0"/>
              </a:spcAft>
            </a:pPr>
            <a:r>
              <a:rPr lang="sv-SE" sz="1100" kern="0" dirty="0">
                <a:solidFill>
                  <a:srgbClr val="000000"/>
                </a:solidFill>
                <a:ea typeface="Calibri" panose="020F0502020204030204" pitchFamily="34" charset="0"/>
                <a:cs typeface="Times New Roman" panose="02020603050405020304" pitchFamily="18" charset="0"/>
              </a:rPr>
              <a:t>1 msk pesto</a:t>
            </a:r>
            <a:endParaRPr lang="sv-SE" sz="1100" kern="100" dirty="0">
              <a:ea typeface="Calibri" panose="020F0502020204030204" pitchFamily="34" charset="0"/>
              <a:cs typeface="Times New Roman" panose="02020603050405020304" pitchFamily="18" charset="0"/>
            </a:endParaRPr>
          </a:p>
          <a:p>
            <a:pPr>
              <a:spcAft>
                <a:spcPts val="0"/>
              </a:spcAft>
            </a:pPr>
            <a:r>
              <a:rPr lang="sv-SE" sz="1100" kern="0" dirty="0">
                <a:solidFill>
                  <a:srgbClr val="000000"/>
                </a:solidFill>
                <a:ea typeface="Calibri" panose="020F0502020204030204" pitchFamily="34" charset="0"/>
                <a:cs typeface="Times New Roman" panose="02020603050405020304" pitchFamily="18" charset="0"/>
              </a:rPr>
              <a:t>Salt och svartpeppar</a:t>
            </a:r>
            <a:endParaRPr lang="sv-SE" sz="1100" kern="100" dirty="0">
              <a:ea typeface="Calibri" panose="020F0502020204030204" pitchFamily="34" charset="0"/>
              <a:cs typeface="Times New Roman" panose="02020603050405020304" pitchFamily="18" charset="0"/>
            </a:endParaRPr>
          </a:p>
          <a:p>
            <a:pPr>
              <a:spcAft>
                <a:spcPts val="0"/>
              </a:spcAft>
            </a:pPr>
            <a:endParaRPr lang="sv-SE" sz="1100" kern="100" dirty="0">
              <a:ea typeface="Calibri" panose="020F0502020204030204" pitchFamily="34" charset="0"/>
              <a:cs typeface="Times New Roman" panose="02020603050405020304" pitchFamily="18" charset="0"/>
            </a:endParaRPr>
          </a:p>
          <a:p>
            <a:pPr>
              <a:spcAft>
                <a:spcPts val="0"/>
              </a:spcAft>
            </a:pPr>
            <a:r>
              <a:rPr lang="sv-SE" sz="1100" b="1" kern="0" dirty="0">
                <a:solidFill>
                  <a:srgbClr val="000000"/>
                </a:solidFill>
                <a:ea typeface="Calibri" panose="020F0502020204030204" pitchFamily="34" charset="0"/>
                <a:cs typeface="Times New Roman" panose="02020603050405020304" pitchFamily="18" charset="0"/>
              </a:rPr>
              <a:t>Tillbehör</a:t>
            </a:r>
            <a:endParaRPr lang="sv-SE" sz="1100" kern="100" dirty="0">
              <a:ea typeface="Calibri" panose="020F0502020204030204" pitchFamily="34" charset="0"/>
              <a:cs typeface="Times New Roman" panose="02020603050405020304" pitchFamily="18" charset="0"/>
            </a:endParaRPr>
          </a:p>
          <a:p>
            <a:pPr>
              <a:spcAft>
                <a:spcPts val="0"/>
              </a:spcAft>
            </a:pPr>
            <a:r>
              <a:rPr lang="sv-SE" sz="1100" kern="0" dirty="0">
                <a:solidFill>
                  <a:srgbClr val="000000"/>
                </a:solidFill>
                <a:ea typeface="Calibri" panose="020F0502020204030204" pitchFamily="34" charset="0"/>
                <a:cs typeface="Times New Roman" panose="02020603050405020304" pitchFamily="18" charset="0"/>
              </a:rPr>
              <a:t>20 g rucolasallad</a:t>
            </a:r>
            <a:endParaRPr lang="sv-SE" sz="1100" kern="100" dirty="0">
              <a:ea typeface="Calibri" panose="020F0502020204030204" pitchFamily="34" charset="0"/>
              <a:cs typeface="Times New Roman" panose="02020603050405020304" pitchFamily="18" charset="0"/>
            </a:endParaRPr>
          </a:p>
          <a:p>
            <a:pPr>
              <a:spcAft>
                <a:spcPts val="0"/>
              </a:spcAft>
            </a:pPr>
            <a:r>
              <a:rPr lang="sv-SE" sz="1100" kern="0" dirty="0">
                <a:solidFill>
                  <a:srgbClr val="000000"/>
                </a:solidFill>
                <a:ea typeface="Calibri"/>
                <a:cs typeface="Times New Roman"/>
              </a:rPr>
              <a:t>3 torkade </a:t>
            </a:r>
            <a:r>
              <a:rPr lang="sv-SE" sz="1100" kern="0" dirty="0">
                <a:solidFill>
                  <a:srgbClr val="FF0000"/>
                </a:solidFill>
                <a:ea typeface="Calibri"/>
                <a:cs typeface="Times New Roman"/>
              </a:rPr>
              <a:t>strimlade</a:t>
            </a:r>
            <a:r>
              <a:rPr lang="sv-SE" sz="1100" kern="0" dirty="0">
                <a:solidFill>
                  <a:srgbClr val="000000"/>
                </a:solidFill>
                <a:ea typeface="Calibri"/>
                <a:cs typeface="Times New Roman"/>
              </a:rPr>
              <a:t> aprikoser</a:t>
            </a:r>
            <a:endParaRPr lang="sv-SE" sz="1100" kern="100" dirty="0">
              <a:ea typeface="Calibri"/>
              <a:cs typeface="Times New Roman"/>
            </a:endParaRPr>
          </a:p>
          <a:p>
            <a:pPr>
              <a:spcAft>
                <a:spcPts val="0"/>
              </a:spcAft>
            </a:pPr>
            <a:r>
              <a:rPr lang="sv-SE" sz="1100" kern="0" dirty="0">
                <a:solidFill>
                  <a:srgbClr val="000000"/>
                </a:solidFill>
                <a:ea typeface="Calibri"/>
                <a:cs typeface="Times New Roman"/>
              </a:rPr>
              <a:t>2 msk </a:t>
            </a:r>
            <a:r>
              <a:rPr lang="sv-SE" sz="1100" kern="0" dirty="0">
                <a:solidFill>
                  <a:srgbClr val="FF0000"/>
                </a:solidFill>
                <a:ea typeface="Calibri"/>
                <a:cs typeface="Times New Roman"/>
              </a:rPr>
              <a:t>hackad</a:t>
            </a:r>
            <a:r>
              <a:rPr lang="sv-SE" sz="1100" kern="0" dirty="0">
                <a:solidFill>
                  <a:srgbClr val="000000"/>
                </a:solidFill>
                <a:ea typeface="Calibri"/>
                <a:cs typeface="Times New Roman"/>
              </a:rPr>
              <a:t> persilja </a:t>
            </a:r>
            <a:endParaRPr lang="sv-SE" sz="1100" kern="100" dirty="0">
              <a:ea typeface="Calibri"/>
              <a:cs typeface="Times New Roman"/>
            </a:endParaRPr>
          </a:p>
          <a:p>
            <a:pPr>
              <a:spcAft>
                <a:spcPts val="0"/>
              </a:spcAft>
            </a:pPr>
            <a:r>
              <a:rPr lang="sv-SE" sz="1100" kern="0" dirty="0">
                <a:solidFill>
                  <a:srgbClr val="000000"/>
                </a:solidFill>
                <a:ea typeface="Calibri"/>
                <a:cs typeface="Times New Roman"/>
              </a:rPr>
              <a:t>40 g </a:t>
            </a:r>
            <a:r>
              <a:rPr lang="sv-SE" sz="1100" kern="0" dirty="0">
                <a:solidFill>
                  <a:srgbClr val="FF0000"/>
                </a:solidFill>
                <a:ea typeface="Calibri"/>
                <a:cs typeface="Times New Roman"/>
              </a:rPr>
              <a:t>skivad</a:t>
            </a:r>
            <a:r>
              <a:rPr lang="sv-SE" sz="1100" kern="0" dirty="0">
                <a:solidFill>
                  <a:srgbClr val="000000"/>
                </a:solidFill>
                <a:ea typeface="Calibri"/>
                <a:cs typeface="Times New Roman"/>
              </a:rPr>
              <a:t> brieost</a:t>
            </a:r>
            <a:endParaRPr lang="sv-SE" sz="1100" kern="100" dirty="0">
              <a:ea typeface="Calibri"/>
              <a:cs typeface="Times New Roman"/>
            </a:endParaRPr>
          </a:p>
          <a:p>
            <a:pPr>
              <a:spcAft>
                <a:spcPts val="0"/>
              </a:spcAft>
            </a:pPr>
            <a:endParaRPr lang="sv-SE" sz="1100" kern="100" dirty="0">
              <a:ea typeface="Calibri" panose="020F0502020204030204" pitchFamily="34" charset="0"/>
              <a:cs typeface="Times New Roman" panose="02020603050405020304" pitchFamily="18" charset="0"/>
            </a:endParaRPr>
          </a:p>
          <a:p>
            <a:pPr>
              <a:spcAft>
                <a:spcPts val="0"/>
              </a:spcAft>
            </a:pPr>
            <a:r>
              <a:rPr lang="sv-SE" sz="1100" kern="100" dirty="0">
                <a:ea typeface="Calibri" panose="020F0502020204030204" pitchFamily="34" charset="0"/>
                <a:cs typeface="Times New Roman" panose="02020603050405020304" pitchFamily="18" charset="0"/>
              </a:rPr>
              <a:t>Sätt ugnen på 200 grader. Skär rödbetor i klyftor och lägg på en ugnsplåt med bakplåtspapper. Ringa över olivolja och strö på salt, peppar och örtagårdskrydda. Ställ in i ugnen i cirka 15 minuter.</a:t>
            </a:r>
            <a:r>
              <a:rPr lang="sv-SE" sz="1100" kern="0" dirty="0">
                <a:solidFill>
                  <a:srgbClr val="000000"/>
                </a:solidFill>
                <a:ea typeface="Calibri" panose="020F0502020204030204" pitchFamily="34" charset="0"/>
                <a:cs typeface="Times New Roman" panose="02020603050405020304" pitchFamily="18" charset="0"/>
              </a:rPr>
              <a:t> Strimla aprikoser. Skär brie i tunna skivor. Lägg ut lövbiffskivorna på en skärbräda. Strö på salt och svartpeppar på båda sidorna. Bred på ett tunt lager pesto på varje skiva. Lägg på skivor av brie, strimlad aprikos och basilikablad. Rulla ihop lövbiffen från kortsidan så att fyllningen hålls på plats. Fäst rulladerna med en tandpetare. Hetta upp en stekpanna med olivolja. Stek rulladerna på medelhög värme tills de får en fin stekyta runt om. Blanda yoghurt och pesto i en liten skål. Strö på salt och svartpeppar efter smak. Lägg en bädd av rucolasallad på tallrikar. Lägg på rullader och rödbetor. Strö strimlade aprikoser över betorna och toppa hela rätten med hackad persilja. Servera med brieostskivor och pestosås. </a:t>
            </a:r>
            <a:endParaRPr lang="sv-SE" sz="1100" kern="100" dirty="0">
              <a:effectLst/>
              <a:ea typeface="Calibri" panose="020F0502020204030204" pitchFamily="34" charset="0"/>
              <a:cs typeface="Times New Roman" panose="02020603050405020304" pitchFamily="18" charset="0"/>
            </a:endParaRPr>
          </a:p>
        </p:txBody>
      </p:sp>
      <p:sp>
        <p:nvSpPr>
          <p:cNvPr id="8" name="Ellips 7">
            <a:extLst>
              <a:ext uri="{FF2B5EF4-FFF2-40B4-BE49-F238E27FC236}">
                <a16:creationId xmlns:a16="http://schemas.microsoft.com/office/drawing/2014/main" id="{E9068A34-7754-3B42-ADC5-170AD899A8CF}"/>
              </a:ext>
            </a:extLst>
          </p:cNvPr>
          <p:cNvSpPr/>
          <p:nvPr/>
        </p:nvSpPr>
        <p:spPr>
          <a:xfrm>
            <a:off x="2075049" y="2635541"/>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655kcal</a:t>
            </a:r>
            <a:endParaRPr sz="1200" b="1" dirty="0">
              <a:solidFill>
                <a:schemeClr val="bg1"/>
              </a:solidFill>
              <a:ea typeface="ＭＳ 明朝"/>
              <a:cs typeface="Avenir Light"/>
            </a:endParaRPr>
          </a:p>
        </p:txBody>
      </p:sp>
    </p:spTree>
    <p:extLst>
      <p:ext uri="{BB962C8B-B14F-4D97-AF65-F5344CB8AC3E}">
        <p14:creationId xmlns:p14="http://schemas.microsoft.com/office/powerpoint/2010/main" val="2516864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tshållare för bildnummer 4">
            <a:extLst>
              <a:ext uri="{FF2B5EF4-FFF2-40B4-BE49-F238E27FC236}">
                <a16:creationId xmlns:a16="http://schemas.microsoft.com/office/drawing/2014/main" id="{FBB45A7C-8AF3-3645-B2BA-3E0B6B53C4ED}"/>
              </a:ext>
            </a:extLst>
          </p:cNvPr>
          <p:cNvSpPr>
            <a:spLocks noGrp="1"/>
          </p:cNvSpPr>
          <p:nvPr>
            <p:ph type="sldNum" sz="quarter" idx="12"/>
          </p:nvPr>
        </p:nvSpPr>
        <p:spPr/>
        <p:txBody>
          <a:bodyPr/>
          <a:lstStyle/>
          <a:p>
            <a:fld id="{97BA8967-5D92-4842-BAFB-0C8F679E5DC4}" type="slidenum">
              <a:rPr lang="sv-SE" smtClean="0"/>
              <a:t>9</a:t>
            </a:fld>
            <a:endParaRPr lang="sv-SE"/>
          </a:p>
        </p:txBody>
      </p:sp>
      <p:sp>
        <p:nvSpPr>
          <p:cNvPr id="14" name="textruta 13">
            <a:extLst>
              <a:ext uri="{FF2B5EF4-FFF2-40B4-BE49-F238E27FC236}">
                <a16:creationId xmlns:a16="http://schemas.microsoft.com/office/drawing/2014/main" id="{3A0F5176-7E66-B948-8D80-90EA9B6582E5}"/>
              </a:ext>
            </a:extLst>
          </p:cNvPr>
          <p:cNvSpPr txBox="1"/>
          <p:nvPr/>
        </p:nvSpPr>
        <p:spPr>
          <a:xfrm>
            <a:off x="225220" y="224397"/>
            <a:ext cx="4328308" cy="461665"/>
          </a:xfrm>
          <a:prstGeom prst="rect">
            <a:avLst/>
          </a:prstGeom>
          <a:noFill/>
        </p:spPr>
        <p:txBody>
          <a:bodyPr wrap="square" rtlCol="0">
            <a:spAutoFit/>
          </a:bodyPr>
          <a:lstStyle/>
          <a:p>
            <a:r>
              <a:rPr lang="sv-SE" sz="2400" dirty="0">
                <a:latin typeface="BigCaslonFB" panose="02000603080000020003" pitchFamily="50" charset="0"/>
              </a:rPr>
              <a:t>Dessert</a:t>
            </a:r>
          </a:p>
        </p:txBody>
      </p:sp>
      <p:sp>
        <p:nvSpPr>
          <p:cNvPr id="2" name="textruta 1">
            <a:extLst>
              <a:ext uri="{FF2B5EF4-FFF2-40B4-BE49-F238E27FC236}">
                <a16:creationId xmlns:a16="http://schemas.microsoft.com/office/drawing/2014/main" id="{3F38B8E4-6230-0C42-9D39-AB28C0074E46}"/>
              </a:ext>
            </a:extLst>
          </p:cNvPr>
          <p:cNvSpPr txBox="1"/>
          <p:nvPr/>
        </p:nvSpPr>
        <p:spPr>
          <a:xfrm>
            <a:off x="970969" y="4713550"/>
            <a:ext cx="1071062" cy="369332"/>
          </a:xfrm>
          <a:prstGeom prst="rect">
            <a:avLst/>
          </a:prstGeom>
          <a:noFill/>
        </p:spPr>
        <p:txBody>
          <a:bodyPr wrap="none" rtlCol="0">
            <a:spAutoFit/>
          </a:bodyPr>
          <a:lstStyle/>
          <a:p>
            <a:r>
              <a:rPr lang="sv-SE" dirty="0"/>
              <a:t>Laga Lätt </a:t>
            </a:r>
          </a:p>
        </p:txBody>
      </p:sp>
      <p:sp>
        <p:nvSpPr>
          <p:cNvPr id="24" name="textruta 23">
            <a:extLst>
              <a:ext uri="{FF2B5EF4-FFF2-40B4-BE49-F238E27FC236}">
                <a16:creationId xmlns:a16="http://schemas.microsoft.com/office/drawing/2014/main" id="{A2D7ECE1-FD28-EA4A-B8BF-BB8C953EF8BB}"/>
              </a:ext>
            </a:extLst>
          </p:cNvPr>
          <p:cNvSpPr txBox="1"/>
          <p:nvPr/>
        </p:nvSpPr>
        <p:spPr>
          <a:xfrm>
            <a:off x="225220" y="1072605"/>
            <a:ext cx="3096568" cy="2631490"/>
          </a:xfrm>
          <a:prstGeom prst="rect">
            <a:avLst/>
          </a:prstGeom>
          <a:noFill/>
        </p:spPr>
        <p:txBody>
          <a:bodyPr wrap="square" rtlCol="0">
            <a:spAutoFit/>
          </a:bodyPr>
          <a:lstStyle/>
          <a:p>
            <a:r>
              <a:rPr lang="sv-SE" sz="1100" b="1" dirty="0"/>
              <a:t>Stekta äpplen med vit chokladkräm – 2 portioner</a:t>
            </a:r>
          </a:p>
          <a:p>
            <a:r>
              <a:rPr lang="sv-SE" sz="1100" dirty="0">
                <a:cs typeface="Avenir Light"/>
              </a:rPr>
              <a:t>3 äpplen</a:t>
            </a:r>
          </a:p>
          <a:p>
            <a:r>
              <a:rPr lang="sv-SE" sz="1100" dirty="0">
                <a:cs typeface="Avenir Light"/>
              </a:rPr>
              <a:t>1 tsk smör</a:t>
            </a:r>
          </a:p>
          <a:p>
            <a:r>
              <a:rPr lang="sv-SE" sz="1100" dirty="0">
                <a:cs typeface="Avenir Light"/>
              </a:rPr>
              <a:t>1 tsk flytande honung</a:t>
            </a:r>
          </a:p>
          <a:p>
            <a:r>
              <a:rPr lang="sv-SE" sz="1100" dirty="0">
                <a:cs typeface="Avenir Light"/>
              </a:rPr>
              <a:t>Lite malen eller krossad kardemumma</a:t>
            </a:r>
          </a:p>
          <a:p>
            <a:r>
              <a:rPr lang="sv-SE" sz="1100" dirty="0">
                <a:cs typeface="Avenir Light"/>
              </a:rPr>
              <a:t>Lite malen kanel</a:t>
            </a:r>
          </a:p>
          <a:p>
            <a:r>
              <a:rPr lang="sv-SE" sz="1100" dirty="0">
                <a:cs typeface="Avenir Light"/>
              </a:rPr>
              <a:t>30 g vit choklad</a:t>
            </a:r>
          </a:p>
          <a:p>
            <a:r>
              <a:rPr lang="sv-SE" sz="1100" dirty="0">
                <a:cs typeface="Avenir Light"/>
              </a:rPr>
              <a:t>50 g Philadelphiaost</a:t>
            </a:r>
          </a:p>
          <a:p>
            <a:endParaRPr lang="sv-SE" sz="1100" dirty="0">
              <a:cs typeface="Avenir Light"/>
            </a:endParaRPr>
          </a:p>
          <a:p>
            <a:r>
              <a:rPr lang="sv-SE" sz="1100" dirty="0">
                <a:cs typeface="Avenir Light"/>
              </a:rPr>
              <a:t>Skiva äpplen tunt. Hetta upp en stekpanna med smör och stek äpplen någon minut. Häll på honung och strö på kardemumma. Lägg upp i skålar. Smält vit choklad i en skål  mikron. Blanda ner Philadelphiaost. Klicka på chokladkräm på äpplena och servera.</a:t>
            </a:r>
            <a:endParaRPr lang="sv-SE" sz="1100" b="1" dirty="0"/>
          </a:p>
        </p:txBody>
      </p:sp>
      <p:sp>
        <p:nvSpPr>
          <p:cNvPr id="25" name="Ellips 24">
            <a:extLst>
              <a:ext uri="{FF2B5EF4-FFF2-40B4-BE49-F238E27FC236}">
                <a16:creationId xmlns:a16="http://schemas.microsoft.com/office/drawing/2014/main" id="{6CDAFD31-60F2-9442-9950-245F997DA23C}"/>
              </a:ext>
            </a:extLst>
          </p:cNvPr>
          <p:cNvSpPr/>
          <p:nvPr/>
        </p:nvSpPr>
        <p:spPr>
          <a:xfrm>
            <a:off x="2801058" y="1456383"/>
            <a:ext cx="628650" cy="477837"/>
          </a:xfrm>
          <a:prstGeom prst="ellipse">
            <a:avLst/>
          </a:prstGeom>
          <a:solidFill>
            <a:srgbClr val="276564"/>
          </a:solidFill>
          <a:ln>
            <a:noFill/>
          </a:ln>
        </p:spPr>
        <p:style>
          <a:lnRef idx="3">
            <a:schemeClr val="lt1"/>
          </a:lnRef>
          <a:fillRef idx="1">
            <a:schemeClr val="accent5"/>
          </a:fillRef>
          <a:effectRef idx="1">
            <a:schemeClr val="accent5"/>
          </a:effectRef>
          <a:fontRef idx="minor">
            <a:schemeClr val="lt1"/>
          </a:fontRef>
        </p:style>
        <p:txBody>
          <a:bodyPr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fontAlgn="auto">
              <a:spcBef>
                <a:spcPts val="0"/>
              </a:spcBef>
              <a:spcAft>
                <a:spcPts val="0"/>
              </a:spcAft>
              <a:defRPr/>
            </a:pPr>
            <a:r>
              <a:rPr lang="sv-SE" sz="1200" b="1" dirty="0">
                <a:solidFill>
                  <a:schemeClr val="bg1"/>
                </a:solidFill>
                <a:ea typeface="ＭＳ 明朝"/>
                <a:cs typeface="Avenir Light"/>
              </a:rPr>
              <a:t>300kcal</a:t>
            </a:r>
            <a:endParaRPr sz="1200" b="1" dirty="0">
              <a:solidFill>
                <a:schemeClr val="bg1"/>
              </a:solidFill>
              <a:ea typeface="ＭＳ 明朝"/>
              <a:cs typeface="Avenir Light"/>
            </a:endParaRPr>
          </a:p>
        </p:txBody>
      </p:sp>
      <p:pic>
        <p:nvPicPr>
          <p:cNvPr id="26" name="Bildobjekt 25">
            <a:extLst>
              <a:ext uri="{FF2B5EF4-FFF2-40B4-BE49-F238E27FC236}">
                <a16:creationId xmlns:a16="http://schemas.microsoft.com/office/drawing/2014/main" id="{22D76E36-E540-C041-A078-EB8DCFBCCD0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3036722" y="991516"/>
            <a:ext cx="3975291" cy="2981468"/>
          </a:xfrm>
          <a:prstGeom prst="rect">
            <a:avLst/>
          </a:prstGeom>
        </p:spPr>
      </p:pic>
      <p:sp>
        <p:nvSpPr>
          <p:cNvPr id="9" name="Platshållare för sidfot 1">
            <a:extLst>
              <a:ext uri="{FF2B5EF4-FFF2-40B4-BE49-F238E27FC236}">
                <a16:creationId xmlns:a16="http://schemas.microsoft.com/office/drawing/2014/main" id="{81B69481-E67B-EE49-8F45-16F6B04E9524}"/>
              </a:ext>
            </a:extLst>
          </p:cNvPr>
          <p:cNvSpPr>
            <a:spLocks noGrp="1"/>
          </p:cNvSpPr>
          <p:nvPr>
            <p:ph type="ftr" sz="quarter" idx="11"/>
          </p:nvPr>
        </p:nvSpPr>
        <p:spPr>
          <a:xfrm>
            <a:off x="1649203" y="8736459"/>
            <a:ext cx="3704917" cy="486833"/>
          </a:xfrm>
        </p:spPr>
        <p:txBody>
          <a:bodyPr/>
          <a:lstStyle/>
          <a:p>
            <a:r>
              <a:rPr lang="sv-SE" sz="900" dirty="0"/>
              <a:t>ULRIKA DAVIDSSON ● FUNCITIONAL FLOW  6 VECKOR ● RECEPT VECKA 4 </a:t>
            </a:r>
          </a:p>
        </p:txBody>
      </p:sp>
    </p:spTree>
    <p:extLst>
      <p:ext uri="{BB962C8B-B14F-4D97-AF65-F5344CB8AC3E}">
        <p14:creationId xmlns:p14="http://schemas.microsoft.com/office/powerpoint/2010/main" val="2674272433"/>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486689</TotalTime>
  <Words>1852</Words>
  <Application>Microsoft Office PowerPoint</Application>
  <PresentationFormat>Bildspel på skärmen (4:3)</PresentationFormat>
  <Paragraphs>248</Paragraphs>
  <Slides>9</Slides>
  <Notes>3</Notes>
  <HiddenSlides>0</HiddenSlides>
  <MMClips>0</MMClips>
  <ScaleCrop>false</ScaleCrop>
  <HeadingPairs>
    <vt:vector size="4" baseType="variant">
      <vt:variant>
        <vt:lpstr>Tema</vt:lpstr>
      </vt:variant>
      <vt:variant>
        <vt:i4>1</vt:i4>
      </vt:variant>
      <vt:variant>
        <vt:lpstr>Bildrubriker</vt:lpstr>
      </vt:variant>
      <vt:variant>
        <vt:i4>9</vt:i4>
      </vt:variant>
    </vt:vector>
  </HeadingPairs>
  <TitlesOfParts>
    <vt:vector size="10" baseType="lpstr">
      <vt:lpstr>Office-tema</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The Diet 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Ulrika Davidsson</dc:creator>
  <cp:lastModifiedBy>ulrika.davidsson@dietshop.se</cp:lastModifiedBy>
  <cp:revision>1082</cp:revision>
  <cp:lastPrinted>2017-09-05T09:39:57Z</cp:lastPrinted>
  <dcterms:created xsi:type="dcterms:W3CDTF">2016-08-21T13:21:42Z</dcterms:created>
  <dcterms:modified xsi:type="dcterms:W3CDTF">2025-04-14T13:40:55Z</dcterms:modified>
</cp:coreProperties>
</file>