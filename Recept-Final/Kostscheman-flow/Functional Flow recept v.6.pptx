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68" r:id="rId3"/>
    <p:sldId id="504" r:id="rId4"/>
    <p:sldId id="502" r:id="rId5"/>
    <p:sldId id="501" r:id="rId6"/>
    <p:sldId id="505" r:id="rId7"/>
    <p:sldId id="503" r:id="rId8"/>
    <p:sldId id="300" r:id="rId9"/>
    <p:sldId id="498" r:id="rId10"/>
  </p:sldIdLst>
  <p:sldSz cx="6858000" cy="9144000" type="screen4x3"/>
  <p:notesSz cx="6858000" cy="9144000"/>
  <p:defaultTextStyle>
    <a:defPPr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6564"/>
    <a:srgbClr val="009999"/>
    <a:srgbClr val="008080"/>
    <a:srgbClr val="65B7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A075C-4AD7-43CA-BBC9-D96745CA6E49}" v="251" dt="2025-04-24T11:13:58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30" autoAdjust="0"/>
    <p:restoredTop sz="94760" autoAdjust="0"/>
  </p:normalViewPr>
  <p:slideViewPr>
    <p:cSldViewPr snapToGrid="0" snapToObjects="1">
      <p:cViewPr varScale="1">
        <p:scale>
          <a:sx n="82" d="100"/>
          <a:sy n="82" d="100"/>
        </p:scale>
        <p:origin x="2696" y="16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Jungåker" userId="Jp51DZr2S3O2Kq/fECI9vz/Rf/nX3kiUVMBM7w9AVas=" providerId="None" clId="Web-{764A075C-4AD7-43CA-BBC9-D96745CA6E49}"/>
    <pc:docChg chg="modSld">
      <pc:chgData name="Paula Jungåker" userId="Jp51DZr2S3O2Kq/fECI9vz/Rf/nX3kiUVMBM7w9AVas=" providerId="None" clId="Web-{764A075C-4AD7-43CA-BBC9-D96745CA6E49}" dt="2025-04-24T11:13:58.761" v="124" actId="20577"/>
      <pc:docMkLst>
        <pc:docMk/>
      </pc:docMkLst>
      <pc:sldChg chg="modSp">
        <pc:chgData name="Paula Jungåker" userId="Jp51DZr2S3O2Kq/fECI9vz/Rf/nX3kiUVMBM7w9AVas=" providerId="None" clId="Web-{764A075C-4AD7-43CA-BBC9-D96745CA6E49}" dt="2025-04-24T10:46:05.170" v="0" actId="20577"/>
        <pc:sldMkLst>
          <pc:docMk/>
          <pc:sldMk cId="3788094998" sldId="257"/>
        </pc:sldMkLst>
        <pc:spChg chg="mod">
          <ac:chgData name="Paula Jungåker" userId="Jp51DZr2S3O2Kq/fECI9vz/Rf/nX3kiUVMBM7w9AVas=" providerId="None" clId="Web-{764A075C-4AD7-43CA-BBC9-D96745CA6E49}" dt="2025-04-24T10:46:05.170" v="0" actId="20577"/>
          <ac:spMkLst>
            <pc:docMk/>
            <pc:sldMk cId="3788094998" sldId="257"/>
            <ac:spMk id="20" creationId="{2474671D-1630-AD4A-83A1-89C001527ACE}"/>
          </ac:spMkLst>
        </pc:spChg>
      </pc:sldChg>
      <pc:sldChg chg="modSp">
        <pc:chgData name="Paula Jungåker" userId="Jp51DZr2S3O2Kq/fECI9vz/Rf/nX3kiUVMBM7w9AVas=" providerId="None" clId="Web-{764A075C-4AD7-43CA-BBC9-D96745CA6E49}" dt="2025-04-24T11:12:33.320" v="115" actId="20577"/>
        <pc:sldMkLst>
          <pc:docMk/>
          <pc:sldMk cId="2036271748" sldId="300"/>
        </pc:sldMkLst>
        <pc:spChg chg="mod">
          <ac:chgData name="Paula Jungåker" userId="Jp51DZr2S3O2Kq/fECI9vz/Rf/nX3kiUVMBM7w9AVas=" providerId="None" clId="Web-{764A075C-4AD7-43CA-BBC9-D96745CA6E49}" dt="2025-04-24T11:12:33.320" v="115" actId="20577"/>
          <ac:spMkLst>
            <pc:docMk/>
            <pc:sldMk cId="2036271748" sldId="300"/>
            <ac:spMk id="12" creationId="{EA612F90-CA22-604D-AF84-83A9C45B6066}"/>
          </ac:spMkLst>
        </pc:spChg>
      </pc:sldChg>
      <pc:sldChg chg="modSp">
        <pc:chgData name="Paula Jungåker" userId="Jp51DZr2S3O2Kq/fECI9vz/Rf/nX3kiUVMBM7w9AVas=" providerId="None" clId="Web-{764A075C-4AD7-43CA-BBC9-D96745CA6E49}" dt="2025-04-24T10:53:37.483" v="5" actId="20577"/>
        <pc:sldMkLst>
          <pc:docMk/>
          <pc:sldMk cId="3136698234" sldId="368"/>
        </pc:sldMkLst>
        <pc:spChg chg="mod">
          <ac:chgData name="Paula Jungåker" userId="Jp51DZr2S3O2Kq/fECI9vz/Rf/nX3kiUVMBM7w9AVas=" providerId="None" clId="Web-{764A075C-4AD7-43CA-BBC9-D96745CA6E49}" dt="2025-04-24T10:53:37.483" v="5" actId="20577"/>
          <ac:spMkLst>
            <pc:docMk/>
            <pc:sldMk cId="3136698234" sldId="368"/>
            <ac:spMk id="8" creationId="{265E5CCB-90D3-BD41-BD9E-133BFDBDBB61}"/>
          </ac:spMkLst>
        </pc:spChg>
      </pc:sldChg>
      <pc:sldChg chg="modSp">
        <pc:chgData name="Paula Jungåker" userId="Jp51DZr2S3O2Kq/fECI9vz/Rf/nX3kiUVMBM7w9AVas=" providerId="None" clId="Web-{764A075C-4AD7-43CA-BBC9-D96745CA6E49}" dt="2025-04-24T11:13:58.761" v="124" actId="20577"/>
        <pc:sldMkLst>
          <pc:docMk/>
          <pc:sldMk cId="662177389" sldId="498"/>
        </pc:sldMkLst>
        <pc:spChg chg="mod">
          <ac:chgData name="Paula Jungåker" userId="Jp51DZr2S3O2Kq/fECI9vz/Rf/nX3kiUVMBM7w9AVas=" providerId="None" clId="Web-{764A075C-4AD7-43CA-BBC9-D96745CA6E49}" dt="2025-04-24T11:13:58.761" v="124" actId="20577"/>
          <ac:spMkLst>
            <pc:docMk/>
            <pc:sldMk cId="662177389" sldId="498"/>
            <ac:spMk id="13" creationId="{16113F10-0498-BB4F-BCBC-8DBEA39C41F5}"/>
          </ac:spMkLst>
        </pc:spChg>
      </pc:sldChg>
      <pc:sldChg chg="modSp">
        <pc:chgData name="Paula Jungåker" userId="Jp51DZr2S3O2Kq/fECI9vz/Rf/nX3kiUVMBM7w9AVas=" providerId="None" clId="Web-{764A075C-4AD7-43CA-BBC9-D96745CA6E49}" dt="2025-04-24T11:03:14.503" v="47" actId="20577"/>
        <pc:sldMkLst>
          <pc:docMk/>
          <pc:sldMk cId="3123923809" sldId="501"/>
        </pc:sldMkLst>
        <pc:spChg chg="mod">
          <ac:chgData name="Paula Jungåker" userId="Jp51DZr2S3O2Kq/fECI9vz/Rf/nX3kiUVMBM7w9AVas=" providerId="None" clId="Web-{764A075C-4AD7-43CA-BBC9-D96745CA6E49}" dt="2025-04-24T11:03:14.503" v="47" actId="20577"/>
          <ac:spMkLst>
            <pc:docMk/>
            <pc:sldMk cId="3123923809" sldId="501"/>
            <ac:spMk id="9" creationId="{8A308561-AC48-8C4D-A7D4-6192E1A0DA89}"/>
          </ac:spMkLst>
        </pc:spChg>
      </pc:sldChg>
      <pc:sldChg chg="modSp">
        <pc:chgData name="Paula Jungåker" userId="Jp51DZr2S3O2Kq/fECI9vz/Rf/nX3kiUVMBM7w9AVas=" providerId="None" clId="Web-{764A075C-4AD7-43CA-BBC9-D96745CA6E49}" dt="2025-04-24T11:00:36.685" v="21" actId="20577"/>
        <pc:sldMkLst>
          <pc:docMk/>
          <pc:sldMk cId="698166287" sldId="502"/>
        </pc:sldMkLst>
        <pc:spChg chg="mod">
          <ac:chgData name="Paula Jungåker" userId="Jp51DZr2S3O2Kq/fECI9vz/Rf/nX3kiUVMBM7w9AVas=" providerId="None" clId="Web-{764A075C-4AD7-43CA-BBC9-D96745CA6E49}" dt="2025-04-24T11:00:36.685" v="21" actId="20577"/>
          <ac:spMkLst>
            <pc:docMk/>
            <pc:sldMk cId="698166287" sldId="502"/>
            <ac:spMk id="4" creationId="{7F06CB2F-4753-C446-AA96-A11D0E2AF736}"/>
          </ac:spMkLst>
        </pc:spChg>
      </pc:sldChg>
      <pc:sldChg chg="modSp">
        <pc:chgData name="Paula Jungåker" userId="Jp51DZr2S3O2Kq/fECI9vz/Rf/nX3kiUVMBM7w9AVas=" providerId="None" clId="Web-{764A075C-4AD7-43CA-BBC9-D96745CA6E49}" dt="2025-04-24T11:08:45.203" v="67" actId="20577"/>
        <pc:sldMkLst>
          <pc:docMk/>
          <pc:sldMk cId="2146212054" sldId="503"/>
        </pc:sldMkLst>
        <pc:spChg chg="mod">
          <ac:chgData name="Paula Jungåker" userId="Jp51DZr2S3O2Kq/fECI9vz/Rf/nX3kiUVMBM7w9AVas=" providerId="None" clId="Web-{764A075C-4AD7-43CA-BBC9-D96745CA6E49}" dt="2025-04-24T11:08:12.905" v="63" actId="20577"/>
          <ac:spMkLst>
            <pc:docMk/>
            <pc:sldMk cId="2146212054" sldId="503"/>
            <ac:spMk id="9" creationId="{063519B9-4B17-DB43-99F3-A20DF5071223}"/>
          </ac:spMkLst>
        </pc:spChg>
        <pc:spChg chg="mod">
          <ac:chgData name="Paula Jungåker" userId="Jp51DZr2S3O2Kq/fECI9vz/Rf/nX3kiUVMBM7w9AVas=" providerId="None" clId="Web-{764A075C-4AD7-43CA-BBC9-D96745CA6E49}" dt="2025-04-24T11:08:45.203" v="67" actId="20577"/>
          <ac:spMkLst>
            <pc:docMk/>
            <pc:sldMk cId="2146212054" sldId="503"/>
            <ac:spMk id="12" creationId="{C843C870-D820-0F4B-B239-F3FD4E79C575}"/>
          </ac:spMkLst>
        </pc:spChg>
      </pc:sldChg>
      <pc:sldChg chg="modSp">
        <pc:chgData name="Paula Jungåker" userId="Jp51DZr2S3O2Kq/fECI9vz/Rf/nX3kiUVMBM7w9AVas=" providerId="None" clId="Web-{764A075C-4AD7-43CA-BBC9-D96745CA6E49}" dt="2025-04-24T10:55:39.065" v="6" actId="20577"/>
        <pc:sldMkLst>
          <pc:docMk/>
          <pc:sldMk cId="1719238996" sldId="504"/>
        </pc:sldMkLst>
        <pc:spChg chg="mod">
          <ac:chgData name="Paula Jungåker" userId="Jp51DZr2S3O2Kq/fECI9vz/Rf/nX3kiUVMBM7w9AVas=" providerId="None" clId="Web-{764A075C-4AD7-43CA-BBC9-D96745CA6E49}" dt="2025-04-24T10:55:39.065" v="6" actId="20577"/>
          <ac:spMkLst>
            <pc:docMk/>
            <pc:sldMk cId="1719238996" sldId="504"/>
            <ac:spMk id="14" creationId="{B19CAFB1-7B94-764C-A83C-2D0E7CF8A0D0}"/>
          </ac:spMkLst>
        </pc:spChg>
      </pc:sldChg>
      <pc:sldChg chg="modSp">
        <pc:chgData name="Paula Jungåker" userId="Jp51DZr2S3O2Kq/fECI9vz/Rf/nX3kiUVMBM7w9AVas=" providerId="None" clId="Web-{764A075C-4AD7-43CA-BBC9-D96745CA6E49}" dt="2025-04-24T11:03:57.255" v="51" actId="20577"/>
        <pc:sldMkLst>
          <pc:docMk/>
          <pc:sldMk cId="2625359738" sldId="505"/>
        </pc:sldMkLst>
        <pc:spChg chg="mod">
          <ac:chgData name="Paula Jungåker" userId="Jp51DZr2S3O2Kq/fECI9vz/Rf/nX3kiUVMBM7w9AVas=" providerId="None" clId="Web-{764A075C-4AD7-43CA-BBC9-D96745CA6E49}" dt="2025-04-24T11:03:57.255" v="51" actId="20577"/>
          <ac:spMkLst>
            <pc:docMk/>
            <pc:sldMk cId="2625359738" sldId="505"/>
            <ac:spMk id="14" creationId="{9FEE3CC4-4FE3-9B40-9D4E-1C301E9FA1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F518D-D1B5-2545-B50F-6E9BBD888BCB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415C0-1913-C443-8074-00E9371329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778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415C0-1913-C443-8074-00E93713293E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4039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415C0-1913-C443-8074-00E93713293E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3457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415C0-1913-C443-8074-00E93713293E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7352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A80A-1BE6-40A2-A134-482AAF037DFC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2805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DF21-0883-43EC-91D5-C9424F5F8865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783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40AB-E0B5-43CC-810E-D003D1BC6DFA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217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5E01-A5E8-46B2-A7EB-D7DFD4EA7399}" type="datetime1">
              <a:rPr lang="sv-SE" smtClean="0"/>
              <a:t>2025-06-03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102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B0D4C-FCD8-4E77-B860-C0B2F667CB83}" type="datetime1">
              <a:rPr lang="sv-SE" smtClean="0"/>
              <a:t>2025-06-03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679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76126-DB9B-4BAA-A376-2217548CABED}" type="datetime1">
              <a:rPr lang="sv-SE" smtClean="0"/>
              <a:t>2025-06-03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122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E6F0-24C7-41D4-B8C8-643F3434D7A8}" type="datetime1">
              <a:rPr lang="sv-SE" smtClean="0"/>
              <a:t>2025-06-03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216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8CBC-F4EE-4838-AACD-F1AC7E759B58}" type="datetime1">
              <a:rPr lang="sv-SE" smtClean="0"/>
              <a:t>2025-06-03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030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326A1-37BC-420F-86B7-C725CF2D32F4}" type="datetime1">
              <a:rPr lang="sv-SE" smtClean="0"/>
              <a:t>2025-06-03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427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35E4-5849-42AC-A5E1-3E5BA8AE7326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388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D217-3DCE-44BA-ACD5-81FAAB86E102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0006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A230D-E3B8-4437-A196-7E6D616735AA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48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ktangel 19">
            <a:extLst>
              <a:ext uri="{FF2B5EF4-FFF2-40B4-BE49-F238E27FC236}">
                <a16:creationId xmlns:a16="http://schemas.microsoft.com/office/drawing/2014/main" id="{2474671D-1630-AD4A-83A1-89C001527ACE}"/>
              </a:ext>
            </a:extLst>
          </p:cNvPr>
          <p:cNvSpPr/>
          <p:nvPr/>
        </p:nvSpPr>
        <p:spPr>
          <a:xfrm>
            <a:off x="258920" y="3669416"/>
            <a:ext cx="5176946" cy="34778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lang="sv-SE" sz="1100" b="1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Smoothiebowl</a:t>
            </a:r>
            <a:r>
              <a:rPr lang="sv-SE" sz="1100" b="1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med blåbär och </a:t>
            </a:r>
            <a:r>
              <a:rPr lang="sv-SE" sz="1100" b="1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granola</a:t>
            </a:r>
            <a:r>
              <a:rPr lang="sv-SE" sz="1100" b="1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</a:t>
            </a:r>
          </a:p>
          <a:p>
            <a:pPr>
              <a:spcAft>
                <a:spcPts val="0"/>
              </a:spcAft>
            </a:pPr>
            <a:r>
              <a:rPr lang="sv-SE" sz="1100" b="1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- 2 portioner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2 dl frysta blåbär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1/2 banan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1/2 dl havregryn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 dl grekisk yoghurt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1/2 msk agavesirap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b="1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Topping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/>
                <a:cs typeface="Helvetica Neue" panose="02000503000000020004" pitchFamily="2" charset="0"/>
              </a:rPr>
              <a:t>1/4 </a:t>
            </a:r>
            <a:r>
              <a:rPr lang="sv-SE" sz="1100" kern="0" dirty="0">
                <a:solidFill>
                  <a:srgbClr val="FF0000"/>
                </a:solidFill>
                <a:ea typeface="Calibri"/>
                <a:cs typeface="Helvetica Neue" panose="02000503000000020004" pitchFamily="2" charset="0"/>
              </a:rPr>
              <a:t>skivad</a:t>
            </a:r>
            <a:r>
              <a:rPr lang="sv-SE" sz="1100" kern="0" dirty="0">
                <a:solidFill>
                  <a:srgbClr val="000000"/>
                </a:solidFill>
                <a:ea typeface="Calibri"/>
                <a:cs typeface="Helvetica Neue" panose="02000503000000020004" pitchFamily="2" charset="0"/>
              </a:rPr>
              <a:t> banan</a:t>
            </a:r>
            <a:endParaRPr lang="sv-SE" sz="1100" kern="100" dirty="0">
              <a:ea typeface="Calibri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½ dl färska hallon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½ dl färska amerikanska blåbär 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1/2 dl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granola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(150kcal)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1/2 msk jordnötssmör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2 msk granatäpplekärnor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 myntakvist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Mixa frysta blåbär, banan, havregryn, yoghurt och agavesirap till en slät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smoothie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i en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blender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eller med en stavmixer. Häll upp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smoothie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i skålar. Toppa med frukt, bär och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granola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. Ringa över jordnötssmör. Dekorera med granatäpplekärnor och myntakvist. </a:t>
            </a:r>
            <a:endParaRPr lang="sv-S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F15FD6BF-CC30-43C5-AC4C-78E43C405451}"/>
              </a:ext>
            </a:extLst>
          </p:cNvPr>
          <p:cNvSpPr txBox="1"/>
          <p:nvPr/>
        </p:nvSpPr>
        <p:spPr>
          <a:xfrm>
            <a:off x="177174" y="1422978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95E5F092-0F5D-723B-359F-8A4FEE34AE49}"/>
              </a:ext>
            </a:extLst>
          </p:cNvPr>
          <p:cNvSpPr txBox="1"/>
          <p:nvPr/>
        </p:nvSpPr>
        <p:spPr>
          <a:xfrm>
            <a:off x="94595" y="330759"/>
            <a:ext cx="6814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800" dirty="0">
                <a:latin typeface="BigCaslonFB" panose="02000603080000020003" pitchFamily="50" charset="0"/>
              </a:rPr>
              <a:t>RECEPT v. 6</a:t>
            </a:r>
          </a:p>
          <a:p>
            <a:r>
              <a:rPr lang="sv-SE" sz="2800" dirty="0" err="1">
                <a:latin typeface="BigCaslonFB" panose="02000603080000020003" pitchFamily="50" charset="0"/>
              </a:rPr>
              <a:t>Functional</a:t>
            </a:r>
            <a:r>
              <a:rPr lang="sv-SE" sz="2800" dirty="0">
                <a:latin typeface="BigCaslonFB" panose="02000603080000020003" pitchFamily="50" charset="0"/>
              </a:rPr>
              <a:t> </a:t>
            </a:r>
            <a:r>
              <a:rPr lang="sv-SE" sz="2800" dirty="0" err="1">
                <a:latin typeface="BigCaslonFB" panose="02000603080000020003" pitchFamily="50" charset="0"/>
              </a:rPr>
              <a:t>Flow</a:t>
            </a:r>
            <a:endParaRPr lang="sv-SE" sz="2800" dirty="0">
              <a:latin typeface="BigCaslonFB" panose="02000603080000020003" pitchFamily="50" charset="0"/>
            </a:endParaRPr>
          </a:p>
        </p:txBody>
      </p:sp>
      <p:cxnSp>
        <p:nvCxnSpPr>
          <p:cNvPr id="3" name="Rak koppling 2">
            <a:extLst>
              <a:ext uri="{FF2B5EF4-FFF2-40B4-BE49-F238E27FC236}">
                <a16:creationId xmlns:a16="http://schemas.microsoft.com/office/drawing/2014/main" id="{23ABB56F-1DE2-40DD-CB7B-08E8DD7BF20F}"/>
              </a:ext>
            </a:extLst>
          </p:cNvPr>
          <p:cNvCxnSpPr>
            <a:cxnSpLocks/>
          </p:cNvCxnSpPr>
          <p:nvPr/>
        </p:nvCxnSpPr>
        <p:spPr>
          <a:xfrm flipV="1">
            <a:off x="-50815" y="175928"/>
            <a:ext cx="6875766" cy="7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6DB80FA7-3373-94E0-A093-91846E7D6631}"/>
              </a:ext>
            </a:extLst>
          </p:cNvPr>
          <p:cNvCxnSpPr>
            <a:cxnSpLocks/>
          </p:cNvCxnSpPr>
          <p:nvPr/>
        </p:nvCxnSpPr>
        <p:spPr>
          <a:xfrm flipV="1">
            <a:off x="21755" y="1346779"/>
            <a:ext cx="6843163" cy="641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Platshållare för bildnummer 10">
            <a:extLst>
              <a:ext uri="{FF2B5EF4-FFF2-40B4-BE49-F238E27FC236}">
                <a16:creationId xmlns:a16="http://schemas.microsoft.com/office/drawing/2014/main" id="{C9C33FCE-78BF-62D1-0F45-0A991C93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72643" y="8667028"/>
            <a:ext cx="1600200" cy="486833"/>
          </a:xfrm>
        </p:spPr>
        <p:txBody>
          <a:bodyPr/>
          <a:lstStyle/>
          <a:p>
            <a:fld id="{97BA8967-5D92-4842-BAFB-0C8F679E5DC4}" type="slidenum">
              <a:rPr lang="sv-SE" sz="900" smtClean="0"/>
              <a:t>1</a:t>
            </a:fld>
            <a:endParaRPr lang="sv-SE" sz="900" dirty="0"/>
          </a:p>
        </p:txBody>
      </p:sp>
      <p:sp>
        <p:nvSpPr>
          <p:cNvPr id="22" name="Ellips 21">
            <a:extLst>
              <a:ext uri="{FF2B5EF4-FFF2-40B4-BE49-F238E27FC236}">
                <a16:creationId xmlns:a16="http://schemas.microsoft.com/office/drawing/2014/main" id="{4092D12D-9A98-7844-8117-FBBAD82A9935}"/>
              </a:ext>
            </a:extLst>
          </p:cNvPr>
          <p:cNvSpPr/>
          <p:nvPr/>
        </p:nvSpPr>
        <p:spPr>
          <a:xfrm>
            <a:off x="1918295" y="4040780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ea typeface="ＭＳ 明朝"/>
                <a:cs typeface="Avenir Light"/>
              </a:rPr>
              <a:t>305kcal</a:t>
            </a:r>
            <a:endParaRPr sz="1200" b="1" dirty="0">
              <a:ea typeface="ＭＳ 明朝"/>
              <a:cs typeface="Avenir Light"/>
            </a:endParaRPr>
          </a:p>
        </p:txBody>
      </p:sp>
      <p:sp>
        <p:nvSpPr>
          <p:cNvPr id="9" name="Platshållare för sidfot 1">
            <a:extLst>
              <a:ext uri="{FF2B5EF4-FFF2-40B4-BE49-F238E27FC236}">
                <a16:creationId xmlns:a16="http://schemas.microsoft.com/office/drawing/2014/main" id="{CAF87825-4AB1-A641-AEBA-B45CDA49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6 </a:t>
            </a:r>
          </a:p>
        </p:txBody>
      </p:sp>
      <p:pic>
        <p:nvPicPr>
          <p:cNvPr id="19" name="Bildobjekt 18">
            <a:extLst>
              <a:ext uri="{FF2B5EF4-FFF2-40B4-BE49-F238E27FC236}">
                <a16:creationId xmlns:a16="http://schemas.microsoft.com/office/drawing/2014/main" id="{6EF4BB2D-8800-B749-9DBB-FC8F03ECFF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570082" y="1817592"/>
            <a:ext cx="4688870" cy="351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9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ruta 11">
            <a:extLst>
              <a:ext uri="{FF2B5EF4-FFF2-40B4-BE49-F238E27FC236}">
                <a16:creationId xmlns:a16="http://schemas.microsoft.com/office/drawing/2014/main" id="{EA745202-70D2-4822-9DF5-D98FE15317DA}"/>
              </a:ext>
            </a:extLst>
          </p:cNvPr>
          <p:cNvSpPr txBox="1"/>
          <p:nvPr/>
        </p:nvSpPr>
        <p:spPr>
          <a:xfrm>
            <a:off x="391413" y="345219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3" name="Platshållare för bildnummer 2">
            <a:extLst>
              <a:ext uri="{FF2B5EF4-FFF2-40B4-BE49-F238E27FC236}">
                <a16:creationId xmlns:a16="http://schemas.microsoft.com/office/drawing/2014/main" id="{951B1928-3D89-295A-9AE2-0F50731B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68259" y="8634484"/>
            <a:ext cx="1600200" cy="486833"/>
          </a:xfrm>
        </p:spPr>
        <p:txBody>
          <a:bodyPr/>
          <a:lstStyle/>
          <a:p>
            <a:fld id="{97BA8967-5D92-4842-BAFB-0C8F679E5DC4}" type="slidenum">
              <a:rPr lang="sv-SE" sz="900" smtClean="0"/>
              <a:t>2</a:t>
            </a:fld>
            <a:endParaRPr lang="sv-SE" sz="900" dirty="0"/>
          </a:p>
        </p:txBody>
      </p:sp>
      <p:sp>
        <p:nvSpPr>
          <p:cNvPr id="4" name="Ellips 3">
            <a:extLst>
              <a:ext uri="{FF2B5EF4-FFF2-40B4-BE49-F238E27FC236}">
                <a16:creationId xmlns:a16="http://schemas.microsoft.com/office/drawing/2014/main" id="{CE1E0412-B605-E445-8FE9-7C44F5BC2441}"/>
              </a:ext>
            </a:extLst>
          </p:cNvPr>
          <p:cNvSpPr/>
          <p:nvPr/>
        </p:nvSpPr>
        <p:spPr>
          <a:xfrm>
            <a:off x="5744237" y="5522351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299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53ABB969-7EFB-E245-9D91-74DE5DF6D202}"/>
              </a:ext>
            </a:extLst>
          </p:cNvPr>
          <p:cNvSpPr txBox="1"/>
          <p:nvPr/>
        </p:nvSpPr>
        <p:spPr>
          <a:xfrm>
            <a:off x="3674446" y="5192275"/>
            <a:ext cx="268185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b="1" dirty="0"/>
              <a:t>Yoghurt med </a:t>
            </a:r>
            <a:r>
              <a:rPr lang="sv-SE" sz="1100" b="1" dirty="0" err="1"/>
              <a:t>bovetegranola</a:t>
            </a:r>
            <a:r>
              <a:rPr lang="sv-SE" sz="1100" b="1" dirty="0"/>
              <a:t> och bär </a:t>
            </a:r>
          </a:p>
          <a:p>
            <a:r>
              <a:rPr lang="sv-SE" sz="1100" b="1" dirty="0"/>
              <a:t> – 1 portion</a:t>
            </a:r>
          </a:p>
          <a:p>
            <a:r>
              <a:rPr lang="sv-SE" sz="1100" dirty="0"/>
              <a:t>1 dl grekisk yoghurt, 6 %</a:t>
            </a:r>
          </a:p>
          <a:p>
            <a:r>
              <a:rPr lang="sv-SE" sz="1100" dirty="0"/>
              <a:t>¾ dl </a:t>
            </a:r>
            <a:r>
              <a:rPr lang="sv-SE" sz="1100" dirty="0" err="1"/>
              <a:t>bovetegranola</a:t>
            </a:r>
            <a:endParaRPr lang="sv-SE" sz="1100" dirty="0"/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½ dl färska hallon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½ dl färska amerikanska blåbär 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v-SE" sz="1100" dirty="0"/>
          </a:p>
          <a:p>
            <a:r>
              <a:rPr lang="sv-SE" sz="1100" dirty="0"/>
              <a:t>Lägg yoghurt i en skål och strö på </a:t>
            </a:r>
            <a:r>
              <a:rPr lang="sv-SE" sz="1100" dirty="0" err="1"/>
              <a:t>granolan</a:t>
            </a:r>
            <a:r>
              <a:rPr lang="sv-SE" sz="1100" dirty="0"/>
              <a:t>. Servera med blåbär och hallon.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6FE10F51-2990-EA4E-BB76-60417A5A2B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9153" y="5455171"/>
            <a:ext cx="3888276" cy="2916207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3696B29D-BDA3-5142-9F9B-3E7083DC0B8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0074" y="191649"/>
            <a:ext cx="2750451" cy="3667268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265E5CCB-90D3-BD41-BD9E-133BFDBDBB61}"/>
              </a:ext>
            </a:extLst>
          </p:cNvPr>
          <p:cNvSpPr/>
          <p:nvPr/>
        </p:nvSpPr>
        <p:spPr>
          <a:xfrm>
            <a:off x="391413" y="1136927"/>
            <a:ext cx="6249113" cy="38164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lang="sv-SE" sz="11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Varm </a:t>
            </a:r>
            <a:r>
              <a:rPr lang="sv-SE" sz="1100" b="1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chiagröt</a:t>
            </a:r>
            <a:r>
              <a:rPr lang="sv-SE" sz="11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 med äpple – 1 portion 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4 msk havregryn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 dl vatten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½ krm salt 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 msk </a:t>
            </a:r>
            <a:r>
              <a:rPr lang="sv-S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chiafrön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 dl havremjölk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 krm kanel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½ äpple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 msk russin</a:t>
            </a: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b="1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Topping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v-SE" sz="1100" kern="100" dirty="0">
                <a:ea typeface="Calibri"/>
                <a:cs typeface="Times New Roman"/>
              </a:rPr>
              <a:t>1 krm Kanel 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6 russin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 krm </a:t>
            </a:r>
            <a:r>
              <a:rPr lang="sv-S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hampafrön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 msk havremjölk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¼ skivat äpple</a:t>
            </a: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Blanda havregryn, vatten och salt i en kastrull och låt koka upp. Koka på svag värme i några minuter under omrörning. Blanda ner </a:t>
            </a:r>
            <a:r>
              <a:rPr lang="sv-S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chiafrön</a:t>
            </a: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, havremjölk och kanel. Låt koka ytterligare några minuter på svag värme tills gröten har fått en bra konsistens. Skär äpple i små tärningar och blanda ner i gröten tillsammans med russin. Lägg upp gröt i en mindre skål strö på lite kanel. Toppa med russin och </a:t>
            </a:r>
            <a:r>
              <a:rPr lang="sv-SE" sz="11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hampafrön</a:t>
            </a: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. Dekorera med skivat äpple.  </a:t>
            </a:r>
            <a:endParaRPr lang="sv-S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Platshållare för sidfot 1">
            <a:extLst>
              <a:ext uri="{FF2B5EF4-FFF2-40B4-BE49-F238E27FC236}">
                <a16:creationId xmlns:a16="http://schemas.microsoft.com/office/drawing/2014/main" id="{11134BE3-7456-ED42-9D82-C216D85A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6 </a:t>
            </a:r>
          </a:p>
        </p:txBody>
      </p:sp>
      <p:sp>
        <p:nvSpPr>
          <p:cNvPr id="11" name="Ellips 10">
            <a:extLst>
              <a:ext uri="{FF2B5EF4-FFF2-40B4-BE49-F238E27FC236}">
                <a16:creationId xmlns:a16="http://schemas.microsoft.com/office/drawing/2014/main" id="{827E923F-A698-AE4D-9353-F69475ECA61E}"/>
              </a:ext>
            </a:extLst>
          </p:cNvPr>
          <p:cNvSpPr/>
          <p:nvPr/>
        </p:nvSpPr>
        <p:spPr>
          <a:xfrm>
            <a:off x="2210434" y="1595031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274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</p:spTree>
    <p:extLst>
      <p:ext uri="{BB962C8B-B14F-4D97-AF65-F5344CB8AC3E}">
        <p14:creationId xmlns:p14="http://schemas.microsoft.com/office/powerpoint/2010/main" val="313669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ruta 15">
            <a:extLst>
              <a:ext uri="{FF2B5EF4-FFF2-40B4-BE49-F238E27FC236}">
                <a16:creationId xmlns:a16="http://schemas.microsoft.com/office/drawing/2014/main" id="{2C41733F-517B-574A-95BB-B109266D732B}"/>
              </a:ext>
            </a:extLst>
          </p:cNvPr>
          <p:cNvSpPr txBox="1"/>
          <p:nvPr/>
        </p:nvSpPr>
        <p:spPr>
          <a:xfrm>
            <a:off x="3770215" y="5677466"/>
            <a:ext cx="268185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b="1" dirty="0"/>
              <a:t>Kokta ägg med kaviar – 1 portion</a:t>
            </a:r>
          </a:p>
          <a:p>
            <a:r>
              <a:rPr lang="sv-SE" sz="1100" dirty="0"/>
              <a:t>2 kokta ägg</a:t>
            </a:r>
          </a:p>
          <a:p>
            <a:r>
              <a:rPr lang="sv-SE" sz="1100" dirty="0"/>
              <a:t>2 msk kaviar</a:t>
            </a:r>
          </a:p>
          <a:p>
            <a:endParaRPr lang="sv-SE" sz="1100" dirty="0"/>
          </a:p>
          <a:p>
            <a:r>
              <a:rPr lang="sv-SE" sz="1100" dirty="0"/>
              <a:t>Skala äggen och servera med kaviar.</a:t>
            </a:r>
          </a:p>
          <a:p>
            <a:endParaRPr lang="sv-SE" sz="1100" dirty="0"/>
          </a:p>
          <a:p>
            <a:endParaRPr lang="sv-SE" sz="1100" dirty="0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B19CAFB1-7B94-764C-A83C-2D0E7CF8A0D0}"/>
              </a:ext>
            </a:extLst>
          </p:cNvPr>
          <p:cNvSpPr/>
          <p:nvPr/>
        </p:nvSpPr>
        <p:spPr>
          <a:xfrm>
            <a:off x="245446" y="1088775"/>
            <a:ext cx="2900710" cy="31393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lang="sv-SE" sz="1100" b="1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Ägghack</a:t>
            </a:r>
            <a:r>
              <a:rPr lang="sv-SE" sz="11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 med kallröktlax – 1 portion 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 ägg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1 msk majonnäs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/>
                <a:cs typeface="Times New Roman"/>
              </a:rPr>
              <a:t>½ msk </a:t>
            </a:r>
            <a:r>
              <a:rPr lang="sv-SE" sz="1100" kern="100" dirty="0">
                <a:solidFill>
                  <a:srgbClr val="FF0000"/>
                </a:solidFill>
                <a:ea typeface="Calibri"/>
                <a:cs typeface="Times New Roman"/>
              </a:rPr>
              <a:t>finhackad</a:t>
            </a:r>
            <a:r>
              <a:rPr lang="sv-SE" sz="1100" kern="100" dirty="0">
                <a:ea typeface="Calibri"/>
                <a:cs typeface="Times New Roman"/>
              </a:rPr>
              <a:t> purjolök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Salt och svartpeppar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50 g kallrökt lax (skivor)</a:t>
            </a: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Dekoration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2 gurkskivor </a:t>
            </a:r>
          </a:p>
          <a:p>
            <a:pPr>
              <a:spcAft>
                <a:spcPts val="0"/>
              </a:spcAft>
            </a:pPr>
            <a:r>
              <a:rPr lang="sv-SE" sz="11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2 hjärtsalladsblad</a:t>
            </a: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Koka ägg i en kastrull med vatten i cirka 8–10 minuter. Låt ägget ligga i kallt vatten och svala. Skala och hacka ägg grovt. Blanda ihop majonnäs, purjolök, salt och peppar i en skål. Tillsätt ägg och rör ihop allt. Lägg salladsblad i en mindre skål. Placera sedan gurka och skivor av lax i skålen. Avsluta med att lägga i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ägghack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. </a:t>
            </a:r>
            <a:endParaRPr lang="sv-S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EA745202-70D2-4822-9DF5-D98FE15317DA}"/>
              </a:ext>
            </a:extLst>
          </p:cNvPr>
          <p:cNvSpPr txBox="1"/>
          <p:nvPr/>
        </p:nvSpPr>
        <p:spPr>
          <a:xfrm>
            <a:off x="391413" y="345219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3" name="Platshållare för bildnummer 2">
            <a:extLst>
              <a:ext uri="{FF2B5EF4-FFF2-40B4-BE49-F238E27FC236}">
                <a16:creationId xmlns:a16="http://schemas.microsoft.com/office/drawing/2014/main" id="{951B1928-3D89-295A-9AE2-0F50731B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68259" y="8634484"/>
            <a:ext cx="1600200" cy="486833"/>
          </a:xfrm>
        </p:spPr>
        <p:txBody>
          <a:bodyPr/>
          <a:lstStyle/>
          <a:p>
            <a:fld id="{97BA8967-5D92-4842-BAFB-0C8F679E5DC4}" type="slidenum">
              <a:rPr lang="sv-SE" sz="900" smtClean="0"/>
              <a:t>3</a:t>
            </a:fld>
            <a:endParaRPr lang="sv-SE" sz="900" dirty="0"/>
          </a:p>
        </p:txBody>
      </p:sp>
      <p:sp>
        <p:nvSpPr>
          <p:cNvPr id="10" name="Platshållare för sidfot 1">
            <a:extLst>
              <a:ext uri="{FF2B5EF4-FFF2-40B4-BE49-F238E27FC236}">
                <a16:creationId xmlns:a16="http://schemas.microsoft.com/office/drawing/2014/main" id="{11134BE3-7456-ED42-9D82-C216D85A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6 </a:t>
            </a:r>
          </a:p>
        </p:txBody>
      </p:sp>
      <p:sp>
        <p:nvSpPr>
          <p:cNvPr id="11" name="Ellips 10">
            <a:extLst>
              <a:ext uri="{FF2B5EF4-FFF2-40B4-BE49-F238E27FC236}">
                <a16:creationId xmlns:a16="http://schemas.microsoft.com/office/drawing/2014/main" id="{827E923F-A698-AE4D-9353-F69475ECA61E}"/>
              </a:ext>
            </a:extLst>
          </p:cNvPr>
          <p:cNvSpPr/>
          <p:nvPr/>
        </p:nvSpPr>
        <p:spPr>
          <a:xfrm>
            <a:off x="2210434" y="1595031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300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A273621A-19D0-D94E-BF8D-CAB7D5C11F2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057618" y="822193"/>
            <a:ext cx="4107051" cy="3080288"/>
          </a:xfrm>
          <a:prstGeom prst="rect">
            <a:avLst/>
          </a:prstGeom>
        </p:spPr>
      </p:pic>
      <p:sp>
        <p:nvSpPr>
          <p:cNvPr id="15" name="Ellips 14">
            <a:extLst>
              <a:ext uri="{FF2B5EF4-FFF2-40B4-BE49-F238E27FC236}">
                <a16:creationId xmlns:a16="http://schemas.microsoft.com/office/drawing/2014/main" id="{E8635C71-3A76-4C4B-82B2-1D30247E1C3D}"/>
              </a:ext>
            </a:extLst>
          </p:cNvPr>
          <p:cNvSpPr/>
          <p:nvPr/>
        </p:nvSpPr>
        <p:spPr>
          <a:xfrm>
            <a:off x="5823420" y="5859405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289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7" name="Bildobjekt 16">
            <a:extLst>
              <a:ext uri="{FF2B5EF4-FFF2-40B4-BE49-F238E27FC236}">
                <a16:creationId xmlns:a16="http://schemas.microsoft.com/office/drawing/2014/main" id="{C6F4FA45-9A68-9544-9374-8D4F617701A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8341" y="5218992"/>
            <a:ext cx="3877126" cy="290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38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ruta 15">
            <a:extLst>
              <a:ext uri="{FF2B5EF4-FFF2-40B4-BE49-F238E27FC236}">
                <a16:creationId xmlns:a16="http://schemas.microsoft.com/office/drawing/2014/main" id="{9CC8EAC3-B1D1-9A45-8F77-86ED715DFE86}"/>
              </a:ext>
            </a:extLst>
          </p:cNvPr>
          <p:cNvSpPr txBox="1"/>
          <p:nvPr/>
        </p:nvSpPr>
        <p:spPr>
          <a:xfrm>
            <a:off x="178821" y="188293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 err="1">
                <a:latin typeface="BigCaslonFB" panose="02000603080000020003" pitchFamily="50" charset="0"/>
              </a:rPr>
              <a:t>Vego</a:t>
            </a:r>
            <a:endParaRPr lang="sv-SE" sz="2400" dirty="0">
              <a:latin typeface="BigCaslonFB" panose="02000603080000020003" pitchFamily="50" charset="0"/>
            </a:endParaRPr>
          </a:p>
        </p:txBody>
      </p:sp>
      <p:sp>
        <p:nvSpPr>
          <p:cNvPr id="5" name="Platshållare för sidfot 1">
            <a:extLst>
              <a:ext uri="{FF2B5EF4-FFF2-40B4-BE49-F238E27FC236}">
                <a16:creationId xmlns:a16="http://schemas.microsoft.com/office/drawing/2014/main" id="{854B46A7-4C2E-B54E-82E4-B3A125B50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3 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F06CB2F-4753-C446-AA96-A11D0E2AF736}"/>
              </a:ext>
            </a:extLst>
          </p:cNvPr>
          <p:cNvSpPr/>
          <p:nvPr/>
        </p:nvSpPr>
        <p:spPr>
          <a:xfrm>
            <a:off x="418068" y="859751"/>
            <a:ext cx="2901075" cy="432426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cs typeface="Avenir Light"/>
              </a:rPr>
              <a:t>Varma grönsaker med </a:t>
            </a:r>
            <a:r>
              <a:rPr lang="sv-SE" sz="1100" b="1" dirty="0" err="1">
                <a:cs typeface="Avenir Light"/>
              </a:rPr>
              <a:t>halloumi</a:t>
            </a:r>
            <a:r>
              <a:rPr lang="sv-SE" sz="1100" b="1" dirty="0">
                <a:cs typeface="Avenir Light"/>
              </a:rPr>
              <a:t>– 2 portioner</a:t>
            </a:r>
          </a:p>
          <a:p>
            <a:r>
              <a:rPr lang="sv-SE" sz="1100" dirty="0">
                <a:cs typeface="Avenir Light"/>
              </a:rPr>
              <a:t>½ gul paprika</a:t>
            </a:r>
          </a:p>
          <a:p>
            <a:r>
              <a:rPr lang="sv-SE" sz="1100" dirty="0">
                <a:cs typeface="Avenir Light"/>
              </a:rPr>
              <a:t>1/3  broccoli</a:t>
            </a:r>
          </a:p>
          <a:p>
            <a:r>
              <a:rPr lang="sv-SE" sz="1100" dirty="0">
                <a:cs typeface="Avenir Light"/>
              </a:rPr>
              <a:t>¼  squash</a:t>
            </a:r>
          </a:p>
          <a:p>
            <a:r>
              <a:rPr lang="sv-SE" sz="1100" dirty="0">
                <a:cs typeface="Avenir Light"/>
              </a:rPr>
              <a:t>½ rödlök</a:t>
            </a:r>
          </a:p>
          <a:p>
            <a:r>
              <a:rPr lang="sv-SE" sz="1100" dirty="0">
                <a:cs typeface="Avenir Light"/>
              </a:rPr>
              <a:t>150 g </a:t>
            </a:r>
            <a:r>
              <a:rPr lang="sv-SE" sz="1100" dirty="0" err="1">
                <a:cs typeface="Avenir Light"/>
              </a:rPr>
              <a:t>halloumi</a:t>
            </a:r>
            <a:endParaRPr lang="sv-SE" sz="1100" dirty="0">
              <a:cs typeface="Avenir Light"/>
            </a:endParaRPr>
          </a:p>
          <a:p>
            <a:r>
              <a:rPr lang="sv-SE" sz="1100" dirty="0">
                <a:cs typeface="Avenir Light"/>
              </a:rPr>
              <a:t>½ vitlöksklyfta</a:t>
            </a:r>
          </a:p>
          <a:p>
            <a:r>
              <a:rPr lang="sv-SE" sz="1100" dirty="0">
                <a:cs typeface="Avenir Light"/>
              </a:rPr>
              <a:t>1 tsk olivolja</a:t>
            </a:r>
          </a:p>
          <a:p>
            <a:r>
              <a:rPr lang="sv-SE" sz="1100" dirty="0">
                <a:cs typeface="Avenir Light"/>
              </a:rPr>
              <a:t>6 cocktailtomater</a:t>
            </a:r>
          </a:p>
          <a:p>
            <a:r>
              <a:rPr lang="sv-SE" sz="1100" dirty="0">
                <a:cs typeface="Avenir Light"/>
              </a:rPr>
              <a:t>Salt och svartpeppar</a:t>
            </a:r>
          </a:p>
          <a:p>
            <a:r>
              <a:rPr lang="sv-SE" sz="1100" dirty="0">
                <a:cs typeface="Avenir Light"/>
              </a:rPr>
              <a:t>1 krm örtagårdskrydda</a:t>
            </a:r>
            <a:endParaRPr lang="sv-SE" sz="1100" dirty="0">
              <a:ea typeface="Calibri"/>
              <a:cs typeface="Avenir Light"/>
            </a:endParaRPr>
          </a:p>
          <a:p>
            <a:r>
              <a:rPr lang="sv-SE" sz="1100" dirty="0">
                <a:cs typeface="Avenir Light"/>
              </a:rPr>
              <a:t>2 msk solrosfrön</a:t>
            </a:r>
          </a:p>
          <a:p>
            <a:endParaRPr lang="sv-SE" sz="1100" dirty="0">
              <a:cs typeface="Avenir Light"/>
            </a:endParaRPr>
          </a:p>
          <a:p>
            <a:r>
              <a:rPr lang="sv-SE" sz="1100" b="1" dirty="0">
                <a:cs typeface="Avenir Light"/>
              </a:rPr>
              <a:t>Dekoration: </a:t>
            </a:r>
            <a:r>
              <a:rPr lang="sv-SE" sz="1100" dirty="0">
                <a:cs typeface="Avenir Light"/>
              </a:rPr>
              <a:t>1 msk färsk persilja</a:t>
            </a:r>
            <a:endParaRPr lang="sv-SE" sz="1100" dirty="0">
              <a:ea typeface="Calibri"/>
              <a:cs typeface="Avenir Light"/>
            </a:endParaRPr>
          </a:p>
          <a:p>
            <a:endParaRPr lang="sv-SE" sz="1100" dirty="0">
              <a:cs typeface="Avenir Light"/>
            </a:endParaRPr>
          </a:p>
          <a:p>
            <a:r>
              <a:rPr lang="sv-SE" sz="1100" dirty="0">
                <a:cs typeface="Avenir Light"/>
              </a:rPr>
              <a:t>Skär alla grönsaker i mindre bitar. Skiva </a:t>
            </a:r>
            <a:r>
              <a:rPr lang="sv-SE" sz="1100" dirty="0" err="1">
                <a:cs typeface="Avenir Light"/>
              </a:rPr>
              <a:t>halloumi</a:t>
            </a:r>
            <a:r>
              <a:rPr lang="sv-SE" sz="1100" dirty="0">
                <a:cs typeface="Avenir Light"/>
              </a:rPr>
              <a:t>. Skala och riv vitlök.  Hetta upp en stekpanna med olja och bryn </a:t>
            </a:r>
            <a:r>
              <a:rPr lang="sv-SE" sz="1100" dirty="0" err="1">
                <a:cs typeface="Avenir Light"/>
              </a:rPr>
              <a:t>halloumi</a:t>
            </a:r>
            <a:r>
              <a:rPr lang="sv-SE" sz="1100" dirty="0">
                <a:cs typeface="Avenir Light"/>
              </a:rPr>
              <a:t>. Lägg i grönsaker, vitlök, kryddor och låt steka några minuter. Lägg upp på tallrik med osten över. Rosta solrosfrön i en torr stekpanna och toppa rätten med. Dekorera med färsk persilja.</a:t>
            </a:r>
            <a:endParaRPr lang="sv-SE" sz="1100" dirty="0">
              <a:ea typeface="Calibri"/>
              <a:cs typeface="Avenir Light"/>
            </a:endParaRPr>
          </a:p>
          <a:p>
            <a:endParaRPr lang="sv-SE" sz="1100" dirty="0">
              <a:cs typeface="Avenir Light"/>
            </a:endParaRPr>
          </a:p>
          <a:p>
            <a:endParaRPr lang="sv-SE" sz="1100" dirty="0">
              <a:cs typeface="Avenir Light"/>
            </a:endParaRPr>
          </a:p>
          <a:p>
            <a:endParaRPr lang="sv-SE" sz="1100" dirty="0">
              <a:cs typeface="Avenir Light"/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31EC249D-EFC8-0748-BFDD-4D6015B5FEF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260598" y="1333858"/>
            <a:ext cx="3792857" cy="2844643"/>
          </a:xfrm>
          <a:prstGeom prst="rect">
            <a:avLst/>
          </a:prstGeom>
        </p:spPr>
      </p:pic>
      <p:sp>
        <p:nvSpPr>
          <p:cNvPr id="2" name="textruta 1">
            <a:extLst>
              <a:ext uri="{FF2B5EF4-FFF2-40B4-BE49-F238E27FC236}">
                <a16:creationId xmlns:a16="http://schemas.microsoft.com/office/drawing/2014/main" id="{2E1B0343-0BC0-A849-858C-584718F02A42}"/>
              </a:ext>
            </a:extLst>
          </p:cNvPr>
          <p:cNvSpPr txBox="1"/>
          <p:nvPr/>
        </p:nvSpPr>
        <p:spPr>
          <a:xfrm>
            <a:off x="4943959" y="5083444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Beach 2021</a:t>
            </a:r>
          </a:p>
        </p:txBody>
      </p:sp>
      <p:sp>
        <p:nvSpPr>
          <p:cNvPr id="8" name="Ellips 7">
            <a:extLst>
              <a:ext uri="{FF2B5EF4-FFF2-40B4-BE49-F238E27FC236}">
                <a16:creationId xmlns:a16="http://schemas.microsoft.com/office/drawing/2014/main" id="{D842577A-B3FC-0C46-BFE3-560B639FBC49}"/>
              </a:ext>
            </a:extLst>
          </p:cNvPr>
          <p:cNvSpPr/>
          <p:nvPr/>
        </p:nvSpPr>
        <p:spPr>
          <a:xfrm>
            <a:off x="2583949" y="1442388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382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</p:spTree>
    <p:extLst>
      <p:ext uri="{BB962C8B-B14F-4D97-AF65-F5344CB8AC3E}">
        <p14:creationId xmlns:p14="http://schemas.microsoft.com/office/powerpoint/2010/main" val="69816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8A308561-AC48-8C4D-A7D4-6192E1A0DA89}"/>
              </a:ext>
            </a:extLst>
          </p:cNvPr>
          <p:cNvSpPr/>
          <p:nvPr/>
        </p:nvSpPr>
        <p:spPr>
          <a:xfrm>
            <a:off x="285023" y="2509920"/>
            <a:ext cx="6576208" cy="432426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cs typeface="Avenir Light"/>
              </a:rPr>
              <a:t>Kycklingfärsbiffar med vitlöksost - 2 portioner</a:t>
            </a:r>
          </a:p>
          <a:p>
            <a:r>
              <a:rPr lang="sv-SE" sz="1100" dirty="0">
                <a:cs typeface="Avenir Light"/>
              </a:rPr>
              <a:t>300 g kycklingfärs</a:t>
            </a:r>
          </a:p>
          <a:p>
            <a:r>
              <a:rPr lang="sv-SE" sz="1100" dirty="0">
                <a:cs typeface="Avenir Light"/>
              </a:rPr>
              <a:t>½ rödlök</a:t>
            </a:r>
          </a:p>
          <a:p>
            <a:r>
              <a:rPr lang="sv-SE" sz="1100" dirty="0">
                <a:cs typeface="Avenir Light"/>
              </a:rPr>
              <a:t>1 liten vitlöksklyfta</a:t>
            </a:r>
          </a:p>
          <a:p>
            <a:r>
              <a:rPr lang="sv-SE" sz="1100" dirty="0">
                <a:cs typeface="Avenir Light"/>
              </a:rPr>
              <a:t>0,5 tsk örtagårdskrydda</a:t>
            </a:r>
            <a:endParaRPr lang="sv-SE" sz="1100" dirty="0">
              <a:ea typeface="Calibri"/>
              <a:cs typeface="Avenir Light"/>
            </a:endParaRPr>
          </a:p>
          <a:p>
            <a:r>
              <a:rPr lang="sv-SE" sz="1100" dirty="0">
                <a:cs typeface="Avenir Light"/>
              </a:rPr>
              <a:t> salt och svartpeppar</a:t>
            </a:r>
          </a:p>
          <a:p>
            <a:r>
              <a:rPr lang="sv-SE" sz="1100" dirty="0">
                <a:cs typeface="Avenir Light"/>
              </a:rPr>
              <a:t>75 g färskost med vitlök</a:t>
            </a:r>
          </a:p>
          <a:p>
            <a:r>
              <a:rPr lang="sv-SE" sz="1100" dirty="0">
                <a:cs typeface="Avenir Light"/>
              </a:rPr>
              <a:t>2 msk pinjenötter</a:t>
            </a:r>
          </a:p>
          <a:p>
            <a:endParaRPr lang="sv-SE" sz="1100" dirty="0">
              <a:cs typeface="Avenir Light"/>
            </a:endParaRPr>
          </a:p>
          <a:p>
            <a:r>
              <a:rPr lang="sv-SE" sz="1100" b="1" dirty="0">
                <a:cs typeface="Avenir Light"/>
              </a:rPr>
              <a:t>Tomatsallad</a:t>
            </a:r>
          </a:p>
          <a:p>
            <a:r>
              <a:rPr lang="sv-SE" sz="1100" dirty="0">
                <a:cs typeface="Avenir Light"/>
              </a:rPr>
              <a:t>½ rödlök</a:t>
            </a:r>
          </a:p>
          <a:p>
            <a:r>
              <a:rPr lang="sv-SE" sz="1100" dirty="0">
                <a:cs typeface="Avenir Light"/>
              </a:rPr>
              <a:t>150 g  körsbärstomater i olika färger</a:t>
            </a:r>
          </a:p>
          <a:p>
            <a:r>
              <a:rPr lang="sv-SE" sz="1100" dirty="0">
                <a:cs typeface="Avenir Light"/>
              </a:rPr>
              <a:t>1 krm salladskrydda</a:t>
            </a:r>
            <a:endParaRPr lang="sv-SE" sz="1100" dirty="0">
              <a:ea typeface="Calibri"/>
              <a:cs typeface="Avenir Light"/>
            </a:endParaRPr>
          </a:p>
          <a:p>
            <a:r>
              <a:rPr lang="sv-SE" sz="1100" dirty="0">
                <a:cs typeface="Avenir Light"/>
              </a:rPr>
              <a:t>½ msk olivolja</a:t>
            </a:r>
          </a:p>
          <a:p>
            <a:r>
              <a:rPr lang="sv-SE" sz="1100" dirty="0">
                <a:cs typeface="Avenir Light"/>
              </a:rPr>
              <a:t>½ msk </a:t>
            </a:r>
            <a:r>
              <a:rPr lang="sv-SE" sz="1100" dirty="0" err="1">
                <a:cs typeface="Avenir Light"/>
              </a:rPr>
              <a:t>balsamico</a:t>
            </a:r>
            <a:endParaRPr lang="sv-SE" sz="1100" dirty="0">
              <a:cs typeface="Avenir Light"/>
            </a:endParaRPr>
          </a:p>
          <a:p>
            <a:endParaRPr lang="sv-SE" sz="1100" dirty="0">
              <a:cs typeface="Avenir Light"/>
            </a:endParaRPr>
          </a:p>
          <a:p>
            <a:r>
              <a:rPr lang="sv-SE" sz="1100" b="1" dirty="0">
                <a:cs typeface="Avenir Light"/>
              </a:rPr>
              <a:t>Tillbehör:</a:t>
            </a:r>
            <a:r>
              <a:rPr lang="sv-SE" sz="1100" dirty="0">
                <a:cs typeface="Avenir Light"/>
              </a:rPr>
              <a:t> 2 msk färsk timjan och 20 g rucolasallad</a:t>
            </a:r>
            <a:endParaRPr lang="sv-SE" sz="1100" dirty="0">
              <a:ea typeface="Calibri"/>
              <a:cs typeface="Avenir Light"/>
            </a:endParaRPr>
          </a:p>
          <a:p>
            <a:endParaRPr lang="sv-SE" sz="1100" dirty="0">
              <a:cs typeface="Avenir Light"/>
            </a:endParaRPr>
          </a:p>
          <a:p>
            <a:r>
              <a:rPr lang="sv-SE" sz="1100" dirty="0">
                <a:cs typeface="Avenir Light"/>
              </a:rPr>
              <a:t>Sätt ugnen på 200 grader. Lägg kycklingfärs i en skål. Skala och finhacka lök och riv vitlöken. Blanda ner i färsen tillsammans med kryddor. Forma till 4 små biffar och tryck ner färskosten i mitten. Lägg biffarna i en ugnsfast form och strö på pinjenötter. Sätt in i ugnen i 15  minuter. Gör tomatsalladen genom att strimla rödlök och dela tomaterna. Lägg i en skål och strö på salladskrydda. Häll på olivolja och </a:t>
            </a:r>
            <a:r>
              <a:rPr lang="sv-SE" sz="1100" dirty="0" err="1">
                <a:cs typeface="Avenir Light"/>
              </a:rPr>
              <a:t>balsamico</a:t>
            </a:r>
            <a:r>
              <a:rPr lang="sv-SE" sz="1100" dirty="0">
                <a:cs typeface="Avenir Light"/>
              </a:rPr>
              <a:t>. Strö på färsk timjan på biffarna och servera med tomatsallad och rucola. </a:t>
            </a:r>
          </a:p>
          <a:p>
            <a:endParaRPr lang="sv-SE" sz="1100" dirty="0">
              <a:cs typeface="Avenir Light"/>
            </a:endParaRPr>
          </a:p>
          <a:p>
            <a:endParaRPr lang="sv-SE" sz="1100" dirty="0">
              <a:cs typeface="Avenir Light"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13C0C45-6398-3E40-A5DE-31AA7C35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5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EDAB3DE7-6ADF-DE48-9756-52DF4FBC33A8}"/>
              </a:ext>
            </a:extLst>
          </p:cNvPr>
          <p:cNvSpPr txBox="1"/>
          <p:nvPr/>
        </p:nvSpPr>
        <p:spPr>
          <a:xfrm>
            <a:off x="285023" y="264300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Kyckling</a:t>
            </a:r>
          </a:p>
        </p:txBody>
      </p:sp>
      <p:sp>
        <p:nvSpPr>
          <p:cNvPr id="16" name="Ellips 15">
            <a:extLst>
              <a:ext uri="{FF2B5EF4-FFF2-40B4-BE49-F238E27FC236}">
                <a16:creationId xmlns:a16="http://schemas.microsoft.com/office/drawing/2014/main" id="{8D3C6C88-AE9D-AE4E-B60A-AFB6D302AFB6}"/>
              </a:ext>
            </a:extLst>
          </p:cNvPr>
          <p:cNvSpPr/>
          <p:nvPr/>
        </p:nvSpPr>
        <p:spPr>
          <a:xfrm>
            <a:off x="2134852" y="3195599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426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7" name="Platshållare för sidfot 1">
            <a:extLst>
              <a:ext uri="{FF2B5EF4-FFF2-40B4-BE49-F238E27FC236}">
                <a16:creationId xmlns:a16="http://schemas.microsoft.com/office/drawing/2014/main" id="{EAE645A4-67EE-5841-85C2-DD7E372A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6 </a:t>
            </a:r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A9A6560C-885D-E641-BC27-C4ECC0004B5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3846" y="280762"/>
            <a:ext cx="3148686" cy="4198247"/>
          </a:xfrm>
          <a:prstGeom prst="rect">
            <a:avLst/>
          </a:prstGeom>
        </p:spPr>
      </p:pic>
      <p:sp>
        <p:nvSpPr>
          <p:cNvPr id="12" name="textruta 11">
            <a:extLst>
              <a:ext uri="{FF2B5EF4-FFF2-40B4-BE49-F238E27FC236}">
                <a16:creationId xmlns:a16="http://schemas.microsoft.com/office/drawing/2014/main" id="{B201318B-73FF-BF4D-B300-42DF3CC44E75}"/>
              </a:ext>
            </a:extLst>
          </p:cNvPr>
          <p:cNvSpPr txBox="1"/>
          <p:nvPr/>
        </p:nvSpPr>
        <p:spPr>
          <a:xfrm>
            <a:off x="1284037" y="6726174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Beach 2021</a:t>
            </a:r>
          </a:p>
        </p:txBody>
      </p:sp>
    </p:spTree>
    <p:extLst>
      <p:ext uri="{BB962C8B-B14F-4D97-AF65-F5344CB8AC3E}">
        <p14:creationId xmlns:p14="http://schemas.microsoft.com/office/powerpoint/2010/main" val="312392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13C0C45-6398-3E40-A5DE-31AA7C35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6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EDAB3DE7-6ADF-DE48-9756-52DF4FBC33A8}"/>
              </a:ext>
            </a:extLst>
          </p:cNvPr>
          <p:cNvSpPr txBox="1"/>
          <p:nvPr/>
        </p:nvSpPr>
        <p:spPr>
          <a:xfrm>
            <a:off x="285023" y="264300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Kyckling</a:t>
            </a:r>
          </a:p>
        </p:txBody>
      </p:sp>
      <p:sp>
        <p:nvSpPr>
          <p:cNvPr id="15" name="Ellips 14">
            <a:extLst>
              <a:ext uri="{FF2B5EF4-FFF2-40B4-BE49-F238E27FC236}">
                <a16:creationId xmlns:a16="http://schemas.microsoft.com/office/drawing/2014/main" id="{33D21438-AD05-4D4C-BAF4-C69D87CA0651}"/>
              </a:ext>
            </a:extLst>
          </p:cNvPr>
          <p:cNvSpPr/>
          <p:nvPr/>
        </p:nvSpPr>
        <p:spPr>
          <a:xfrm>
            <a:off x="2098325" y="2646597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280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7" name="Platshållare för sidfot 1">
            <a:extLst>
              <a:ext uri="{FF2B5EF4-FFF2-40B4-BE49-F238E27FC236}">
                <a16:creationId xmlns:a16="http://schemas.microsoft.com/office/drawing/2014/main" id="{EAE645A4-67EE-5841-85C2-DD7E372A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6 </a:t>
            </a:r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09D07DF3-E821-9340-BAFB-E2141B8A85A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748597" y="850227"/>
            <a:ext cx="4420329" cy="3315247"/>
          </a:xfrm>
          <a:prstGeom prst="rect">
            <a:avLst/>
          </a:prstGeom>
        </p:spPr>
      </p:pic>
      <p:sp>
        <p:nvSpPr>
          <p:cNvPr id="14" name="Rektangel 13">
            <a:extLst>
              <a:ext uri="{FF2B5EF4-FFF2-40B4-BE49-F238E27FC236}">
                <a16:creationId xmlns:a16="http://schemas.microsoft.com/office/drawing/2014/main" id="{9FEE3CC4-4FE3-9B40-9D4E-1C301E9FA1D2}"/>
              </a:ext>
            </a:extLst>
          </p:cNvPr>
          <p:cNvSpPr/>
          <p:nvPr/>
        </p:nvSpPr>
        <p:spPr>
          <a:xfrm>
            <a:off x="383824" y="2047999"/>
            <a:ext cx="4970295" cy="44935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Asiatisk kycklingfärs med grönkål </a:t>
            </a:r>
          </a:p>
          <a:p>
            <a:r>
              <a:rPr lang="sv-SE" sz="1100" b="1" dirty="0">
                <a:solidFill>
                  <a:srgbClr val="000000"/>
                </a:solidFill>
              </a:rPr>
              <a:t>- 2 portioner 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1/4 </a:t>
            </a:r>
            <a:r>
              <a:rPr lang="sv-SE" sz="1100" dirty="0">
                <a:solidFill>
                  <a:srgbClr val="FF0000"/>
                </a:solidFill>
              </a:rPr>
              <a:t>röd paprika 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1/4 </a:t>
            </a:r>
            <a:r>
              <a:rPr lang="sv-SE" sz="1100" dirty="0">
                <a:solidFill>
                  <a:srgbClr val="FF0000"/>
                </a:solidFill>
              </a:rPr>
              <a:t>grön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1/4 </a:t>
            </a:r>
            <a:r>
              <a:rPr lang="sv-SE" sz="1100" dirty="0">
                <a:solidFill>
                  <a:srgbClr val="FF0000"/>
                </a:solidFill>
              </a:rPr>
              <a:t>gul paprika 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5 cm purjolök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grönkålsblad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morot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vitlöksklyfta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tsk färsk ingefära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tsk olivolja</a:t>
            </a:r>
          </a:p>
          <a:p>
            <a:r>
              <a:rPr lang="sv-SE" sz="1100" dirty="0">
                <a:solidFill>
                  <a:srgbClr val="000000"/>
                </a:solidFill>
              </a:rPr>
              <a:t>300 g kycklingfärs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msk teriyakisås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msk färsk </a:t>
            </a:r>
            <a:r>
              <a:rPr lang="sv-SE" sz="1100" dirty="0">
                <a:solidFill>
                  <a:srgbClr val="FF0000"/>
                </a:solidFill>
              </a:rPr>
              <a:t>hackad</a:t>
            </a:r>
            <a:r>
              <a:rPr lang="sv-SE" sz="1100" dirty="0">
                <a:solidFill>
                  <a:srgbClr val="000000"/>
                </a:solidFill>
              </a:rPr>
              <a:t> koriander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 err="1">
                <a:solidFill>
                  <a:srgbClr val="000000"/>
                </a:solidFill>
              </a:rPr>
              <a:t>Topping</a:t>
            </a:r>
            <a:r>
              <a:rPr lang="sv-SE" sz="1100" dirty="0">
                <a:solidFill>
                  <a:srgbClr val="000000"/>
                </a:solidFill>
              </a:rPr>
              <a:t>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msk granatäpplekärnor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Hacka paprika i små tärningar. Skär purjolök och grönkål i strimlor. Skala och hacka morot i små tärningar. Skala och riv vitlök och ingefära. Hetta upp en stekpanna med olivolja och bryn färsen. Tillsätt paprika, morot, purjolök, vitlök och ingefära och stek färsen i några minuter. Krydda med salt, peppar och teriyakisås. Lägg i koriander och grönkål i färsblandningen. Låt steka i ytterligare en minut i och dra sedan pannan från värmen. Servera kycklingfärs i skålar och toppa med granatäpplekärnor. </a:t>
            </a:r>
            <a:endParaRPr lang="sv-SE" sz="110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2535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063519B9-4B17-DB43-99F3-A20DF5071223}"/>
              </a:ext>
            </a:extLst>
          </p:cNvPr>
          <p:cNvSpPr/>
          <p:nvPr/>
        </p:nvSpPr>
        <p:spPr>
          <a:xfrm>
            <a:off x="225220" y="514949"/>
            <a:ext cx="6059732" cy="50013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Lax med </a:t>
            </a:r>
            <a:r>
              <a:rPr lang="sv-SE" sz="1100" b="1" dirty="0" err="1">
                <a:solidFill>
                  <a:srgbClr val="000000"/>
                </a:solidFill>
              </a:rPr>
              <a:t>quinoasallad</a:t>
            </a:r>
            <a:r>
              <a:rPr lang="sv-SE" sz="1100" b="1" dirty="0">
                <a:solidFill>
                  <a:srgbClr val="000000"/>
                </a:solidFill>
              </a:rPr>
              <a:t> och grapefrukt - 2 portioner 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 dl vit </a:t>
            </a:r>
            <a:r>
              <a:rPr lang="sv-SE" sz="1100" dirty="0" err="1">
                <a:solidFill>
                  <a:srgbClr val="000000"/>
                </a:solidFill>
              </a:rPr>
              <a:t>quinoa</a:t>
            </a:r>
            <a:endParaRPr lang="sv-SE" sz="1100" dirty="0" err="1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50 g frysta gröna ärtor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grapefrukt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1/4 purjolök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40 g bladspenat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tsk olivolja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tsk vit </a:t>
            </a:r>
            <a:r>
              <a:rPr lang="sv-SE" sz="1100" dirty="0" err="1">
                <a:solidFill>
                  <a:srgbClr val="000000"/>
                </a:solidFill>
              </a:rPr>
              <a:t>balsamico</a:t>
            </a:r>
            <a:r>
              <a:rPr lang="sv-SE" sz="1100" dirty="0">
                <a:solidFill>
                  <a:srgbClr val="000000"/>
                </a:solidFill>
              </a:rPr>
              <a:t>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300 g laxfilé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</a:t>
            </a:r>
            <a:r>
              <a:rPr lang="sv-SE" sz="1100" dirty="0" err="1">
                <a:solidFill>
                  <a:srgbClr val="000000"/>
                </a:solidFill>
              </a:rPr>
              <a:t>svartpepper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 tsk olivolja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Mango chutneysås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2/3 dl grekisk yoghurt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1,5 msk mango chutney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msk </a:t>
            </a:r>
            <a:r>
              <a:rPr lang="sv-SE" sz="1100" dirty="0">
                <a:solidFill>
                  <a:srgbClr val="FF0000"/>
                </a:solidFill>
              </a:rPr>
              <a:t>hackad</a:t>
            </a:r>
            <a:r>
              <a:rPr lang="sv-SE" sz="1100" dirty="0">
                <a:solidFill>
                  <a:srgbClr val="000000"/>
                </a:solidFill>
              </a:rPr>
              <a:t> gräslök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svartpeppar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 err="1">
                <a:solidFill>
                  <a:srgbClr val="000000"/>
                </a:solidFill>
              </a:rPr>
              <a:t>Topping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 msk </a:t>
            </a:r>
            <a:r>
              <a:rPr lang="sv-SE" sz="1100" dirty="0">
                <a:solidFill>
                  <a:srgbClr val="FF0000"/>
                </a:solidFill>
              </a:rPr>
              <a:t>hackad</a:t>
            </a:r>
            <a:r>
              <a:rPr lang="sv-SE" sz="1100" dirty="0">
                <a:solidFill>
                  <a:srgbClr val="000000"/>
                </a:solidFill>
              </a:rPr>
              <a:t> gräslök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Koka upp </a:t>
            </a:r>
            <a:r>
              <a:rPr lang="sv-SE" sz="1100" dirty="0" err="1">
                <a:solidFill>
                  <a:srgbClr val="000000"/>
                </a:solidFill>
              </a:rPr>
              <a:t>quinoa</a:t>
            </a:r>
            <a:r>
              <a:rPr lang="sv-SE" sz="1100" dirty="0">
                <a:solidFill>
                  <a:srgbClr val="000000"/>
                </a:solidFill>
              </a:rPr>
              <a:t>, vatten och salt. Rör om och låt sjuda under lock i 15 minuter. Tina gröna ärtor. Skala och </a:t>
            </a:r>
            <a:r>
              <a:rPr lang="sv-SE" sz="1100" dirty="0" err="1">
                <a:solidFill>
                  <a:srgbClr val="000000"/>
                </a:solidFill>
              </a:rPr>
              <a:t>filéea</a:t>
            </a:r>
            <a:r>
              <a:rPr lang="sv-SE" sz="1100" dirty="0">
                <a:solidFill>
                  <a:srgbClr val="000000"/>
                </a:solidFill>
              </a:rPr>
              <a:t> grapefrukt. Skär hälften av grapefrukten i mindre bitar. Finhacka purjolök. Blanda </a:t>
            </a:r>
            <a:r>
              <a:rPr lang="sv-SE" sz="1100" dirty="0" err="1">
                <a:solidFill>
                  <a:srgbClr val="000000"/>
                </a:solidFill>
              </a:rPr>
              <a:t>quinoa</a:t>
            </a:r>
            <a:r>
              <a:rPr lang="sv-SE" sz="1100" dirty="0">
                <a:solidFill>
                  <a:srgbClr val="000000"/>
                </a:solidFill>
              </a:rPr>
              <a:t>, ärtor, purjolök, grapefruktsbitar och bladspenat i en skål. Ringla över olivolja och </a:t>
            </a:r>
            <a:r>
              <a:rPr lang="sv-SE" sz="1100" dirty="0" err="1">
                <a:solidFill>
                  <a:srgbClr val="000000"/>
                </a:solidFill>
              </a:rPr>
              <a:t>balsamico</a:t>
            </a:r>
            <a:r>
              <a:rPr lang="sv-SE" sz="1100" dirty="0">
                <a:solidFill>
                  <a:srgbClr val="000000"/>
                </a:solidFill>
              </a:rPr>
              <a:t>. Strö på salt och peppar. Ta fram laxfilé och strö på salt och peppar på båda sidorna. Hetta upp en stekpanna med olivolja och lägg i laxen. Stek laxen 3-4 minuter på varje sida tills den är genomstekt. Blanda yoghurt, mango chutney, hackad gräslök, salt och peppar i en skål och rör om. Lägg upp </a:t>
            </a:r>
            <a:r>
              <a:rPr lang="sv-SE" sz="1100" dirty="0" err="1">
                <a:solidFill>
                  <a:srgbClr val="000000"/>
                </a:solidFill>
              </a:rPr>
              <a:t>quinoasallad</a:t>
            </a:r>
            <a:r>
              <a:rPr lang="sv-SE" sz="1100" dirty="0">
                <a:solidFill>
                  <a:srgbClr val="000000"/>
                </a:solidFill>
              </a:rPr>
              <a:t> på tallrikar. Lägg på laxen och toppa med grapefruktfiléer, mango chutneysås och hackad gräslök.  </a:t>
            </a:r>
            <a:endParaRPr lang="sv-SE" sz="11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A87304A-35B7-4042-BF22-9FDF22A0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7</a:t>
            </a:fld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3FFF5D6-C53C-A34C-9DB1-E9EE5DD0D745}"/>
              </a:ext>
            </a:extLst>
          </p:cNvPr>
          <p:cNvSpPr txBox="1"/>
          <p:nvPr/>
        </p:nvSpPr>
        <p:spPr>
          <a:xfrm>
            <a:off x="225220" y="63302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Fisk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F439330D-F48B-334F-A377-9CB18DEB095D}"/>
              </a:ext>
            </a:extLst>
          </p:cNvPr>
          <p:cNvSpPr/>
          <p:nvPr/>
        </p:nvSpPr>
        <p:spPr>
          <a:xfrm>
            <a:off x="2075049" y="1946491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590kcal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7" name="Platshållare för sidfot 1">
            <a:extLst>
              <a:ext uri="{FF2B5EF4-FFF2-40B4-BE49-F238E27FC236}">
                <a16:creationId xmlns:a16="http://schemas.microsoft.com/office/drawing/2014/main" id="{2544100A-BE6B-514D-BD0A-7A408247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6 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9A8A0EF7-6C29-934A-B815-119FDBC8930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303027" y="586644"/>
            <a:ext cx="3828468" cy="2871351"/>
          </a:xfrm>
          <a:prstGeom prst="rect">
            <a:avLst/>
          </a:prstGeom>
        </p:spPr>
      </p:pic>
      <p:pic>
        <p:nvPicPr>
          <p:cNvPr id="10" name="Bildobjekt 9">
            <a:extLst>
              <a:ext uri="{FF2B5EF4-FFF2-40B4-BE49-F238E27FC236}">
                <a16:creationId xmlns:a16="http://schemas.microsoft.com/office/drawing/2014/main" id="{27104E85-8CA2-E44A-94A0-301765026AF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128817" y="5941468"/>
            <a:ext cx="3257931" cy="2443449"/>
          </a:xfrm>
          <a:prstGeom prst="rect">
            <a:avLst/>
          </a:prstGeom>
        </p:spPr>
      </p:pic>
      <p:sp>
        <p:nvSpPr>
          <p:cNvPr id="12" name="Rektangel 11">
            <a:extLst>
              <a:ext uri="{FF2B5EF4-FFF2-40B4-BE49-F238E27FC236}">
                <a16:creationId xmlns:a16="http://schemas.microsoft.com/office/drawing/2014/main" id="{C843C870-D820-0F4B-B239-F3FD4E79C575}"/>
              </a:ext>
            </a:extLst>
          </p:cNvPr>
          <p:cNvSpPr/>
          <p:nvPr/>
        </p:nvSpPr>
        <p:spPr>
          <a:xfrm>
            <a:off x="2776055" y="5748506"/>
            <a:ext cx="3948843" cy="297004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Stek torsk med bearnaisesås och </a:t>
            </a:r>
            <a:r>
              <a:rPr lang="sv-SE" sz="1100" b="1" dirty="0" err="1">
                <a:solidFill>
                  <a:srgbClr val="000000"/>
                </a:solidFill>
              </a:rPr>
              <a:t>haricot</a:t>
            </a:r>
            <a:r>
              <a:rPr lang="sv-SE" sz="1100" b="1" dirty="0">
                <a:solidFill>
                  <a:srgbClr val="000000"/>
                </a:solidFill>
              </a:rPr>
              <a:t> </a:t>
            </a:r>
            <a:r>
              <a:rPr lang="sv-SE" sz="1100" b="1" dirty="0" err="1">
                <a:solidFill>
                  <a:srgbClr val="000000"/>
                </a:solidFill>
              </a:rPr>
              <a:t>verts</a:t>
            </a:r>
            <a:r>
              <a:rPr lang="sv-SE" sz="1100" b="1" dirty="0">
                <a:solidFill>
                  <a:srgbClr val="000000"/>
                </a:solidFill>
              </a:rPr>
              <a:t> - 2 portioner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 tsk olivolja</a:t>
            </a:r>
          </a:p>
          <a:p>
            <a:r>
              <a:rPr lang="sv-SE" sz="1100" dirty="0">
                <a:solidFill>
                  <a:srgbClr val="000000"/>
                </a:solidFill>
              </a:rPr>
              <a:t>400 g torskfilé   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3/4 dl vatten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Tillbehör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200 g </a:t>
            </a:r>
            <a:r>
              <a:rPr lang="sv-SE" sz="1100" dirty="0" err="1">
                <a:solidFill>
                  <a:srgbClr val="000000"/>
                </a:solidFill>
              </a:rPr>
              <a:t>haricot</a:t>
            </a:r>
            <a:r>
              <a:rPr lang="sv-SE" sz="1100" dirty="0">
                <a:solidFill>
                  <a:srgbClr val="000000"/>
                </a:solidFill>
              </a:rPr>
              <a:t> </a:t>
            </a:r>
            <a:r>
              <a:rPr lang="sv-SE" sz="1100" dirty="0" err="1">
                <a:solidFill>
                  <a:srgbClr val="000000"/>
                </a:solidFill>
              </a:rPr>
              <a:t>verts</a:t>
            </a:r>
            <a:r>
              <a:rPr lang="sv-SE" sz="1100" dirty="0">
                <a:solidFill>
                  <a:srgbClr val="000000"/>
                </a:solidFill>
              </a:rPr>
              <a:t>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msk bearnaisesås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Dekoration</a:t>
            </a:r>
            <a:r>
              <a:rPr lang="sv-SE" sz="1100" dirty="0">
                <a:solidFill>
                  <a:srgbClr val="000000"/>
                </a:solidFill>
              </a:rPr>
              <a:t>: 2 persiljekvistar och 2 citronklyftor </a:t>
            </a:r>
            <a:endParaRPr lang="sv-SE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Hetta upp en stekpanna med olivolja. Stek torsken 1 min per sida. Strö på salt och peppar. Häll på vatten och ångkoka tills torsken är klar. Koka </a:t>
            </a:r>
            <a:r>
              <a:rPr lang="sv-SE" sz="1100" dirty="0" err="1">
                <a:solidFill>
                  <a:srgbClr val="000000"/>
                </a:solidFill>
              </a:rPr>
              <a:t>haricot</a:t>
            </a:r>
            <a:r>
              <a:rPr lang="sv-SE" sz="1100" dirty="0">
                <a:solidFill>
                  <a:srgbClr val="000000"/>
                </a:solidFill>
              </a:rPr>
              <a:t> </a:t>
            </a:r>
            <a:r>
              <a:rPr lang="sv-SE" sz="1100" dirty="0" err="1">
                <a:solidFill>
                  <a:srgbClr val="000000"/>
                </a:solidFill>
              </a:rPr>
              <a:t>verts</a:t>
            </a:r>
            <a:r>
              <a:rPr lang="sv-SE" sz="1100" dirty="0">
                <a:solidFill>
                  <a:srgbClr val="000000"/>
                </a:solidFill>
              </a:rPr>
              <a:t>  i några minuter i lättsaltat vatten och lägg upp på tallrikar. Lägg på fisken och servera med bearnaisesås. Dekorera med persiljekvistar på citronklyftor.    </a:t>
            </a:r>
            <a:endParaRPr lang="sv-SE" sz="1100" dirty="0">
              <a:solidFill>
                <a:srgbClr val="000000"/>
              </a:solidFill>
              <a:effectLst/>
            </a:endParaRPr>
          </a:p>
        </p:txBody>
      </p:sp>
      <p:sp>
        <p:nvSpPr>
          <p:cNvPr id="13" name="Ellips 12">
            <a:extLst>
              <a:ext uri="{FF2B5EF4-FFF2-40B4-BE49-F238E27FC236}">
                <a16:creationId xmlns:a16="http://schemas.microsoft.com/office/drawing/2014/main" id="{6D3FAB5E-67D6-7D4C-AE52-F8107706E206}"/>
              </a:ext>
            </a:extLst>
          </p:cNvPr>
          <p:cNvSpPr/>
          <p:nvPr/>
        </p:nvSpPr>
        <p:spPr>
          <a:xfrm>
            <a:off x="4906396" y="6317585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278kcal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</p:spTree>
    <p:extLst>
      <p:ext uri="{BB962C8B-B14F-4D97-AF65-F5344CB8AC3E}">
        <p14:creationId xmlns:p14="http://schemas.microsoft.com/office/powerpoint/2010/main" val="2146212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EA612F90-CA22-604D-AF84-83A9C45B6066}"/>
              </a:ext>
            </a:extLst>
          </p:cNvPr>
          <p:cNvSpPr/>
          <p:nvPr/>
        </p:nvSpPr>
        <p:spPr>
          <a:xfrm>
            <a:off x="299799" y="2160864"/>
            <a:ext cx="6314517" cy="53399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lang="sv-SE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Hamburgare med grekisk sallad – 2 portioner</a:t>
            </a:r>
            <a:endParaRPr lang="sv-SE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färska hamburgare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Salt och svartpeppar</a:t>
            </a:r>
          </a:p>
          <a:p>
            <a:r>
              <a:rPr lang="sv-SE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 krm paprikakrydda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½ msk smör</a:t>
            </a:r>
          </a:p>
          <a:p>
            <a:pPr>
              <a:spcAft>
                <a:spcPts val="0"/>
              </a:spcAft>
            </a:pPr>
            <a:endParaRPr lang="sv-SE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sv-SE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Grekisk sallad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½ röd paprika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½ rödlök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stor tomat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¼ gurka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 msk </a:t>
            </a:r>
            <a:r>
              <a:rPr lang="sv-SE" sz="11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finhackad</a:t>
            </a:r>
            <a:r>
              <a:rPr lang="sv-SE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persilja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tsk olivolja</a:t>
            </a:r>
          </a:p>
          <a:p>
            <a:r>
              <a:rPr lang="sv-SE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0,5 tsk torkade örter</a:t>
            </a:r>
            <a:endParaRPr lang="sv-SE" dirty="0"/>
          </a:p>
          <a:p>
            <a:pPr>
              <a:spcAft>
                <a:spcPts val="0"/>
              </a:spcAft>
            </a:pPr>
            <a:endParaRPr lang="sv-SE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sv-SE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Tillbehör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 g </a:t>
            </a:r>
            <a:r>
              <a:rPr lang="sv-SE" sz="11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machésallad</a:t>
            </a:r>
            <a:endParaRPr lang="sv-SE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 g fetaost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½ granatäpple</a:t>
            </a: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 msk solrosfrön</a:t>
            </a:r>
            <a:endParaRPr lang="sv-SE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 krm flytande honung</a:t>
            </a:r>
          </a:p>
          <a:p>
            <a:r>
              <a:rPr lang="sv-SE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 nypa salt</a:t>
            </a:r>
          </a:p>
          <a:p>
            <a:r>
              <a:rPr lang="sv-SE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 citronklyftor</a:t>
            </a:r>
            <a:endParaRPr lang="sv-SE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sv-SE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Gör först salladen genom att skär alla grönsaker i mindre bitar och lägg i en skål. Blanda ner persilja, olja, örter, salt och peppar. Lägg </a:t>
            </a:r>
            <a:r>
              <a:rPr lang="sv-SE" sz="11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machésallad</a:t>
            </a: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på ett fat och lägg grönsakerna runt om. Strö på salt, peppar och paprikakrydda  på hamburgarna. Hetta upp en stekpanna och stek hamburgarna runt om i några minuter och lägg över salladen. Toppa med fetaost, granatäpplekärnor och lägg några persiljekvistar på. Rosta frön i en torr stekpanna och droppa lite honung över. Strö på frön över rätten och dekorera med citronklyftor.</a:t>
            </a:r>
          </a:p>
          <a:p>
            <a:pPr>
              <a:spcAft>
                <a:spcPts val="0"/>
              </a:spcAft>
            </a:pPr>
            <a:endParaRPr lang="sv-SE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sv-SE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sv-SE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D3D5235-8C43-0F43-B808-005406A6DCB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5355" y="479023"/>
            <a:ext cx="3278961" cy="4371947"/>
          </a:xfrm>
          <a:prstGeom prst="rect">
            <a:avLst/>
          </a:prstGeom>
        </p:spPr>
      </p:pic>
      <p:sp>
        <p:nvSpPr>
          <p:cNvPr id="10" name="textruta 9">
            <a:extLst>
              <a:ext uri="{FF2B5EF4-FFF2-40B4-BE49-F238E27FC236}">
                <a16:creationId xmlns:a16="http://schemas.microsoft.com/office/drawing/2014/main" id="{6CF93632-B56E-BB4F-BD95-C0BA7831EF44}"/>
              </a:ext>
            </a:extLst>
          </p:cNvPr>
          <p:cNvSpPr txBox="1"/>
          <p:nvPr/>
        </p:nvSpPr>
        <p:spPr>
          <a:xfrm>
            <a:off x="299799" y="463527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Kött</a:t>
            </a:r>
          </a:p>
        </p:txBody>
      </p:sp>
      <p:sp>
        <p:nvSpPr>
          <p:cNvPr id="15" name="Ellips 14">
            <a:extLst>
              <a:ext uri="{FF2B5EF4-FFF2-40B4-BE49-F238E27FC236}">
                <a16:creationId xmlns:a16="http://schemas.microsoft.com/office/drawing/2014/main" id="{BC6EC59B-C883-F842-9B94-731C69AE8C6C}"/>
              </a:ext>
            </a:extLst>
          </p:cNvPr>
          <p:cNvSpPr/>
          <p:nvPr/>
        </p:nvSpPr>
        <p:spPr>
          <a:xfrm>
            <a:off x="2389374" y="2763144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560kcal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16" name="Platshållare för sidfot 1">
            <a:extLst>
              <a:ext uri="{FF2B5EF4-FFF2-40B4-BE49-F238E27FC236}">
                <a16:creationId xmlns:a16="http://schemas.microsoft.com/office/drawing/2014/main" id="{153388E1-2553-DE42-B342-7A9C673E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6 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DD5FD60E-8B2E-4840-899F-8A88B085D441}"/>
              </a:ext>
            </a:extLst>
          </p:cNvPr>
          <p:cNvSpPr txBox="1"/>
          <p:nvPr/>
        </p:nvSpPr>
        <p:spPr>
          <a:xfrm>
            <a:off x="2703699" y="7887790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Beach 2021</a:t>
            </a:r>
          </a:p>
        </p:txBody>
      </p:sp>
    </p:spTree>
    <p:extLst>
      <p:ext uri="{BB962C8B-B14F-4D97-AF65-F5344CB8AC3E}">
        <p14:creationId xmlns:p14="http://schemas.microsoft.com/office/powerpoint/2010/main" val="2036271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9A473C6C-AB50-8D49-A05E-906425AF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9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2A1061FE-0206-D14D-A338-6477F2C2B02E}"/>
              </a:ext>
            </a:extLst>
          </p:cNvPr>
          <p:cNvSpPr txBox="1"/>
          <p:nvPr/>
        </p:nvSpPr>
        <p:spPr>
          <a:xfrm>
            <a:off x="285023" y="264300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Dessert</a:t>
            </a: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42D07097-6784-8541-A85A-51CA84B415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261998" y="1122767"/>
            <a:ext cx="4702665" cy="3526999"/>
          </a:xfrm>
          <a:prstGeom prst="rect">
            <a:avLst/>
          </a:prstGeom>
        </p:spPr>
      </p:pic>
      <p:sp>
        <p:nvSpPr>
          <p:cNvPr id="13" name="Rektangel 12">
            <a:extLst>
              <a:ext uri="{FF2B5EF4-FFF2-40B4-BE49-F238E27FC236}">
                <a16:creationId xmlns:a16="http://schemas.microsoft.com/office/drawing/2014/main" id="{16113F10-0498-BB4F-BCBC-8DBEA39C41F5}"/>
              </a:ext>
            </a:extLst>
          </p:cNvPr>
          <p:cNvSpPr/>
          <p:nvPr/>
        </p:nvSpPr>
        <p:spPr>
          <a:xfrm>
            <a:off x="496514" y="4020844"/>
            <a:ext cx="5718306" cy="33085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A1A1A"/>
                </a:solidFill>
              </a:rPr>
              <a:t>Mandelkaka med med choklad </a:t>
            </a:r>
          </a:p>
          <a:p>
            <a:r>
              <a:rPr lang="sv-SE" sz="1100" b="1" dirty="0">
                <a:solidFill>
                  <a:srgbClr val="1A1A1A"/>
                </a:solidFill>
              </a:rPr>
              <a:t>och hallon – 10 portioner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200 g smör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4 dl </a:t>
            </a:r>
            <a:r>
              <a:rPr lang="sv-SE" sz="1100" dirty="0" err="1">
                <a:solidFill>
                  <a:srgbClr val="1A1A1A"/>
                </a:solidFill>
              </a:rPr>
              <a:t>mandelmjöl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1/2 dl agavesirap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1,2 tsk bakpulver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tsk vaniljpulver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msk kakao</a:t>
            </a:r>
          </a:p>
          <a:p>
            <a:r>
              <a:rPr lang="sv-SE" sz="1100" dirty="0">
                <a:solidFill>
                  <a:srgbClr val="1A1A1A"/>
                </a:solidFill>
              </a:rPr>
              <a:t>4 ägg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krm salt</a:t>
            </a:r>
            <a:br>
              <a:rPr lang="sv-SE" sz="1100" dirty="0">
                <a:solidFill>
                  <a:srgbClr val="1A1A1A"/>
                </a:solidFill>
              </a:rPr>
            </a:b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b="1" dirty="0" err="1">
                <a:solidFill>
                  <a:srgbClr val="1A1A1A"/>
                </a:solidFill>
              </a:rPr>
              <a:t>Topping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75 g chokladknappar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150g hallon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Sätt ugnen på 175 grader. Smält smöret i en kastrull. Blanda alla ingredienser till smeten. Häll ner smeten i en pajform (15 cm i diameter) med bakplåtspapper. Strö på chokladknappar. Grädda i ugnen i 20 minuter. Låt svalna. Frys in i portionsbitar.</a:t>
            </a:r>
          </a:p>
          <a:p>
            <a:endParaRPr lang="sv-SE" sz="1100" dirty="0">
              <a:solidFill>
                <a:srgbClr val="1A1A1A"/>
              </a:solidFill>
            </a:endParaRPr>
          </a:p>
        </p:txBody>
      </p:sp>
      <p:sp>
        <p:nvSpPr>
          <p:cNvPr id="14" name="Platshållare för sidfot 1">
            <a:extLst>
              <a:ext uri="{FF2B5EF4-FFF2-40B4-BE49-F238E27FC236}">
                <a16:creationId xmlns:a16="http://schemas.microsoft.com/office/drawing/2014/main" id="{39D187F7-4D77-F94D-A465-0DE6914A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6</a:t>
            </a:r>
          </a:p>
        </p:txBody>
      </p:sp>
      <p:sp>
        <p:nvSpPr>
          <p:cNvPr id="11" name="Ellips 10">
            <a:extLst>
              <a:ext uri="{FF2B5EF4-FFF2-40B4-BE49-F238E27FC236}">
                <a16:creationId xmlns:a16="http://schemas.microsoft.com/office/drawing/2014/main" id="{90B25ED7-6505-744E-8FDE-A07382855BF7}"/>
              </a:ext>
            </a:extLst>
          </p:cNvPr>
          <p:cNvSpPr/>
          <p:nvPr/>
        </p:nvSpPr>
        <p:spPr>
          <a:xfrm>
            <a:off x="2026317" y="4638439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385kcal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15" name="Pratbubbla: rektangel med rundade hörn 5">
            <a:extLst>
              <a:ext uri="{FF2B5EF4-FFF2-40B4-BE49-F238E27FC236}">
                <a16:creationId xmlns:a16="http://schemas.microsoft.com/office/drawing/2014/main" id="{49EE096B-A9E4-7F49-8ADB-7E14A8CEAEC5}"/>
              </a:ext>
            </a:extLst>
          </p:cNvPr>
          <p:cNvSpPr/>
          <p:nvPr/>
        </p:nvSpPr>
        <p:spPr>
          <a:xfrm>
            <a:off x="3728846" y="5675143"/>
            <a:ext cx="1671282" cy="631957"/>
          </a:xfrm>
          <a:prstGeom prst="wedgeRoundRectCallout">
            <a:avLst/>
          </a:prstGeom>
          <a:solidFill>
            <a:srgbClr val="2765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cs typeface="Avenir Light"/>
              </a:rPr>
              <a:t>Frys in resterande portioner</a:t>
            </a:r>
          </a:p>
        </p:txBody>
      </p:sp>
    </p:spTree>
    <p:extLst>
      <p:ext uri="{BB962C8B-B14F-4D97-AF65-F5344CB8AC3E}">
        <p14:creationId xmlns:p14="http://schemas.microsoft.com/office/powerpoint/2010/main" val="662177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487087</TotalTime>
  <Words>1534</Words>
  <Application>Microsoft Macintosh PowerPoint</Application>
  <PresentationFormat>Bildspel på skärmen (4:3)</PresentationFormat>
  <Paragraphs>238</Paragraphs>
  <Slides>9</Slides>
  <Notes>3</Notes>
  <HiddenSlides>0</HiddenSlides>
  <MMClips>0</MMClips>
  <ScaleCrop>false</ScaleCrop>
  <HeadingPairs>
    <vt:vector size="6" baseType="variant">
      <vt:variant>
        <vt:lpstr>Använt teckensnitt</vt:lpstr>
      </vt:variant>
      <vt:variant>
        <vt:i4>7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9</vt:i4>
      </vt:variant>
    </vt:vector>
  </HeadingPairs>
  <TitlesOfParts>
    <vt:vector size="17" baseType="lpstr">
      <vt:lpstr>ＭＳ 明朝</vt:lpstr>
      <vt:lpstr>Arial</vt:lpstr>
      <vt:lpstr>Avenir Light</vt:lpstr>
      <vt:lpstr>BigCaslonFB</vt:lpstr>
      <vt:lpstr>Calibri</vt:lpstr>
      <vt:lpstr>Helvetica Neue</vt:lpstr>
      <vt:lpstr>Times New Roman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The Diet Shop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Ulrika Davidsson</dc:creator>
  <cp:lastModifiedBy>ulrika.davidsson@dietshop.se</cp:lastModifiedBy>
  <cp:revision>1098</cp:revision>
  <cp:lastPrinted>2017-09-05T09:39:57Z</cp:lastPrinted>
  <dcterms:created xsi:type="dcterms:W3CDTF">2016-08-21T13:21:42Z</dcterms:created>
  <dcterms:modified xsi:type="dcterms:W3CDTF">2025-06-03T08:41:09Z</dcterms:modified>
</cp:coreProperties>
</file>