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334" r:id="rId3"/>
    <p:sldId id="368" r:id="rId4"/>
    <p:sldId id="501" r:id="rId5"/>
    <p:sldId id="500" r:id="rId6"/>
    <p:sldId id="469" r:id="rId7"/>
    <p:sldId id="274" r:id="rId8"/>
    <p:sldId id="502" r:id="rId9"/>
    <p:sldId id="497" r:id="rId10"/>
    <p:sldId id="446" r:id="rId11"/>
    <p:sldId id="498" r:id="rId12"/>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230" autoAdjust="0"/>
    <p:restoredTop sz="94760" autoAdjust="0"/>
  </p:normalViewPr>
  <p:slideViewPr>
    <p:cSldViewPr snapToGrid="0" snapToObjects="1">
      <p:cViewPr varScale="1">
        <p:scale>
          <a:sx n="82" d="100"/>
          <a:sy n="82" d="100"/>
        </p:scale>
        <p:origin x="2696" y="64"/>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Jungåker" userId="Jp51DZr2S3O2Kq/fECI9vz/Rf/nX3kiUVMBM7w9AVas=" providerId="None" clId="Web-{1CD4D3F8-D6E2-4681-908A-35CD69A0C811}"/>
    <pc:docChg chg="modSld">
      <pc:chgData name="Paula Jungåker" userId="Jp51DZr2S3O2Kq/fECI9vz/Rf/nX3kiUVMBM7w9AVas=" providerId="None" clId="Web-{1CD4D3F8-D6E2-4681-908A-35CD69A0C811}" dt="2025-02-05T08:54:42.651" v="15" actId="20577"/>
      <pc:docMkLst>
        <pc:docMk/>
      </pc:docMkLst>
      <pc:sldChg chg="modSp">
        <pc:chgData name="Paula Jungåker" userId="Jp51DZr2S3O2Kq/fECI9vz/Rf/nX3kiUVMBM7w9AVas=" providerId="None" clId="Web-{1CD4D3F8-D6E2-4681-908A-35CD69A0C811}" dt="2025-02-05T08:51:42.036" v="0" actId="20577"/>
        <pc:sldMkLst>
          <pc:docMk/>
          <pc:sldMk cId="3788094998" sldId="257"/>
        </pc:sldMkLst>
        <pc:spChg chg="mod">
          <ac:chgData name="Paula Jungåker" userId="Jp51DZr2S3O2Kq/fECI9vz/Rf/nX3kiUVMBM7w9AVas=" providerId="None" clId="Web-{1CD4D3F8-D6E2-4681-908A-35CD69A0C811}" dt="2025-02-05T08:51:42.036" v="0" actId="20577"/>
          <ac:spMkLst>
            <pc:docMk/>
            <pc:sldMk cId="3788094998" sldId="257"/>
            <ac:spMk id="16" creationId="{E16F5AE8-9623-A049-8F89-CF6A3C8F489D}"/>
          </ac:spMkLst>
        </pc:spChg>
      </pc:sldChg>
      <pc:sldChg chg="modSp">
        <pc:chgData name="Paula Jungåker" userId="Jp51DZr2S3O2Kq/fECI9vz/Rf/nX3kiUVMBM7w9AVas=" providerId="None" clId="Web-{1CD4D3F8-D6E2-4681-908A-35CD69A0C811}" dt="2025-02-05T08:53:35.008" v="11" actId="20577"/>
        <pc:sldMkLst>
          <pc:docMk/>
          <pc:sldMk cId="3462147915" sldId="274"/>
        </pc:sldMkLst>
        <pc:spChg chg="mod">
          <ac:chgData name="Paula Jungåker" userId="Jp51DZr2S3O2Kq/fECI9vz/Rf/nX3kiUVMBM7w9AVas=" providerId="None" clId="Web-{1CD4D3F8-D6E2-4681-908A-35CD69A0C811}" dt="2025-02-05T08:53:35.008" v="11" actId="20577"/>
          <ac:spMkLst>
            <pc:docMk/>
            <pc:sldMk cId="3462147915" sldId="274"/>
            <ac:spMk id="4" creationId="{CA685CE7-4DA8-B048-8CDE-D7D8AE0CFB4A}"/>
          </ac:spMkLst>
        </pc:spChg>
      </pc:sldChg>
      <pc:sldChg chg="modSp">
        <pc:chgData name="Paula Jungåker" userId="Jp51DZr2S3O2Kq/fECI9vz/Rf/nX3kiUVMBM7w9AVas=" providerId="None" clId="Web-{1CD4D3F8-D6E2-4681-908A-35CD69A0C811}" dt="2025-02-05T08:51:54.349" v="4" actId="20577"/>
        <pc:sldMkLst>
          <pc:docMk/>
          <pc:sldMk cId="3975211010" sldId="334"/>
        </pc:sldMkLst>
        <pc:spChg chg="mod">
          <ac:chgData name="Paula Jungåker" userId="Jp51DZr2S3O2Kq/fECI9vz/Rf/nX3kiUVMBM7w9AVas=" providerId="None" clId="Web-{1CD4D3F8-D6E2-4681-908A-35CD69A0C811}" dt="2025-02-05T08:51:46.693" v="1" actId="20577"/>
          <ac:spMkLst>
            <pc:docMk/>
            <pc:sldMk cId="3975211010" sldId="334"/>
            <ac:spMk id="9" creationId="{04ED9FA6-196C-1F47-9C04-3675893B3BC8}"/>
          </ac:spMkLst>
        </pc:spChg>
        <pc:spChg chg="mod">
          <ac:chgData name="Paula Jungåker" userId="Jp51DZr2S3O2Kq/fECI9vz/Rf/nX3kiUVMBM7w9AVas=" providerId="None" clId="Web-{1CD4D3F8-D6E2-4681-908A-35CD69A0C811}" dt="2025-02-05T08:51:50.161" v="2" actId="20577"/>
          <ac:spMkLst>
            <pc:docMk/>
            <pc:sldMk cId="3975211010" sldId="334"/>
            <ac:spMk id="11" creationId="{401F727C-B724-1E44-9677-9AA389049D6B}"/>
          </ac:spMkLst>
        </pc:spChg>
        <pc:spChg chg="mod">
          <ac:chgData name="Paula Jungåker" userId="Jp51DZr2S3O2Kq/fECI9vz/Rf/nX3kiUVMBM7w9AVas=" providerId="None" clId="Web-{1CD4D3F8-D6E2-4681-908A-35CD69A0C811}" dt="2025-02-05T08:51:54.349" v="4" actId="20577"/>
          <ac:spMkLst>
            <pc:docMk/>
            <pc:sldMk cId="3975211010" sldId="334"/>
            <ac:spMk id="12" creationId="{6AB51C2B-9A7E-6942-A611-9DB1376E0F57}"/>
          </ac:spMkLst>
        </pc:spChg>
      </pc:sldChg>
      <pc:sldChg chg="modSp">
        <pc:chgData name="Paula Jungåker" userId="Jp51DZr2S3O2Kq/fECI9vz/Rf/nX3kiUVMBM7w9AVas=" providerId="None" clId="Web-{1CD4D3F8-D6E2-4681-908A-35CD69A0C811}" dt="2025-02-05T08:52:07.224" v="6" actId="20577"/>
        <pc:sldMkLst>
          <pc:docMk/>
          <pc:sldMk cId="3136698234" sldId="368"/>
        </pc:sldMkLst>
        <pc:spChg chg="mod">
          <ac:chgData name="Paula Jungåker" userId="Jp51DZr2S3O2Kq/fECI9vz/Rf/nX3kiUVMBM7w9AVas=" providerId="None" clId="Web-{1CD4D3F8-D6E2-4681-908A-35CD69A0C811}" dt="2025-02-05T08:52:07.224" v="6" actId="20577"/>
          <ac:spMkLst>
            <pc:docMk/>
            <pc:sldMk cId="3136698234" sldId="368"/>
            <ac:spMk id="18" creationId="{F36518D2-6214-8D4C-9ECC-C9141D08570F}"/>
          </ac:spMkLst>
        </pc:spChg>
      </pc:sldChg>
      <pc:sldChg chg="modSp">
        <pc:chgData name="Paula Jungåker" userId="Jp51DZr2S3O2Kq/fECI9vz/Rf/nX3kiUVMBM7w9AVas=" providerId="None" clId="Web-{1CD4D3F8-D6E2-4681-908A-35CD69A0C811}" dt="2025-02-05T08:54:29.916" v="14" actId="20577"/>
        <pc:sldMkLst>
          <pc:docMk/>
          <pc:sldMk cId="948757422" sldId="446"/>
        </pc:sldMkLst>
        <pc:spChg chg="mod">
          <ac:chgData name="Paula Jungåker" userId="Jp51DZr2S3O2Kq/fECI9vz/Rf/nX3kiUVMBM7w9AVas=" providerId="None" clId="Web-{1CD4D3F8-D6E2-4681-908A-35CD69A0C811}" dt="2025-02-05T08:54:29.916" v="14" actId="20577"/>
          <ac:spMkLst>
            <pc:docMk/>
            <pc:sldMk cId="948757422" sldId="446"/>
            <ac:spMk id="9" creationId="{6782627E-B7C0-4F4C-AD90-B6659A530033}"/>
          </ac:spMkLst>
        </pc:spChg>
      </pc:sldChg>
      <pc:sldChg chg="modSp">
        <pc:chgData name="Paula Jungåker" userId="Jp51DZr2S3O2Kq/fECI9vz/Rf/nX3kiUVMBM7w9AVas=" providerId="None" clId="Web-{1CD4D3F8-D6E2-4681-908A-35CD69A0C811}" dt="2025-02-05T08:53:12.351" v="9" actId="20577"/>
        <pc:sldMkLst>
          <pc:docMk/>
          <pc:sldMk cId="1478082333" sldId="469"/>
        </pc:sldMkLst>
        <pc:spChg chg="mod">
          <ac:chgData name="Paula Jungåker" userId="Jp51DZr2S3O2Kq/fECI9vz/Rf/nX3kiUVMBM7w9AVas=" providerId="None" clId="Web-{1CD4D3F8-D6E2-4681-908A-35CD69A0C811}" dt="2025-02-05T08:53:12.351" v="9" actId="20577"/>
          <ac:spMkLst>
            <pc:docMk/>
            <pc:sldMk cId="1478082333" sldId="469"/>
            <ac:spMk id="11" creationId="{1E07591F-A5A7-A54C-9824-BDF2BA201606}"/>
          </ac:spMkLst>
        </pc:spChg>
      </pc:sldChg>
      <pc:sldChg chg="modSp">
        <pc:chgData name="Paula Jungåker" userId="Jp51DZr2S3O2Kq/fECI9vz/Rf/nX3kiUVMBM7w9AVas=" providerId="None" clId="Web-{1CD4D3F8-D6E2-4681-908A-35CD69A0C811}" dt="2025-02-05T08:54:05.963" v="12" actId="20577"/>
        <pc:sldMkLst>
          <pc:docMk/>
          <pc:sldMk cId="1460706751" sldId="497"/>
        </pc:sldMkLst>
        <pc:spChg chg="mod">
          <ac:chgData name="Paula Jungåker" userId="Jp51DZr2S3O2Kq/fECI9vz/Rf/nX3kiUVMBM7w9AVas=" providerId="None" clId="Web-{1CD4D3F8-D6E2-4681-908A-35CD69A0C811}" dt="2025-02-05T08:54:05.963" v="12" actId="20577"/>
          <ac:spMkLst>
            <pc:docMk/>
            <pc:sldMk cId="1460706751" sldId="497"/>
            <ac:spMk id="16" creationId="{0EEFD179-14C3-6F4D-A321-4241E19BDC9E}"/>
          </ac:spMkLst>
        </pc:spChg>
      </pc:sldChg>
      <pc:sldChg chg="modSp">
        <pc:chgData name="Paula Jungåker" userId="Jp51DZr2S3O2Kq/fECI9vz/Rf/nX3kiUVMBM7w9AVas=" providerId="None" clId="Web-{1CD4D3F8-D6E2-4681-908A-35CD69A0C811}" dt="2025-02-05T08:54:42.651" v="15" actId="20577"/>
        <pc:sldMkLst>
          <pc:docMk/>
          <pc:sldMk cId="662177389" sldId="498"/>
        </pc:sldMkLst>
        <pc:spChg chg="mod">
          <ac:chgData name="Paula Jungåker" userId="Jp51DZr2S3O2Kq/fECI9vz/Rf/nX3kiUVMBM7w9AVas=" providerId="None" clId="Web-{1CD4D3F8-D6E2-4681-908A-35CD69A0C811}" dt="2025-02-05T08:54:42.651" v="15" actId="20577"/>
          <ac:spMkLst>
            <pc:docMk/>
            <pc:sldMk cId="662177389" sldId="498"/>
            <ac:spMk id="13" creationId="{49DB54D4-838D-264D-B4B6-8B85368E27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2025-02-14</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3</a:t>
            </a:fld>
            <a:endParaRPr lang="sv-SE"/>
          </a:p>
        </p:txBody>
      </p:sp>
    </p:spTree>
    <p:extLst>
      <p:ext uri="{BB962C8B-B14F-4D97-AF65-F5344CB8AC3E}">
        <p14:creationId xmlns:p14="http://schemas.microsoft.com/office/powerpoint/2010/main" val="316345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2025-02-14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2025-02-14</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2025-02-14</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2025-02-14</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2025-02-14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2025-02-14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2025-02-14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2025-02-14</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3</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22" name="Ellips 21">
            <a:extLst>
              <a:ext uri="{FF2B5EF4-FFF2-40B4-BE49-F238E27FC236}">
                <a16:creationId xmlns:a16="http://schemas.microsoft.com/office/drawing/2014/main" id="{4092D12D-9A98-7844-8117-FBBAD82A9935}"/>
              </a:ext>
            </a:extLst>
          </p:cNvPr>
          <p:cNvSpPr/>
          <p:nvPr/>
        </p:nvSpPr>
        <p:spPr>
          <a:xfrm>
            <a:off x="5803147" y="759655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440kcal</a:t>
            </a:r>
            <a:endParaRPr sz="1200" b="1" dirty="0">
              <a:ea typeface="ＭＳ 明朝"/>
              <a:cs typeface="Avenir Light"/>
            </a:endParaRPr>
          </a:p>
        </p:txBody>
      </p:sp>
      <p:sp>
        <p:nvSpPr>
          <p:cNvPr id="4" name="textruta 3">
            <a:extLst>
              <a:ext uri="{FF2B5EF4-FFF2-40B4-BE49-F238E27FC236}">
                <a16:creationId xmlns:a16="http://schemas.microsoft.com/office/drawing/2014/main" id="{03517EB3-1327-B94B-9F82-AFEA9C515FC7}"/>
              </a:ext>
            </a:extLst>
          </p:cNvPr>
          <p:cNvSpPr txBox="1"/>
          <p:nvPr/>
        </p:nvSpPr>
        <p:spPr>
          <a:xfrm>
            <a:off x="2184328" y="2898198"/>
            <a:ext cx="1018164" cy="369332"/>
          </a:xfrm>
          <a:prstGeom prst="rect">
            <a:avLst/>
          </a:prstGeom>
          <a:noFill/>
        </p:spPr>
        <p:txBody>
          <a:bodyPr wrap="none" rtlCol="0">
            <a:spAutoFit/>
          </a:bodyPr>
          <a:lstStyle/>
          <a:p>
            <a:r>
              <a:rPr lang="sv-SE" dirty="0"/>
              <a:t>Laga Lätt</a:t>
            </a:r>
          </a:p>
        </p:txBody>
      </p:sp>
      <p:sp>
        <p:nvSpPr>
          <p:cNvPr id="16" name="Rektangel 15">
            <a:extLst>
              <a:ext uri="{FF2B5EF4-FFF2-40B4-BE49-F238E27FC236}">
                <a16:creationId xmlns:a16="http://schemas.microsoft.com/office/drawing/2014/main" id="{E16F5AE8-9623-A049-8F89-CF6A3C8F489D}"/>
              </a:ext>
            </a:extLst>
          </p:cNvPr>
          <p:cNvSpPr/>
          <p:nvPr/>
        </p:nvSpPr>
        <p:spPr>
          <a:xfrm>
            <a:off x="4552979" y="6319279"/>
            <a:ext cx="2059571" cy="1277273"/>
          </a:xfrm>
          <a:prstGeom prst="rect">
            <a:avLst/>
          </a:prstGeom>
        </p:spPr>
        <p:txBody>
          <a:bodyPr wrap="square" lIns="91440" tIns="45720" rIns="91440" bIns="45720" anchor="t">
            <a:spAutoFit/>
          </a:bodyPr>
          <a:lstStyle/>
          <a:p>
            <a:r>
              <a:rPr lang="sv-SE" sz="1100" b="1" dirty="0">
                <a:solidFill>
                  <a:srgbClr val="FF0000"/>
                </a:solidFill>
                <a:latin typeface="DejaVuSansMono"/>
              </a:rPr>
              <a:t>Yoghurt med </a:t>
            </a:r>
            <a:r>
              <a:rPr lang="sv-SE" sz="1100" b="1" dirty="0" err="1">
                <a:solidFill>
                  <a:srgbClr val="FF0000"/>
                </a:solidFill>
                <a:latin typeface="DejaVuSansMono"/>
              </a:rPr>
              <a:t>ketomüsli</a:t>
            </a:r>
            <a:r>
              <a:rPr lang="sv-SE" sz="1100" b="1" dirty="0">
                <a:solidFill>
                  <a:srgbClr val="FF0000"/>
                </a:solidFill>
                <a:latin typeface="DejaVuSansMono"/>
              </a:rPr>
              <a:t> </a:t>
            </a:r>
            <a:br>
              <a:rPr lang="sv-SE" sz="1100" b="1" dirty="0">
                <a:latin typeface="DejaVuSansMono"/>
              </a:rPr>
            </a:br>
            <a:r>
              <a:rPr lang="sv-SE" sz="1100" b="1" dirty="0">
                <a:latin typeface="DejaVuSansMono"/>
              </a:rPr>
              <a:t>– 1 portion</a:t>
            </a:r>
            <a:br>
              <a:rPr lang="sv-SE" sz="1100" b="1" dirty="0">
                <a:latin typeface="DejaVuSansMono"/>
              </a:rPr>
            </a:br>
            <a:r>
              <a:rPr lang="sv-SE" sz="1100" dirty="0">
                <a:latin typeface="DejaVuSansMono"/>
              </a:rPr>
              <a:t>1 dl grekisk yoghurt, 10%</a:t>
            </a:r>
          </a:p>
          <a:p>
            <a:r>
              <a:rPr lang="sv-SE" sz="1100" dirty="0">
                <a:latin typeface="DejaVuSansMono"/>
              </a:rPr>
              <a:t>¾ dl </a:t>
            </a:r>
            <a:r>
              <a:rPr lang="sv-SE" sz="1100" dirty="0" err="1">
                <a:latin typeface="DejaVuSansMono"/>
              </a:rPr>
              <a:t>ketomüsli</a:t>
            </a:r>
            <a:endParaRPr lang="sv-SE" sz="1100" dirty="0">
              <a:latin typeface="DejaVuSansMono"/>
            </a:endParaRPr>
          </a:p>
          <a:p>
            <a:endParaRPr lang="sv-SE" sz="1100" dirty="0">
              <a:effectLst/>
              <a:latin typeface="DejaVuSansMono"/>
            </a:endParaRPr>
          </a:p>
          <a:p>
            <a:r>
              <a:rPr lang="sv-SE" sz="1100" dirty="0">
                <a:latin typeface="DejaVuSansMono"/>
              </a:rPr>
              <a:t>Lägg yoghurt i en skål och lägg på </a:t>
            </a:r>
            <a:r>
              <a:rPr lang="sv-SE" sz="1100" dirty="0" err="1">
                <a:latin typeface="DejaVuSansMono"/>
              </a:rPr>
              <a:t>ketomüsli</a:t>
            </a:r>
            <a:r>
              <a:rPr lang="sv-SE" sz="1100" dirty="0">
                <a:latin typeface="DejaVuSansMono"/>
              </a:rPr>
              <a:t>.</a:t>
            </a:r>
            <a:endParaRPr lang="sv-SE" sz="1100" dirty="0">
              <a:effectLst/>
            </a:endParaRPr>
          </a:p>
        </p:txBody>
      </p:sp>
      <p:pic>
        <p:nvPicPr>
          <p:cNvPr id="21" name="Bildobjekt 20">
            <a:extLst>
              <a:ext uri="{FF2B5EF4-FFF2-40B4-BE49-F238E27FC236}">
                <a16:creationId xmlns:a16="http://schemas.microsoft.com/office/drawing/2014/main" id="{4686D45D-C999-8641-967E-45189D7A2AD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904" y="5830854"/>
            <a:ext cx="3894848" cy="2921136"/>
          </a:xfrm>
          <a:prstGeom prst="rect">
            <a:avLst/>
          </a:prstGeom>
        </p:spPr>
      </p:pic>
      <p:sp>
        <p:nvSpPr>
          <p:cNvPr id="15" name="Rektangel 14">
            <a:extLst>
              <a:ext uri="{FF2B5EF4-FFF2-40B4-BE49-F238E27FC236}">
                <a16:creationId xmlns:a16="http://schemas.microsoft.com/office/drawing/2014/main" id="{8942BE9D-6386-0B42-8ED5-EE9490E8E56F}"/>
              </a:ext>
            </a:extLst>
          </p:cNvPr>
          <p:cNvSpPr/>
          <p:nvPr/>
        </p:nvSpPr>
        <p:spPr>
          <a:xfrm>
            <a:off x="183718" y="2075824"/>
            <a:ext cx="3080718" cy="2631490"/>
          </a:xfrm>
          <a:prstGeom prst="rect">
            <a:avLst/>
          </a:prstGeom>
        </p:spPr>
        <p:txBody>
          <a:bodyPr wrap="square">
            <a:spAutoFit/>
          </a:bodyPr>
          <a:lstStyle/>
          <a:p>
            <a:pPr>
              <a:spcAft>
                <a:spcPts val="0"/>
              </a:spcAft>
            </a:pPr>
            <a:r>
              <a:rPr lang="sv-SE" sz="11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Äggröra med lax  – 1 portion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2 ägg</a:t>
            </a: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1 msk grädde</a:t>
            </a: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Salt och svartpeppar</a:t>
            </a: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1 tsk smör</a:t>
            </a: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Ett salladsblad</a:t>
            </a: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30 g rökt lax</a:t>
            </a:r>
          </a:p>
          <a:p>
            <a:endPar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r>
              <a:rPr lang="sv-SE" sz="11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Dekoration</a:t>
            </a:r>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 citronskivor och dillkvist</a:t>
            </a:r>
          </a:p>
          <a:p>
            <a:endPar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Vispa ihop ägg, grädde, salt och peppar i en skål. Hetta upp en stekpanna med smör och häll ner smeten. Rör om 30 sek-1 min på låg värme. Lägg salladsblad på en tallrik och lägg på äggröra och lax. Dekorera med citronskiva och dillkvist.</a:t>
            </a: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7" name="Bildobjekt 16">
            <a:extLst>
              <a:ext uri="{FF2B5EF4-FFF2-40B4-BE49-F238E27FC236}">
                <a16:creationId xmlns:a16="http://schemas.microsoft.com/office/drawing/2014/main" id="{7BCCBB02-B35B-0F49-9B60-1A77D0A7D2C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100455" y="1225046"/>
            <a:ext cx="3807248" cy="2855436"/>
          </a:xfrm>
          <a:prstGeom prst="rect">
            <a:avLst/>
          </a:prstGeom>
        </p:spPr>
      </p:pic>
      <p:sp>
        <p:nvSpPr>
          <p:cNvPr id="18" name="Ellips 17">
            <a:extLst>
              <a:ext uri="{FF2B5EF4-FFF2-40B4-BE49-F238E27FC236}">
                <a16:creationId xmlns:a16="http://schemas.microsoft.com/office/drawing/2014/main" id="{04E89053-CAF7-F74D-BF03-72010CCD916F}"/>
              </a:ext>
            </a:extLst>
          </p:cNvPr>
          <p:cNvSpPr/>
          <p:nvPr/>
        </p:nvSpPr>
        <p:spPr>
          <a:xfrm>
            <a:off x="1960470" y="241384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316</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23" name="Platshållare för sidfot 1">
            <a:extLst>
              <a:ext uri="{FF2B5EF4-FFF2-40B4-BE49-F238E27FC236}">
                <a16:creationId xmlns:a16="http://schemas.microsoft.com/office/drawing/2014/main" id="{FE5BAEDC-5F7C-3544-9374-516BD7F5FFB7}"/>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6AB51C2B-9A7E-6942-A611-9DB1376E0F57}"/>
              </a:ext>
            </a:extLst>
          </p:cNvPr>
          <p:cNvSpPr/>
          <p:nvPr/>
        </p:nvSpPr>
        <p:spPr>
          <a:xfrm>
            <a:off x="3702990" y="5429338"/>
            <a:ext cx="2732801" cy="2631490"/>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Grön </a:t>
            </a:r>
            <a:r>
              <a:rPr lang="sv-SE" sz="1100" b="1" dirty="0" err="1">
                <a:solidFill>
                  <a:srgbClr val="FF0000"/>
                </a:solidFill>
                <a:ea typeface="MS Mincho"/>
                <a:cs typeface="Times New Roman"/>
              </a:rPr>
              <a:t>smoothie</a:t>
            </a:r>
            <a:r>
              <a:rPr lang="sv-SE" sz="1100" b="1" dirty="0">
                <a:ea typeface="MS Mincho"/>
                <a:cs typeface="Times New Roman"/>
              </a:rPr>
              <a:t>  - 1 portion </a:t>
            </a:r>
          </a:p>
          <a:p>
            <a:pPr>
              <a:spcAft>
                <a:spcPts val="0"/>
              </a:spcAft>
            </a:pPr>
            <a:r>
              <a:rPr lang="sv-SE" sz="1100" dirty="0">
                <a:ea typeface="MS Mincho" panose="02020609040205080304" pitchFamily="49" charset="-128"/>
                <a:cs typeface="Times New Roman" panose="02020603050405020304" pitchFamily="18" charset="0"/>
              </a:rPr>
              <a:t>25 g spenat</a:t>
            </a:r>
          </a:p>
          <a:p>
            <a:pPr>
              <a:spcAft>
                <a:spcPts val="0"/>
              </a:spcAft>
            </a:pPr>
            <a:r>
              <a:rPr lang="sv-SE" sz="1100" dirty="0">
                <a:ea typeface="MS Mincho" panose="02020609040205080304" pitchFamily="49" charset="-128"/>
                <a:cs typeface="Times New Roman" panose="02020603050405020304" pitchFamily="18" charset="0"/>
              </a:rPr>
              <a:t>1 selleristång</a:t>
            </a:r>
          </a:p>
          <a:p>
            <a:pPr>
              <a:spcAft>
                <a:spcPts val="0"/>
              </a:spcAft>
            </a:pPr>
            <a:r>
              <a:rPr lang="sv-SE" sz="1100" dirty="0">
                <a:ea typeface="MS Mincho" panose="02020609040205080304" pitchFamily="49" charset="-128"/>
                <a:cs typeface="Times New Roman" panose="02020603050405020304" pitchFamily="18" charset="0"/>
              </a:rPr>
              <a:t>½ gurka</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1 msk färsk ingefära</a:t>
            </a:r>
          </a:p>
          <a:p>
            <a:pPr>
              <a:spcAft>
                <a:spcPts val="0"/>
              </a:spcAft>
            </a:pPr>
            <a:r>
              <a:rPr lang="sv-SE" sz="1100" dirty="0">
                <a:ea typeface="MS Mincho" panose="02020609040205080304" pitchFamily="49" charset="-128"/>
                <a:cs typeface="Times New Roman" panose="02020603050405020304" pitchFamily="18" charset="0"/>
              </a:rPr>
              <a:t>1 lime</a:t>
            </a:r>
          </a:p>
          <a:p>
            <a:pPr>
              <a:spcAft>
                <a:spcPts val="0"/>
              </a:spcAft>
            </a:pPr>
            <a:r>
              <a:rPr lang="sv-SE" sz="1100" dirty="0">
                <a:ea typeface="MS Mincho" panose="02020609040205080304" pitchFamily="49" charset="-128"/>
                <a:cs typeface="Times New Roman" panose="02020603050405020304" pitchFamily="18" charset="0"/>
              </a:rPr>
              <a:t>1,5 dl vatten </a:t>
            </a:r>
          </a:p>
          <a:p>
            <a:pPr>
              <a:spcAft>
                <a:spcPts val="0"/>
              </a:spcAft>
            </a:pPr>
            <a:endParaRPr lang="sv-SE" sz="1100" dirty="0">
              <a:ea typeface="MS Mincho" panose="02020609040205080304" pitchFamily="49" charset="-128"/>
              <a:cs typeface="Times New Roman" panose="02020603050405020304" pitchFamily="18" charset="0"/>
            </a:endParaRPr>
          </a:p>
          <a:p>
            <a:r>
              <a:rPr lang="sv-SE" sz="1100" dirty="0">
                <a:ea typeface="MS Mincho" panose="02020609040205080304" pitchFamily="49" charset="-128"/>
                <a:cs typeface="Times New Roman" panose="02020603050405020304" pitchFamily="18" charset="0"/>
              </a:rPr>
              <a:t>Lägg spenat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Skär selleri och gurka  i bitar. Skär bort skalet på apelsinen. Lägg ner i </a:t>
            </a:r>
            <a:r>
              <a:rPr lang="sv-SE" sz="1100" dirty="0" err="1">
                <a:ea typeface="MS Mincho" panose="02020609040205080304" pitchFamily="49" charset="-128"/>
                <a:cs typeface="Times New Roman" panose="02020603050405020304" pitchFamily="18" charset="0"/>
              </a:rPr>
              <a:t>blendern</a:t>
            </a:r>
            <a:r>
              <a:rPr lang="sv-SE" sz="1100" dirty="0">
                <a:ea typeface="MS Mincho" panose="02020609040205080304" pitchFamily="49" charset="-128"/>
                <a:cs typeface="Times New Roman" panose="02020603050405020304" pitchFamily="18" charset="0"/>
              </a:rPr>
              <a:t> tillsammans med ingefära och limesaft. Mixa och späd med vatten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pic>
        <p:nvPicPr>
          <p:cNvPr id="7" name="Bildobjekt 6">
            <a:extLst>
              <a:ext uri="{FF2B5EF4-FFF2-40B4-BE49-F238E27FC236}">
                <a16:creationId xmlns:a16="http://schemas.microsoft.com/office/drawing/2014/main" id="{92A80D65-5F10-B648-8E84-F9823BB9A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24107" y="726481"/>
            <a:ext cx="4200041" cy="3150031"/>
          </a:xfrm>
          <a:prstGeom prst="rect">
            <a:avLst/>
          </a:prstGeom>
        </p:spPr>
      </p:pic>
      <p:sp>
        <p:nvSpPr>
          <p:cNvPr id="9" name="Rektangel 8">
            <a:extLst>
              <a:ext uri="{FF2B5EF4-FFF2-40B4-BE49-F238E27FC236}">
                <a16:creationId xmlns:a16="http://schemas.microsoft.com/office/drawing/2014/main" id="{04ED9FA6-196C-1F47-9C04-3675893B3BC8}"/>
              </a:ext>
            </a:extLst>
          </p:cNvPr>
          <p:cNvSpPr/>
          <p:nvPr/>
        </p:nvSpPr>
        <p:spPr>
          <a:xfrm>
            <a:off x="217334" y="2294014"/>
            <a:ext cx="2772073" cy="1954381"/>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Morotsjuice </a:t>
            </a:r>
            <a:r>
              <a:rPr lang="sv-SE" sz="1100" b="1" dirty="0">
                <a:ea typeface="MS Mincho"/>
                <a:cs typeface="Times New Roman"/>
              </a:rPr>
              <a:t>– 2 portioner </a:t>
            </a:r>
          </a:p>
          <a:p>
            <a:pPr>
              <a:spcAft>
                <a:spcPts val="0"/>
              </a:spcAft>
            </a:pPr>
            <a:r>
              <a:rPr lang="sv-SE" sz="1100" dirty="0">
                <a:ea typeface="MS Mincho" panose="02020609040205080304" pitchFamily="49" charset="-128"/>
                <a:cs typeface="Times New Roman" panose="02020603050405020304" pitchFamily="18" charset="0"/>
              </a:rPr>
              <a:t>1 kg morötter</a:t>
            </a:r>
          </a:p>
          <a:p>
            <a:pPr>
              <a:spcAft>
                <a:spcPts val="0"/>
              </a:spcAft>
            </a:pPr>
            <a:r>
              <a:rPr lang="sv-SE" sz="1100" dirty="0">
                <a:ea typeface="MS Mincho" panose="02020609040205080304" pitchFamily="49" charset="-128"/>
                <a:cs typeface="Times New Roman" panose="02020603050405020304" pitchFamily="18" charset="0"/>
              </a:rPr>
              <a:t>1 äpple</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2 cm färsk, skalad ingefära</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Skär morötter och äpple i bitar. Skär bort skalet på apelsinen dela. Lägg ner morötter, äpple, apelsin och ingefära i en råsaftcentrifug och häll upp saften på glas eller flaska. Håller sig 3 dagar i kyl.</a:t>
            </a:r>
          </a:p>
        </p:txBody>
      </p:sp>
      <p:sp>
        <p:nvSpPr>
          <p:cNvPr id="11" name="Rektangel 10">
            <a:extLst>
              <a:ext uri="{FF2B5EF4-FFF2-40B4-BE49-F238E27FC236}">
                <a16:creationId xmlns:a16="http://schemas.microsoft.com/office/drawing/2014/main" id="{401F727C-B724-1E44-9677-9AA389049D6B}"/>
              </a:ext>
            </a:extLst>
          </p:cNvPr>
          <p:cNvSpPr/>
          <p:nvPr/>
        </p:nvSpPr>
        <p:spPr>
          <a:xfrm>
            <a:off x="217334" y="4706339"/>
            <a:ext cx="2981032" cy="1785104"/>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Rödbetsjuice</a:t>
            </a:r>
            <a:r>
              <a:rPr lang="sv-SE" sz="1100" b="1" dirty="0">
                <a:ea typeface="MS Mincho"/>
                <a:cs typeface="Times New Roman"/>
              </a:rPr>
              <a:t> – 2 portioner</a:t>
            </a:r>
          </a:p>
          <a:p>
            <a:pPr>
              <a:spcAft>
                <a:spcPts val="0"/>
              </a:spcAft>
            </a:pPr>
            <a:r>
              <a:rPr lang="sv-SE" sz="1100" dirty="0">
                <a:ea typeface="MS Mincho" panose="02020609040205080304" pitchFamily="49" charset="-128"/>
                <a:cs typeface="Times New Roman" panose="02020603050405020304" pitchFamily="18" charset="0"/>
              </a:rPr>
              <a:t>1 kg rödbetor</a:t>
            </a:r>
          </a:p>
          <a:p>
            <a:pPr>
              <a:spcAft>
                <a:spcPts val="0"/>
              </a:spcAft>
            </a:pPr>
            <a:r>
              <a:rPr lang="sv-SE" sz="1100" dirty="0">
                <a:ea typeface="MS Mincho" panose="02020609040205080304" pitchFamily="49" charset="-128"/>
                <a:cs typeface="Times New Roman" panose="02020603050405020304" pitchFamily="18" charset="0"/>
              </a:rPr>
              <a:t>1 citron</a:t>
            </a:r>
          </a:p>
          <a:p>
            <a:pPr>
              <a:spcAft>
                <a:spcPts val="0"/>
              </a:spcAft>
            </a:pPr>
            <a:r>
              <a:rPr lang="sv-SE" sz="1100" dirty="0">
                <a:ea typeface="MS Mincho" panose="02020609040205080304" pitchFamily="49" charset="-128"/>
                <a:cs typeface="Times New Roman" panose="02020603050405020304" pitchFamily="18" charset="0"/>
              </a:rPr>
              <a:t>1 rejäl bit ingefära </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Skala rödbetor om du vill eller behåll skalet på. Skär i klyftor. Skär bort skalet på citronen och skär i bitar. Lägg ner rödbetor, citron och ingefära i en råsaftcentrifug och häll upp saften på glas eller flaska. Håller sig 3 dagar i kyl.</a:t>
            </a:r>
          </a:p>
        </p:txBody>
      </p:sp>
      <p:sp>
        <p:nvSpPr>
          <p:cNvPr id="13" name="textruta 12">
            <a:extLst>
              <a:ext uri="{FF2B5EF4-FFF2-40B4-BE49-F238E27FC236}">
                <a16:creationId xmlns:a16="http://schemas.microsoft.com/office/drawing/2014/main" id="{03331FCF-23F5-3645-B3A5-00737A8DC96A}"/>
              </a:ext>
            </a:extLst>
          </p:cNvPr>
          <p:cNvSpPr txBox="1"/>
          <p:nvPr/>
        </p:nvSpPr>
        <p:spPr>
          <a:xfrm>
            <a:off x="178821" y="188293"/>
            <a:ext cx="4328308" cy="461665"/>
          </a:xfrm>
          <a:prstGeom prst="rect">
            <a:avLst/>
          </a:prstGeom>
          <a:noFill/>
        </p:spPr>
        <p:txBody>
          <a:bodyPr wrap="square" rtlCol="0">
            <a:spAutoFit/>
          </a:bodyPr>
          <a:lstStyle/>
          <a:p>
            <a:r>
              <a:rPr lang="sv-SE" sz="2400" dirty="0">
                <a:latin typeface="BigCaslonFB" panose="02000603080000020003" pitchFamily="50" charset="0"/>
              </a:rPr>
              <a:t>Juicer och Smoothies</a:t>
            </a:r>
          </a:p>
        </p:txBody>
      </p:sp>
      <p:sp>
        <p:nvSpPr>
          <p:cNvPr id="2" name="textruta 1">
            <a:extLst>
              <a:ext uri="{FF2B5EF4-FFF2-40B4-BE49-F238E27FC236}">
                <a16:creationId xmlns:a16="http://schemas.microsoft.com/office/drawing/2014/main" id="{5FF13B94-B39F-5C48-B4B5-065DD9B4FA5A}"/>
              </a:ext>
            </a:extLst>
          </p:cNvPr>
          <p:cNvSpPr txBox="1"/>
          <p:nvPr/>
        </p:nvSpPr>
        <p:spPr>
          <a:xfrm>
            <a:off x="759417" y="7470183"/>
            <a:ext cx="1267848" cy="369332"/>
          </a:xfrm>
          <a:prstGeom prst="rect">
            <a:avLst/>
          </a:prstGeom>
          <a:noFill/>
        </p:spPr>
        <p:txBody>
          <a:bodyPr wrap="none" rtlCol="0">
            <a:spAutoFit/>
          </a:bodyPr>
          <a:lstStyle/>
          <a:p>
            <a:r>
              <a:rPr lang="sv-SE" dirty="0"/>
              <a:t>Jorden runt</a:t>
            </a:r>
          </a:p>
        </p:txBody>
      </p:sp>
      <p:sp>
        <p:nvSpPr>
          <p:cNvPr id="19" name="Ellips 18">
            <a:extLst>
              <a:ext uri="{FF2B5EF4-FFF2-40B4-BE49-F238E27FC236}">
                <a16:creationId xmlns:a16="http://schemas.microsoft.com/office/drawing/2014/main" id="{5C6D8454-FA5E-2545-A425-FCD8791CD3E7}"/>
              </a:ext>
            </a:extLst>
          </p:cNvPr>
          <p:cNvSpPr/>
          <p:nvPr/>
        </p:nvSpPr>
        <p:spPr>
          <a:xfrm>
            <a:off x="2326285" y="24392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310 kcal</a:t>
            </a:r>
            <a:endParaRPr sz="1200" b="1" dirty="0">
              <a:solidFill>
                <a:schemeClr val="bg1"/>
              </a:solidFill>
              <a:ea typeface="ＭＳ 明朝"/>
              <a:cs typeface="Avenir Light"/>
            </a:endParaRPr>
          </a:p>
        </p:txBody>
      </p:sp>
      <p:sp>
        <p:nvSpPr>
          <p:cNvPr id="20" name="Ellips 19">
            <a:extLst>
              <a:ext uri="{FF2B5EF4-FFF2-40B4-BE49-F238E27FC236}">
                <a16:creationId xmlns:a16="http://schemas.microsoft.com/office/drawing/2014/main" id="{73F77363-E5CE-7F42-84E0-94E21DEAA0F5}"/>
              </a:ext>
            </a:extLst>
          </p:cNvPr>
          <p:cNvSpPr/>
          <p:nvPr/>
        </p:nvSpPr>
        <p:spPr>
          <a:xfrm>
            <a:off x="2360757" y="478379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1552E930-5663-5F44-9BF2-35F5EF07504D}"/>
              </a:ext>
            </a:extLst>
          </p:cNvPr>
          <p:cNvSpPr/>
          <p:nvPr/>
        </p:nvSpPr>
        <p:spPr>
          <a:xfrm>
            <a:off x="5470099" y="583153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133 kcal</a:t>
            </a:r>
            <a:endParaRPr sz="1200" b="1" dirty="0">
              <a:solidFill>
                <a:schemeClr val="bg1"/>
              </a:solidFill>
              <a:ea typeface="ＭＳ 明朝"/>
              <a:cs typeface="Avenir Light"/>
            </a:endParaRPr>
          </a:p>
        </p:txBody>
      </p:sp>
      <p:sp>
        <p:nvSpPr>
          <p:cNvPr id="22" name="Platshållare för sidfot 1">
            <a:extLst>
              <a:ext uri="{FF2B5EF4-FFF2-40B4-BE49-F238E27FC236}">
                <a16:creationId xmlns:a16="http://schemas.microsoft.com/office/drawing/2014/main" id="{1D71C8E1-00A1-8E45-9B22-19C572C05C54}"/>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3975211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EA745202-70D2-4822-9DF5-D98FE15317DA}"/>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3</a:t>
            </a:fld>
            <a:endParaRPr lang="sv-SE" sz="900" dirty="0"/>
          </a:p>
        </p:txBody>
      </p:sp>
      <p:pic>
        <p:nvPicPr>
          <p:cNvPr id="17" name="Bildobjekt 16">
            <a:extLst>
              <a:ext uri="{FF2B5EF4-FFF2-40B4-BE49-F238E27FC236}">
                <a16:creationId xmlns:a16="http://schemas.microsoft.com/office/drawing/2014/main" id="{80BCA2FB-50D9-544E-9E31-D8C05AED6C8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6200000">
            <a:off x="3101362" y="20255"/>
            <a:ext cx="3025966" cy="4034621"/>
          </a:xfrm>
          <a:prstGeom prst="rect">
            <a:avLst/>
          </a:prstGeom>
        </p:spPr>
      </p:pic>
      <p:sp>
        <p:nvSpPr>
          <p:cNvPr id="18" name="Rektangel 17">
            <a:extLst>
              <a:ext uri="{FF2B5EF4-FFF2-40B4-BE49-F238E27FC236}">
                <a16:creationId xmlns:a16="http://schemas.microsoft.com/office/drawing/2014/main" id="{F36518D2-6214-8D4C-9ECC-C9141D08570F}"/>
              </a:ext>
            </a:extLst>
          </p:cNvPr>
          <p:cNvSpPr/>
          <p:nvPr/>
        </p:nvSpPr>
        <p:spPr>
          <a:xfrm>
            <a:off x="160079" y="973499"/>
            <a:ext cx="6623683" cy="3308598"/>
          </a:xfrm>
          <a:prstGeom prst="rect">
            <a:avLst/>
          </a:prstGeom>
        </p:spPr>
        <p:txBody>
          <a:bodyPr wrap="square" lIns="91440" tIns="45720" rIns="91440" bIns="45720" anchor="t">
            <a:spAutoFit/>
          </a:bodyPr>
          <a:lstStyle/>
          <a:p>
            <a:pPr>
              <a:spcAft>
                <a:spcPts val="0"/>
              </a:spcAft>
            </a:pPr>
            <a:r>
              <a:rPr lang="it-IT" sz="1100" b="1" dirty="0">
                <a:solidFill>
                  <a:srgbClr val="FF0000"/>
                </a:solidFill>
                <a:ea typeface="Helvetica Neue" panose="02000503000000020004" pitchFamily="2" charset="0"/>
                <a:cs typeface="Helvetica Neue" panose="02000503000000020004" pitchFamily="2" charset="0"/>
              </a:rPr>
              <a:t>Havre</a:t>
            </a:r>
            <a:r>
              <a:rPr lang="en-US" sz="1100" b="1" dirty="0" err="1">
                <a:solidFill>
                  <a:srgbClr val="FF0000"/>
                </a:solidFill>
                <a:ea typeface="Helvetica Neue" panose="02000503000000020004" pitchFamily="2" charset="0"/>
                <a:cs typeface="Helvetica Neue" panose="02000503000000020004" pitchFamily="2" charset="0"/>
              </a:rPr>
              <a:t>frallor</a:t>
            </a:r>
            <a:r>
              <a:rPr lang="en-US" sz="1100" b="1" dirty="0">
                <a:solidFill>
                  <a:srgbClr val="FF0000"/>
                </a:solidFill>
                <a:ea typeface="Helvetica Neue" panose="02000503000000020004" pitchFamily="2" charset="0"/>
                <a:cs typeface="Helvetica Neue" panose="02000503000000020004" pitchFamily="2" charset="0"/>
              </a:rPr>
              <a:t> med </a:t>
            </a:r>
            <a:r>
              <a:rPr lang="en-US" sz="1100" b="1" dirty="0" err="1">
                <a:solidFill>
                  <a:srgbClr val="FF0000"/>
                </a:solidFill>
                <a:ea typeface="Helvetica Neue" panose="02000503000000020004" pitchFamily="2" charset="0"/>
                <a:cs typeface="Helvetica Neue" panose="02000503000000020004" pitchFamily="2" charset="0"/>
              </a:rPr>
              <a:t>morötter</a:t>
            </a:r>
            <a:r>
              <a:rPr lang="en-US" sz="1100" b="1" dirty="0">
                <a:solidFill>
                  <a:srgbClr val="FF0000"/>
                </a:solidFill>
                <a:ea typeface="Helvetica Neue" panose="02000503000000020004" pitchFamily="2" charset="0"/>
                <a:cs typeface="Helvetica Neue" panose="02000503000000020004" pitchFamily="2" charset="0"/>
              </a:rPr>
              <a:t> </a:t>
            </a:r>
            <a:r>
              <a:rPr lang="en-US" sz="1100" b="1" dirty="0" err="1">
                <a:solidFill>
                  <a:srgbClr val="FF0000"/>
                </a:solidFill>
                <a:ea typeface="Helvetica Neue" panose="02000503000000020004" pitchFamily="2" charset="0"/>
                <a:cs typeface="Helvetica Neue" panose="02000503000000020004" pitchFamily="2" charset="0"/>
              </a:rPr>
              <a:t>och</a:t>
            </a:r>
            <a:r>
              <a:rPr lang="en-US" sz="1100" b="1" dirty="0">
                <a:solidFill>
                  <a:srgbClr val="FF0000"/>
                </a:solidFill>
                <a:ea typeface="Helvetica Neue" panose="02000503000000020004" pitchFamily="2" charset="0"/>
                <a:cs typeface="Helvetica Neue" panose="02000503000000020004" pitchFamily="2" charset="0"/>
              </a:rPr>
              <a:t> </a:t>
            </a:r>
          </a:p>
          <a:p>
            <a:pPr>
              <a:spcAft>
                <a:spcPts val="0"/>
              </a:spcAft>
            </a:pPr>
            <a:r>
              <a:rPr lang="en-US" sz="1100" b="1" err="1">
                <a:solidFill>
                  <a:srgbClr val="FF0000"/>
                </a:solidFill>
                <a:ea typeface="Helvetica Neue" panose="02000503000000020004" pitchFamily="2" charset="0"/>
                <a:cs typeface="Helvetica Neue" panose="02000503000000020004" pitchFamily="2" charset="0"/>
              </a:rPr>
              <a:t>aprikoser</a:t>
            </a:r>
            <a:r>
              <a:rPr lang="en-US" sz="1100" b="1" dirty="0">
                <a:solidFill>
                  <a:srgbClr val="000000"/>
                </a:solidFill>
                <a:ea typeface="Helvetica Neue" panose="02000503000000020004" pitchFamily="2" charset="0"/>
                <a:cs typeface="Helvetica Neue" panose="02000503000000020004" pitchFamily="2" charset="0"/>
              </a:rPr>
              <a:t> - 8 </a:t>
            </a:r>
            <a:r>
              <a:rPr lang="en-US" sz="1100" b="1" err="1">
                <a:solidFill>
                  <a:srgbClr val="000000"/>
                </a:solidFill>
                <a:ea typeface="Helvetica Neue" panose="02000503000000020004" pitchFamily="2" charset="0"/>
                <a:cs typeface="Helvetica Neue" panose="02000503000000020004" pitchFamily="2" charset="0"/>
              </a:rPr>
              <a:t>st</a:t>
            </a:r>
            <a:r>
              <a:rPr lang="en-US" sz="1100" b="1" dirty="0">
                <a:solidFill>
                  <a:srgbClr val="000000"/>
                </a:solidFill>
                <a:ea typeface="Helvetica Neue" panose="02000503000000020004" pitchFamily="2" charset="0"/>
                <a:cs typeface="Helvetica Neue" panose="02000503000000020004"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dl havregryn</a:t>
            </a: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a:t>
            </a:r>
            <a:r>
              <a:rPr lang="da-DK" sz="1100" dirty="0" err="1">
                <a:solidFill>
                  <a:srgbClr val="000000"/>
                </a:solidFill>
                <a:ea typeface="Helvetica Neue" panose="02000503000000020004" pitchFamily="2" charset="0"/>
                <a:cs typeface="Helvetica Neue" panose="02000503000000020004" pitchFamily="2" charset="0"/>
              </a:rPr>
              <a:t>torkade</a:t>
            </a:r>
            <a:r>
              <a:rPr lang="da-DK" sz="1100" dirty="0">
                <a:solidFill>
                  <a:srgbClr val="000000"/>
                </a:solidFill>
                <a:ea typeface="Helvetica Neue" panose="02000503000000020004" pitchFamily="2" charset="0"/>
                <a:cs typeface="Helvetica Neue" panose="02000503000000020004" pitchFamily="2" charset="0"/>
              </a:rPr>
              <a:t> </a:t>
            </a:r>
            <a:r>
              <a:rPr lang="da-DK" sz="1100" dirty="0" err="1">
                <a:solidFill>
                  <a:srgbClr val="000000"/>
                </a:solidFill>
                <a:ea typeface="Helvetica Neue" panose="02000503000000020004" pitchFamily="2" charset="0"/>
                <a:cs typeface="Helvetica Neue" panose="02000503000000020004" pitchFamily="2" charset="0"/>
              </a:rPr>
              <a:t>aprikoser</a:t>
            </a:r>
            <a:endParaRPr lang="da-DK"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1 </a:t>
            </a:r>
            <a:r>
              <a:rPr lang="da-DK" sz="1100" dirty="0" err="1">
                <a:solidFill>
                  <a:srgbClr val="000000"/>
                </a:solidFill>
                <a:ea typeface="Helvetica Neue" panose="02000503000000020004" pitchFamily="2" charset="0"/>
                <a:cs typeface="Helvetica Neue" panose="02000503000000020004" pitchFamily="2" charset="0"/>
              </a:rPr>
              <a:t>morot</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3 dl keso 4%</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4 ä</a:t>
            </a:r>
            <a:r>
              <a:rPr lang="it-IT" sz="1100" dirty="0">
                <a:solidFill>
                  <a:srgbClr val="000000"/>
                </a:solidFill>
                <a:ea typeface="Helvetica Neue" panose="02000503000000020004" pitchFamily="2" charset="0"/>
                <a:cs typeface="Helvetica Neue" panose="02000503000000020004" pitchFamily="2" charset="0"/>
              </a:rPr>
              <a:t>gg</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solroskärnor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pumpafrön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sesamfrön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tsk bakpulver </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salt</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err="1">
                <a:solidFill>
                  <a:srgbClr val="000000"/>
                </a:solidFill>
                <a:ea typeface="Helvetica Neue" panose="02000503000000020004" pitchFamily="2" charset="0"/>
                <a:cs typeface="Helvetica Neue" panose="02000503000000020004" pitchFamily="2" charset="0"/>
              </a:rPr>
              <a:t>Topping</a:t>
            </a:r>
            <a:r>
              <a:rPr lang="sv-SE" sz="1100" b="1" dirty="0">
                <a:solidFill>
                  <a:srgbClr val="00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1/2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Sätt ugnen p</a:t>
            </a:r>
            <a:r>
              <a:rPr lang="da-DK" sz="1100" dirty="0">
                <a:solidFill>
                  <a:srgbClr val="000000"/>
                </a:solidFill>
                <a:ea typeface="Helvetica Neue" panose="02000503000000020004" pitchFamily="2" charset="0"/>
                <a:cs typeface="Helvetica Neue" panose="02000503000000020004" pitchFamily="2" charset="0"/>
              </a:rPr>
              <a:t>å </a:t>
            </a:r>
            <a:r>
              <a:rPr lang="sv-SE" sz="1100" dirty="0">
                <a:solidFill>
                  <a:srgbClr val="000000"/>
                </a:solidFill>
                <a:ea typeface="Helvetica Neue" panose="02000503000000020004" pitchFamily="2" charset="0"/>
                <a:cs typeface="Helvetica Neue" panose="02000503000000020004" pitchFamily="2" charset="0"/>
              </a:rPr>
              <a:t>200 grader. Skala och riv morot grovt. Hacka aprikoserna. Lägg i en skål med alla ingredienser. Blanda ihop och </a:t>
            </a:r>
            <a:r>
              <a:rPr lang="pt-PT" sz="1100" dirty="0">
                <a:solidFill>
                  <a:srgbClr val="000000"/>
                </a:solidFill>
                <a:ea typeface="Helvetica Neue" panose="02000503000000020004" pitchFamily="2" charset="0"/>
                <a:cs typeface="Helvetica Neue" panose="02000503000000020004" pitchFamily="2" charset="0"/>
              </a:rPr>
              <a:t>f</a:t>
            </a:r>
            <a:r>
              <a:rPr lang="sv-SE" sz="1100" dirty="0">
                <a:solidFill>
                  <a:srgbClr val="000000"/>
                </a:solidFill>
                <a:ea typeface="Helvetica Neue" panose="02000503000000020004" pitchFamily="2" charset="0"/>
                <a:cs typeface="Helvetica Neue" panose="02000503000000020004" pitchFamily="2" charset="0"/>
              </a:rPr>
              <a:t>orma till avlånga bullar. Lägg på en bakplåtsklädd plåt och strö på </a:t>
            </a:r>
            <a:r>
              <a:rPr lang="sv-SE" sz="1100" dirty="0" err="1">
                <a:solidFill>
                  <a:srgbClr val="000000"/>
                </a:solidFill>
                <a:ea typeface="Helvetica Neue" panose="02000503000000020004" pitchFamily="2" charset="0"/>
                <a:cs typeface="Helvetica Neue" panose="02000503000000020004" pitchFamily="2" charset="0"/>
              </a:rPr>
              <a:t>hampafrön</a:t>
            </a:r>
            <a:r>
              <a:rPr lang="sv-SE" sz="1100" dirty="0">
                <a:solidFill>
                  <a:srgbClr val="000000"/>
                </a:solidFill>
                <a:ea typeface="Helvetica Neue" panose="02000503000000020004" pitchFamily="2" charset="0"/>
                <a:cs typeface="Helvetica Neue" panose="02000503000000020004" pitchFamily="2" charset="0"/>
              </a:rPr>
              <a:t>.  </a:t>
            </a:r>
            <a:r>
              <a:rPr lang="sv-SE" sz="1100" dirty="0" err="1">
                <a:solidFill>
                  <a:srgbClr val="000000"/>
                </a:solidFill>
                <a:ea typeface="Helvetica Neue" panose="02000503000000020004" pitchFamily="2" charset="0"/>
                <a:cs typeface="Helvetica Neue" panose="02000503000000020004" pitchFamily="2" charset="0"/>
              </a:rPr>
              <a:t>Grä</a:t>
            </a:r>
            <a:r>
              <a:rPr lang="it-IT" sz="1100" dirty="0">
                <a:solidFill>
                  <a:srgbClr val="000000"/>
                </a:solidFill>
                <a:ea typeface="Helvetica Neue" panose="02000503000000020004" pitchFamily="2" charset="0"/>
                <a:cs typeface="Helvetica Neue" panose="02000503000000020004" pitchFamily="2" charset="0"/>
              </a:rPr>
              <a:t>dda i ugnen ca: 2</a:t>
            </a:r>
            <a:r>
              <a:rPr lang="sv-SE" sz="1100" dirty="0">
                <a:solidFill>
                  <a:srgbClr val="000000"/>
                </a:solidFill>
                <a:ea typeface="Helvetica Neue" panose="02000503000000020004" pitchFamily="2" charset="0"/>
                <a:cs typeface="Helvetica Neue" panose="02000503000000020004" pitchFamily="2" charset="0"/>
              </a:rPr>
              <a:t>0 min. L</a:t>
            </a:r>
            <a:r>
              <a:rPr lang="da-DK" sz="1100" dirty="0">
                <a:solidFill>
                  <a:srgbClr val="000000"/>
                </a:solidFill>
                <a:ea typeface="Helvetica Neue" panose="02000503000000020004" pitchFamily="2" charset="0"/>
                <a:cs typeface="Helvetica Neue" panose="02000503000000020004" pitchFamily="2" charset="0"/>
              </a:rPr>
              <a:t>å</a:t>
            </a:r>
            <a:r>
              <a:rPr lang="sv-SE" sz="1100" dirty="0">
                <a:solidFill>
                  <a:srgbClr val="000000"/>
                </a:solidFill>
                <a:ea typeface="Helvetica Neue" panose="02000503000000020004" pitchFamily="2" charset="0"/>
                <a:cs typeface="Helvetica Neue" panose="02000503000000020004" pitchFamily="2" charset="0"/>
              </a:rPr>
              <a:t>t svalna och förvara i frysen.</a:t>
            </a:r>
          </a:p>
        </p:txBody>
      </p:sp>
      <p:sp>
        <p:nvSpPr>
          <p:cNvPr id="19" name="Ellips 18">
            <a:extLst>
              <a:ext uri="{FF2B5EF4-FFF2-40B4-BE49-F238E27FC236}">
                <a16:creationId xmlns:a16="http://schemas.microsoft.com/office/drawing/2014/main" id="{BC805C32-135A-AB4C-AB75-475E4D5FD20C}"/>
              </a:ext>
            </a:extLst>
          </p:cNvPr>
          <p:cNvSpPr/>
          <p:nvPr/>
        </p:nvSpPr>
        <p:spPr>
          <a:xfrm>
            <a:off x="1713808" y="140795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354 kcal</a:t>
            </a:r>
            <a:endParaRPr sz="1200" b="1" dirty="0">
              <a:solidFill>
                <a:schemeClr val="bg1"/>
              </a:solidFill>
              <a:ea typeface="ＭＳ 明朝"/>
              <a:cs typeface="Avenir Light"/>
            </a:endParaRPr>
          </a:p>
        </p:txBody>
      </p:sp>
      <p:sp>
        <p:nvSpPr>
          <p:cNvPr id="14" name="textruta 13">
            <a:extLst>
              <a:ext uri="{FF2B5EF4-FFF2-40B4-BE49-F238E27FC236}">
                <a16:creationId xmlns:a16="http://schemas.microsoft.com/office/drawing/2014/main" id="{292F715C-33D5-FC4F-A9A3-1AD37D73607B}"/>
              </a:ext>
            </a:extLst>
          </p:cNvPr>
          <p:cNvSpPr txBox="1"/>
          <p:nvPr/>
        </p:nvSpPr>
        <p:spPr>
          <a:xfrm>
            <a:off x="3923676" y="6857643"/>
            <a:ext cx="1655197" cy="369332"/>
          </a:xfrm>
          <a:prstGeom prst="rect">
            <a:avLst/>
          </a:prstGeom>
          <a:noFill/>
        </p:spPr>
        <p:txBody>
          <a:bodyPr wrap="none" rtlCol="0">
            <a:spAutoFit/>
          </a:bodyPr>
          <a:lstStyle/>
          <a:p>
            <a:r>
              <a:rPr lang="sv-SE" dirty="0"/>
              <a:t>Höstturbo 2024</a:t>
            </a:r>
          </a:p>
        </p:txBody>
      </p:sp>
      <p:sp>
        <p:nvSpPr>
          <p:cNvPr id="20" name="textruta 19">
            <a:extLst>
              <a:ext uri="{FF2B5EF4-FFF2-40B4-BE49-F238E27FC236}">
                <a16:creationId xmlns:a16="http://schemas.microsoft.com/office/drawing/2014/main" id="{873120BC-B2F7-C942-84AD-EB7C1AD3E006}"/>
              </a:ext>
            </a:extLst>
          </p:cNvPr>
          <p:cNvSpPr txBox="1"/>
          <p:nvPr/>
        </p:nvSpPr>
        <p:spPr>
          <a:xfrm>
            <a:off x="3433628" y="5008646"/>
            <a:ext cx="3034588" cy="1615827"/>
          </a:xfrm>
          <a:prstGeom prst="rect">
            <a:avLst/>
          </a:prstGeom>
          <a:noFill/>
        </p:spPr>
        <p:txBody>
          <a:bodyPr wrap="square" rtlCol="0">
            <a:spAutoFit/>
          </a:bodyPr>
          <a:lstStyle/>
          <a:p>
            <a:r>
              <a:rPr lang="sv-SE" sz="1100" b="1" dirty="0"/>
              <a:t>Keso med </a:t>
            </a:r>
            <a:r>
              <a:rPr lang="sv-SE" sz="1100" b="1" dirty="0" err="1"/>
              <a:t>granola</a:t>
            </a:r>
            <a:r>
              <a:rPr lang="sv-SE" sz="1100" b="1" dirty="0"/>
              <a:t> och fruktsallad – 1 portion</a:t>
            </a:r>
          </a:p>
          <a:p>
            <a:r>
              <a:rPr lang="sv-SE" sz="1100" dirty="0"/>
              <a:t>1 dl keso, 4%</a:t>
            </a:r>
          </a:p>
          <a:p>
            <a:r>
              <a:rPr lang="sv-SE" sz="1100" dirty="0">
                <a:effectLst/>
                <a:ea typeface="Times New Roman" panose="02020603050405020304" pitchFamily="18" charset="0"/>
                <a:cs typeface="Helvetica" panose="020B0604020202020204" pitchFamily="34" charset="0"/>
              </a:rPr>
              <a:t>100 g vattenmelon, </a:t>
            </a:r>
          </a:p>
          <a:p>
            <a:r>
              <a:rPr lang="sv-SE" sz="1100" dirty="0">
                <a:effectLst/>
                <a:ea typeface="Times New Roman" panose="02020603050405020304" pitchFamily="18" charset="0"/>
                <a:cs typeface="Helvetica" panose="020B0604020202020204" pitchFamily="34" charset="0"/>
              </a:rPr>
              <a:t>100 g mango</a:t>
            </a:r>
          </a:p>
          <a:p>
            <a:r>
              <a:rPr lang="sv-SE" sz="1100" dirty="0">
                <a:effectLst/>
                <a:ea typeface="Times New Roman" panose="02020603050405020304" pitchFamily="18" charset="0"/>
                <a:cs typeface="Helvetica" panose="020B0604020202020204" pitchFamily="34" charset="0"/>
              </a:rPr>
              <a:t>1 dl blåbär </a:t>
            </a:r>
            <a:endParaRPr lang="sv-SE" sz="1100" dirty="0"/>
          </a:p>
          <a:p>
            <a:r>
              <a:rPr lang="sv-SE" sz="1100" dirty="0"/>
              <a:t>½ dl </a:t>
            </a:r>
            <a:r>
              <a:rPr lang="sv-SE" sz="1100" dirty="0" err="1"/>
              <a:t>granola</a:t>
            </a:r>
            <a:endParaRPr lang="sv-SE" sz="1100" dirty="0"/>
          </a:p>
          <a:p>
            <a:endParaRPr lang="sv-SE" sz="1100" dirty="0"/>
          </a:p>
          <a:p>
            <a:r>
              <a:rPr lang="sv-SE" sz="1100" dirty="0"/>
              <a:t>Skär frukten i bitar. Lägg fruktsallad i en skål. Lägg på keso och </a:t>
            </a:r>
            <a:r>
              <a:rPr lang="sv-SE" sz="1100" dirty="0" err="1"/>
              <a:t>granola</a:t>
            </a:r>
            <a:r>
              <a:rPr lang="sv-SE" sz="1100" dirty="0"/>
              <a:t>.</a:t>
            </a:r>
          </a:p>
        </p:txBody>
      </p:sp>
      <p:sp>
        <p:nvSpPr>
          <p:cNvPr id="21" name="Ellips 20">
            <a:extLst>
              <a:ext uri="{FF2B5EF4-FFF2-40B4-BE49-F238E27FC236}">
                <a16:creationId xmlns:a16="http://schemas.microsoft.com/office/drawing/2014/main" id="{5E68CC26-8814-6640-AB19-F5C274D1B9A6}"/>
              </a:ext>
            </a:extLst>
          </p:cNvPr>
          <p:cNvSpPr/>
          <p:nvPr/>
        </p:nvSpPr>
        <p:spPr>
          <a:xfrm>
            <a:off x="5392893" y="542648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190 kcal</a:t>
            </a:r>
            <a:endParaRPr sz="1200" b="1" dirty="0">
              <a:solidFill>
                <a:schemeClr val="bg1"/>
              </a:solidFill>
              <a:ea typeface="ＭＳ 明朝"/>
              <a:cs typeface="Avenir Light"/>
            </a:endParaRPr>
          </a:p>
        </p:txBody>
      </p:sp>
      <p:pic>
        <p:nvPicPr>
          <p:cNvPr id="22" name="Bildobjekt 21">
            <a:extLst>
              <a:ext uri="{FF2B5EF4-FFF2-40B4-BE49-F238E27FC236}">
                <a16:creationId xmlns:a16="http://schemas.microsoft.com/office/drawing/2014/main" id="{59D2633A-635A-3E4F-9275-CDD6A9C47C1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29067" y="4703206"/>
            <a:ext cx="3036858" cy="4049144"/>
          </a:xfrm>
          <a:prstGeom prst="rect">
            <a:avLst/>
          </a:prstGeom>
        </p:spPr>
      </p:pic>
      <p:sp>
        <p:nvSpPr>
          <p:cNvPr id="23" name="Platshållare för sidfot 1">
            <a:extLst>
              <a:ext uri="{FF2B5EF4-FFF2-40B4-BE49-F238E27FC236}">
                <a16:creationId xmlns:a16="http://schemas.microsoft.com/office/drawing/2014/main" id="{1A2CC7CB-1306-6C4D-A9EC-923A57C4D16B}"/>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3136698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4D9A4AE3-CB53-3C4E-9893-20F30658A9C8}"/>
              </a:ext>
            </a:extLst>
          </p:cNvPr>
          <p:cNvSpPr>
            <a:spLocks noGrp="1"/>
          </p:cNvSpPr>
          <p:nvPr>
            <p:ph type="sldNum" sz="quarter" idx="12"/>
          </p:nvPr>
        </p:nvSpPr>
        <p:spPr/>
        <p:txBody>
          <a:bodyPr/>
          <a:lstStyle/>
          <a:p>
            <a:fld id="{97BA8967-5D92-4842-BAFB-0C8F679E5DC4}" type="slidenum">
              <a:rPr lang="sv-SE" smtClean="0"/>
              <a:t>4</a:t>
            </a:fld>
            <a:endParaRPr lang="sv-SE"/>
          </a:p>
        </p:txBody>
      </p:sp>
      <p:sp>
        <p:nvSpPr>
          <p:cNvPr id="9" name="textruta 8">
            <a:extLst>
              <a:ext uri="{FF2B5EF4-FFF2-40B4-BE49-F238E27FC236}">
                <a16:creationId xmlns:a16="http://schemas.microsoft.com/office/drawing/2014/main" id="{E7287E8B-8232-8E42-A912-C2EFB3956F9C}"/>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10" name="Platshållare för sidfot 1">
            <a:extLst>
              <a:ext uri="{FF2B5EF4-FFF2-40B4-BE49-F238E27FC236}">
                <a16:creationId xmlns:a16="http://schemas.microsoft.com/office/drawing/2014/main" id="{5190FFF8-4315-7941-8FA6-2C5DC4B56DD9}"/>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
        <p:nvSpPr>
          <p:cNvPr id="11" name="Rektangel 10">
            <a:extLst>
              <a:ext uri="{FF2B5EF4-FFF2-40B4-BE49-F238E27FC236}">
                <a16:creationId xmlns:a16="http://schemas.microsoft.com/office/drawing/2014/main" id="{DB38C0B5-BF5C-4140-8837-9B41004FFE9A}"/>
              </a:ext>
            </a:extLst>
          </p:cNvPr>
          <p:cNvSpPr/>
          <p:nvPr/>
        </p:nvSpPr>
        <p:spPr>
          <a:xfrm>
            <a:off x="177174" y="2236804"/>
            <a:ext cx="2906989" cy="2462213"/>
          </a:xfrm>
          <a:prstGeom prst="rect">
            <a:avLst/>
          </a:prstGeom>
        </p:spPr>
        <p:txBody>
          <a:bodyPr wrap="square">
            <a:spAutoFit/>
          </a:bodyPr>
          <a:lstStyle/>
          <a:p>
            <a:r>
              <a:rPr lang="sv-SE" sz="1100" b="1" dirty="0">
                <a:solidFill>
                  <a:srgbClr val="000000"/>
                </a:solidFill>
              </a:rPr>
              <a:t>Omelett med hallon - 1 portion </a:t>
            </a:r>
            <a:endParaRPr lang="sv-SE" sz="1100" dirty="0">
              <a:solidFill>
                <a:srgbClr val="000000"/>
              </a:solidFill>
            </a:endParaRPr>
          </a:p>
          <a:p>
            <a:r>
              <a:rPr lang="sv-SE" sz="1100" dirty="0">
                <a:solidFill>
                  <a:srgbClr val="000000"/>
                </a:solidFill>
              </a:rPr>
              <a:t>2 ägg</a:t>
            </a:r>
          </a:p>
          <a:p>
            <a:r>
              <a:rPr lang="sv-SE" sz="1100" dirty="0">
                <a:solidFill>
                  <a:srgbClr val="000000"/>
                </a:solidFill>
              </a:rPr>
              <a:t>Salt och svartpeppar</a:t>
            </a:r>
          </a:p>
          <a:p>
            <a:r>
              <a:rPr lang="sv-SE" sz="1100" dirty="0">
                <a:solidFill>
                  <a:srgbClr val="000000"/>
                </a:solidFill>
              </a:rPr>
              <a:t>2 dl frysta </a:t>
            </a:r>
            <a:r>
              <a:rPr lang="sv-SE" sz="1100" dirty="0">
                <a:solidFill>
                  <a:srgbClr val="FF0000"/>
                </a:solidFill>
              </a:rPr>
              <a:t>hackade </a:t>
            </a:r>
            <a:r>
              <a:rPr lang="sv-SE" sz="1100" dirty="0">
                <a:solidFill>
                  <a:srgbClr val="000000"/>
                </a:solidFill>
              </a:rPr>
              <a:t>hallon</a:t>
            </a:r>
          </a:p>
          <a:p>
            <a:r>
              <a:rPr lang="sv-SE" sz="1100" dirty="0">
                <a:solidFill>
                  <a:srgbClr val="000000"/>
                </a:solidFill>
              </a:rPr>
              <a:t>1 msk yoghurt</a:t>
            </a:r>
          </a:p>
          <a:p>
            <a:r>
              <a:rPr lang="sv-SE" sz="1100" dirty="0">
                <a:solidFill>
                  <a:srgbClr val="000000"/>
                </a:solidFill>
              </a:rPr>
              <a:t>1 myntakvist</a:t>
            </a:r>
          </a:p>
          <a:p>
            <a:r>
              <a:rPr lang="sv-SE" sz="1100" dirty="0">
                <a:solidFill>
                  <a:srgbClr val="000000"/>
                </a:solidFill>
              </a:rPr>
              <a:t>1 tsk smör</a:t>
            </a:r>
          </a:p>
          <a:p>
            <a:endParaRPr lang="sv-SE" sz="1100" dirty="0">
              <a:solidFill>
                <a:srgbClr val="000000"/>
              </a:solidFill>
              <a:effectLst/>
            </a:endParaRPr>
          </a:p>
          <a:p>
            <a:r>
              <a:rPr lang="sv-SE" sz="1100" dirty="0">
                <a:solidFill>
                  <a:srgbClr val="000000"/>
                </a:solidFill>
                <a:effectLst/>
              </a:rPr>
              <a:t>Vispa ihop ägg, salt och peppar i en skål. Hetta upp en stekpanna med smör och häll ner smeten. </a:t>
            </a:r>
            <a:r>
              <a:rPr lang="sv-SE" sz="1100" dirty="0">
                <a:solidFill>
                  <a:srgbClr val="000000"/>
                </a:solidFill>
              </a:rPr>
              <a:t>Lägg på hallon och stek omeletten på svag värme i några minuter. Lägg upp på en tallrik och servera med yoghurt. Dekorera med en myntakvist.</a:t>
            </a:r>
            <a:endParaRPr lang="sv-SE" sz="1100" dirty="0">
              <a:solidFill>
                <a:srgbClr val="000000"/>
              </a:solidFill>
              <a:effectLst/>
            </a:endParaRPr>
          </a:p>
        </p:txBody>
      </p:sp>
      <p:sp>
        <p:nvSpPr>
          <p:cNvPr id="12" name="Ellips 11">
            <a:extLst>
              <a:ext uri="{FF2B5EF4-FFF2-40B4-BE49-F238E27FC236}">
                <a16:creationId xmlns:a16="http://schemas.microsoft.com/office/drawing/2014/main" id="{0A88EB3B-E7A6-074D-BE10-B38F775EDFCC}"/>
              </a:ext>
            </a:extLst>
          </p:cNvPr>
          <p:cNvSpPr/>
          <p:nvPr/>
        </p:nvSpPr>
        <p:spPr>
          <a:xfrm>
            <a:off x="2132774" y="243298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pic>
        <p:nvPicPr>
          <p:cNvPr id="13" name="Bildobjekt 12">
            <a:extLst>
              <a:ext uri="{FF2B5EF4-FFF2-40B4-BE49-F238E27FC236}">
                <a16:creationId xmlns:a16="http://schemas.microsoft.com/office/drawing/2014/main" id="{03F19627-350F-F74F-A7BD-1C112B5070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88884" y="2091120"/>
            <a:ext cx="4375877" cy="3281908"/>
          </a:xfrm>
          <a:prstGeom prst="rect">
            <a:avLst/>
          </a:prstGeom>
        </p:spPr>
      </p:pic>
      <p:sp>
        <p:nvSpPr>
          <p:cNvPr id="14" name="textruta 13">
            <a:extLst>
              <a:ext uri="{FF2B5EF4-FFF2-40B4-BE49-F238E27FC236}">
                <a16:creationId xmlns:a16="http://schemas.microsoft.com/office/drawing/2014/main" id="{D1B56B27-3E34-F54A-89DA-DC93E1F7081B}"/>
              </a:ext>
            </a:extLst>
          </p:cNvPr>
          <p:cNvSpPr txBox="1"/>
          <p:nvPr/>
        </p:nvSpPr>
        <p:spPr>
          <a:xfrm>
            <a:off x="681925" y="5920013"/>
            <a:ext cx="2191626" cy="369332"/>
          </a:xfrm>
          <a:prstGeom prst="rect">
            <a:avLst/>
          </a:prstGeom>
          <a:noFill/>
        </p:spPr>
        <p:txBody>
          <a:bodyPr wrap="none" rtlCol="0">
            <a:spAutoFit/>
          </a:bodyPr>
          <a:lstStyle/>
          <a:p>
            <a:r>
              <a:rPr lang="sv-SE" dirty="0"/>
              <a:t>10-kilosklubben 2024</a:t>
            </a:r>
          </a:p>
        </p:txBody>
      </p:sp>
    </p:spTree>
    <p:extLst>
      <p:ext uri="{BB962C8B-B14F-4D97-AF65-F5344CB8AC3E}">
        <p14:creationId xmlns:p14="http://schemas.microsoft.com/office/powerpoint/2010/main" val="3508095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BB32D8FA-2402-1A4D-A437-B00F0743457B}"/>
              </a:ext>
            </a:extLst>
          </p:cNvPr>
          <p:cNvSpPr/>
          <p:nvPr/>
        </p:nvSpPr>
        <p:spPr>
          <a:xfrm>
            <a:off x="136134" y="2763372"/>
            <a:ext cx="4662352" cy="3816429"/>
          </a:xfrm>
          <a:prstGeom prst="rect">
            <a:avLst/>
          </a:prstGeom>
        </p:spPr>
        <p:txBody>
          <a:bodyPr wrap="square">
            <a:spAutoFit/>
          </a:bodyPr>
          <a:lstStyle/>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Vegetarisk currygryta med </a:t>
            </a:r>
            <a:r>
              <a:rPr lang="sv-SE" sz="1100" b="1" dirty="0" err="1">
                <a:latin typeface="Calibri" panose="020F0502020204030204" pitchFamily="34" charset="0"/>
                <a:ea typeface="Calibri" panose="020F0502020204030204" pitchFamily="34" charset="0"/>
                <a:cs typeface="Times New Roman" panose="02020603050405020304" pitchFamily="18" charset="0"/>
              </a:rPr>
              <a:t>panéer</a:t>
            </a:r>
            <a:r>
              <a:rPr lang="sv-SE" sz="1100" b="1" dirty="0">
                <a:latin typeface="Calibri" panose="020F0502020204030204" pitchFamily="34" charset="0"/>
                <a:ea typeface="Calibri" panose="020F0502020204030204" pitchFamily="34" charset="0"/>
                <a:cs typeface="Times New Roman" panose="02020603050405020304" pitchFamily="18" charset="0"/>
              </a:rPr>
              <a:t> – 4 portioner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gul 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vitlöksklyfta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225 g </a:t>
            </a:r>
            <a:r>
              <a:rPr lang="sv-SE" sz="1100" dirty="0" err="1">
                <a:latin typeface="Calibri" panose="020F0502020204030204" pitchFamily="34" charset="0"/>
                <a:ea typeface="Calibri" panose="020F0502020204030204" pitchFamily="34" charset="0"/>
                <a:cs typeface="Times New Roman" panose="02020603050405020304" pitchFamily="18" charset="0"/>
              </a:rPr>
              <a:t>Apetina</a:t>
            </a:r>
            <a:r>
              <a:rPr lang="sv-SE" sz="1100" dirty="0">
                <a:latin typeface="Calibri" panose="020F0502020204030204" pitchFamily="34" charset="0"/>
                <a:ea typeface="Calibri" panose="020F0502020204030204" pitchFamily="34" charset="0"/>
                <a:cs typeface="Times New Roman" panose="02020603050405020304" pitchFamily="18" charset="0"/>
              </a:rPr>
              <a:t> </a:t>
            </a:r>
            <a:r>
              <a:rPr lang="sv-SE" sz="1100" dirty="0" err="1">
                <a:latin typeface="Calibri" panose="020F0502020204030204" pitchFamily="34" charset="0"/>
                <a:ea typeface="Calibri" panose="020F0502020204030204" pitchFamily="34" charset="0"/>
                <a:cs typeface="Times New Roman" panose="02020603050405020304" pitchFamily="18" charset="0"/>
              </a:rPr>
              <a:t>panéer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msk olivolja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påse Kerala Curry kryddblandning, ca 20 g</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400 ml kokosmjölk, lätt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morot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röd paprika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broccolistånd</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200 g blomkålsbuketter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dl purjolök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granatäpple</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Skala och hacka lök och finhacka vitlöken. Skär </a:t>
            </a:r>
            <a:r>
              <a:rPr lang="sv-SE" sz="1100" dirty="0" err="1">
                <a:latin typeface="Calibri" panose="020F0502020204030204" pitchFamily="34" charset="0"/>
                <a:ea typeface="Calibri" panose="020F0502020204030204" pitchFamily="34" charset="0"/>
                <a:cs typeface="Times New Roman" panose="02020603050405020304" pitchFamily="18" charset="0"/>
              </a:rPr>
              <a:t>panéerna</a:t>
            </a:r>
            <a:r>
              <a:rPr lang="sv-SE" sz="1100" dirty="0">
                <a:latin typeface="Calibri" panose="020F0502020204030204" pitchFamily="34" charset="0"/>
                <a:ea typeface="Calibri" panose="020F0502020204030204" pitchFamily="34" charset="0"/>
                <a:cs typeface="Times New Roman" panose="02020603050405020304" pitchFamily="18" charset="0"/>
              </a:rPr>
              <a:t> i kuber. Hetta upp en stekpanna med olja och lägg ner lök och vitlök. Låt steka någon minut och tillsätt </a:t>
            </a:r>
            <a:r>
              <a:rPr lang="sv-SE" sz="1100" dirty="0" err="1">
                <a:latin typeface="Calibri" panose="020F0502020204030204" pitchFamily="34" charset="0"/>
                <a:ea typeface="Calibri" panose="020F0502020204030204" pitchFamily="34" charset="0"/>
                <a:cs typeface="Times New Roman" panose="02020603050405020304" pitchFamily="18" charset="0"/>
              </a:rPr>
              <a:t>panéerna</a:t>
            </a:r>
            <a:r>
              <a:rPr lang="sv-SE" sz="1100" dirty="0">
                <a:latin typeface="Calibri" panose="020F0502020204030204" pitchFamily="34" charset="0"/>
                <a:ea typeface="Calibri" panose="020F0502020204030204" pitchFamily="34" charset="0"/>
                <a:cs typeface="Times New Roman" panose="02020603050405020304" pitchFamily="18" charset="0"/>
              </a:rPr>
              <a:t>, curryblandningen och kokosmjölk. Låt koka ihop och smaka av med salt och peppar. Låt sjuda på svag värme i 10 minuter. Skala och skär moroten i mindre bitar. Skär paprika i mindre bitar och skär broccolin i buketter. Lägg ner grönsakerna i grytan och låt allt bli varmt. Servera i skålar och toppa med purjolök och granatäppelkärnor. </a:t>
            </a:r>
          </a:p>
        </p:txBody>
      </p:sp>
      <p:pic>
        <p:nvPicPr>
          <p:cNvPr id="10" name="Bildobjekt 9">
            <a:extLst>
              <a:ext uri="{FF2B5EF4-FFF2-40B4-BE49-F238E27FC236}">
                <a16:creationId xmlns:a16="http://schemas.microsoft.com/office/drawing/2014/main" id="{165E9E69-C252-9348-A7CD-11C9846D785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05659" y="200220"/>
            <a:ext cx="3238069" cy="4317426"/>
          </a:xfrm>
          <a:prstGeom prst="rect">
            <a:avLst/>
          </a:prstGeom>
        </p:spPr>
      </p:pic>
      <p:sp>
        <p:nvSpPr>
          <p:cNvPr id="15" name="Moln 14">
            <a:extLst>
              <a:ext uri="{FF2B5EF4-FFF2-40B4-BE49-F238E27FC236}">
                <a16:creationId xmlns:a16="http://schemas.microsoft.com/office/drawing/2014/main" id="{92959362-D151-F64A-9921-D81D38781962}"/>
              </a:ext>
            </a:extLst>
          </p:cNvPr>
          <p:cNvSpPr/>
          <p:nvPr/>
        </p:nvSpPr>
        <p:spPr>
          <a:xfrm>
            <a:off x="5065608" y="4989370"/>
            <a:ext cx="1578119" cy="1132461"/>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sv-SE" sz="1000" dirty="0"/>
              <a:t>Laga och frys in de resterande portionerna</a:t>
            </a:r>
          </a:p>
        </p:txBody>
      </p:sp>
      <p:sp>
        <p:nvSpPr>
          <p:cNvPr id="16" name="textruta 15">
            <a:extLst>
              <a:ext uri="{FF2B5EF4-FFF2-40B4-BE49-F238E27FC236}">
                <a16:creationId xmlns:a16="http://schemas.microsoft.com/office/drawing/2014/main" id="{9CC8EAC3-B1D1-9A45-8F77-86ED715DFE86}"/>
              </a:ext>
            </a:extLst>
          </p:cNvPr>
          <p:cNvSpPr txBox="1"/>
          <p:nvPr/>
        </p:nvSpPr>
        <p:spPr>
          <a:xfrm>
            <a:off x="136134" y="384124"/>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19" name="Ellips 18">
            <a:extLst>
              <a:ext uri="{FF2B5EF4-FFF2-40B4-BE49-F238E27FC236}">
                <a16:creationId xmlns:a16="http://schemas.microsoft.com/office/drawing/2014/main" id="{E585783F-CCEA-114B-B3BD-45DE16E9FC9C}"/>
              </a:ext>
            </a:extLst>
          </p:cNvPr>
          <p:cNvSpPr/>
          <p:nvPr/>
        </p:nvSpPr>
        <p:spPr>
          <a:xfrm>
            <a:off x="2467310" y="403980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360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20" name="Platshållare för sidfot 1">
            <a:extLst>
              <a:ext uri="{FF2B5EF4-FFF2-40B4-BE49-F238E27FC236}">
                <a16:creationId xmlns:a16="http://schemas.microsoft.com/office/drawing/2014/main" id="{F1775260-CE7F-2D4F-BFFB-11CE8F66B9D9}"/>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
        <p:nvSpPr>
          <p:cNvPr id="3" name="textruta 2">
            <a:extLst>
              <a:ext uri="{FF2B5EF4-FFF2-40B4-BE49-F238E27FC236}">
                <a16:creationId xmlns:a16="http://schemas.microsoft.com/office/drawing/2014/main" id="{290CEF18-FB10-5A4C-B812-AB5526BA4E14}"/>
              </a:ext>
            </a:extLst>
          </p:cNvPr>
          <p:cNvSpPr txBox="1"/>
          <p:nvPr/>
        </p:nvSpPr>
        <p:spPr>
          <a:xfrm>
            <a:off x="309966" y="2045776"/>
            <a:ext cx="2230611" cy="369332"/>
          </a:xfrm>
          <a:prstGeom prst="rect">
            <a:avLst/>
          </a:prstGeom>
          <a:noFill/>
        </p:spPr>
        <p:txBody>
          <a:bodyPr wrap="none" rtlCol="0">
            <a:spAutoFit/>
          </a:bodyPr>
          <a:lstStyle/>
          <a:p>
            <a:r>
              <a:rPr lang="sv-SE" dirty="0"/>
              <a:t>14-day </a:t>
            </a:r>
            <a:r>
              <a:rPr lang="sv-SE" dirty="0" err="1"/>
              <a:t>challenge</a:t>
            </a:r>
            <a:r>
              <a:rPr lang="sv-SE" dirty="0"/>
              <a:t> </a:t>
            </a:r>
            <a:r>
              <a:rPr lang="sv-SE" dirty="0" err="1"/>
              <a:t>keto</a:t>
            </a:r>
            <a:endParaRPr lang="sv-SE" dirty="0"/>
          </a:p>
        </p:txBody>
      </p:sp>
    </p:spTree>
    <p:extLst>
      <p:ext uri="{BB962C8B-B14F-4D97-AF65-F5344CB8AC3E}">
        <p14:creationId xmlns:p14="http://schemas.microsoft.com/office/powerpoint/2010/main" val="1184126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5F235E6D-ABCB-634E-904C-E96E236DCD3A}"/>
              </a:ext>
            </a:extLst>
          </p:cNvPr>
          <p:cNvSpPr>
            <a:spLocks noGrp="1"/>
          </p:cNvSpPr>
          <p:nvPr>
            <p:ph type="sldNum" sz="quarter" idx="12"/>
          </p:nvPr>
        </p:nvSpPr>
        <p:spPr/>
        <p:txBody>
          <a:bodyPr/>
          <a:lstStyle/>
          <a:p>
            <a:fld id="{97BA8967-5D92-4842-BAFB-0C8F679E5DC4}" type="slidenum">
              <a:rPr lang="sv-SE" smtClean="0"/>
              <a:t>6</a:t>
            </a:fld>
            <a:endParaRPr lang="sv-SE"/>
          </a:p>
        </p:txBody>
      </p:sp>
      <p:sp>
        <p:nvSpPr>
          <p:cNvPr id="7" name="textruta 6">
            <a:extLst>
              <a:ext uri="{FF2B5EF4-FFF2-40B4-BE49-F238E27FC236}">
                <a16:creationId xmlns:a16="http://schemas.microsoft.com/office/drawing/2014/main" id="{A2261C58-9454-A84F-8BDE-C40347561305}"/>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Kyckling</a:t>
            </a:r>
          </a:p>
        </p:txBody>
      </p:sp>
      <p:pic>
        <p:nvPicPr>
          <p:cNvPr id="3" name="Bildobjekt 2">
            <a:extLst>
              <a:ext uri="{FF2B5EF4-FFF2-40B4-BE49-F238E27FC236}">
                <a16:creationId xmlns:a16="http://schemas.microsoft.com/office/drawing/2014/main" id="{23EEF555-B02D-E94A-8C70-F2BE20E031B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62453" y="739156"/>
            <a:ext cx="4735740" cy="3551804"/>
          </a:xfrm>
          <a:prstGeom prst="rect">
            <a:avLst/>
          </a:prstGeom>
        </p:spPr>
      </p:pic>
      <p:sp>
        <p:nvSpPr>
          <p:cNvPr id="11" name="Rektangel 10">
            <a:extLst>
              <a:ext uri="{FF2B5EF4-FFF2-40B4-BE49-F238E27FC236}">
                <a16:creationId xmlns:a16="http://schemas.microsoft.com/office/drawing/2014/main" id="{1E07591F-A5A7-A54C-9824-BDF2BA201606}"/>
              </a:ext>
            </a:extLst>
          </p:cNvPr>
          <p:cNvSpPr/>
          <p:nvPr/>
        </p:nvSpPr>
        <p:spPr>
          <a:xfrm>
            <a:off x="239168" y="1409389"/>
            <a:ext cx="5975652" cy="6017032"/>
          </a:xfrm>
          <a:prstGeom prst="rect">
            <a:avLst/>
          </a:prstGeom>
        </p:spPr>
        <p:txBody>
          <a:bodyPr wrap="square" lIns="91440" tIns="45720" rIns="91440" bIns="45720" anchor="t">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Ugnsbakad kyckling  med tzatziki och sallad</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300 g kycklinglårfilé</a:t>
            </a:r>
          </a:p>
          <a:p>
            <a:r>
              <a:rPr lang="sv-SE" sz="1100" dirty="0">
                <a:latin typeface="Calibri"/>
                <a:ea typeface="Calibri"/>
                <a:cs typeface="Times New Roman"/>
              </a:rPr>
              <a:t>1 </a:t>
            </a:r>
            <a:r>
              <a:rPr lang="sv-SE" sz="1100" dirty="0">
                <a:solidFill>
                  <a:srgbClr val="FF0000"/>
                </a:solidFill>
                <a:latin typeface="Calibri"/>
                <a:ea typeface="Calibri"/>
                <a:cs typeface="Times New Roman"/>
              </a:rPr>
              <a:t>liten riven</a:t>
            </a:r>
            <a:r>
              <a:rPr lang="sv-SE" sz="1100" dirty="0">
                <a:latin typeface="Calibri"/>
                <a:ea typeface="Calibri"/>
                <a:cs typeface="Times New Roman"/>
              </a:rPr>
              <a:t> vitlöksklyfta</a:t>
            </a:r>
          </a:p>
          <a:p>
            <a:r>
              <a:rPr lang="sv-SE" sz="1100" dirty="0">
                <a:latin typeface="Calibri" panose="020F0502020204030204" pitchFamily="34" charset="0"/>
                <a:ea typeface="Calibri" panose="020F0502020204030204" pitchFamily="34" charset="0"/>
                <a:cs typeface="Times New Roman" panose="02020603050405020304" pitchFamily="18" charset="0"/>
              </a:rPr>
              <a:t>1 msk </a:t>
            </a:r>
            <a:r>
              <a:rPr lang="sv-SE" sz="1100" dirty="0" err="1">
                <a:latin typeface="Calibri" panose="020F0502020204030204" pitchFamily="34" charset="0"/>
                <a:ea typeface="Calibri" panose="020F0502020204030204" pitchFamily="34" charset="0"/>
                <a:cs typeface="Times New Roman" panose="02020603050405020304" pitchFamily="18" charset="0"/>
              </a:rPr>
              <a:t>ketjap</a:t>
            </a:r>
            <a:r>
              <a:rPr lang="sv-SE" sz="1100" dirty="0">
                <a:latin typeface="Calibri" panose="020F0502020204030204" pitchFamily="34" charset="0"/>
                <a:ea typeface="Calibri" panose="020F0502020204030204" pitchFamily="34" charset="0"/>
                <a:cs typeface="Times New Roman" panose="02020603050405020304" pitchFamily="18" charset="0"/>
              </a:rPr>
              <a:t> manis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krm örtagårdskrydda</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r>
              <a:rPr lang="sv-SE" sz="1100" b="1" dirty="0">
                <a:latin typeface="Calibri" panose="020F0502020204030204" pitchFamily="34" charset="0"/>
                <a:ea typeface="Calibri" panose="020F0502020204030204" pitchFamily="34" charset="0"/>
                <a:cs typeface="Times New Roman" panose="02020603050405020304" pitchFamily="18" charset="0"/>
              </a:rPr>
              <a:t>Grekisk sallad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olivolja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Saften från ¼ citron</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Lite örtagårdskrydda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gul paprika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röd paprika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grön paprika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rödlök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morot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10 cm gurka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msk hackad persilja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Tzatziki</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dl grekisk yoghurt 6%</a:t>
            </a:r>
          </a:p>
          <a:p>
            <a:pPr>
              <a:spcAft>
                <a:spcPts val="0"/>
              </a:spcAft>
            </a:pPr>
            <a:r>
              <a:rPr lang="sv-SE" sz="1100" dirty="0">
                <a:latin typeface="Calibri"/>
                <a:ea typeface="Calibri"/>
                <a:cs typeface="Times New Roman"/>
              </a:rPr>
              <a:t>½ </a:t>
            </a:r>
            <a:r>
              <a:rPr lang="sv-SE" sz="1100" dirty="0">
                <a:solidFill>
                  <a:srgbClr val="FF0000"/>
                </a:solidFill>
                <a:latin typeface="Calibri"/>
                <a:ea typeface="Calibri"/>
                <a:cs typeface="Times New Roman"/>
              </a:rPr>
              <a:t>liten riven</a:t>
            </a:r>
            <a:r>
              <a:rPr lang="sv-SE" sz="1100" dirty="0">
                <a:latin typeface="Calibri"/>
                <a:ea typeface="Calibri"/>
                <a:cs typeface="Times New Roman"/>
              </a:rPr>
              <a:t> vitlöksklyfta</a:t>
            </a:r>
          </a:p>
          <a:p>
            <a:pPr>
              <a:spcAft>
                <a:spcPts val="0"/>
              </a:spcAft>
            </a:pPr>
            <a:r>
              <a:rPr lang="sv-SE" sz="1100" dirty="0">
                <a:latin typeface="Calibri"/>
                <a:ea typeface="Calibri"/>
                <a:cs typeface="Times New Roman"/>
              </a:rPr>
              <a:t>2 dl </a:t>
            </a:r>
            <a:r>
              <a:rPr lang="sv-SE" sz="1100" dirty="0">
                <a:solidFill>
                  <a:srgbClr val="FF0000"/>
                </a:solidFill>
                <a:latin typeface="Calibri"/>
                <a:ea typeface="Calibri"/>
                <a:cs typeface="Times New Roman"/>
              </a:rPr>
              <a:t>finriven</a:t>
            </a:r>
            <a:r>
              <a:rPr lang="sv-SE" sz="1100" dirty="0">
                <a:latin typeface="Calibri"/>
                <a:ea typeface="Calibri"/>
                <a:cs typeface="Times New Roman"/>
              </a:rPr>
              <a:t> gurka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Dekoration</a:t>
            </a:r>
            <a:r>
              <a:rPr lang="sv-SE" sz="1100" dirty="0">
                <a:latin typeface="Calibri" panose="020F0502020204030204" pitchFamily="34" charset="0"/>
                <a:ea typeface="Calibri" panose="020F0502020204030204" pitchFamily="34" charset="0"/>
                <a:cs typeface="Times New Roman" panose="02020603050405020304" pitchFamily="18" charset="0"/>
              </a:rPr>
              <a:t>: citronklyftor och persilja</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Sätt ugnen på 200 grader. Lägg kycklingen i en skål och blanda ner riven vitlök, </a:t>
            </a:r>
            <a:r>
              <a:rPr lang="sv-SE" sz="1100" dirty="0" err="1">
                <a:latin typeface="Calibri" panose="020F0502020204030204" pitchFamily="34" charset="0"/>
                <a:ea typeface="Calibri" panose="020F0502020204030204" pitchFamily="34" charset="0"/>
                <a:cs typeface="Times New Roman" panose="02020603050405020304" pitchFamily="18" charset="0"/>
              </a:rPr>
              <a:t>ketjap</a:t>
            </a:r>
            <a:r>
              <a:rPr lang="sv-SE" sz="1100" dirty="0">
                <a:latin typeface="Calibri" panose="020F0502020204030204" pitchFamily="34" charset="0"/>
                <a:ea typeface="Calibri" panose="020F0502020204030204" pitchFamily="34" charset="0"/>
                <a:cs typeface="Times New Roman" panose="02020603050405020304" pitchFamily="18" charset="0"/>
              </a:rPr>
              <a:t> manis, salt, peppar och örtagårdskrydda. Lägg på en plåt och ugnsbaka i 20 minuter. Riv vitlök och blanda ihop alla ingredienser till tzatzikin i en skål. </a:t>
            </a:r>
            <a:r>
              <a:rPr lang="sv-SE" sz="1100" dirty="0">
                <a:solidFill>
                  <a:srgbClr val="000000"/>
                </a:solidFill>
                <a:ea typeface="Arial Unicode MS" panose="020B0604020202020204" pitchFamily="34" charset="-128"/>
                <a:cs typeface="Arial Unicode MS" panose="020B0604020202020204" pitchFamily="34" charset="-128"/>
              </a:rPr>
              <a:t> </a:t>
            </a:r>
            <a:r>
              <a:rPr lang="sv-SE" sz="1100" dirty="0">
                <a:solidFill>
                  <a:srgbClr val="000000"/>
                </a:solidFill>
                <a:latin typeface="Calibri" panose="020F0502020204030204" pitchFamily="34" charset="0"/>
                <a:ea typeface="Arial Unicode MS" panose="020B0604020202020204" pitchFamily="34" charset="-128"/>
                <a:cs typeface="Times New Roman" panose="02020603050405020304" pitchFamily="18" charset="0"/>
              </a:rPr>
              <a:t>Gör salladen genom att h</a:t>
            </a:r>
            <a:r>
              <a:rPr lang="sv-SE" sz="1100" dirty="0">
                <a:latin typeface="Calibri" panose="020F0502020204030204" pitchFamily="34" charset="0"/>
                <a:ea typeface="Calibri" panose="020F0502020204030204" pitchFamily="34" charset="0"/>
                <a:cs typeface="Times New Roman" panose="02020603050405020304" pitchFamily="18" charset="0"/>
              </a:rPr>
              <a:t>älla olivolja, citronsaft och örtagårdskrydda i en stor skål. Skär alla grönsaker i mindre bitar och lägg i skålen. Tillsätt persilja, salt och peppar och blanda  om. Servera kycklingen med grekisk sallad och tzatziki. Dekorera med citronklyftor och persilja.</a:t>
            </a:r>
            <a:endParaRPr lang="sv-SE" sz="1100" dirty="0">
              <a:solidFill>
                <a:srgbClr val="000000"/>
              </a:solidFill>
              <a:ea typeface="Arial Unicode MS" panose="020B0604020202020204" pitchFamily="34" charset="-128"/>
              <a:cs typeface="Arial Unicode MS" panose="020B0604020202020204" pitchFamily="34" charset="-128"/>
            </a:endParaRPr>
          </a:p>
        </p:txBody>
      </p:sp>
      <p:sp>
        <p:nvSpPr>
          <p:cNvPr id="13" name="Ellips 12">
            <a:extLst>
              <a:ext uri="{FF2B5EF4-FFF2-40B4-BE49-F238E27FC236}">
                <a16:creationId xmlns:a16="http://schemas.microsoft.com/office/drawing/2014/main" id="{632D80D6-A42A-8546-A78C-05716797FB7D}"/>
              </a:ext>
            </a:extLst>
          </p:cNvPr>
          <p:cNvSpPr/>
          <p:nvPr/>
        </p:nvSpPr>
        <p:spPr>
          <a:xfrm>
            <a:off x="1953668" y="227526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330kcal</a:t>
            </a:r>
            <a:endParaRPr sz="1200" b="1" dirty="0">
              <a:solidFill>
                <a:schemeClr val="bg1"/>
              </a:solidFill>
              <a:ea typeface="ＭＳ 明朝"/>
              <a:cs typeface="Avenir Light"/>
            </a:endParaRPr>
          </a:p>
        </p:txBody>
      </p:sp>
      <p:sp>
        <p:nvSpPr>
          <p:cNvPr id="2" name="textruta 1">
            <a:extLst>
              <a:ext uri="{FF2B5EF4-FFF2-40B4-BE49-F238E27FC236}">
                <a16:creationId xmlns:a16="http://schemas.microsoft.com/office/drawing/2014/main" id="{FB96E3BA-3B44-7C43-AEAB-94862528FCD7}"/>
              </a:ext>
            </a:extLst>
          </p:cNvPr>
          <p:cNvSpPr txBox="1"/>
          <p:nvPr/>
        </p:nvSpPr>
        <p:spPr>
          <a:xfrm>
            <a:off x="2851688" y="7426421"/>
            <a:ext cx="1777025" cy="369332"/>
          </a:xfrm>
          <a:prstGeom prst="rect">
            <a:avLst/>
          </a:prstGeom>
          <a:noFill/>
        </p:spPr>
        <p:txBody>
          <a:bodyPr wrap="none" rtlCol="0">
            <a:spAutoFit/>
          </a:bodyPr>
          <a:lstStyle/>
          <a:p>
            <a:r>
              <a:rPr lang="sv-SE" dirty="0"/>
              <a:t>Höstturbon 2024</a:t>
            </a:r>
          </a:p>
        </p:txBody>
      </p:sp>
      <p:sp>
        <p:nvSpPr>
          <p:cNvPr id="9" name="Platshållare för sidfot 1">
            <a:extLst>
              <a:ext uri="{FF2B5EF4-FFF2-40B4-BE49-F238E27FC236}">
                <a16:creationId xmlns:a16="http://schemas.microsoft.com/office/drawing/2014/main" id="{13DB5C40-036E-434F-A746-AA2BF157647C}"/>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1478082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9A1BFCC5-17E2-0543-A557-7A290C3AD20C}"/>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pic>
        <p:nvPicPr>
          <p:cNvPr id="3" name="Bildobjekt 2">
            <a:extLst>
              <a:ext uri="{FF2B5EF4-FFF2-40B4-BE49-F238E27FC236}">
                <a16:creationId xmlns:a16="http://schemas.microsoft.com/office/drawing/2014/main" id="{F4C5EB79-D279-BA49-8DAA-9ABB2E7185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9305" y="455229"/>
            <a:ext cx="3075795" cy="4101060"/>
          </a:xfrm>
          <a:prstGeom prst="rect">
            <a:avLst/>
          </a:prstGeom>
        </p:spPr>
      </p:pic>
      <p:sp>
        <p:nvSpPr>
          <p:cNvPr id="4" name="Rektangel 3">
            <a:extLst>
              <a:ext uri="{FF2B5EF4-FFF2-40B4-BE49-F238E27FC236}">
                <a16:creationId xmlns:a16="http://schemas.microsoft.com/office/drawing/2014/main" id="{CA685CE7-4DA8-B048-8CDE-D7D8AE0CFB4A}"/>
              </a:ext>
            </a:extLst>
          </p:cNvPr>
          <p:cNvSpPr/>
          <p:nvPr/>
        </p:nvSpPr>
        <p:spPr>
          <a:xfrm>
            <a:off x="580429" y="2246533"/>
            <a:ext cx="5246933" cy="3985706"/>
          </a:xfrm>
          <a:prstGeom prst="rect">
            <a:avLst/>
          </a:prstGeom>
        </p:spPr>
        <p:txBody>
          <a:bodyPr wrap="square" lIns="91440" tIns="45720" rIns="91440" bIns="45720" anchor="t">
            <a:spAutoFit/>
          </a:bodyPr>
          <a:lstStyle/>
          <a:p>
            <a:r>
              <a:rPr lang="sv-SE" sz="1100" b="1" dirty="0">
                <a:solidFill>
                  <a:srgbClr val="000000"/>
                </a:solidFill>
                <a:cs typeface="Arial"/>
              </a:rPr>
              <a:t>Kycklingfylld aubergine - 2 portioner</a:t>
            </a:r>
            <a:br>
              <a:rPr lang="sv-SE" sz="1100" dirty="0"/>
            </a:br>
            <a:r>
              <a:rPr lang="sv-SE" sz="1100" dirty="0">
                <a:solidFill>
                  <a:srgbClr val="000000"/>
                </a:solidFill>
              </a:rPr>
              <a:t>1 aubergine</a:t>
            </a:r>
            <a:br>
              <a:rPr lang="sv-SE" sz="1100" dirty="0"/>
            </a:br>
            <a:r>
              <a:rPr lang="sv-SE" sz="1100" dirty="0">
                <a:solidFill>
                  <a:srgbClr val="000000"/>
                </a:solidFill>
              </a:rPr>
              <a:t>1 tsk olivolja</a:t>
            </a:r>
            <a:br>
              <a:rPr lang="sv-SE" sz="1100" dirty="0"/>
            </a:br>
            <a:r>
              <a:rPr lang="sv-SE" sz="1100" dirty="0">
                <a:solidFill>
                  <a:srgbClr val="000000"/>
                </a:solidFill>
              </a:rPr>
              <a:t>1 krm örtagårdskrydda</a:t>
            </a:r>
            <a:br>
              <a:rPr lang="sv-SE" sz="1100" dirty="0"/>
            </a:br>
            <a:r>
              <a:rPr lang="sv-SE" sz="1100" dirty="0">
                <a:solidFill>
                  <a:srgbClr val="000000"/>
                </a:solidFill>
              </a:rPr>
              <a:t>Salt och svartpeppar</a:t>
            </a:r>
            <a:br>
              <a:rPr lang="sv-SE" sz="1100" dirty="0"/>
            </a:br>
            <a:r>
              <a:rPr lang="sv-SE" sz="1100" dirty="0">
                <a:solidFill>
                  <a:srgbClr val="000000"/>
                </a:solidFill>
              </a:rPr>
              <a:t>300 g urbenad grillad kyckling</a:t>
            </a:r>
            <a:br>
              <a:rPr lang="sv-SE" sz="1100" dirty="0"/>
            </a:br>
            <a:r>
              <a:rPr lang="sv-SE" sz="1100" dirty="0">
                <a:solidFill>
                  <a:srgbClr val="000000"/>
                </a:solidFill>
              </a:rPr>
              <a:t>1/2 dl hackad persilja</a:t>
            </a:r>
            <a:br>
              <a:rPr lang="sv-SE" sz="1100" dirty="0"/>
            </a:br>
            <a:r>
              <a:rPr lang="sv-SE" sz="1100" dirty="0">
                <a:solidFill>
                  <a:srgbClr val="000000"/>
                </a:solidFill>
              </a:rPr>
              <a:t>1/2 dl </a:t>
            </a:r>
            <a:r>
              <a:rPr lang="sv-SE" sz="1100" err="1">
                <a:solidFill>
                  <a:srgbClr val="000000"/>
                </a:solidFill>
              </a:rPr>
              <a:t>creme</a:t>
            </a:r>
            <a:r>
              <a:rPr lang="sv-SE" sz="1100" dirty="0">
                <a:solidFill>
                  <a:srgbClr val="000000"/>
                </a:solidFill>
              </a:rPr>
              <a:t> fraiche</a:t>
            </a:r>
            <a:br>
              <a:rPr lang="sv-SE" sz="1100" dirty="0"/>
            </a:br>
            <a:r>
              <a:rPr lang="sv-SE" sz="1100" dirty="0">
                <a:solidFill>
                  <a:srgbClr val="000000"/>
                </a:solidFill>
              </a:rPr>
              <a:t>3 msk mango chutney</a:t>
            </a:r>
            <a:br>
              <a:rPr lang="sv-SE" sz="1100" dirty="0"/>
            </a:br>
            <a:r>
              <a:rPr lang="sv-SE" sz="1100" dirty="0">
                <a:solidFill>
                  <a:srgbClr val="000000"/>
                </a:solidFill>
              </a:rPr>
              <a:t>1/2 riven vitlöksklyfta</a:t>
            </a:r>
            <a:br>
              <a:rPr lang="sv-SE" sz="1100" dirty="0"/>
            </a:br>
            <a:r>
              <a:rPr lang="sv-SE" sz="1100" dirty="0">
                <a:solidFill>
                  <a:srgbClr val="000000"/>
                </a:solidFill>
              </a:rPr>
              <a:t>1 msk </a:t>
            </a:r>
            <a:r>
              <a:rPr lang="sv-SE" sz="1100" err="1">
                <a:solidFill>
                  <a:srgbClr val="000000"/>
                </a:solidFill>
              </a:rPr>
              <a:t>tandorikrydda</a:t>
            </a:r>
            <a:br>
              <a:rPr lang="sv-SE" sz="1100" dirty="0"/>
            </a:br>
            <a:r>
              <a:rPr lang="sv-SE" sz="1100" dirty="0">
                <a:solidFill>
                  <a:srgbClr val="000000"/>
                </a:solidFill>
              </a:rPr>
              <a:t>Salt och svartpeppar</a:t>
            </a:r>
            <a:br>
              <a:rPr lang="sv-SE" sz="1100" dirty="0"/>
            </a:br>
            <a:r>
              <a:rPr lang="sv-SE" sz="1100" dirty="0">
                <a:solidFill>
                  <a:srgbClr val="000000"/>
                </a:solidFill>
              </a:rPr>
              <a:t>50 g fetaost</a:t>
            </a:r>
            <a:br>
              <a:rPr lang="sv-SE" sz="1100" dirty="0"/>
            </a:br>
            <a:r>
              <a:rPr lang="sv-SE" sz="1100" dirty="0">
                <a:solidFill>
                  <a:srgbClr val="000000"/>
                </a:solidFill>
              </a:rPr>
              <a:t>1 dl granatäpplekärnor</a:t>
            </a:r>
            <a:br>
              <a:rPr lang="sv-SE" sz="1100" dirty="0"/>
            </a:br>
            <a:br>
              <a:rPr lang="sv-SE" sz="1100" dirty="0"/>
            </a:br>
            <a:r>
              <a:rPr lang="sv-SE" sz="1100" b="1" err="1">
                <a:solidFill>
                  <a:srgbClr val="000000"/>
                </a:solidFill>
              </a:rPr>
              <a:t>Topping</a:t>
            </a:r>
            <a:r>
              <a:rPr lang="sv-SE" sz="1100" b="1" dirty="0">
                <a:solidFill>
                  <a:srgbClr val="000000"/>
                </a:solidFill>
              </a:rPr>
              <a:t>: </a:t>
            </a:r>
            <a:r>
              <a:rPr lang="sv-SE" sz="1100" dirty="0">
                <a:solidFill>
                  <a:srgbClr val="000000"/>
                </a:solidFill>
              </a:rPr>
              <a:t>3 msk </a:t>
            </a:r>
            <a:r>
              <a:rPr lang="sv-SE" sz="1100" dirty="0">
                <a:solidFill>
                  <a:srgbClr val="FF0000"/>
                </a:solidFill>
              </a:rPr>
              <a:t>hackade</a:t>
            </a:r>
            <a:r>
              <a:rPr lang="sv-SE" sz="1100" dirty="0">
                <a:solidFill>
                  <a:srgbClr val="000000"/>
                </a:solidFill>
              </a:rPr>
              <a:t> pistagenötter, 1 dl granatäpplekärnor, 1/2 dl </a:t>
            </a:r>
            <a:r>
              <a:rPr lang="sv-SE" sz="1100" dirty="0">
                <a:solidFill>
                  <a:srgbClr val="FF0000"/>
                </a:solidFill>
              </a:rPr>
              <a:t>hackad</a:t>
            </a:r>
            <a:r>
              <a:rPr lang="sv-SE" sz="1100" dirty="0">
                <a:solidFill>
                  <a:srgbClr val="000000"/>
                </a:solidFill>
              </a:rPr>
              <a:t> persilja</a:t>
            </a:r>
            <a:br>
              <a:rPr lang="sv-SE" sz="1100" dirty="0"/>
            </a:br>
            <a:br>
              <a:rPr lang="sv-SE" sz="1100" dirty="0"/>
            </a:br>
            <a:r>
              <a:rPr lang="sv-SE" sz="1100" dirty="0">
                <a:solidFill>
                  <a:srgbClr val="000000"/>
                </a:solidFill>
              </a:rPr>
              <a:t>Sätt ugnen på 200 grader. Dela aubergine och skär ut aubergineköttet. Lägg aubergine på en plåt och ringla på olivolja och strö på örtagårdsgrydda. Sätt in i ugnen i 15 minuter. Skär kyckling i mindre bitar. Finhacka persilja. Blanda </a:t>
            </a:r>
            <a:r>
              <a:rPr lang="sv-SE" sz="1100" err="1">
                <a:solidFill>
                  <a:srgbClr val="000000"/>
                </a:solidFill>
              </a:rPr>
              <a:t>créme</a:t>
            </a:r>
            <a:r>
              <a:rPr lang="sv-SE" sz="1100" dirty="0">
                <a:solidFill>
                  <a:srgbClr val="000000"/>
                </a:solidFill>
              </a:rPr>
              <a:t> fraiche, mango chutney, vitlök. </a:t>
            </a:r>
            <a:r>
              <a:rPr lang="sv-SE" sz="1100" err="1">
                <a:solidFill>
                  <a:srgbClr val="000000"/>
                </a:solidFill>
              </a:rPr>
              <a:t>Tandorikrydda</a:t>
            </a:r>
            <a:r>
              <a:rPr lang="sv-SE" sz="1100" dirty="0">
                <a:solidFill>
                  <a:srgbClr val="000000"/>
                </a:solidFill>
              </a:rPr>
              <a:t>, kyckling och persilja i en skål. Smaka av med salt och peppar. Fördela röran i auberginehalvorna och toppa med smulad fetaost och granatäpple. Sätt in i ugnen i 15 minuter. Toppa med pistagenötter, granatäpplekärnor och persilja.</a:t>
            </a:r>
            <a:endParaRPr lang="sv-SE" sz="1100" dirty="0"/>
          </a:p>
        </p:txBody>
      </p:sp>
      <p:sp>
        <p:nvSpPr>
          <p:cNvPr id="5" name="Ellips 4">
            <a:extLst>
              <a:ext uri="{FF2B5EF4-FFF2-40B4-BE49-F238E27FC236}">
                <a16:creationId xmlns:a16="http://schemas.microsoft.com/office/drawing/2014/main" id="{0BEF8CB8-76C3-1A47-9C63-6C4FF4D2F882}"/>
              </a:ext>
            </a:extLst>
          </p:cNvPr>
          <p:cNvSpPr/>
          <p:nvPr/>
        </p:nvSpPr>
        <p:spPr>
          <a:xfrm>
            <a:off x="2449177" y="266257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573</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sp>
        <p:nvSpPr>
          <p:cNvPr id="6" name="Platshållare för sidfot 1">
            <a:extLst>
              <a:ext uri="{FF2B5EF4-FFF2-40B4-BE49-F238E27FC236}">
                <a16:creationId xmlns:a16="http://schemas.microsoft.com/office/drawing/2014/main" id="{EBA3E757-856A-5A44-9E34-AC5F8AEFFB40}"/>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3462147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9066057D-7128-7F4D-AE29-3067594DABCD}"/>
              </a:ext>
            </a:extLst>
          </p:cNvPr>
          <p:cNvSpPr>
            <a:spLocks noGrp="1"/>
          </p:cNvSpPr>
          <p:nvPr>
            <p:ph type="sldNum" sz="quarter" idx="12"/>
          </p:nvPr>
        </p:nvSpPr>
        <p:spPr/>
        <p:txBody>
          <a:bodyPr/>
          <a:lstStyle/>
          <a:p>
            <a:fld id="{97BA8967-5D92-4842-BAFB-0C8F679E5DC4}" type="slidenum">
              <a:rPr lang="sv-SE" smtClean="0"/>
              <a:t>8</a:t>
            </a:fld>
            <a:endParaRPr lang="sv-SE"/>
          </a:p>
        </p:txBody>
      </p:sp>
      <p:pic>
        <p:nvPicPr>
          <p:cNvPr id="6" name="Bildobjekt 5">
            <a:extLst>
              <a:ext uri="{FF2B5EF4-FFF2-40B4-BE49-F238E27FC236}">
                <a16:creationId xmlns:a16="http://schemas.microsoft.com/office/drawing/2014/main" id="{593E21FC-E43B-5D46-9E1A-948524D71F5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501039" y="758668"/>
            <a:ext cx="4587498" cy="3440624"/>
          </a:xfrm>
          <a:prstGeom prst="rect">
            <a:avLst/>
          </a:prstGeom>
        </p:spPr>
      </p:pic>
      <p:sp>
        <p:nvSpPr>
          <p:cNvPr id="7" name="Rektangel 6">
            <a:extLst>
              <a:ext uri="{FF2B5EF4-FFF2-40B4-BE49-F238E27FC236}">
                <a16:creationId xmlns:a16="http://schemas.microsoft.com/office/drawing/2014/main" id="{8E429C13-B698-AF4E-BE2B-27B914EA631F}"/>
              </a:ext>
            </a:extLst>
          </p:cNvPr>
          <p:cNvSpPr/>
          <p:nvPr/>
        </p:nvSpPr>
        <p:spPr>
          <a:xfrm>
            <a:off x="278954" y="1703871"/>
            <a:ext cx="6437624" cy="4832092"/>
          </a:xfrm>
          <a:prstGeom prst="rect">
            <a:avLst/>
          </a:prstGeom>
        </p:spPr>
        <p:txBody>
          <a:bodyPr wrap="square">
            <a:spAutoFit/>
          </a:bodyPr>
          <a:lstStyle/>
          <a:p>
            <a:r>
              <a:rPr lang="sv-SE" sz="1100" b="1" dirty="0">
                <a:solidFill>
                  <a:srgbClr val="000000"/>
                </a:solidFill>
              </a:rPr>
              <a:t>Rökt lax med blomkålsallad och </a:t>
            </a:r>
          </a:p>
          <a:p>
            <a:r>
              <a:rPr lang="sv-SE" sz="1100" b="1" dirty="0">
                <a:solidFill>
                  <a:srgbClr val="000000"/>
                </a:solidFill>
              </a:rPr>
              <a:t>citronyoghurt - 2 portioner</a:t>
            </a:r>
            <a:endParaRPr lang="sv-SE" sz="1100" dirty="0">
              <a:solidFill>
                <a:srgbClr val="000000"/>
              </a:solidFill>
            </a:endParaRPr>
          </a:p>
          <a:p>
            <a:r>
              <a:rPr lang="sv-SE" sz="1100" dirty="0">
                <a:solidFill>
                  <a:srgbClr val="000000"/>
                </a:solidFill>
              </a:rPr>
              <a:t>1/4 blomkålshuvud</a:t>
            </a:r>
          </a:p>
          <a:p>
            <a:r>
              <a:rPr lang="sv-SE" sz="1100" dirty="0">
                <a:solidFill>
                  <a:srgbClr val="000000"/>
                </a:solidFill>
              </a:rPr>
              <a:t>5 cm purjolök </a:t>
            </a:r>
          </a:p>
          <a:p>
            <a:r>
              <a:rPr lang="sv-SE" sz="1100" dirty="0">
                <a:solidFill>
                  <a:srgbClr val="000000"/>
                </a:solidFill>
              </a:rPr>
              <a:t>5 cocktailtomater</a:t>
            </a:r>
          </a:p>
          <a:p>
            <a:r>
              <a:rPr lang="sv-SE" sz="1100" dirty="0">
                <a:solidFill>
                  <a:srgbClr val="000000"/>
                </a:solidFill>
              </a:rPr>
              <a:t>1 avokado</a:t>
            </a:r>
          </a:p>
          <a:p>
            <a:r>
              <a:rPr lang="sv-SE" sz="1100" dirty="0">
                <a:solidFill>
                  <a:srgbClr val="000000"/>
                </a:solidFill>
              </a:rPr>
              <a:t>1 tsk olivolja</a:t>
            </a:r>
          </a:p>
          <a:p>
            <a:r>
              <a:rPr lang="sv-SE" sz="1100" dirty="0">
                <a:solidFill>
                  <a:srgbClr val="000000"/>
                </a:solidFill>
              </a:rPr>
              <a:t>Salt och peppar</a:t>
            </a:r>
          </a:p>
          <a:p>
            <a:r>
              <a:rPr lang="sv-SE" sz="1100" dirty="0">
                <a:solidFill>
                  <a:srgbClr val="000000"/>
                </a:solidFill>
              </a:rPr>
              <a:t>1/4 citron</a:t>
            </a:r>
          </a:p>
          <a:p>
            <a:r>
              <a:rPr lang="sv-SE" sz="1100" dirty="0">
                <a:solidFill>
                  <a:srgbClr val="000000"/>
                </a:solidFill>
              </a:rPr>
              <a:t>1 msk hackad dill </a:t>
            </a:r>
          </a:p>
          <a:p>
            <a:r>
              <a:rPr lang="sv-SE" sz="1100" dirty="0">
                <a:solidFill>
                  <a:srgbClr val="000000"/>
                </a:solidFill>
              </a:rPr>
              <a:t>1 dl rucolasallad</a:t>
            </a:r>
          </a:p>
          <a:p>
            <a:r>
              <a:rPr lang="sv-SE" sz="1100" dirty="0">
                <a:solidFill>
                  <a:srgbClr val="000000"/>
                </a:solidFill>
              </a:rPr>
              <a:t>100 g skivad rökt lax</a:t>
            </a:r>
          </a:p>
          <a:p>
            <a:endParaRPr lang="sv-SE" sz="1100" dirty="0">
              <a:solidFill>
                <a:srgbClr val="000000"/>
              </a:solidFill>
            </a:endParaRPr>
          </a:p>
          <a:p>
            <a:r>
              <a:rPr lang="sv-SE" sz="1100" b="1" dirty="0">
                <a:solidFill>
                  <a:srgbClr val="000000"/>
                </a:solidFill>
              </a:rPr>
              <a:t>Citronyoghurt</a:t>
            </a:r>
            <a:endParaRPr lang="sv-SE" sz="1100" dirty="0">
              <a:solidFill>
                <a:srgbClr val="000000"/>
              </a:solidFill>
            </a:endParaRPr>
          </a:p>
          <a:p>
            <a:r>
              <a:rPr lang="sv-SE" sz="1100" dirty="0">
                <a:solidFill>
                  <a:srgbClr val="000000"/>
                </a:solidFill>
              </a:rPr>
              <a:t>1/2 dl grekisk yoghurt </a:t>
            </a:r>
          </a:p>
          <a:p>
            <a:r>
              <a:rPr lang="sv-SE" sz="1100" dirty="0">
                <a:solidFill>
                  <a:srgbClr val="000000"/>
                </a:solidFill>
              </a:rPr>
              <a:t>1/4 </a:t>
            </a:r>
            <a:r>
              <a:rPr lang="sv-SE" sz="1100" dirty="0" err="1">
                <a:solidFill>
                  <a:srgbClr val="000000"/>
                </a:solidFill>
              </a:rPr>
              <a:t>ciron</a:t>
            </a:r>
            <a:r>
              <a:rPr lang="sv-SE" sz="1100" dirty="0">
                <a:solidFill>
                  <a:srgbClr val="000000"/>
                </a:solidFill>
              </a:rPr>
              <a:t> (zest)</a:t>
            </a:r>
          </a:p>
          <a:p>
            <a:r>
              <a:rPr lang="sv-SE" sz="1100" dirty="0">
                <a:solidFill>
                  <a:srgbClr val="000000"/>
                </a:solidFill>
              </a:rPr>
              <a:t>Salt och svartpeppar</a:t>
            </a:r>
            <a:br>
              <a:rPr lang="sv-SE" sz="1100" dirty="0">
                <a:solidFill>
                  <a:srgbClr val="000000"/>
                </a:solidFill>
              </a:rPr>
            </a:br>
            <a:endParaRPr lang="sv-SE" sz="1100" dirty="0">
              <a:solidFill>
                <a:srgbClr val="000000"/>
              </a:solidFill>
            </a:endParaRPr>
          </a:p>
          <a:p>
            <a:r>
              <a:rPr lang="sv-SE" sz="1100" b="1" dirty="0" err="1">
                <a:solidFill>
                  <a:srgbClr val="000000"/>
                </a:solidFill>
              </a:rPr>
              <a:t>Topping</a:t>
            </a:r>
            <a:r>
              <a:rPr lang="sv-SE" sz="1100" dirty="0">
                <a:solidFill>
                  <a:srgbClr val="000000"/>
                </a:solidFill>
              </a:rPr>
              <a:t>:</a:t>
            </a:r>
          </a:p>
          <a:p>
            <a:r>
              <a:rPr lang="sv-SE" sz="1100" dirty="0">
                <a:solidFill>
                  <a:srgbClr val="000000"/>
                </a:solidFill>
              </a:rPr>
              <a:t>Citronklyftor</a:t>
            </a:r>
          </a:p>
          <a:p>
            <a:r>
              <a:rPr lang="sv-SE" sz="1100" dirty="0">
                <a:solidFill>
                  <a:srgbClr val="000000"/>
                </a:solidFill>
              </a:rPr>
              <a:t>Dillkvist</a:t>
            </a:r>
            <a:br>
              <a:rPr lang="sv-SE" sz="1100" dirty="0">
                <a:solidFill>
                  <a:srgbClr val="000000"/>
                </a:solidFill>
              </a:rPr>
            </a:br>
            <a:endParaRPr lang="sv-SE" sz="1100" dirty="0">
              <a:solidFill>
                <a:srgbClr val="000000"/>
              </a:solidFill>
            </a:endParaRPr>
          </a:p>
          <a:p>
            <a:r>
              <a:rPr lang="sv-SE" sz="1100" dirty="0">
                <a:solidFill>
                  <a:srgbClr val="000000"/>
                </a:solidFill>
              </a:rPr>
              <a:t>Riv blomkål grovt. Strimla purjolök. Dela cocktailtomater på mitten. Tärna avokado.</a:t>
            </a:r>
          </a:p>
          <a:p>
            <a:r>
              <a:rPr lang="sv-SE" sz="1100" dirty="0">
                <a:solidFill>
                  <a:srgbClr val="000000"/>
                </a:solidFill>
              </a:rPr>
              <a:t>Blanda ner blomkål, purjolök tomater och avokado med olivolja, dill, citronsaft, salt och peppar i en skål. Lägg upp rucolasallad, rökt lax och citronklyftor på ett fat. Toppa med dillkvist. </a:t>
            </a:r>
          </a:p>
          <a:p>
            <a:r>
              <a:rPr lang="sv-SE" sz="1100" dirty="0">
                <a:solidFill>
                  <a:srgbClr val="000000"/>
                </a:solidFill>
              </a:rPr>
              <a:t>Riv citronskal med ett zestjärn. Blanda grekisk yoghurt i en skål med citronzest, salt och peppar. Servera blomkålsalladen med lax och citronyoghurt. </a:t>
            </a:r>
            <a:endParaRPr lang="sv-SE" sz="1100" dirty="0">
              <a:solidFill>
                <a:srgbClr val="000000"/>
              </a:solidFill>
              <a:effectLst/>
            </a:endParaRPr>
          </a:p>
        </p:txBody>
      </p:sp>
      <p:sp>
        <p:nvSpPr>
          <p:cNvPr id="8" name="Ellips 7">
            <a:extLst>
              <a:ext uri="{FF2B5EF4-FFF2-40B4-BE49-F238E27FC236}">
                <a16:creationId xmlns:a16="http://schemas.microsoft.com/office/drawing/2014/main" id="{38CDC480-8CF2-1E47-923F-BD1D6B3E5406}"/>
              </a:ext>
            </a:extLst>
          </p:cNvPr>
          <p:cNvSpPr/>
          <p:nvPr/>
        </p:nvSpPr>
        <p:spPr>
          <a:xfrm>
            <a:off x="1922303" y="268932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302</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9" name="textruta 8">
            <a:extLst>
              <a:ext uri="{FF2B5EF4-FFF2-40B4-BE49-F238E27FC236}">
                <a16:creationId xmlns:a16="http://schemas.microsoft.com/office/drawing/2014/main" id="{432E144A-36E2-2F45-8071-849FA6D3E1A2}"/>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10" name="Platshållare för sidfot 1">
            <a:extLst>
              <a:ext uri="{FF2B5EF4-FFF2-40B4-BE49-F238E27FC236}">
                <a16:creationId xmlns:a16="http://schemas.microsoft.com/office/drawing/2014/main" id="{F6961753-A9C9-DF4A-8A85-97C752E5F951}"/>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2175477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21A0C622-5BC3-AA43-A465-74FC13327BEE}"/>
              </a:ext>
            </a:extLst>
          </p:cNvPr>
          <p:cNvSpPr/>
          <p:nvPr/>
        </p:nvSpPr>
        <p:spPr>
          <a:xfrm>
            <a:off x="239168" y="1127708"/>
            <a:ext cx="6115137" cy="3985706"/>
          </a:xfrm>
          <a:prstGeom prst="rect">
            <a:avLst/>
          </a:prstGeom>
        </p:spPr>
        <p:txBody>
          <a:bodyPr wrap="square">
            <a:spAutoFit/>
          </a:bodyPr>
          <a:lstStyle/>
          <a:p>
            <a:r>
              <a:rPr lang="sv-SE" sz="1100" b="1" dirty="0">
                <a:solidFill>
                  <a:srgbClr val="000000"/>
                </a:solidFill>
              </a:rPr>
              <a:t>Lax med waldorfsallad - 2 portioner </a:t>
            </a:r>
            <a:endParaRPr lang="sv-SE" sz="1100" dirty="0">
              <a:solidFill>
                <a:srgbClr val="000000"/>
              </a:solidFill>
            </a:endParaRPr>
          </a:p>
          <a:p>
            <a:r>
              <a:rPr lang="sv-SE" sz="1100" dirty="0">
                <a:solidFill>
                  <a:srgbClr val="000000"/>
                </a:solidFill>
              </a:rPr>
              <a:t>1 liten rättika</a:t>
            </a:r>
          </a:p>
          <a:p>
            <a:r>
              <a:rPr lang="sv-SE" sz="1100" dirty="0">
                <a:solidFill>
                  <a:srgbClr val="000000"/>
                </a:solidFill>
              </a:rPr>
              <a:t>1 morot</a:t>
            </a:r>
          </a:p>
          <a:p>
            <a:r>
              <a:rPr lang="sv-SE" sz="1100" dirty="0">
                <a:solidFill>
                  <a:srgbClr val="000000"/>
                </a:solidFill>
              </a:rPr>
              <a:t>1/2 äpple</a:t>
            </a:r>
          </a:p>
          <a:p>
            <a:r>
              <a:rPr lang="sv-SE" sz="1100" dirty="0">
                <a:solidFill>
                  <a:srgbClr val="000000"/>
                </a:solidFill>
              </a:rPr>
              <a:t>1 selleristjälk</a:t>
            </a:r>
          </a:p>
          <a:p>
            <a:r>
              <a:rPr lang="sv-SE" sz="1100" dirty="0">
                <a:solidFill>
                  <a:srgbClr val="000000"/>
                </a:solidFill>
              </a:rPr>
              <a:t>2 msk  persilja</a:t>
            </a:r>
          </a:p>
          <a:p>
            <a:r>
              <a:rPr lang="sv-SE" sz="1100" dirty="0">
                <a:solidFill>
                  <a:srgbClr val="000000"/>
                </a:solidFill>
              </a:rPr>
              <a:t>1/2 dl valnötter</a:t>
            </a:r>
          </a:p>
          <a:p>
            <a:r>
              <a:rPr lang="sv-SE" sz="1100" dirty="0">
                <a:solidFill>
                  <a:srgbClr val="000000"/>
                </a:solidFill>
              </a:rPr>
              <a:t>1 msk majonnäs</a:t>
            </a:r>
          </a:p>
          <a:p>
            <a:r>
              <a:rPr lang="sv-SE" sz="1100" dirty="0">
                <a:solidFill>
                  <a:srgbClr val="000000"/>
                </a:solidFill>
              </a:rPr>
              <a:t>1 msk </a:t>
            </a:r>
            <a:r>
              <a:rPr lang="sv-SE" sz="1100" dirty="0" err="1">
                <a:solidFill>
                  <a:srgbClr val="000000"/>
                </a:solidFill>
              </a:rPr>
              <a:t>creme</a:t>
            </a:r>
            <a:r>
              <a:rPr lang="sv-SE" sz="1100" dirty="0">
                <a:solidFill>
                  <a:srgbClr val="000000"/>
                </a:solidFill>
              </a:rPr>
              <a:t> fraiche</a:t>
            </a:r>
          </a:p>
          <a:p>
            <a:r>
              <a:rPr lang="sv-SE" sz="1100" dirty="0">
                <a:solidFill>
                  <a:srgbClr val="000000"/>
                </a:solidFill>
              </a:rPr>
              <a:t>1 msk </a:t>
            </a:r>
            <a:r>
              <a:rPr lang="sv-SE" sz="1100" dirty="0" err="1">
                <a:solidFill>
                  <a:srgbClr val="000000"/>
                </a:solidFill>
              </a:rPr>
              <a:t>sötstark</a:t>
            </a:r>
            <a:r>
              <a:rPr lang="sv-SE" sz="1100" dirty="0">
                <a:solidFill>
                  <a:srgbClr val="000000"/>
                </a:solidFill>
              </a:rPr>
              <a:t> senap</a:t>
            </a:r>
          </a:p>
          <a:p>
            <a:r>
              <a:rPr lang="sv-SE" sz="1100" dirty="0">
                <a:solidFill>
                  <a:srgbClr val="000000"/>
                </a:solidFill>
              </a:rPr>
              <a:t>salt och svartpeppar</a:t>
            </a:r>
          </a:p>
          <a:p>
            <a:r>
              <a:rPr lang="sv-SE" sz="1100" dirty="0">
                <a:solidFill>
                  <a:srgbClr val="000000"/>
                </a:solidFill>
              </a:rPr>
              <a:t>300 g laxfilé</a:t>
            </a:r>
          </a:p>
          <a:p>
            <a:r>
              <a:rPr lang="sv-SE" sz="1100" dirty="0">
                <a:solidFill>
                  <a:srgbClr val="000000"/>
                </a:solidFill>
              </a:rPr>
              <a:t>1 tsk olivolja</a:t>
            </a:r>
          </a:p>
          <a:p>
            <a:r>
              <a:rPr lang="sv-SE" sz="1100" dirty="0">
                <a:solidFill>
                  <a:srgbClr val="000000"/>
                </a:solidFill>
              </a:rPr>
              <a:t>salt och svartpeppar</a:t>
            </a:r>
          </a:p>
          <a:p>
            <a:r>
              <a:rPr lang="sv-SE" sz="1100" dirty="0">
                <a:solidFill>
                  <a:srgbClr val="000000"/>
                </a:solidFill>
              </a:rPr>
              <a:t>1 hjärtsallad</a:t>
            </a:r>
          </a:p>
          <a:p>
            <a:endParaRPr lang="sv-SE" sz="1100" dirty="0">
              <a:solidFill>
                <a:srgbClr val="000000"/>
              </a:solidFill>
            </a:endParaRPr>
          </a:p>
          <a:p>
            <a:r>
              <a:rPr lang="sv-SE" sz="1100" b="1" dirty="0">
                <a:solidFill>
                  <a:srgbClr val="000000"/>
                </a:solidFill>
              </a:rPr>
              <a:t>Dekoration: </a:t>
            </a:r>
            <a:r>
              <a:rPr lang="sv-SE" sz="1100" dirty="0">
                <a:solidFill>
                  <a:srgbClr val="000000"/>
                </a:solidFill>
              </a:rPr>
              <a:t>citronklyftor och persiljekvistar</a:t>
            </a:r>
          </a:p>
          <a:p>
            <a:endParaRPr lang="sv-SE" sz="1100" dirty="0">
              <a:solidFill>
                <a:srgbClr val="000000"/>
              </a:solidFill>
            </a:endParaRPr>
          </a:p>
          <a:p>
            <a:r>
              <a:rPr lang="sv-SE" sz="1100" dirty="0">
                <a:solidFill>
                  <a:srgbClr val="000000"/>
                </a:solidFill>
              </a:rPr>
              <a:t>Skala och strimla rättika och morot i tunna stavar. Skär äpple och selleri i tunna stavar. Hacka persilja och valnötter. Lägg allt i en skål tillsammans med majonnäs, crème fraiche och senap. Salta och peppra. Dela laxen i två bitar. Hetta upp en stekpanna med olivolja. Stek laxen ett par min på var sida. Salta och peppra.  Lägg salladsblad på en tallrik. Placera waldorfsalladen på bladen tillsammans med lax. Strö på några valnötter på toppen. Dekorera med citronklyfta och persiljekvist. </a:t>
            </a:r>
            <a:endParaRPr lang="sv-SE" sz="1100" dirty="0">
              <a:solidFill>
                <a:srgbClr val="000000"/>
              </a:solidFill>
              <a:effectLst/>
            </a:endParaRPr>
          </a:p>
        </p:txBody>
      </p:sp>
      <p:sp>
        <p:nvSpPr>
          <p:cNvPr id="5" name="Platshållare för bildnummer 4">
            <a:extLst>
              <a:ext uri="{FF2B5EF4-FFF2-40B4-BE49-F238E27FC236}">
                <a16:creationId xmlns:a16="http://schemas.microsoft.com/office/drawing/2014/main" id="{94B654D3-8306-7B48-8A78-36578E70C071}"/>
              </a:ext>
            </a:extLst>
          </p:cNvPr>
          <p:cNvSpPr>
            <a:spLocks noGrp="1"/>
          </p:cNvSpPr>
          <p:nvPr>
            <p:ph type="sldNum" sz="quarter" idx="12"/>
          </p:nvPr>
        </p:nvSpPr>
        <p:spPr/>
        <p:txBody>
          <a:bodyPr/>
          <a:lstStyle/>
          <a:p>
            <a:fld id="{97BA8967-5D92-4842-BAFB-0C8F679E5DC4}" type="slidenum">
              <a:rPr lang="sv-SE" smtClean="0"/>
              <a:t>9</a:t>
            </a:fld>
            <a:endParaRPr lang="sv-SE" dirty="0"/>
          </a:p>
        </p:txBody>
      </p:sp>
      <p:sp>
        <p:nvSpPr>
          <p:cNvPr id="6" name="textruta 5">
            <a:extLst>
              <a:ext uri="{FF2B5EF4-FFF2-40B4-BE49-F238E27FC236}">
                <a16:creationId xmlns:a16="http://schemas.microsoft.com/office/drawing/2014/main" id="{2D5BE3DB-A1D5-C847-BF3B-3EADD99F7365}"/>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9" name="Ellips 8">
            <a:extLst>
              <a:ext uri="{FF2B5EF4-FFF2-40B4-BE49-F238E27FC236}">
                <a16:creationId xmlns:a16="http://schemas.microsoft.com/office/drawing/2014/main" id="{08AB6245-30B1-564A-ABED-5473A86477B4}"/>
              </a:ext>
            </a:extLst>
          </p:cNvPr>
          <p:cNvSpPr/>
          <p:nvPr/>
        </p:nvSpPr>
        <p:spPr>
          <a:xfrm>
            <a:off x="1954221" y="158937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555 kcal</a:t>
            </a:r>
            <a:endParaRPr sz="1200" b="1" dirty="0">
              <a:solidFill>
                <a:schemeClr val="bg1"/>
              </a:solidFill>
              <a:ea typeface="ＭＳ 明朝"/>
              <a:cs typeface="Avenir Light"/>
            </a:endParaRPr>
          </a:p>
        </p:txBody>
      </p:sp>
      <p:pic>
        <p:nvPicPr>
          <p:cNvPr id="10" name="Bildobjekt 9">
            <a:extLst>
              <a:ext uri="{FF2B5EF4-FFF2-40B4-BE49-F238E27FC236}">
                <a16:creationId xmlns:a16="http://schemas.microsoft.com/office/drawing/2014/main" id="{919D6FE8-9154-AF47-BB91-A66605D2B3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298874" y="676774"/>
            <a:ext cx="3886862" cy="2915146"/>
          </a:xfrm>
          <a:prstGeom prst="rect">
            <a:avLst/>
          </a:prstGeom>
        </p:spPr>
      </p:pic>
      <p:sp>
        <p:nvSpPr>
          <p:cNvPr id="13" name="Platshållare för sidfot 1">
            <a:extLst>
              <a:ext uri="{FF2B5EF4-FFF2-40B4-BE49-F238E27FC236}">
                <a16:creationId xmlns:a16="http://schemas.microsoft.com/office/drawing/2014/main" id="{05CF0E06-706A-E642-8CF1-78A8E0687EB1}"/>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
        <p:nvSpPr>
          <p:cNvPr id="19" name="Ellips 18">
            <a:extLst>
              <a:ext uri="{FF2B5EF4-FFF2-40B4-BE49-F238E27FC236}">
                <a16:creationId xmlns:a16="http://schemas.microsoft.com/office/drawing/2014/main" id="{E9D3BEE6-8CC3-C642-BB84-C218C12D7F58}"/>
              </a:ext>
            </a:extLst>
          </p:cNvPr>
          <p:cNvSpPr/>
          <p:nvPr/>
        </p:nvSpPr>
        <p:spPr>
          <a:xfrm>
            <a:off x="5143634" y="566211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160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1460706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ktangel 8">
            <a:extLst>
              <a:ext uri="{FF2B5EF4-FFF2-40B4-BE49-F238E27FC236}">
                <a16:creationId xmlns:a16="http://schemas.microsoft.com/office/drawing/2014/main" id="{6782627E-B7C0-4F4C-AD90-B6659A530033}"/>
              </a:ext>
            </a:extLst>
          </p:cNvPr>
          <p:cNvSpPr/>
          <p:nvPr/>
        </p:nvSpPr>
        <p:spPr>
          <a:xfrm>
            <a:off x="164670" y="1116842"/>
            <a:ext cx="6693330" cy="5170646"/>
          </a:xfrm>
          <a:prstGeom prst="rect">
            <a:avLst/>
          </a:prstGeom>
        </p:spPr>
        <p:txBody>
          <a:bodyPr wrap="square" lIns="91440" tIns="45720" rIns="91440" bIns="45720" anchor="t">
            <a:spAutoFit/>
          </a:bodyPr>
          <a:lstStyle/>
          <a:p>
            <a:r>
              <a:rPr lang="sv-SE" sz="1100" b="1" dirty="0">
                <a:solidFill>
                  <a:srgbClr val="000000"/>
                </a:solidFill>
              </a:rPr>
              <a:t>Hamburgare med hummus  - 2 portioner </a:t>
            </a:r>
            <a:endParaRPr lang="sv-SE" sz="1100" dirty="0">
              <a:solidFill>
                <a:srgbClr val="000000"/>
              </a:solidFill>
            </a:endParaRPr>
          </a:p>
          <a:p>
            <a:r>
              <a:rPr lang="sv-SE" sz="1100" dirty="0">
                <a:solidFill>
                  <a:srgbClr val="000000"/>
                </a:solidFill>
              </a:rPr>
              <a:t>1/2 dl konserverade kikärtor</a:t>
            </a:r>
          </a:p>
          <a:p>
            <a:r>
              <a:rPr lang="sv-SE" sz="1100" dirty="0">
                <a:solidFill>
                  <a:srgbClr val="000000"/>
                </a:solidFill>
              </a:rPr>
              <a:t>1/2 tsk olivolja</a:t>
            </a:r>
          </a:p>
          <a:p>
            <a:r>
              <a:rPr lang="sv-SE" sz="1100" dirty="0">
                <a:solidFill>
                  <a:srgbClr val="000000"/>
                </a:solidFill>
              </a:rPr>
              <a:t>1 krm paprikakrydda</a:t>
            </a:r>
          </a:p>
          <a:p>
            <a:r>
              <a:rPr lang="sv-SE" sz="1100" dirty="0">
                <a:solidFill>
                  <a:srgbClr val="000000"/>
                </a:solidFill>
              </a:rPr>
              <a:t>2 hjärtsalladshuvud</a:t>
            </a:r>
          </a:p>
          <a:p>
            <a:r>
              <a:rPr lang="sv-SE" sz="1100" dirty="0">
                <a:solidFill>
                  <a:srgbClr val="000000"/>
                </a:solidFill>
              </a:rPr>
              <a:t>2 stjälkselleri </a:t>
            </a:r>
          </a:p>
          <a:p>
            <a:r>
              <a:rPr lang="sv-SE" sz="1100" dirty="0">
                <a:solidFill>
                  <a:srgbClr val="000000"/>
                </a:solidFill>
              </a:rPr>
              <a:t>2 morötter</a:t>
            </a:r>
          </a:p>
          <a:p>
            <a:r>
              <a:rPr lang="sv-SE" sz="1100" dirty="0">
                <a:solidFill>
                  <a:srgbClr val="000000"/>
                </a:solidFill>
              </a:rPr>
              <a:t>1 tsk olivolja</a:t>
            </a:r>
          </a:p>
          <a:p>
            <a:r>
              <a:rPr lang="sv-SE" sz="1100" dirty="0">
                <a:solidFill>
                  <a:srgbClr val="000000"/>
                </a:solidFill>
              </a:rPr>
              <a:t>2 högrevsburgare á 150 g</a:t>
            </a:r>
          </a:p>
          <a:p>
            <a:r>
              <a:rPr lang="sv-SE" sz="1100" dirty="0">
                <a:solidFill>
                  <a:srgbClr val="000000"/>
                </a:solidFill>
              </a:rPr>
              <a:t>1 krm paprika krydda </a:t>
            </a:r>
          </a:p>
          <a:p>
            <a:r>
              <a:rPr lang="sv-SE" sz="1100" dirty="0">
                <a:solidFill>
                  <a:srgbClr val="000000"/>
                </a:solidFill>
              </a:rPr>
              <a:t>1 krm spiskummin</a:t>
            </a:r>
          </a:p>
          <a:p>
            <a:r>
              <a:rPr lang="sv-SE" sz="1100" dirty="0">
                <a:solidFill>
                  <a:srgbClr val="000000"/>
                </a:solidFill>
              </a:rPr>
              <a:t>1 krm curry</a:t>
            </a:r>
          </a:p>
          <a:p>
            <a:r>
              <a:rPr lang="sv-SE" sz="1100" dirty="0">
                <a:solidFill>
                  <a:srgbClr val="000000"/>
                </a:solidFill>
              </a:rPr>
              <a:t>salt och svartpeppar</a:t>
            </a:r>
          </a:p>
          <a:p>
            <a:endParaRPr lang="sv-SE" sz="1100" dirty="0">
              <a:solidFill>
                <a:srgbClr val="000000"/>
              </a:solidFill>
            </a:endParaRPr>
          </a:p>
          <a:p>
            <a:r>
              <a:rPr lang="sv-SE" sz="1100" b="1" dirty="0">
                <a:solidFill>
                  <a:srgbClr val="000000"/>
                </a:solidFill>
              </a:rPr>
              <a:t>Hummus</a:t>
            </a:r>
            <a:endParaRPr lang="sv-SE" sz="1100" dirty="0">
              <a:solidFill>
                <a:srgbClr val="000000"/>
              </a:solidFill>
            </a:endParaRPr>
          </a:p>
          <a:p>
            <a:r>
              <a:rPr lang="sv-SE" sz="1100" dirty="0">
                <a:solidFill>
                  <a:srgbClr val="000000"/>
                </a:solidFill>
              </a:rPr>
              <a:t>200 ml konserverade kikärtor</a:t>
            </a:r>
          </a:p>
          <a:p>
            <a:r>
              <a:rPr lang="sv-SE" sz="1100" dirty="0">
                <a:solidFill>
                  <a:srgbClr val="000000"/>
                </a:solidFill>
              </a:rPr>
              <a:t>½ vitlöksklyfta</a:t>
            </a:r>
          </a:p>
          <a:p>
            <a:r>
              <a:rPr lang="sv-SE" sz="1100" dirty="0">
                <a:solidFill>
                  <a:srgbClr val="000000"/>
                </a:solidFill>
              </a:rPr>
              <a:t>1/2 dl olivolja</a:t>
            </a:r>
          </a:p>
          <a:p>
            <a:r>
              <a:rPr lang="sv-SE" sz="1100" dirty="0">
                <a:solidFill>
                  <a:srgbClr val="000000"/>
                </a:solidFill>
              </a:rPr>
              <a:t>1/2 tsk curry</a:t>
            </a:r>
          </a:p>
          <a:p>
            <a:r>
              <a:rPr lang="sv-SE" sz="1100" dirty="0">
                <a:solidFill>
                  <a:srgbClr val="000000"/>
                </a:solidFill>
              </a:rPr>
              <a:t>salt och svartpeppar</a:t>
            </a:r>
          </a:p>
          <a:p>
            <a:endParaRPr lang="sv-SE" sz="1100" dirty="0">
              <a:solidFill>
                <a:srgbClr val="000000"/>
              </a:solidFill>
            </a:endParaRPr>
          </a:p>
          <a:p>
            <a:r>
              <a:rPr lang="sv-SE" sz="1100" b="1" dirty="0">
                <a:solidFill>
                  <a:srgbClr val="000000"/>
                </a:solidFill>
              </a:rPr>
              <a:t>Dekoration: </a:t>
            </a:r>
          </a:p>
          <a:p>
            <a:r>
              <a:rPr lang="sv-SE" sz="1100" dirty="0">
                <a:solidFill>
                  <a:srgbClr val="000000"/>
                </a:solidFill>
              </a:rPr>
              <a:t>2 msk </a:t>
            </a:r>
            <a:r>
              <a:rPr lang="sv-SE" sz="1100" dirty="0">
                <a:solidFill>
                  <a:srgbClr val="FF0000"/>
                </a:solidFill>
              </a:rPr>
              <a:t>hackad</a:t>
            </a:r>
            <a:r>
              <a:rPr lang="sv-SE" sz="1100" dirty="0">
                <a:solidFill>
                  <a:srgbClr val="000000"/>
                </a:solidFill>
              </a:rPr>
              <a:t> persilja,  citronklyftor</a:t>
            </a:r>
          </a:p>
          <a:p>
            <a:endParaRPr lang="sv-SE" sz="1100" dirty="0">
              <a:solidFill>
                <a:srgbClr val="000000"/>
              </a:solidFill>
            </a:endParaRPr>
          </a:p>
          <a:p>
            <a:r>
              <a:rPr lang="sv-SE" sz="1100" dirty="0">
                <a:solidFill>
                  <a:srgbClr val="000000"/>
                </a:solidFill>
              </a:rPr>
              <a:t>Sätt ugnen på 200 grader. Rosta kikärtor i ugn med paprikakrydda och olivolja 15 min. Ta ut ur ugn och låt rinna av på papper.  Skär loss bladen på hjärtsalladen. Skär selleri i stavar. Skala och skär morötter i stavar. Hetta upp en stekpanna med olivolja. Bryn burgarna ett par min på varje sida. Krydda med paprikakrydda, spiskummin, curry, salt och peppar. Låt kikärtorna rinna av i durkslag.  Mixa kikärtor i mixer eller med stavmixer. Skala och riv vitlök. Tillsätt olivolja, curry, salt och peppar. Lägg hamburgare på ett fat tillsammans med hummus och grönsaker. Dekorera med hackad persilja, ugnsrostade kikärtor och citronklyfta. </a:t>
            </a:r>
            <a:endParaRPr lang="sv-SE" sz="1100" dirty="0">
              <a:solidFill>
                <a:srgbClr val="000000"/>
              </a:solidFill>
              <a:effectLst/>
            </a:endParaRPr>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7" name="Ellips 6">
            <a:extLst>
              <a:ext uri="{FF2B5EF4-FFF2-40B4-BE49-F238E27FC236}">
                <a16:creationId xmlns:a16="http://schemas.microsoft.com/office/drawing/2014/main" id="{97B5000F-CC86-7D43-8B5F-D592E3C534F9}"/>
              </a:ext>
            </a:extLst>
          </p:cNvPr>
          <p:cNvSpPr/>
          <p:nvPr/>
        </p:nvSpPr>
        <p:spPr>
          <a:xfrm>
            <a:off x="2075049" y="175727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635kcal</a:t>
            </a:r>
            <a:endParaRPr sz="1200" b="1" dirty="0">
              <a:solidFill>
                <a:schemeClr val="bg1"/>
              </a:solidFill>
              <a:ea typeface="ＭＳ 明朝"/>
              <a:cs typeface="Avenir Light"/>
            </a:endParaRPr>
          </a:p>
        </p:txBody>
      </p:sp>
      <p:pic>
        <p:nvPicPr>
          <p:cNvPr id="10" name="Bildobjekt 9">
            <a:extLst>
              <a:ext uri="{FF2B5EF4-FFF2-40B4-BE49-F238E27FC236}">
                <a16:creationId xmlns:a16="http://schemas.microsoft.com/office/drawing/2014/main" id="{B57ED896-375E-4C48-9FD4-F1EDFFCD280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79818" y="736598"/>
            <a:ext cx="4110808" cy="3083106"/>
          </a:xfrm>
          <a:prstGeom prst="rect">
            <a:avLst/>
          </a:prstGeom>
        </p:spPr>
      </p:pic>
      <p:sp>
        <p:nvSpPr>
          <p:cNvPr id="12" name="Platshållare för sidfot 1">
            <a:extLst>
              <a:ext uri="{FF2B5EF4-FFF2-40B4-BE49-F238E27FC236}">
                <a16:creationId xmlns:a16="http://schemas.microsoft.com/office/drawing/2014/main" id="{DF7E9187-D805-1548-9982-0B3FAEBDFC0E}"/>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948757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9A473C6C-AB50-8D49-A05E-906425AFE944}"/>
              </a:ext>
            </a:extLst>
          </p:cNvPr>
          <p:cNvSpPr>
            <a:spLocks noGrp="1"/>
          </p:cNvSpPr>
          <p:nvPr>
            <p:ph type="sldNum" sz="quarter" idx="12"/>
          </p:nvPr>
        </p:nvSpPr>
        <p:spPr/>
        <p:txBody>
          <a:bodyPr/>
          <a:lstStyle/>
          <a:p>
            <a:fld id="{97BA8967-5D92-4842-BAFB-0C8F679E5DC4}" type="slidenum">
              <a:rPr lang="sv-SE" smtClean="0"/>
              <a:t>11</a:t>
            </a:fld>
            <a:endParaRPr lang="sv-SE"/>
          </a:p>
        </p:txBody>
      </p:sp>
      <p:sp>
        <p:nvSpPr>
          <p:cNvPr id="8" name="textruta 7">
            <a:extLst>
              <a:ext uri="{FF2B5EF4-FFF2-40B4-BE49-F238E27FC236}">
                <a16:creationId xmlns:a16="http://schemas.microsoft.com/office/drawing/2014/main" id="{2A1061FE-0206-D14D-A338-6477F2C2B02E}"/>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13" name="Rektangel 12">
            <a:extLst>
              <a:ext uri="{FF2B5EF4-FFF2-40B4-BE49-F238E27FC236}">
                <a16:creationId xmlns:a16="http://schemas.microsoft.com/office/drawing/2014/main" id="{49DB54D4-838D-264D-B4B6-8B85368E270B}"/>
              </a:ext>
            </a:extLst>
          </p:cNvPr>
          <p:cNvSpPr/>
          <p:nvPr/>
        </p:nvSpPr>
        <p:spPr>
          <a:xfrm>
            <a:off x="285023" y="1994926"/>
            <a:ext cx="3014017" cy="3477875"/>
          </a:xfrm>
          <a:prstGeom prst="rect">
            <a:avLst/>
          </a:prstGeom>
        </p:spPr>
        <p:txBody>
          <a:bodyPr wrap="square" lIns="91440" tIns="45720" rIns="91440" bIns="45720" anchor="t">
            <a:spAutoFit/>
          </a:bodyPr>
          <a:lstStyle/>
          <a:p>
            <a:r>
              <a:rPr lang="sv-SE" sz="1100" b="1" dirty="0">
                <a:cs typeface="Avenir Light"/>
              </a:rPr>
              <a:t>Mandel och citronpaj – 1 paj - cirka 8 bitar</a:t>
            </a:r>
            <a:endParaRPr lang="sv-SE" sz="1100" dirty="0">
              <a:cs typeface="Avenir Light"/>
            </a:endParaRPr>
          </a:p>
          <a:p>
            <a:r>
              <a:rPr lang="sv-SE" sz="1100" dirty="0">
                <a:cs typeface="Avenir Light"/>
              </a:rPr>
              <a:t>4 dl </a:t>
            </a:r>
            <a:r>
              <a:rPr lang="sv-SE" sz="1100" dirty="0" err="1">
                <a:cs typeface="Avenir Light"/>
              </a:rPr>
              <a:t>mandelmjöl</a:t>
            </a:r>
            <a:endParaRPr lang="sv-SE" sz="1100" dirty="0">
              <a:cs typeface="Avenir Light"/>
            </a:endParaRPr>
          </a:p>
          <a:p>
            <a:r>
              <a:rPr lang="sv-SE" sz="1100" dirty="0">
                <a:cs typeface="Avenir Light"/>
              </a:rPr>
              <a:t>1 tsk bakpulver</a:t>
            </a:r>
          </a:p>
          <a:p>
            <a:r>
              <a:rPr lang="sv-SE" sz="1100" dirty="0">
                <a:cs typeface="Avenir Light"/>
              </a:rPr>
              <a:t>2 ägg</a:t>
            </a:r>
          </a:p>
          <a:p>
            <a:r>
              <a:rPr lang="sv-SE" sz="1100" dirty="0">
                <a:cs typeface="Avenir Light"/>
              </a:rPr>
              <a:t>2 dl </a:t>
            </a:r>
            <a:r>
              <a:rPr lang="sv-SE" sz="1100" dirty="0" err="1">
                <a:cs typeface="Avenir Light"/>
              </a:rPr>
              <a:t>sukrin</a:t>
            </a:r>
            <a:endParaRPr lang="sv-SE" sz="1100" dirty="0">
              <a:cs typeface="Avenir Light"/>
            </a:endParaRPr>
          </a:p>
          <a:p>
            <a:r>
              <a:rPr lang="sv-SE" sz="1100" dirty="0">
                <a:cs typeface="Avenir Light"/>
              </a:rPr>
              <a:t>Zest och saft från 1 citron</a:t>
            </a:r>
          </a:p>
          <a:p>
            <a:r>
              <a:rPr lang="sv-SE" sz="1100" dirty="0">
                <a:cs typeface="Avenir Light"/>
              </a:rPr>
              <a:t>1 dl olivolja</a:t>
            </a:r>
          </a:p>
          <a:p>
            <a:r>
              <a:rPr lang="sv-SE" sz="1100" dirty="0">
                <a:cs typeface="Avenir Light"/>
              </a:rPr>
              <a:t>1 dl flagad mandel</a:t>
            </a:r>
          </a:p>
          <a:p>
            <a:endParaRPr lang="sv-SE" sz="1100" b="1" dirty="0">
              <a:cs typeface="Avenir Light"/>
            </a:endParaRPr>
          </a:p>
          <a:p>
            <a:r>
              <a:rPr lang="sv-SE" sz="1100" b="1" dirty="0">
                <a:cs typeface="Avenir Light"/>
              </a:rPr>
              <a:t>Tillbehör per portion:</a:t>
            </a:r>
            <a:r>
              <a:rPr lang="sv-SE" sz="1100" dirty="0">
                <a:cs typeface="Avenir Light"/>
              </a:rPr>
              <a:t> 2 msk </a:t>
            </a:r>
            <a:r>
              <a:rPr lang="sv-SE" sz="1100" dirty="0">
                <a:solidFill>
                  <a:srgbClr val="FF0000"/>
                </a:solidFill>
                <a:cs typeface="Avenir Light"/>
              </a:rPr>
              <a:t>vispad</a:t>
            </a:r>
            <a:r>
              <a:rPr lang="sv-SE" sz="1100" dirty="0">
                <a:cs typeface="Avenir Light"/>
              </a:rPr>
              <a:t> grädde och 2 färska jordgubbar</a:t>
            </a:r>
          </a:p>
          <a:p>
            <a:endParaRPr lang="sv-SE" sz="1100" dirty="0">
              <a:cs typeface="Avenir Light"/>
            </a:endParaRPr>
          </a:p>
          <a:p>
            <a:pPr lvl="0"/>
            <a:r>
              <a:rPr lang="sv-SE" sz="1100" dirty="0">
                <a:cs typeface="Avenir Light"/>
              </a:rPr>
              <a:t>Sätt på ugnen på 200 grader. Blanda </a:t>
            </a:r>
            <a:r>
              <a:rPr lang="sv-SE" sz="1100" dirty="0" err="1">
                <a:cs typeface="Avenir Light"/>
              </a:rPr>
              <a:t>mandelmjöl</a:t>
            </a:r>
            <a:r>
              <a:rPr lang="sv-SE" sz="1100" dirty="0">
                <a:cs typeface="Avenir Light"/>
              </a:rPr>
              <a:t> och bakpulver i en skål. Vispa ihop ägg och </a:t>
            </a:r>
            <a:r>
              <a:rPr lang="sv-SE" sz="1100" dirty="0" err="1">
                <a:cs typeface="Avenir Light"/>
              </a:rPr>
              <a:t>sukrin</a:t>
            </a:r>
            <a:r>
              <a:rPr lang="sv-SE" sz="1100" dirty="0">
                <a:cs typeface="Avenir Light"/>
              </a:rPr>
              <a:t> i en annan skål och blanda ner mandelmjölet. Tillsätt citronzest och juice. Häll på olja och bred ut smeten i en liten avlång pajform med avtagbar kant. Strö på flagad mandel och sätt in i mitten på ugnen i cirka 20 min. Servera med en klick grädde och färska jordgubbar.</a:t>
            </a:r>
          </a:p>
        </p:txBody>
      </p:sp>
      <p:sp>
        <p:nvSpPr>
          <p:cNvPr id="14" name="Ellips 13">
            <a:extLst>
              <a:ext uri="{FF2B5EF4-FFF2-40B4-BE49-F238E27FC236}">
                <a16:creationId xmlns:a16="http://schemas.microsoft.com/office/drawing/2014/main" id="{97FDF21D-D0CE-574A-93E8-A4CB35FE890C}"/>
              </a:ext>
            </a:extLst>
          </p:cNvPr>
          <p:cNvSpPr/>
          <p:nvPr/>
        </p:nvSpPr>
        <p:spPr>
          <a:xfrm>
            <a:off x="1984321" y="240683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425kcal</a:t>
            </a:r>
            <a:endParaRPr sz="1200" b="1" dirty="0">
              <a:solidFill>
                <a:schemeClr val="bg1"/>
              </a:solidFill>
              <a:ea typeface="ＭＳ 明朝"/>
              <a:cs typeface="Avenir Light"/>
            </a:endParaRPr>
          </a:p>
        </p:txBody>
      </p:sp>
      <p:pic>
        <p:nvPicPr>
          <p:cNvPr id="15" name="Bildobjekt 14">
            <a:extLst>
              <a:ext uri="{FF2B5EF4-FFF2-40B4-BE49-F238E27FC236}">
                <a16:creationId xmlns:a16="http://schemas.microsoft.com/office/drawing/2014/main" id="{6760573E-713D-CF44-ADAC-B4432AAE03D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25554" y="368601"/>
            <a:ext cx="3178691" cy="4238255"/>
          </a:xfrm>
          <a:prstGeom prst="rect">
            <a:avLst/>
          </a:prstGeom>
        </p:spPr>
      </p:pic>
      <p:sp>
        <p:nvSpPr>
          <p:cNvPr id="3" name="textruta 2">
            <a:extLst>
              <a:ext uri="{FF2B5EF4-FFF2-40B4-BE49-F238E27FC236}">
                <a16:creationId xmlns:a16="http://schemas.microsoft.com/office/drawing/2014/main" id="{586DA618-0A42-5F47-AF99-A2947C374D21}"/>
              </a:ext>
            </a:extLst>
          </p:cNvPr>
          <p:cNvSpPr txBox="1"/>
          <p:nvPr/>
        </p:nvSpPr>
        <p:spPr>
          <a:xfrm>
            <a:off x="1097204" y="5724585"/>
            <a:ext cx="1351973" cy="369332"/>
          </a:xfrm>
          <a:prstGeom prst="rect">
            <a:avLst/>
          </a:prstGeom>
          <a:noFill/>
        </p:spPr>
        <p:txBody>
          <a:bodyPr wrap="none" rtlCol="0">
            <a:spAutoFit/>
          </a:bodyPr>
          <a:lstStyle/>
          <a:p>
            <a:r>
              <a:rPr lang="sv-SE" dirty="0"/>
              <a:t>14 </a:t>
            </a:r>
            <a:r>
              <a:rPr lang="sv-SE" dirty="0" err="1"/>
              <a:t>days</a:t>
            </a:r>
            <a:r>
              <a:rPr lang="sv-SE" dirty="0"/>
              <a:t> </a:t>
            </a:r>
            <a:r>
              <a:rPr lang="sv-SE" dirty="0" err="1"/>
              <a:t>keto</a:t>
            </a:r>
            <a:endParaRPr lang="sv-SE" dirty="0"/>
          </a:p>
        </p:txBody>
      </p:sp>
      <p:sp>
        <p:nvSpPr>
          <p:cNvPr id="16" name="Platshållare för sidfot 1">
            <a:extLst>
              <a:ext uri="{FF2B5EF4-FFF2-40B4-BE49-F238E27FC236}">
                <a16:creationId xmlns:a16="http://schemas.microsoft.com/office/drawing/2014/main" id="{D2ACF9CC-B3AA-8D45-AA2A-B826ACF3C328}"/>
              </a:ext>
            </a:extLst>
          </p:cNvPr>
          <p:cNvSpPr>
            <a:spLocks noGrp="1"/>
          </p:cNvSpPr>
          <p:nvPr>
            <p:ph type="ftr" sz="quarter" idx="11"/>
          </p:nvPr>
        </p:nvSpPr>
        <p:spPr>
          <a:xfrm>
            <a:off x="1506500" y="8497384"/>
            <a:ext cx="3963599" cy="911286"/>
          </a:xfrm>
        </p:spPr>
        <p:txBody>
          <a:bodyPr/>
          <a:lstStyle/>
          <a:p>
            <a:r>
              <a:rPr lang="sv-SE" sz="900" dirty="0"/>
              <a:t>FUNCTIONAL FOODS BASKURS ● RECEPT  ● VECKA 3</a:t>
            </a:r>
          </a:p>
        </p:txBody>
      </p:sp>
    </p:spTree>
    <p:extLst>
      <p:ext uri="{BB962C8B-B14F-4D97-AF65-F5344CB8AC3E}">
        <p14:creationId xmlns:p14="http://schemas.microsoft.com/office/powerpoint/2010/main" val="662177389"/>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465726</TotalTime>
  <Words>1823</Words>
  <Application>Microsoft Macintosh PowerPoint</Application>
  <PresentationFormat>Bildspel på skärmen (4:3)</PresentationFormat>
  <Paragraphs>261</Paragraphs>
  <Slides>11</Slides>
  <Notes>2</Notes>
  <HiddenSlides>0</HiddenSlides>
  <MMClips>0</MMClips>
  <ScaleCrop>false</ScaleCrop>
  <HeadingPairs>
    <vt:vector size="6" baseType="variant">
      <vt:variant>
        <vt:lpstr>Använt teckensnitt</vt:lpstr>
      </vt:variant>
      <vt:variant>
        <vt:i4>11</vt:i4>
      </vt:variant>
      <vt:variant>
        <vt:lpstr>Tema</vt:lpstr>
      </vt:variant>
      <vt:variant>
        <vt:i4>1</vt:i4>
      </vt:variant>
      <vt:variant>
        <vt:lpstr>Bildrubriker</vt:lpstr>
      </vt:variant>
      <vt:variant>
        <vt:i4>11</vt:i4>
      </vt:variant>
    </vt:vector>
  </HeadingPairs>
  <TitlesOfParts>
    <vt:vector size="23" baseType="lpstr">
      <vt:lpstr>Arial Unicode MS</vt:lpstr>
      <vt:lpstr>ＭＳ 明朝</vt:lpstr>
      <vt:lpstr>ＭＳ 明朝</vt:lpstr>
      <vt:lpstr>Arial</vt:lpstr>
      <vt:lpstr>Avenir Light</vt:lpstr>
      <vt:lpstr>BigCaslonFB</vt:lpstr>
      <vt:lpstr>Calibri</vt:lpstr>
      <vt:lpstr>DejaVuSansMono</vt:lpstr>
      <vt:lpstr>Helvetica</vt:lpstr>
      <vt:lpstr>Helvetica Neue</vt:lpstr>
      <vt:lpstr>Times New Roman</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1035</cp:revision>
  <cp:lastPrinted>2017-09-05T09:39:57Z</cp:lastPrinted>
  <dcterms:created xsi:type="dcterms:W3CDTF">2016-08-21T13:21:42Z</dcterms:created>
  <dcterms:modified xsi:type="dcterms:W3CDTF">2025-02-14T11:48:01Z</dcterms:modified>
</cp:coreProperties>
</file>