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7" r:id="rId2"/>
    <p:sldId id="499" r:id="rId3"/>
    <p:sldId id="504" r:id="rId4"/>
    <p:sldId id="502" r:id="rId5"/>
    <p:sldId id="501" r:id="rId6"/>
    <p:sldId id="449" r:id="rId7"/>
    <p:sldId id="497" r:id="rId8"/>
    <p:sldId id="446" r:id="rId9"/>
    <p:sldId id="503" r:id="rId10"/>
    <p:sldId id="463" r:id="rId11"/>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BCC2A0-CB1F-4CE8-94FF-2215775FA38A}" v="4" dt="2025-06-25T14:22:52.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30" autoAdjust="0"/>
    <p:restoredTop sz="94760" autoAdjust="0"/>
  </p:normalViewPr>
  <p:slideViewPr>
    <p:cSldViewPr snapToGrid="0" snapToObjects="1">
      <p:cViewPr varScale="1">
        <p:scale>
          <a:sx n="82" d="100"/>
          <a:sy n="82" d="100"/>
        </p:scale>
        <p:origin x="2696"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Jungåker" userId="Jp51DZr2S3O2Kq/fECI9vz/Rf/nX3kiUVMBM7w9AVas=" providerId="None" clId="Web-{559F14DD-DF96-48DC-947E-BD17F25DC579}"/>
    <pc:docChg chg="modSld">
      <pc:chgData name="Paula Jungåker" userId="Jp51DZr2S3O2Kq/fECI9vz/Rf/nX3kiUVMBM7w9AVas=" providerId="None" clId="Web-{559F14DD-DF96-48DC-947E-BD17F25DC579}" dt="2025-02-06T17:20:37.593" v="16" actId="20577"/>
      <pc:docMkLst>
        <pc:docMk/>
      </pc:docMkLst>
      <pc:sldChg chg="modSp">
        <pc:chgData name="Paula Jungåker" userId="Jp51DZr2S3O2Kq/fECI9vz/Rf/nX3kiUVMBM7w9AVas=" providerId="None" clId="Web-{559F14DD-DF96-48DC-947E-BD17F25DC579}" dt="2025-02-06T17:17:07.743" v="1" actId="20577"/>
        <pc:sldMkLst>
          <pc:docMk/>
          <pc:sldMk cId="3788094998" sldId="257"/>
        </pc:sldMkLst>
        <pc:spChg chg="mod">
          <ac:chgData name="Paula Jungåker" userId="Jp51DZr2S3O2Kq/fECI9vz/Rf/nX3kiUVMBM7w9AVas=" providerId="None" clId="Web-{559F14DD-DF96-48DC-947E-BD17F25DC579}" dt="2025-02-06T17:17:07.743" v="1" actId="20577"/>
          <ac:spMkLst>
            <pc:docMk/>
            <pc:sldMk cId="3788094998" sldId="257"/>
            <ac:spMk id="16" creationId="{E16F5AE8-9623-A049-8F89-CF6A3C8F489D}"/>
          </ac:spMkLst>
        </pc:spChg>
      </pc:sldChg>
      <pc:sldChg chg="modSp">
        <pc:chgData name="Paula Jungåker" userId="Jp51DZr2S3O2Kq/fECI9vz/Rf/nX3kiUVMBM7w9AVas=" providerId="None" clId="Web-{559F14DD-DF96-48DC-947E-BD17F25DC579}" dt="2025-02-06T17:19:56.061" v="13" actId="20577"/>
        <pc:sldMkLst>
          <pc:docMk/>
          <pc:sldMk cId="948757422" sldId="446"/>
        </pc:sldMkLst>
        <pc:spChg chg="mod">
          <ac:chgData name="Paula Jungåker" userId="Jp51DZr2S3O2Kq/fECI9vz/Rf/nX3kiUVMBM7w9AVas=" providerId="None" clId="Web-{559F14DD-DF96-48DC-947E-BD17F25DC579}" dt="2025-02-06T17:19:56.061" v="13" actId="20577"/>
          <ac:spMkLst>
            <pc:docMk/>
            <pc:sldMk cId="948757422" sldId="446"/>
            <ac:spMk id="13" creationId="{47376DE1-57CF-DA41-9DB3-FF08498E3F46}"/>
          </ac:spMkLst>
        </pc:spChg>
      </pc:sldChg>
      <pc:sldChg chg="modSp">
        <pc:chgData name="Paula Jungåker" userId="Jp51DZr2S3O2Kq/fECI9vz/Rf/nX3kiUVMBM7w9AVas=" providerId="None" clId="Web-{559F14DD-DF96-48DC-947E-BD17F25DC579}" dt="2025-02-06T17:19:03.934" v="7" actId="20577"/>
        <pc:sldMkLst>
          <pc:docMk/>
          <pc:sldMk cId="883022053" sldId="449"/>
        </pc:sldMkLst>
        <pc:spChg chg="mod">
          <ac:chgData name="Paula Jungåker" userId="Jp51DZr2S3O2Kq/fECI9vz/Rf/nX3kiUVMBM7w9AVas=" providerId="None" clId="Web-{559F14DD-DF96-48DC-947E-BD17F25DC579}" dt="2025-02-06T17:19:03.934" v="7" actId="20577"/>
          <ac:spMkLst>
            <pc:docMk/>
            <pc:sldMk cId="883022053" sldId="449"/>
            <ac:spMk id="9" creationId="{29F42726-9BC5-1843-9E33-157AE839E2F3}"/>
          </ac:spMkLst>
        </pc:spChg>
      </pc:sldChg>
      <pc:sldChg chg="modSp">
        <pc:chgData name="Paula Jungåker" userId="Jp51DZr2S3O2Kq/fECI9vz/Rf/nX3kiUVMBM7w9AVas=" providerId="None" clId="Web-{559F14DD-DF96-48DC-947E-BD17F25DC579}" dt="2025-02-06T17:19:44.842" v="12" actId="20577"/>
        <pc:sldMkLst>
          <pc:docMk/>
          <pc:sldMk cId="1460706751" sldId="497"/>
        </pc:sldMkLst>
        <pc:spChg chg="mod">
          <ac:chgData name="Paula Jungåker" userId="Jp51DZr2S3O2Kq/fECI9vz/Rf/nX3kiUVMBM7w9AVas=" providerId="None" clId="Web-{559F14DD-DF96-48DC-947E-BD17F25DC579}" dt="2025-02-06T17:19:44.842" v="12" actId="20577"/>
          <ac:spMkLst>
            <pc:docMk/>
            <pc:sldMk cId="1460706751" sldId="497"/>
            <ac:spMk id="11" creationId="{27B4467F-4054-164B-8B1D-FF80DF13FB72}"/>
          </ac:spMkLst>
        </pc:spChg>
      </pc:sldChg>
      <pc:sldChg chg="modSp">
        <pc:chgData name="Paula Jungåker" userId="Jp51DZr2S3O2Kq/fECI9vz/Rf/nX3kiUVMBM7w9AVas=" providerId="None" clId="Web-{559F14DD-DF96-48DC-947E-BD17F25DC579}" dt="2025-02-06T17:17:47.775" v="2" actId="20577"/>
        <pc:sldMkLst>
          <pc:docMk/>
          <pc:sldMk cId="4005331481" sldId="499"/>
        </pc:sldMkLst>
        <pc:spChg chg="mod">
          <ac:chgData name="Paula Jungåker" userId="Jp51DZr2S3O2Kq/fECI9vz/Rf/nX3kiUVMBM7w9AVas=" providerId="None" clId="Web-{559F14DD-DF96-48DC-947E-BD17F25DC579}" dt="2025-02-06T17:17:47.775" v="2" actId="20577"/>
          <ac:spMkLst>
            <pc:docMk/>
            <pc:sldMk cId="4005331481" sldId="499"/>
            <ac:spMk id="6" creationId="{9EFB7AEB-8A99-664E-9628-70D8F74ECD94}"/>
          </ac:spMkLst>
        </pc:spChg>
      </pc:sldChg>
      <pc:sldChg chg="modSp">
        <pc:chgData name="Paula Jungåker" userId="Jp51DZr2S3O2Kq/fECI9vz/Rf/nX3kiUVMBM7w9AVas=" providerId="None" clId="Web-{559F14DD-DF96-48DC-947E-BD17F25DC579}" dt="2025-02-06T17:18:30.589" v="4" actId="20577"/>
        <pc:sldMkLst>
          <pc:docMk/>
          <pc:sldMk cId="3123923809" sldId="501"/>
        </pc:sldMkLst>
        <pc:spChg chg="mod">
          <ac:chgData name="Paula Jungåker" userId="Jp51DZr2S3O2Kq/fECI9vz/Rf/nX3kiUVMBM7w9AVas=" providerId="None" clId="Web-{559F14DD-DF96-48DC-947E-BD17F25DC579}" dt="2025-02-06T17:18:30.589" v="4" actId="20577"/>
          <ac:spMkLst>
            <pc:docMk/>
            <pc:sldMk cId="3123923809" sldId="501"/>
            <ac:spMk id="14" creationId="{BC6CE3CB-A0C6-124B-99D5-2FBC9FF03830}"/>
          </ac:spMkLst>
        </pc:spChg>
      </pc:sldChg>
      <pc:sldChg chg="modSp">
        <pc:chgData name="Paula Jungåker" userId="Jp51DZr2S3O2Kq/fECI9vz/Rf/nX3kiUVMBM7w9AVas=" providerId="None" clId="Web-{559F14DD-DF96-48DC-947E-BD17F25DC579}" dt="2025-02-06T17:18:12.292" v="3" actId="20577"/>
        <pc:sldMkLst>
          <pc:docMk/>
          <pc:sldMk cId="698166287" sldId="502"/>
        </pc:sldMkLst>
        <pc:spChg chg="mod">
          <ac:chgData name="Paula Jungåker" userId="Jp51DZr2S3O2Kq/fECI9vz/Rf/nX3kiUVMBM7w9AVas=" providerId="None" clId="Web-{559F14DD-DF96-48DC-947E-BD17F25DC579}" dt="2025-02-06T17:18:12.292" v="3" actId="20577"/>
          <ac:spMkLst>
            <pc:docMk/>
            <pc:sldMk cId="698166287" sldId="502"/>
            <ac:spMk id="5" creationId="{AD38A2C1-13C1-9A4A-83BC-B662E025172D}"/>
          </ac:spMkLst>
        </pc:spChg>
      </pc:sldChg>
      <pc:sldChg chg="modSp">
        <pc:chgData name="Paula Jungåker" userId="Jp51DZr2S3O2Kq/fECI9vz/Rf/nX3kiUVMBM7w9AVas=" providerId="None" clId="Web-{559F14DD-DF96-48DC-947E-BD17F25DC579}" dt="2025-02-06T17:20:37.593" v="16" actId="20577"/>
        <pc:sldMkLst>
          <pc:docMk/>
          <pc:sldMk cId="2038151674" sldId="503"/>
        </pc:sldMkLst>
        <pc:spChg chg="mod">
          <ac:chgData name="Paula Jungåker" userId="Jp51DZr2S3O2Kq/fECI9vz/Rf/nX3kiUVMBM7w9AVas=" providerId="None" clId="Web-{559F14DD-DF96-48DC-947E-BD17F25DC579}" dt="2025-02-06T17:20:37.593" v="16" actId="20577"/>
          <ac:spMkLst>
            <pc:docMk/>
            <pc:sldMk cId="2038151674" sldId="503"/>
            <ac:spMk id="12" creationId="{C555E48B-FA8F-5B4E-8991-3688DBC73B8F}"/>
          </ac:spMkLst>
        </pc:spChg>
      </pc:sldChg>
    </pc:docChg>
  </pc:docChgLst>
  <pc:docChgLst>
    <pc:chgData name="Paula Jungåker" userId="Jp51DZr2S3O2Kq/fECI9vz/Rf/nX3kiUVMBM7w9AVas=" providerId="None" clId="Web-{ECBCC2A0-CB1F-4CE8-94FF-2215775FA38A}"/>
    <pc:docChg chg="modSld">
      <pc:chgData name="Paula Jungåker" userId="Jp51DZr2S3O2Kq/fECI9vz/Rf/nX3kiUVMBM7w9AVas=" providerId="None" clId="Web-{ECBCC2A0-CB1F-4CE8-94FF-2215775FA38A}" dt="2025-06-25T14:22:48.894" v="0" actId="20577"/>
      <pc:docMkLst>
        <pc:docMk/>
      </pc:docMkLst>
      <pc:sldChg chg="modSp">
        <pc:chgData name="Paula Jungåker" userId="Jp51DZr2S3O2Kq/fECI9vz/Rf/nX3kiUVMBM7w9AVas=" providerId="None" clId="Web-{ECBCC2A0-CB1F-4CE8-94FF-2215775FA38A}" dt="2025-06-25T14:22:48.894" v="0" actId="20577"/>
        <pc:sldMkLst>
          <pc:docMk/>
          <pc:sldMk cId="2038151674" sldId="503"/>
        </pc:sldMkLst>
        <pc:spChg chg="mod">
          <ac:chgData name="Paula Jungåker" userId="Jp51DZr2S3O2Kq/fECI9vz/Rf/nX3kiUVMBM7w9AVas=" providerId="None" clId="Web-{ECBCC2A0-CB1F-4CE8-94FF-2215775FA38A}" dt="2025-06-25T14:22:48.894" v="0" actId="20577"/>
          <ac:spMkLst>
            <pc:docMk/>
            <pc:sldMk cId="2038151674" sldId="503"/>
            <ac:spMk id="12" creationId="{C555E48B-FA8F-5B4E-8991-3688DBC73B8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2025-06-25</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251403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3332051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2025-06-25</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2025-06-25</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2025-06-25</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2025-06-25</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2025-06-25</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2025-06-25</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2025-06-25</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2025-06-25</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2025-06-25</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2025-06-25</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2025-06-25</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2025-06-25</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5</a:t>
            </a:r>
          </a:p>
          <a:p>
            <a:r>
              <a:rPr lang="sv-SE" sz="2800" dirty="0" err="1">
                <a:latin typeface="BigCaslonFB" panose="02000603080000020003" pitchFamily="50" charset="0"/>
              </a:rPr>
              <a:t>Functional</a:t>
            </a:r>
            <a:r>
              <a:rPr lang="sv-SE" sz="2800" dirty="0">
                <a:latin typeface="BigCaslonFB" panose="02000603080000020003" pitchFamily="50" charset="0"/>
              </a:rPr>
              <a:t> Foods</a:t>
            </a: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22" name="Ellips 21">
            <a:extLst>
              <a:ext uri="{FF2B5EF4-FFF2-40B4-BE49-F238E27FC236}">
                <a16:creationId xmlns:a16="http://schemas.microsoft.com/office/drawing/2014/main" id="{4092D12D-9A98-7844-8117-FBBAD82A9935}"/>
              </a:ext>
            </a:extLst>
          </p:cNvPr>
          <p:cNvSpPr/>
          <p:nvPr/>
        </p:nvSpPr>
        <p:spPr>
          <a:xfrm>
            <a:off x="1775144" y="354925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440kcal</a:t>
            </a:r>
            <a:endParaRPr sz="1200" b="1" dirty="0">
              <a:ea typeface="ＭＳ 明朝"/>
              <a:cs typeface="Avenir Light"/>
            </a:endParaRPr>
          </a:p>
        </p:txBody>
      </p:sp>
      <p:sp>
        <p:nvSpPr>
          <p:cNvPr id="16" name="Rektangel 15">
            <a:extLst>
              <a:ext uri="{FF2B5EF4-FFF2-40B4-BE49-F238E27FC236}">
                <a16:creationId xmlns:a16="http://schemas.microsoft.com/office/drawing/2014/main" id="{E16F5AE8-9623-A049-8F89-CF6A3C8F489D}"/>
              </a:ext>
            </a:extLst>
          </p:cNvPr>
          <p:cNvSpPr/>
          <p:nvPr/>
        </p:nvSpPr>
        <p:spPr>
          <a:xfrm>
            <a:off x="177174" y="2181632"/>
            <a:ext cx="2059571" cy="1277273"/>
          </a:xfrm>
          <a:prstGeom prst="rect">
            <a:avLst/>
          </a:prstGeom>
        </p:spPr>
        <p:txBody>
          <a:bodyPr wrap="square" lIns="91440" tIns="45720" rIns="91440" bIns="45720" anchor="t">
            <a:spAutoFit/>
          </a:bodyPr>
          <a:lstStyle/>
          <a:p>
            <a:r>
              <a:rPr lang="sv-SE" sz="1100" b="1" dirty="0">
                <a:solidFill>
                  <a:srgbClr val="FF0000"/>
                </a:solidFill>
                <a:latin typeface="DejaVuSansMono"/>
              </a:rPr>
              <a:t>Yoghurt med </a:t>
            </a:r>
            <a:r>
              <a:rPr lang="sv-SE" sz="1100" b="1" err="1">
                <a:solidFill>
                  <a:srgbClr val="FF0000"/>
                </a:solidFill>
                <a:latin typeface="DejaVuSansMono"/>
              </a:rPr>
              <a:t>ketomüsli</a:t>
            </a:r>
            <a:r>
              <a:rPr lang="sv-SE" sz="1100" b="1" dirty="0">
                <a:solidFill>
                  <a:srgbClr val="FF0000"/>
                </a:solidFill>
                <a:latin typeface="DejaVuSansMono"/>
              </a:rPr>
              <a:t> </a:t>
            </a:r>
            <a:br>
              <a:rPr lang="sv-SE" sz="1100" b="1" dirty="0">
                <a:latin typeface="DejaVuSansMono"/>
              </a:rPr>
            </a:br>
            <a:r>
              <a:rPr lang="sv-SE" sz="1100" b="1" dirty="0">
                <a:latin typeface="DejaVuSansMono"/>
              </a:rPr>
              <a:t>– 1 portion</a:t>
            </a:r>
            <a:br>
              <a:rPr lang="sv-SE" sz="1100" b="1" dirty="0">
                <a:latin typeface="DejaVuSansMono"/>
              </a:rPr>
            </a:br>
            <a:r>
              <a:rPr lang="sv-SE" sz="1100" dirty="0">
                <a:latin typeface="DejaVuSansMono"/>
              </a:rPr>
              <a:t>1 dl grekisk yoghurt, 10%</a:t>
            </a:r>
          </a:p>
          <a:p>
            <a:r>
              <a:rPr lang="sv-SE" sz="1100" dirty="0">
                <a:latin typeface="DejaVuSansMono"/>
              </a:rPr>
              <a:t>¾ dl </a:t>
            </a:r>
            <a:r>
              <a:rPr lang="sv-SE" sz="1100" dirty="0" err="1">
                <a:latin typeface="DejaVuSansMono"/>
              </a:rPr>
              <a:t>ketomüsli</a:t>
            </a:r>
            <a:endParaRPr lang="sv-SE" sz="1100" dirty="0">
              <a:latin typeface="DejaVuSansMono"/>
            </a:endParaRPr>
          </a:p>
          <a:p>
            <a:endParaRPr lang="sv-SE" sz="1100" dirty="0">
              <a:effectLst/>
              <a:latin typeface="DejaVuSansMono"/>
            </a:endParaRPr>
          </a:p>
          <a:p>
            <a:r>
              <a:rPr lang="sv-SE" sz="1100" dirty="0">
                <a:latin typeface="DejaVuSansMono"/>
              </a:rPr>
              <a:t>Lägg yoghurt i en skål och lägg på </a:t>
            </a:r>
            <a:r>
              <a:rPr lang="sv-SE" sz="1100" dirty="0" err="1">
                <a:latin typeface="DejaVuSansMono"/>
              </a:rPr>
              <a:t>ketomüsli</a:t>
            </a:r>
            <a:r>
              <a:rPr lang="sv-SE" sz="1100" dirty="0">
                <a:latin typeface="DejaVuSansMono"/>
              </a:rPr>
              <a:t>.</a:t>
            </a:r>
            <a:endParaRPr lang="sv-SE" sz="1100" dirty="0">
              <a:effectLst/>
            </a:endParaRPr>
          </a:p>
        </p:txBody>
      </p:sp>
      <p:pic>
        <p:nvPicPr>
          <p:cNvPr id="21" name="Bildobjekt 20">
            <a:extLst>
              <a:ext uri="{FF2B5EF4-FFF2-40B4-BE49-F238E27FC236}">
                <a16:creationId xmlns:a16="http://schemas.microsoft.com/office/drawing/2014/main" id="{4686D45D-C999-8641-967E-45189D7A2AD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78518" y="1652423"/>
            <a:ext cx="3894848" cy="2921136"/>
          </a:xfrm>
          <a:prstGeom prst="rect">
            <a:avLst/>
          </a:prstGeom>
        </p:spPr>
      </p:pic>
      <p:sp>
        <p:nvSpPr>
          <p:cNvPr id="15" name="Rektangel 14">
            <a:extLst>
              <a:ext uri="{FF2B5EF4-FFF2-40B4-BE49-F238E27FC236}">
                <a16:creationId xmlns:a16="http://schemas.microsoft.com/office/drawing/2014/main" id="{59AE7B65-5E06-D34F-8E27-ED89D765B9A9}"/>
              </a:ext>
            </a:extLst>
          </p:cNvPr>
          <p:cNvSpPr/>
          <p:nvPr/>
        </p:nvSpPr>
        <p:spPr>
          <a:xfrm>
            <a:off x="3770660" y="4989016"/>
            <a:ext cx="3054291" cy="4154984"/>
          </a:xfrm>
          <a:prstGeom prst="rect">
            <a:avLst/>
          </a:prstGeom>
        </p:spPr>
        <p:txBody>
          <a:bodyPr wrap="square">
            <a:spAutoFit/>
          </a:bodyPr>
          <a:lstStyle/>
          <a:p>
            <a:r>
              <a:rPr lang="sv-SE" sz="1100" b="1" dirty="0">
                <a:solidFill>
                  <a:srgbClr val="000000"/>
                </a:solidFill>
              </a:rPr>
              <a:t>Bananplättar med jordgubbar och </a:t>
            </a:r>
          </a:p>
          <a:p>
            <a:r>
              <a:rPr lang="sv-SE" sz="1100" b="1" dirty="0">
                <a:solidFill>
                  <a:srgbClr val="000000"/>
                </a:solidFill>
              </a:rPr>
              <a:t>kokos - 2 portioner </a:t>
            </a:r>
            <a:endParaRPr lang="sv-SE" sz="1100" dirty="0">
              <a:solidFill>
                <a:srgbClr val="000000"/>
              </a:solidFill>
            </a:endParaRPr>
          </a:p>
          <a:p>
            <a:r>
              <a:rPr lang="sv-SE" sz="1100" dirty="0">
                <a:solidFill>
                  <a:srgbClr val="000000"/>
                </a:solidFill>
              </a:rPr>
              <a:t>1 banan</a:t>
            </a:r>
          </a:p>
          <a:p>
            <a:r>
              <a:rPr lang="sv-SE" sz="1100" dirty="0">
                <a:solidFill>
                  <a:srgbClr val="000000"/>
                </a:solidFill>
              </a:rPr>
              <a:t>2 ägg</a:t>
            </a:r>
          </a:p>
          <a:p>
            <a:r>
              <a:rPr lang="sv-SE" sz="1100" dirty="0">
                <a:solidFill>
                  <a:srgbClr val="000000"/>
                </a:solidFill>
              </a:rPr>
              <a:t>½ dl havregryn</a:t>
            </a:r>
          </a:p>
          <a:p>
            <a:r>
              <a:rPr lang="sv-SE" sz="1100" dirty="0">
                <a:solidFill>
                  <a:srgbClr val="000000"/>
                </a:solidFill>
              </a:rPr>
              <a:t>1 krm vaniljpulver</a:t>
            </a:r>
          </a:p>
          <a:p>
            <a:r>
              <a:rPr lang="sv-SE" sz="1100" dirty="0">
                <a:solidFill>
                  <a:srgbClr val="000000"/>
                </a:solidFill>
              </a:rPr>
              <a:t>2 tsk smör</a:t>
            </a:r>
            <a:br>
              <a:rPr lang="sv-SE" sz="1100" dirty="0">
                <a:solidFill>
                  <a:srgbClr val="000000"/>
                </a:solidFill>
              </a:rPr>
            </a:br>
            <a:endParaRPr lang="sv-SE" sz="1100" dirty="0">
              <a:solidFill>
                <a:srgbClr val="000000"/>
              </a:solidFill>
            </a:endParaRPr>
          </a:p>
          <a:p>
            <a:r>
              <a:rPr lang="sv-SE" sz="1100" b="1" dirty="0">
                <a:solidFill>
                  <a:srgbClr val="000000"/>
                </a:solidFill>
              </a:rPr>
              <a:t>Tillbehör</a:t>
            </a:r>
            <a:endParaRPr lang="sv-SE" sz="1100" dirty="0">
              <a:solidFill>
                <a:srgbClr val="000000"/>
              </a:solidFill>
            </a:endParaRPr>
          </a:p>
          <a:p>
            <a:r>
              <a:rPr lang="sv-SE" sz="1100" dirty="0">
                <a:solidFill>
                  <a:srgbClr val="000000"/>
                </a:solidFill>
              </a:rPr>
              <a:t>4 jordgubbar</a:t>
            </a:r>
          </a:p>
          <a:p>
            <a:r>
              <a:rPr lang="sv-SE" sz="1100" dirty="0">
                <a:solidFill>
                  <a:srgbClr val="000000"/>
                </a:solidFill>
              </a:rPr>
              <a:t>½ dl kokosskivor</a:t>
            </a:r>
          </a:p>
          <a:p>
            <a:r>
              <a:rPr lang="sv-SE" sz="1100" dirty="0">
                <a:solidFill>
                  <a:srgbClr val="000000"/>
                </a:solidFill>
              </a:rPr>
              <a:t>3 msk grekisk yoghurt</a:t>
            </a:r>
          </a:p>
          <a:p>
            <a:r>
              <a:rPr lang="sv-SE" sz="1100" dirty="0">
                <a:solidFill>
                  <a:srgbClr val="000000"/>
                </a:solidFill>
              </a:rPr>
              <a:t>1 myntakvist</a:t>
            </a:r>
          </a:p>
          <a:p>
            <a:endParaRPr lang="sv-SE" sz="1100" dirty="0">
              <a:solidFill>
                <a:srgbClr val="000000"/>
              </a:solidFill>
            </a:endParaRPr>
          </a:p>
          <a:p>
            <a:r>
              <a:rPr lang="sv-SE" sz="1100" dirty="0">
                <a:solidFill>
                  <a:srgbClr val="000000"/>
                </a:solidFill>
              </a:rPr>
              <a:t>Mixa banan, ägg och havregryn med en stavmixer eller i en matberedare. Blanda ner vaniljpulver. Hetta upp en stekpanna med smör. Klicka i smet i stekpannan och stek på båda sidorna till de har fått fin färg. Skär jordgubbar i bitar. Lägg plättar på en tallrik och toppa med jordgubbar, grekisk yoghurt och kokosskivor. Dekorera med myntakvist. </a:t>
            </a:r>
          </a:p>
          <a:p>
            <a:br>
              <a:rPr lang="sv-SE" sz="1100" dirty="0">
                <a:solidFill>
                  <a:srgbClr val="000000"/>
                </a:solidFill>
              </a:rPr>
            </a:br>
            <a:endParaRPr lang="sv-SE" sz="1100" dirty="0">
              <a:solidFill>
                <a:srgbClr val="000000"/>
              </a:solidFill>
              <a:effectLst/>
            </a:endParaRPr>
          </a:p>
        </p:txBody>
      </p:sp>
      <p:sp>
        <p:nvSpPr>
          <p:cNvPr id="17" name="Ellips 16">
            <a:extLst>
              <a:ext uri="{FF2B5EF4-FFF2-40B4-BE49-F238E27FC236}">
                <a16:creationId xmlns:a16="http://schemas.microsoft.com/office/drawing/2014/main" id="{FC646DD6-F055-EE48-8016-631E2DF4B774}"/>
              </a:ext>
            </a:extLst>
          </p:cNvPr>
          <p:cNvSpPr/>
          <p:nvPr/>
        </p:nvSpPr>
        <p:spPr>
          <a:xfrm>
            <a:off x="5959429" y="5373073"/>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321 kcal</a:t>
            </a:r>
            <a:endParaRPr sz="1200" b="1" dirty="0">
              <a:solidFill>
                <a:schemeClr val="bg1"/>
              </a:solidFill>
              <a:ea typeface="ＭＳ 明朝"/>
              <a:cs typeface="Avenir Light"/>
            </a:endParaRPr>
          </a:p>
        </p:txBody>
      </p:sp>
      <p:pic>
        <p:nvPicPr>
          <p:cNvPr id="18" name="Bildobjekt 17">
            <a:extLst>
              <a:ext uri="{FF2B5EF4-FFF2-40B4-BE49-F238E27FC236}">
                <a16:creationId xmlns:a16="http://schemas.microsoft.com/office/drawing/2014/main" id="{BC6F3B84-9AD0-E540-A068-18A372F5DE3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2610" y="4743541"/>
            <a:ext cx="2999489" cy="3999318"/>
          </a:xfrm>
          <a:prstGeom prst="rect">
            <a:avLst/>
          </a:prstGeom>
        </p:spPr>
      </p:pic>
      <p:sp>
        <p:nvSpPr>
          <p:cNvPr id="23" name="Platshållare för sidfot 1">
            <a:extLst>
              <a:ext uri="{FF2B5EF4-FFF2-40B4-BE49-F238E27FC236}">
                <a16:creationId xmlns:a16="http://schemas.microsoft.com/office/drawing/2014/main" id="{054F4636-2260-7E43-94FB-C4936E3461D9}"/>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spTree>
    <p:extLst>
      <p:ext uri="{BB962C8B-B14F-4D97-AF65-F5344CB8AC3E}">
        <p14:creationId xmlns:p14="http://schemas.microsoft.com/office/powerpoint/2010/main" val="37880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EA745202-70D2-4822-9DF5-D98FE15317DA}"/>
              </a:ext>
            </a:extLst>
          </p:cNvPr>
          <p:cNvSpPr txBox="1"/>
          <p:nvPr/>
        </p:nvSpPr>
        <p:spPr>
          <a:xfrm>
            <a:off x="165820"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2</a:t>
            </a:fld>
            <a:endParaRPr lang="sv-SE" sz="900" dirty="0"/>
          </a:p>
        </p:txBody>
      </p:sp>
      <p:sp>
        <p:nvSpPr>
          <p:cNvPr id="9" name="textruta 8">
            <a:extLst>
              <a:ext uri="{FF2B5EF4-FFF2-40B4-BE49-F238E27FC236}">
                <a16:creationId xmlns:a16="http://schemas.microsoft.com/office/drawing/2014/main" id="{A49E89B3-7C32-2C40-9126-EF31BC5CB157}"/>
              </a:ext>
            </a:extLst>
          </p:cNvPr>
          <p:cNvSpPr txBox="1"/>
          <p:nvPr/>
        </p:nvSpPr>
        <p:spPr>
          <a:xfrm>
            <a:off x="3534818" y="1377839"/>
            <a:ext cx="3066882" cy="3320461"/>
          </a:xfrm>
          <a:prstGeom prst="rect">
            <a:avLst/>
          </a:prstGeom>
          <a:noFill/>
        </p:spPr>
        <p:txBody>
          <a:bodyPr wrap="square">
            <a:spAutoFit/>
          </a:bodyPr>
          <a:lstStyle/>
          <a:p>
            <a:pPr>
              <a:lnSpc>
                <a:spcPct val="107000"/>
              </a:lnSpc>
              <a:spcBef>
                <a:spcPts val="200"/>
              </a:spcBef>
            </a:pPr>
            <a:r>
              <a:rPr lang="sv" sz="1100" b="1" dirty="0">
                <a:effectLst/>
                <a:ea typeface="Times New Roman" panose="02020603050405020304" pitchFamily="18" charset="0"/>
                <a:cs typeface="Times New Roman" panose="02020603050405020304" pitchFamily="18" charset="0"/>
              </a:rPr>
              <a:t>Chiafrögröt</a:t>
            </a:r>
            <a:r>
              <a:rPr lang="sv-SE" sz="1100" b="1" dirty="0">
                <a:ea typeface="Times New Roman" panose="02020603050405020304" pitchFamily="18" charset="0"/>
                <a:cs typeface="Times New Roman" panose="02020603050405020304" pitchFamily="18" charset="0"/>
              </a:rPr>
              <a:t> - </a:t>
            </a:r>
            <a:r>
              <a:rPr lang="sv" sz="1100" b="1" dirty="0">
                <a:effectLst/>
                <a:ea typeface="Times New Roman" panose="02020603050405020304" pitchFamily="18" charset="0"/>
              </a:rPr>
              <a:t>1 portion </a:t>
            </a:r>
            <a:endParaRPr lang="en-SE" sz="1100" b="1" dirty="0">
              <a:effectLst/>
              <a:ea typeface="Times New Roman" panose="02020603050405020304" pitchFamily="18" charset="0"/>
            </a:endParaRPr>
          </a:p>
          <a:p>
            <a:pPr lvl="0">
              <a:buSzPts val="1000"/>
              <a:tabLst>
                <a:tab pos="457200" algn="l"/>
              </a:tabLst>
            </a:pPr>
            <a:r>
              <a:rPr lang="sv" sz="1100" dirty="0">
                <a:effectLst/>
                <a:ea typeface="Times New Roman" panose="02020603050405020304" pitchFamily="18" charset="0"/>
              </a:rPr>
              <a:t>2 msk chiafrön</a:t>
            </a:r>
            <a:endParaRPr lang="en-SE" sz="1100" dirty="0">
              <a:effectLst/>
              <a:ea typeface="Times New Roman" panose="02020603050405020304" pitchFamily="18" charset="0"/>
            </a:endParaRPr>
          </a:p>
          <a:p>
            <a:pPr lvl="0">
              <a:buSzPts val="1000"/>
              <a:tabLst>
                <a:tab pos="457200" algn="l"/>
              </a:tabLst>
            </a:pPr>
            <a:r>
              <a:rPr lang="sv" sz="1100" dirty="0">
                <a:effectLst/>
                <a:ea typeface="Times New Roman" panose="02020603050405020304" pitchFamily="18" charset="0"/>
              </a:rPr>
              <a:t>1 ½ dl mandelmjölk</a:t>
            </a:r>
            <a:endParaRPr lang="en-SE" sz="1100" dirty="0">
              <a:effectLst/>
              <a:ea typeface="Times New Roman" panose="02020603050405020304" pitchFamily="18" charset="0"/>
            </a:endParaRPr>
          </a:p>
          <a:p>
            <a:pPr lvl="0">
              <a:buSzPts val="1000"/>
              <a:tabLst>
                <a:tab pos="457200" algn="l"/>
              </a:tabLst>
            </a:pPr>
            <a:r>
              <a:rPr lang="sv" sz="1100" dirty="0">
                <a:effectLst/>
                <a:ea typeface="Times New Roman" panose="02020603050405020304" pitchFamily="18" charset="0"/>
              </a:rPr>
              <a:t>1 nypa vaniljpulver</a:t>
            </a:r>
            <a:endParaRPr lang="en-SE" sz="1100" dirty="0">
              <a:effectLst/>
              <a:ea typeface="Times New Roman" panose="02020603050405020304" pitchFamily="18" charset="0"/>
            </a:endParaRPr>
          </a:p>
          <a:p>
            <a:pPr lvl="0">
              <a:buSzPts val="1000"/>
              <a:tabLst>
                <a:tab pos="457200" algn="l"/>
              </a:tabLst>
            </a:pPr>
            <a:r>
              <a:rPr lang="sv" sz="1100" dirty="0">
                <a:effectLst/>
                <a:ea typeface="Times New Roman" panose="02020603050405020304" pitchFamily="18" charset="0"/>
              </a:rPr>
              <a:t>1 apelsin</a:t>
            </a:r>
            <a:endParaRPr lang="en-SE" sz="1100" dirty="0">
              <a:effectLst/>
              <a:ea typeface="Times New Roman" panose="02020603050405020304" pitchFamily="18" charset="0"/>
            </a:endParaRPr>
          </a:p>
          <a:p>
            <a:pPr lvl="0">
              <a:buSzPts val="1000"/>
              <a:tabLst>
                <a:tab pos="457200" algn="l"/>
              </a:tabLst>
            </a:pPr>
            <a:r>
              <a:rPr lang="sv" sz="1100" dirty="0">
                <a:effectLst/>
                <a:ea typeface="Times New Roman" panose="02020603050405020304" pitchFamily="18" charset="0"/>
              </a:rPr>
              <a:t>1 dl hackad färsk ananas</a:t>
            </a:r>
          </a:p>
          <a:p>
            <a:pPr lvl="0">
              <a:buSzPts val="1000"/>
              <a:tabLst>
                <a:tab pos="457200" algn="l"/>
              </a:tabLst>
            </a:pPr>
            <a:endParaRPr lang="en-SE" sz="1100" dirty="0">
              <a:effectLst/>
              <a:ea typeface="Times New Roman" panose="02020603050405020304" pitchFamily="18" charset="0"/>
            </a:endParaRPr>
          </a:p>
          <a:p>
            <a:r>
              <a:rPr lang="sv" sz="1100" b="1" dirty="0">
                <a:ea typeface="Times New Roman" panose="02020603050405020304" pitchFamily="18" charset="0"/>
              </a:rPr>
              <a:t>Topping: </a:t>
            </a:r>
            <a:r>
              <a:rPr lang="sv-SE" sz="1100" b="1" dirty="0">
                <a:ea typeface="Times New Roman" panose="02020603050405020304" pitchFamily="18" charset="0"/>
              </a:rPr>
              <a:t> </a:t>
            </a:r>
            <a:r>
              <a:rPr lang="sv" sz="1100" dirty="0">
                <a:effectLst/>
                <a:ea typeface="Times New Roman" panose="02020603050405020304" pitchFamily="18" charset="0"/>
              </a:rPr>
              <a:t>kärnorna från ½ granatäpple,</a:t>
            </a:r>
            <a:r>
              <a:rPr lang="sv-SE" sz="1100" dirty="0">
                <a:ea typeface="Times New Roman" panose="02020603050405020304" pitchFamily="18" charset="0"/>
              </a:rPr>
              <a:t> </a:t>
            </a:r>
            <a:r>
              <a:rPr lang="sv" sz="1100" dirty="0">
                <a:effectLst/>
                <a:ea typeface="Times New Roman" panose="02020603050405020304" pitchFamily="18" charset="0"/>
              </a:rPr>
              <a:t>myntakvist</a:t>
            </a:r>
            <a:endParaRPr lang="en-SE" sz="1100" dirty="0">
              <a:effectLst/>
              <a:ea typeface="Times New Roman" panose="02020603050405020304" pitchFamily="18" charset="0"/>
            </a:endParaRPr>
          </a:p>
          <a:p>
            <a:pPr lvl="0">
              <a:buSzPts val="1000"/>
              <a:tabLst>
                <a:tab pos="457200" algn="l"/>
              </a:tabLst>
            </a:pPr>
            <a:r>
              <a:rPr lang="sv" sz="1100" dirty="0">
                <a:effectLst/>
                <a:ea typeface="Times New Roman" panose="02020603050405020304" pitchFamily="18" charset="0"/>
              </a:rPr>
              <a:t>apelsinskiva</a:t>
            </a:r>
            <a:endParaRPr lang="en-SE" sz="1100" dirty="0">
              <a:effectLst/>
              <a:ea typeface="Times New Roman" panose="02020603050405020304" pitchFamily="18" charset="0"/>
            </a:endParaRPr>
          </a:p>
          <a:p>
            <a:pPr marL="342900" lvl="0" indent="-342900">
              <a:tabLst>
                <a:tab pos="457200" algn="l"/>
              </a:tabLst>
            </a:pPr>
            <a:endParaRPr lang="sv" sz="1100" dirty="0">
              <a:effectLst/>
              <a:ea typeface="Times New Roman" panose="02020603050405020304" pitchFamily="18" charset="0"/>
            </a:endParaRPr>
          </a:p>
          <a:p>
            <a:pPr lvl="0">
              <a:tabLst>
                <a:tab pos="457200" algn="l"/>
              </a:tabLst>
            </a:pPr>
            <a:r>
              <a:rPr lang="sv" sz="1100" dirty="0">
                <a:effectLst/>
                <a:ea typeface="Times New Roman" panose="02020603050405020304" pitchFamily="18" charset="0"/>
              </a:rPr>
              <a:t>Blanda chiafrön och mjölk i en skål. Rör ner vaniljpulver och låt stå i 30 minuter eller över natten.</a:t>
            </a:r>
            <a:endParaRPr lang="en-SE" sz="1100" dirty="0">
              <a:effectLst/>
              <a:ea typeface="Times New Roman" panose="02020603050405020304" pitchFamily="18" charset="0"/>
            </a:endParaRPr>
          </a:p>
          <a:p>
            <a:pPr lvl="0">
              <a:tabLst>
                <a:tab pos="457200" algn="l"/>
              </a:tabLst>
            </a:pPr>
            <a:r>
              <a:rPr lang="sv" sz="1100" dirty="0">
                <a:effectLst/>
                <a:ea typeface="Times New Roman" panose="02020603050405020304" pitchFamily="18" charset="0"/>
              </a:rPr>
              <a:t>Späd gröten med mer mjölk, om det behövs. Skär av skalet på apelsinen med en vass kniv, och skär</a:t>
            </a:r>
          </a:p>
          <a:p>
            <a:pPr lvl="0">
              <a:tabLst>
                <a:tab pos="457200" algn="l"/>
              </a:tabLst>
            </a:pPr>
            <a:r>
              <a:rPr lang="sv" sz="1100" dirty="0">
                <a:effectLst/>
                <a:ea typeface="Times New Roman" panose="02020603050405020304" pitchFamily="18" charset="0"/>
              </a:rPr>
              <a:t> ut fina filéer. Skär filéerna i bitar och blanda ner i gröten tillsammans med ananasbitarna.</a:t>
            </a:r>
            <a:endParaRPr lang="en-SE" sz="1100" dirty="0">
              <a:effectLst/>
              <a:ea typeface="Times New Roman" panose="02020603050405020304" pitchFamily="18" charset="0"/>
            </a:endParaRPr>
          </a:p>
          <a:p>
            <a:pPr lvl="0">
              <a:tabLst>
                <a:tab pos="457200" algn="l"/>
              </a:tabLst>
            </a:pPr>
            <a:r>
              <a:rPr lang="sv" sz="1100" dirty="0">
                <a:effectLst/>
                <a:ea typeface="Times New Roman" panose="02020603050405020304" pitchFamily="18" charset="0"/>
              </a:rPr>
              <a:t>Lägg upp i en skål eller i ett glas och dekorera med granatäppelkärnor, myntakvist och apelsinskiva.</a:t>
            </a:r>
            <a:endParaRPr lang="en-SE" sz="1100" dirty="0">
              <a:effectLst/>
              <a:ea typeface="Times New Roman" panose="02020603050405020304" pitchFamily="18" charset="0"/>
            </a:endParaRPr>
          </a:p>
        </p:txBody>
      </p:sp>
      <p:pic>
        <p:nvPicPr>
          <p:cNvPr id="11" name="Bildobjekt 10" descr="En bild som visar orange, mat, apelsiner, frukt&#10;&#10;Automatiskt genererad beskrivning">
            <a:extLst>
              <a:ext uri="{FF2B5EF4-FFF2-40B4-BE49-F238E27FC236}">
                <a16:creationId xmlns:a16="http://schemas.microsoft.com/office/drawing/2014/main" id="{D713323C-CC1F-FE40-A0BE-0CE2AD749FB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12663" y="969778"/>
            <a:ext cx="2927226" cy="3728522"/>
          </a:xfrm>
          <a:prstGeom prst="rect">
            <a:avLst/>
          </a:prstGeom>
        </p:spPr>
      </p:pic>
      <p:sp>
        <p:nvSpPr>
          <p:cNvPr id="2" name="textruta 1">
            <a:extLst>
              <a:ext uri="{FF2B5EF4-FFF2-40B4-BE49-F238E27FC236}">
                <a16:creationId xmlns:a16="http://schemas.microsoft.com/office/drawing/2014/main" id="{22037753-4D28-B847-8FA0-3FEE192A654C}"/>
              </a:ext>
            </a:extLst>
          </p:cNvPr>
          <p:cNvSpPr txBox="1"/>
          <p:nvPr/>
        </p:nvSpPr>
        <p:spPr>
          <a:xfrm>
            <a:off x="2510725" y="345219"/>
            <a:ext cx="1513556" cy="369332"/>
          </a:xfrm>
          <a:prstGeom prst="rect">
            <a:avLst/>
          </a:prstGeom>
          <a:noFill/>
        </p:spPr>
        <p:txBody>
          <a:bodyPr wrap="none" rtlCol="0">
            <a:spAutoFit/>
          </a:bodyPr>
          <a:lstStyle/>
          <a:p>
            <a:r>
              <a:rPr lang="sv-SE" dirty="0"/>
              <a:t>Kickstart </a:t>
            </a:r>
            <a:r>
              <a:rPr lang="sv-SE" dirty="0" err="1"/>
              <a:t>basic</a:t>
            </a:r>
            <a:endParaRPr lang="sv-SE" dirty="0"/>
          </a:p>
        </p:txBody>
      </p:sp>
      <p:sp>
        <p:nvSpPr>
          <p:cNvPr id="13" name="Ellips 12">
            <a:extLst>
              <a:ext uri="{FF2B5EF4-FFF2-40B4-BE49-F238E27FC236}">
                <a16:creationId xmlns:a16="http://schemas.microsoft.com/office/drawing/2014/main" id="{E2B495BE-FE1F-1746-9228-3DA3F0926890}"/>
              </a:ext>
            </a:extLst>
          </p:cNvPr>
          <p:cNvSpPr/>
          <p:nvPr/>
        </p:nvSpPr>
        <p:spPr>
          <a:xfrm>
            <a:off x="5554034" y="174647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269 kcal</a:t>
            </a:r>
            <a:endParaRPr sz="1200" b="1" dirty="0">
              <a:solidFill>
                <a:schemeClr val="bg1"/>
              </a:solidFill>
              <a:ea typeface="ＭＳ 明朝"/>
              <a:cs typeface="Avenir Light"/>
            </a:endParaRPr>
          </a:p>
        </p:txBody>
      </p:sp>
      <p:sp>
        <p:nvSpPr>
          <p:cNvPr id="14" name="Platshållare för sidfot 1">
            <a:extLst>
              <a:ext uri="{FF2B5EF4-FFF2-40B4-BE49-F238E27FC236}">
                <a16:creationId xmlns:a16="http://schemas.microsoft.com/office/drawing/2014/main" id="{5BB91C2C-1270-F24E-84D4-D10AC67359FC}"/>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pic>
        <p:nvPicPr>
          <p:cNvPr id="5" name="Bildobjekt 4">
            <a:extLst>
              <a:ext uri="{FF2B5EF4-FFF2-40B4-BE49-F238E27FC236}">
                <a16:creationId xmlns:a16="http://schemas.microsoft.com/office/drawing/2014/main" id="{C4599015-EBAF-1549-88F5-1E09BA58313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3114479" y="5245528"/>
            <a:ext cx="3907559" cy="2930670"/>
          </a:xfrm>
          <a:prstGeom prst="rect">
            <a:avLst/>
          </a:prstGeom>
        </p:spPr>
      </p:pic>
      <p:sp>
        <p:nvSpPr>
          <p:cNvPr id="6" name="Rektangel 5">
            <a:extLst>
              <a:ext uri="{FF2B5EF4-FFF2-40B4-BE49-F238E27FC236}">
                <a16:creationId xmlns:a16="http://schemas.microsoft.com/office/drawing/2014/main" id="{9EFB7AEB-8A99-664E-9628-70D8F74ECD94}"/>
              </a:ext>
            </a:extLst>
          </p:cNvPr>
          <p:cNvSpPr/>
          <p:nvPr/>
        </p:nvSpPr>
        <p:spPr>
          <a:xfrm>
            <a:off x="595281" y="5346489"/>
            <a:ext cx="2939537" cy="2970044"/>
          </a:xfrm>
          <a:prstGeom prst="rect">
            <a:avLst/>
          </a:prstGeom>
        </p:spPr>
        <p:txBody>
          <a:bodyPr wrap="square" lIns="91440" tIns="45720" rIns="91440" bIns="45720" anchor="t">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Äggröra med paprika - 1 portion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ägg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½ msk grädde</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1tsk smör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¼ grön paprika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cocktailtomater</a:t>
            </a:r>
          </a:p>
          <a:p>
            <a:pPr>
              <a:spcAft>
                <a:spcPts val="0"/>
              </a:spcAft>
            </a:pPr>
            <a:r>
              <a:rPr lang="sv-SE" sz="1100" dirty="0">
                <a:solidFill>
                  <a:srgbClr val="000000"/>
                </a:solidFill>
                <a:ea typeface="Arial Unicode MS"/>
                <a:cs typeface="Arial Unicode MS"/>
              </a:rPr>
              <a:t>1 tsk </a:t>
            </a:r>
            <a:r>
              <a:rPr lang="sv-SE" sz="1100" dirty="0">
                <a:solidFill>
                  <a:srgbClr val="FF0000"/>
                </a:solidFill>
                <a:ea typeface="Arial Unicode MS"/>
                <a:cs typeface="Arial Unicode MS"/>
              </a:rPr>
              <a:t>hackad</a:t>
            </a:r>
            <a:r>
              <a:rPr lang="sv-SE" sz="1100" dirty="0">
                <a:solidFill>
                  <a:srgbClr val="000000"/>
                </a:solidFill>
                <a:ea typeface="Arial Unicode MS"/>
                <a:cs typeface="Arial Unicode MS"/>
              </a:rPr>
              <a:t> persilja</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Knäck ägg i en skål. Tillsätt grädde, salt och peppar. Hetta upp en stekpanna med smör. Häll i äggsmeten och låt stelna under omrörning på svag värme tills äggröran blivit mjukt krämig.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Lägg äggröran på ett fat. Dela tomater och skiva paprika och lägg vid sidan om äggröran. Toppa med hackad persilja.</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p:txBody>
      </p:sp>
      <p:sp>
        <p:nvSpPr>
          <p:cNvPr id="17" name="Ellips 16">
            <a:extLst>
              <a:ext uri="{FF2B5EF4-FFF2-40B4-BE49-F238E27FC236}">
                <a16:creationId xmlns:a16="http://schemas.microsoft.com/office/drawing/2014/main" id="{10F19FCD-67BB-9449-8B0B-CF04C1869A4F}"/>
              </a:ext>
            </a:extLst>
          </p:cNvPr>
          <p:cNvSpPr/>
          <p:nvPr/>
        </p:nvSpPr>
        <p:spPr>
          <a:xfrm>
            <a:off x="2591218" y="569837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250 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400533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4F51F27E-99DD-DF43-87D9-EA89C1063459}"/>
              </a:ext>
            </a:extLst>
          </p:cNvPr>
          <p:cNvSpPr>
            <a:spLocks noGrp="1"/>
          </p:cNvSpPr>
          <p:nvPr>
            <p:ph type="sldNum" sz="quarter" idx="12"/>
          </p:nvPr>
        </p:nvSpPr>
        <p:spPr/>
        <p:txBody>
          <a:bodyPr/>
          <a:lstStyle/>
          <a:p>
            <a:fld id="{97BA8967-5D92-4842-BAFB-0C8F679E5DC4}" type="slidenum">
              <a:rPr lang="sv-SE" smtClean="0"/>
              <a:t>3</a:t>
            </a:fld>
            <a:endParaRPr lang="sv-SE"/>
          </a:p>
        </p:txBody>
      </p:sp>
      <p:pic>
        <p:nvPicPr>
          <p:cNvPr id="6" name="Bildobjekt 5">
            <a:extLst>
              <a:ext uri="{FF2B5EF4-FFF2-40B4-BE49-F238E27FC236}">
                <a16:creationId xmlns:a16="http://schemas.microsoft.com/office/drawing/2014/main" id="{281BED8E-CF28-5243-894E-BBF0CDE8C26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27788" y="1995379"/>
            <a:ext cx="4567100" cy="3425325"/>
          </a:xfrm>
          <a:prstGeom prst="rect">
            <a:avLst/>
          </a:prstGeom>
        </p:spPr>
      </p:pic>
      <p:sp>
        <p:nvSpPr>
          <p:cNvPr id="7" name="Rektangel 6">
            <a:extLst>
              <a:ext uri="{FF2B5EF4-FFF2-40B4-BE49-F238E27FC236}">
                <a16:creationId xmlns:a16="http://schemas.microsoft.com/office/drawing/2014/main" id="{5C3B6CF9-BC5A-214E-B0DB-39439A6C78C5}"/>
              </a:ext>
            </a:extLst>
          </p:cNvPr>
          <p:cNvSpPr/>
          <p:nvPr/>
        </p:nvSpPr>
        <p:spPr>
          <a:xfrm>
            <a:off x="1192324" y="5981853"/>
            <a:ext cx="3429000" cy="1954381"/>
          </a:xfrm>
          <a:prstGeom prst="rect">
            <a:avLst/>
          </a:prstGeom>
        </p:spPr>
        <p:txBody>
          <a:bodyPr>
            <a:spAutoFit/>
          </a:bodyPr>
          <a:lstStyle/>
          <a:p>
            <a:pPr>
              <a:spcAft>
                <a:spcPts val="0"/>
              </a:spcAft>
            </a:pPr>
            <a:r>
              <a:rPr lang="sv-SE" sz="1100" b="1" dirty="0" err="1">
                <a:solidFill>
                  <a:srgbClr val="000000"/>
                </a:solidFill>
                <a:ea typeface="Arial Unicode MS" panose="020B0604020202020204" pitchFamily="34" charset="-128"/>
                <a:cs typeface="Arial Unicode MS" panose="020B0604020202020204" pitchFamily="34" charset="-128"/>
              </a:rPr>
              <a:t>Mangosmoothie</a:t>
            </a:r>
            <a:r>
              <a:rPr lang="sv-SE" sz="1100" b="1" dirty="0">
                <a:solidFill>
                  <a:srgbClr val="000000"/>
                </a:solidFill>
                <a:ea typeface="Arial Unicode MS" panose="020B0604020202020204" pitchFamily="34" charset="-128"/>
                <a:cs typeface="Arial Unicode MS" panose="020B0604020202020204" pitchFamily="34" charset="-128"/>
              </a:rPr>
              <a:t> med spenat - 2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msk ingefära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banan</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150 g fryst mango</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50 g färsk spenat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 dl vatten</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Skala och skär ingefära i små bitar. Skala en banan och dela i 3 delar. Lägg ingefära i en mixer tillsammans med banan, mango, spenat och vatten. Mixa till en </a:t>
            </a:r>
            <a:r>
              <a:rPr lang="sv-SE" sz="1100" dirty="0" err="1">
                <a:solidFill>
                  <a:srgbClr val="000000"/>
                </a:solidFill>
                <a:ea typeface="Arial Unicode MS" panose="020B0604020202020204" pitchFamily="34" charset="-128"/>
                <a:cs typeface="Arial Unicode MS" panose="020B0604020202020204" pitchFamily="34" charset="-128"/>
              </a:rPr>
              <a:t>smoothie</a:t>
            </a:r>
            <a:r>
              <a:rPr lang="sv-SE" sz="1100" dirty="0">
                <a:solidFill>
                  <a:srgbClr val="000000"/>
                </a:solidFill>
                <a:ea typeface="Arial Unicode MS" panose="020B0604020202020204" pitchFamily="34" charset="-128"/>
                <a:cs typeface="Arial Unicode MS" panose="020B0604020202020204" pitchFamily="34" charset="-128"/>
              </a:rPr>
              <a:t>. Häll upp i glas.</a:t>
            </a:r>
          </a:p>
        </p:txBody>
      </p:sp>
      <p:sp>
        <p:nvSpPr>
          <p:cNvPr id="8" name="Ellips 7">
            <a:extLst>
              <a:ext uri="{FF2B5EF4-FFF2-40B4-BE49-F238E27FC236}">
                <a16:creationId xmlns:a16="http://schemas.microsoft.com/office/drawing/2014/main" id="{741EA9AA-5744-264A-8782-62757554683B}"/>
              </a:ext>
            </a:extLst>
          </p:cNvPr>
          <p:cNvSpPr/>
          <p:nvPr/>
        </p:nvSpPr>
        <p:spPr>
          <a:xfrm>
            <a:off x="3992674" y="624228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119 kcal</a:t>
            </a:r>
            <a:endParaRPr sz="1200" b="1" dirty="0">
              <a:solidFill>
                <a:schemeClr val="bg1"/>
              </a:solidFill>
              <a:ea typeface="ＭＳ 明朝"/>
              <a:cs typeface="Avenir Light"/>
            </a:endParaRPr>
          </a:p>
        </p:txBody>
      </p:sp>
      <p:sp>
        <p:nvSpPr>
          <p:cNvPr id="9" name="textruta 8">
            <a:extLst>
              <a:ext uri="{FF2B5EF4-FFF2-40B4-BE49-F238E27FC236}">
                <a16:creationId xmlns:a16="http://schemas.microsoft.com/office/drawing/2014/main" id="{05D55B9A-035B-304F-989C-5CBCD9C4275B}"/>
              </a:ext>
            </a:extLst>
          </p:cNvPr>
          <p:cNvSpPr txBox="1"/>
          <p:nvPr/>
        </p:nvSpPr>
        <p:spPr>
          <a:xfrm>
            <a:off x="3992674" y="1193369"/>
            <a:ext cx="2191626" cy="369332"/>
          </a:xfrm>
          <a:prstGeom prst="rect">
            <a:avLst/>
          </a:prstGeom>
          <a:noFill/>
        </p:spPr>
        <p:txBody>
          <a:bodyPr wrap="none" rtlCol="0">
            <a:spAutoFit/>
          </a:bodyPr>
          <a:lstStyle/>
          <a:p>
            <a:r>
              <a:rPr lang="sv-SE" dirty="0"/>
              <a:t>10-kilosklubben 2024</a:t>
            </a:r>
          </a:p>
        </p:txBody>
      </p:sp>
      <p:sp>
        <p:nvSpPr>
          <p:cNvPr id="10" name="textruta 9">
            <a:extLst>
              <a:ext uri="{FF2B5EF4-FFF2-40B4-BE49-F238E27FC236}">
                <a16:creationId xmlns:a16="http://schemas.microsoft.com/office/drawing/2014/main" id="{ED98EAC9-D351-4D49-AF98-D17BC83D8BA5}"/>
              </a:ext>
            </a:extLst>
          </p:cNvPr>
          <p:cNvSpPr txBox="1"/>
          <p:nvPr/>
        </p:nvSpPr>
        <p:spPr>
          <a:xfrm>
            <a:off x="165820"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11" name="Platshållare för sidfot 1">
            <a:extLst>
              <a:ext uri="{FF2B5EF4-FFF2-40B4-BE49-F238E27FC236}">
                <a16:creationId xmlns:a16="http://schemas.microsoft.com/office/drawing/2014/main" id="{6F51313E-D5F6-2940-8E36-13AC93CA1768}"/>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spTree>
    <p:extLst>
      <p:ext uri="{BB962C8B-B14F-4D97-AF65-F5344CB8AC3E}">
        <p14:creationId xmlns:p14="http://schemas.microsoft.com/office/powerpoint/2010/main" val="456056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ruta 15">
            <a:extLst>
              <a:ext uri="{FF2B5EF4-FFF2-40B4-BE49-F238E27FC236}">
                <a16:creationId xmlns:a16="http://schemas.microsoft.com/office/drawing/2014/main" id="{9CC8EAC3-B1D1-9A45-8F77-86ED715DFE86}"/>
              </a:ext>
            </a:extLst>
          </p:cNvPr>
          <p:cNvSpPr txBox="1"/>
          <p:nvPr/>
        </p:nvSpPr>
        <p:spPr>
          <a:xfrm>
            <a:off x="178821" y="188293"/>
            <a:ext cx="4328308"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4" name="Platshållare för sidfot 1">
            <a:extLst>
              <a:ext uri="{FF2B5EF4-FFF2-40B4-BE49-F238E27FC236}">
                <a16:creationId xmlns:a16="http://schemas.microsoft.com/office/drawing/2014/main" id="{B3FC9D5F-68F7-CA44-AEB8-B3B44C82966C}"/>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sp>
        <p:nvSpPr>
          <p:cNvPr id="5" name="Rektangel 4">
            <a:extLst>
              <a:ext uri="{FF2B5EF4-FFF2-40B4-BE49-F238E27FC236}">
                <a16:creationId xmlns:a16="http://schemas.microsoft.com/office/drawing/2014/main" id="{AD38A2C1-13C1-9A4A-83BC-B662E025172D}"/>
              </a:ext>
            </a:extLst>
          </p:cNvPr>
          <p:cNvSpPr/>
          <p:nvPr/>
        </p:nvSpPr>
        <p:spPr>
          <a:xfrm>
            <a:off x="445220" y="3486991"/>
            <a:ext cx="4638223" cy="3477875"/>
          </a:xfrm>
          <a:prstGeom prst="rect">
            <a:avLst/>
          </a:prstGeom>
        </p:spPr>
        <p:txBody>
          <a:bodyPr wrap="square" lIns="91440" tIns="45720" rIns="91440" bIns="45720" anchor="t">
            <a:spAutoFit/>
          </a:bodyPr>
          <a:lstStyle/>
          <a:p>
            <a:pPr>
              <a:spcAft>
                <a:spcPts val="0"/>
              </a:spcAft>
            </a:pPr>
            <a:r>
              <a:rPr lang="sv-SE" sz="1100" b="1" dirty="0">
                <a:solidFill>
                  <a:srgbClr val="000000"/>
                </a:solidFill>
                <a:ea typeface="Helvetica Neue" panose="02000503000000020004" pitchFamily="2" charset="0"/>
                <a:cs typeface="Helvetica Neue" panose="02000503000000020004" pitchFamily="2" charset="0"/>
              </a:rPr>
              <a:t>Grekisk sallad - 1 portion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1,5 tomat</a:t>
            </a:r>
          </a:p>
          <a:p>
            <a:pPr>
              <a:spcAft>
                <a:spcPts val="0"/>
              </a:spcAft>
            </a:pPr>
            <a:r>
              <a:rPr lang="sv-SE" sz="1100" dirty="0">
                <a:solidFill>
                  <a:srgbClr val="FF0000"/>
                </a:solidFill>
                <a:ea typeface="Helvetica Neue" panose="02000503000000020004" pitchFamily="2" charset="0"/>
                <a:cs typeface="Helvetica Neue" panose="02000503000000020004" pitchFamily="2" charset="0"/>
              </a:rPr>
              <a:t>1/5 gul paprika</a:t>
            </a:r>
          </a:p>
          <a:p>
            <a:pPr>
              <a:spcAft>
                <a:spcPts val="0"/>
              </a:spcAft>
            </a:pPr>
            <a:r>
              <a:rPr lang="sv-SE" sz="1100" dirty="0">
                <a:solidFill>
                  <a:srgbClr val="FF0000"/>
                </a:solidFill>
                <a:ea typeface="Helvetica Neue" panose="02000503000000020004" pitchFamily="2" charset="0"/>
                <a:cs typeface="Helvetica Neue" panose="02000503000000020004" pitchFamily="2" charset="0"/>
              </a:rPr>
              <a:t>1/5  röd paprika</a:t>
            </a:r>
          </a:p>
          <a:p>
            <a:pPr>
              <a:spcAft>
                <a:spcPts val="0"/>
              </a:spcAft>
            </a:pPr>
            <a:r>
              <a:rPr lang="sv-SE" sz="1100" dirty="0">
                <a:solidFill>
                  <a:srgbClr val="FF0000"/>
                </a:solidFill>
                <a:ea typeface="Helvetica Neue" panose="02000503000000020004" pitchFamily="2" charset="0"/>
                <a:cs typeface="Helvetica Neue" panose="02000503000000020004" pitchFamily="2" charset="0"/>
              </a:rPr>
              <a:t>1/5 grön paprika</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1/4 rödlök</a:t>
            </a:r>
          </a:p>
          <a:p>
            <a:r>
              <a:rPr lang="sv-SE" sz="1100" dirty="0">
                <a:solidFill>
                  <a:srgbClr val="000000"/>
                </a:solidFill>
                <a:ea typeface="Helvetica Neue" panose="02000503000000020004" pitchFamily="2" charset="0"/>
                <a:cs typeface="Helvetica Neue" panose="02000503000000020004" pitchFamily="2" charset="0"/>
              </a:rPr>
              <a:t>5 svarta oliver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tsk olivolja</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tsk rödvinsvinäger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krm provencalska örter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75 g fetaost</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2 msk</a:t>
            </a:r>
            <a:r>
              <a:rPr lang="sv-SE" sz="1100" dirty="0">
                <a:solidFill>
                  <a:srgbClr val="FF0000"/>
                </a:solidFill>
                <a:ea typeface="Helvetica Neue" panose="02000503000000020004" pitchFamily="2" charset="0"/>
                <a:cs typeface="Helvetica Neue" panose="02000503000000020004" pitchFamily="2" charset="0"/>
              </a:rPr>
              <a:t> </a:t>
            </a:r>
            <a:r>
              <a:rPr lang="sv-SE" sz="1100" dirty="0">
                <a:solidFill>
                  <a:srgbClr val="000000"/>
                </a:solidFill>
                <a:ea typeface="Helvetica Neue" panose="02000503000000020004" pitchFamily="2" charset="0"/>
                <a:cs typeface="Helvetica Neue" panose="02000503000000020004" pitchFamily="2" charset="0"/>
              </a:rPr>
              <a:t>pekannötter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citronklyfta</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b="1" dirty="0">
                <a:solidFill>
                  <a:srgbClr val="000000"/>
                </a:solidFill>
                <a:ea typeface="Helvetica Neue" panose="02000503000000020004" pitchFamily="2" charset="0"/>
                <a:cs typeface="Helvetica Neue" panose="02000503000000020004" pitchFamily="2" charset="0"/>
              </a:rPr>
              <a:t>Dekoration: </a:t>
            </a:r>
            <a:r>
              <a:rPr lang="sv-SE" sz="1100" dirty="0">
                <a:solidFill>
                  <a:srgbClr val="000000"/>
                </a:solidFill>
                <a:ea typeface="Helvetica Neue" panose="02000503000000020004" pitchFamily="2" charset="0"/>
                <a:cs typeface="Helvetica Neue" panose="02000503000000020004" pitchFamily="2" charset="0"/>
              </a:rPr>
              <a:t>persiljekvistar</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Skär tomat och paprika i bitar. Lägg i en skål. Skala och strimla rödlök och blanda ner tillsammans med oliver, olivolja, rödvinsvinäger. Krydda och blanda om. Skär fetaosten på längden och lägg över salladen. Strö på pekannötter. Dekorera med citronklyfta och persiljekvist.</a:t>
            </a:r>
          </a:p>
        </p:txBody>
      </p:sp>
      <p:sp>
        <p:nvSpPr>
          <p:cNvPr id="6" name="Ellips 5">
            <a:extLst>
              <a:ext uri="{FF2B5EF4-FFF2-40B4-BE49-F238E27FC236}">
                <a16:creationId xmlns:a16="http://schemas.microsoft.com/office/drawing/2014/main" id="{C90B55D1-1499-8A46-81B2-E9B5C6D4E9C5}"/>
              </a:ext>
            </a:extLst>
          </p:cNvPr>
          <p:cNvSpPr/>
          <p:nvPr/>
        </p:nvSpPr>
        <p:spPr>
          <a:xfrm>
            <a:off x="1851968" y="404639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529</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pic>
        <p:nvPicPr>
          <p:cNvPr id="7" name="Bildobjekt 6">
            <a:extLst>
              <a:ext uri="{FF2B5EF4-FFF2-40B4-BE49-F238E27FC236}">
                <a16:creationId xmlns:a16="http://schemas.microsoft.com/office/drawing/2014/main" id="{A51FFA32-F9A7-0642-A31C-273035C634A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481665" y="747969"/>
            <a:ext cx="4866469" cy="3649852"/>
          </a:xfrm>
          <a:prstGeom prst="rect">
            <a:avLst/>
          </a:prstGeom>
        </p:spPr>
      </p:pic>
      <p:sp>
        <p:nvSpPr>
          <p:cNvPr id="3" name="textruta 2">
            <a:extLst>
              <a:ext uri="{FF2B5EF4-FFF2-40B4-BE49-F238E27FC236}">
                <a16:creationId xmlns:a16="http://schemas.microsoft.com/office/drawing/2014/main" id="{B74A6236-2036-CB47-B042-66F89D83A30C}"/>
              </a:ext>
            </a:extLst>
          </p:cNvPr>
          <p:cNvSpPr txBox="1"/>
          <p:nvPr/>
        </p:nvSpPr>
        <p:spPr>
          <a:xfrm>
            <a:off x="697424" y="1735810"/>
            <a:ext cx="1455783" cy="369332"/>
          </a:xfrm>
          <a:prstGeom prst="rect">
            <a:avLst/>
          </a:prstGeom>
          <a:noFill/>
        </p:spPr>
        <p:txBody>
          <a:bodyPr wrap="none" rtlCol="0">
            <a:spAutoFit/>
          </a:bodyPr>
          <a:lstStyle/>
          <a:p>
            <a:r>
              <a:rPr lang="sv-SE" dirty="0"/>
              <a:t>Power </a:t>
            </a:r>
            <a:r>
              <a:rPr lang="sv-SE" dirty="0" err="1"/>
              <a:t>month</a:t>
            </a:r>
            <a:endParaRPr lang="sv-SE" dirty="0"/>
          </a:p>
        </p:txBody>
      </p:sp>
    </p:spTree>
    <p:extLst>
      <p:ext uri="{BB962C8B-B14F-4D97-AF65-F5344CB8AC3E}">
        <p14:creationId xmlns:p14="http://schemas.microsoft.com/office/powerpoint/2010/main" val="698166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C13C0C45-6398-3E40-A5DE-31AA7C358185}"/>
              </a:ext>
            </a:extLst>
          </p:cNvPr>
          <p:cNvSpPr>
            <a:spLocks noGrp="1"/>
          </p:cNvSpPr>
          <p:nvPr>
            <p:ph type="sldNum" sz="quarter" idx="12"/>
          </p:nvPr>
        </p:nvSpPr>
        <p:spPr/>
        <p:txBody>
          <a:bodyPr/>
          <a:lstStyle/>
          <a:p>
            <a:fld id="{97BA8967-5D92-4842-BAFB-0C8F679E5DC4}" type="slidenum">
              <a:rPr lang="sv-SE" smtClean="0"/>
              <a:t>5</a:t>
            </a:fld>
            <a:endParaRPr lang="sv-SE"/>
          </a:p>
        </p:txBody>
      </p:sp>
      <p:sp>
        <p:nvSpPr>
          <p:cNvPr id="8" name="textruta 7">
            <a:extLst>
              <a:ext uri="{FF2B5EF4-FFF2-40B4-BE49-F238E27FC236}">
                <a16:creationId xmlns:a16="http://schemas.microsoft.com/office/drawing/2014/main" id="{EDAB3DE7-6ADF-DE48-9756-52DF4FBC33A8}"/>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15" name="Ellips 14">
            <a:extLst>
              <a:ext uri="{FF2B5EF4-FFF2-40B4-BE49-F238E27FC236}">
                <a16:creationId xmlns:a16="http://schemas.microsoft.com/office/drawing/2014/main" id="{33D21438-AD05-4D4C-BAF4-C69D87CA0651}"/>
              </a:ext>
            </a:extLst>
          </p:cNvPr>
          <p:cNvSpPr/>
          <p:nvPr/>
        </p:nvSpPr>
        <p:spPr>
          <a:xfrm>
            <a:off x="2765963" y="296637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320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3" name="textruta 2">
            <a:extLst>
              <a:ext uri="{FF2B5EF4-FFF2-40B4-BE49-F238E27FC236}">
                <a16:creationId xmlns:a16="http://schemas.microsoft.com/office/drawing/2014/main" id="{0302B0FE-DCF6-E94A-B241-6A64F20642B7}"/>
              </a:ext>
            </a:extLst>
          </p:cNvPr>
          <p:cNvSpPr txBox="1"/>
          <p:nvPr/>
        </p:nvSpPr>
        <p:spPr>
          <a:xfrm>
            <a:off x="3409627" y="6865749"/>
            <a:ext cx="1267848" cy="369332"/>
          </a:xfrm>
          <a:prstGeom prst="rect">
            <a:avLst/>
          </a:prstGeom>
          <a:noFill/>
        </p:spPr>
        <p:txBody>
          <a:bodyPr wrap="none" rtlCol="0">
            <a:spAutoFit/>
          </a:bodyPr>
          <a:lstStyle/>
          <a:p>
            <a:r>
              <a:rPr lang="sv-SE" dirty="0"/>
              <a:t>Jorden runt</a:t>
            </a:r>
          </a:p>
        </p:txBody>
      </p:sp>
      <p:sp>
        <p:nvSpPr>
          <p:cNvPr id="21" name="Platshållare för sidfot 1">
            <a:extLst>
              <a:ext uri="{FF2B5EF4-FFF2-40B4-BE49-F238E27FC236}">
                <a16:creationId xmlns:a16="http://schemas.microsoft.com/office/drawing/2014/main" id="{197A2C0E-670B-F44C-87FE-A87BB65D1466}"/>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sp>
        <p:nvSpPr>
          <p:cNvPr id="9" name="Rektangel 8">
            <a:extLst>
              <a:ext uri="{FF2B5EF4-FFF2-40B4-BE49-F238E27FC236}">
                <a16:creationId xmlns:a16="http://schemas.microsoft.com/office/drawing/2014/main" id="{6F5211D0-E0AD-EA48-AA8D-CC034B6AA5D4}"/>
              </a:ext>
            </a:extLst>
          </p:cNvPr>
          <p:cNvSpPr/>
          <p:nvPr/>
        </p:nvSpPr>
        <p:spPr>
          <a:xfrm>
            <a:off x="285023" y="1507828"/>
            <a:ext cx="6496737" cy="4832092"/>
          </a:xfrm>
          <a:prstGeom prst="rect">
            <a:avLst/>
          </a:prstGeom>
        </p:spPr>
        <p:txBody>
          <a:bodyPr wrap="square">
            <a:spAutoFit/>
          </a:bodyPr>
          <a:lstStyle/>
          <a:p>
            <a:pPr>
              <a:spcAft>
                <a:spcPts val="0"/>
              </a:spcAft>
            </a:pPr>
            <a:r>
              <a:rPr lang="sv-SE" sz="1100" b="1" dirty="0">
                <a:ea typeface="Calibri" panose="020F0502020204030204" pitchFamily="34" charset="0"/>
                <a:cs typeface="Times New Roman" panose="02020603050405020304" pitchFamily="18" charset="0"/>
              </a:rPr>
              <a:t>Japansk </a:t>
            </a:r>
            <a:r>
              <a:rPr lang="sv-SE" sz="1100" b="1" dirty="0" err="1">
                <a:ea typeface="Calibri" panose="020F0502020204030204" pitchFamily="34" charset="0"/>
                <a:cs typeface="Times New Roman" panose="02020603050405020304" pitchFamily="18" charset="0"/>
              </a:rPr>
              <a:t>kycklingfärswok</a:t>
            </a:r>
            <a:r>
              <a:rPr lang="sv-SE" sz="1100" b="1" dirty="0">
                <a:ea typeface="Calibri" panose="020F0502020204030204" pitchFamily="34" charset="0"/>
                <a:cs typeface="Times New Roman" panose="02020603050405020304" pitchFamily="18" charset="0"/>
              </a:rPr>
              <a:t> med groddar – 2 portioner </a:t>
            </a:r>
            <a:endParaRPr lang="sv-SE" sz="1100" dirty="0">
              <a:ea typeface="Calibri" panose="020F0502020204030204" pitchFamily="34" charset="0"/>
              <a:cs typeface="Times New Roman" panose="02020603050405020304" pitchFamily="18" charset="0"/>
            </a:endParaRPr>
          </a:p>
          <a:p>
            <a:pPr>
              <a:spcAft>
                <a:spcPts val="0"/>
              </a:spcAft>
            </a:pPr>
            <a:r>
              <a:rPr lang="sv-SE" sz="1100" dirty="0">
                <a:ea typeface="Calibri" panose="020F0502020204030204" pitchFamily="34" charset="0"/>
                <a:cs typeface="Times New Roman" panose="02020603050405020304" pitchFamily="18" charset="0"/>
              </a:rPr>
              <a:t>½ morot</a:t>
            </a:r>
          </a:p>
          <a:p>
            <a:pPr>
              <a:spcAft>
                <a:spcPts val="0"/>
              </a:spcAft>
            </a:pPr>
            <a:r>
              <a:rPr lang="sv-SE" sz="1100" dirty="0">
                <a:ea typeface="Calibri" panose="020F0502020204030204" pitchFamily="34" charset="0"/>
                <a:cs typeface="Times New Roman" panose="02020603050405020304" pitchFamily="18" charset="0"/>
              </a:rPr>
              <a:t>1 strimlad salladslök</a:t>
            </a:r>
          </a:p>
          <a:p>
            <a:pPr>
              <a:spcAft>
                <a:spcPts val="0"/>
              </a:spcAft>
            </a:pPr>
            <a:r>
              <a:rPr lang="sv-SE" sz="1100" dirty="0">
                <a:ea typeface="Calibri" panose="020F0502020204030204" pitchFamily="34" charset="0"/>
                <a:cs typeface="Times New Roman" panose="02020603050405020304" pitchFamily="18" charset="0"/>
              </a:rPr>
              <a:t>½  röd paprika</a:t>
            </a:r>
          </a:p>
          <a:p>
            <a:pPr>
              <a:spcAft>
                <a:spcPts val="0"/>
              </a:spcAft>
            </a:pPr>
            <a:r>
              <a:rPr lang="sv-SE" sz="1100" dirty="0">
                <a:ea typeface="Calibri" panose="020F0502020204030204" pitchFamily="34" charset="0"/>
                <a:cs typeface="Times New Roman" panose="02020603050405020304" pitchFamily="18" charset="0"/>
              </a:rPr>
              <a:t>¼  liten squash</a:t>
            </a:r>
          </a:p>
          <a:p>
            <a:r>
              <a:rPr lang="sv-SE" sz="1100" dirty="0">
                <a:ea typeface="Calibri" panose="020F0502020204030204" pitchFamily="34" charset="0"/>
                <a:cs typeface="Times New Roman" panose="02020603050405020304" pitchFamily="18" charset="0"/>
              </a:rPr>
              <a:t>1 tsk olivolja</a:t>
            </a:r>
          </a:p>
          <a:p>
            <a:pPr>
              <a:spcAft>
                <a:spcPts val="0"/>
              </a:spcAft>
            </a:pPr>
            <a:r>
              <a:rPr lang="sv-SE" sz="1100" dirty="0">
                <a:ea typeface="Calibri" panose="020F0502020204030204" pitchFamily="34" charset="0"/>
                <a:cs typeface="Times New Roman" panose="02020603050405020304" pitchFamily="18" charset="0"/>
              </a:rPr>
              <a:t>200 g kycklingfärs</a:t>
            </a:r>
          </a:p>
          <a:p>
            <a:pPr>
              <a:spcAft>
                <a:spcPts val="0"/>
              </a:spcAft>
            </a:pPr>
            <a:r>
              <a:rPr lang="sv-SE" sz="1100" dirty="0">
                <a:ea typeface="Calibri" panose="020F0502020204030204" pitchFamily="34" charset="0"/>
                <a:cs typeface="Times New Roman" panose="02020603050405020304" pitchFamily="18" charset="0"/>
              </a:rPr>
              <a:t>1 liten riven vitlöksklyfta</a:t>
            </a:r>
          </a:p>
          <a:p>
            <a:pPr>
              <a:spcAft>
                <a:spcPts val="0"/>
              </a:spcAft>
            </a:pPr>
            <a:r>
              <a:rPr lang="sv-SE" sz="1100" dirty="0">
                <a:ea typeface="Calibri" panose="020F0502020204030204" pitchFamily="34" charset="0"/>
                <a:cs typeface="Times New Roman" panose="02020603050405020304" pitchFamily="18" charset="0"/>
              </a:rPr>
              <a:t>½ finhackad röd chili</a:t>
            </a:r>
          </a:p>
          <a:p>
            <a:pPr>
              <a:spcAft>
                <a:spcPts val="0"/>
              </a:spcAft>
            </a:pPr>
            <a:r>
              <a:rPr lang="sv-SE" sz="1100" dirty="0">
                <a:ea typeface="Calibri" panose="020F0502020204030204" pitchFamily="34" charset="0"/>
                <a:cs typeface="Times New Roman" panose="02020603050405020304" pitchFamily="18" charset="0"/>
              </a:rPr>
              <a:t>½ msk riven ingefära</a:t>
            </a:r>
          </a:p>
          <a:p>
            <a:pPr>
              <a:spcAft>
                <a:spcPts val="0"/>
              </a:spcAft>
            </a:pPr>
            <a:r>
              <a:rPr lang="sv-SE" sz="1100" dirty="0">
                <a:ea typeface="Calibri" panose="020F0502020204030204" pitchFamily="34" charset="0"/>
                <a:cs typeface="Times New Roman" panose="02020603050405020304" pitchFamily="18" charset="0"/>
              </a:rPr>
              <a:t>1 tsk sesamolja</a:t>
            </a:r>
          </a:p>
          <a:p>
            <a:pPr>
              <a:spcAft>
                <a:spcPts val="0"/>
              </a:spcAft>
            </a:pPr>
            <a:r>
              <a:rPr lang="sv-SE" sz="1100" dirty="0">
                <a:ea typeface="Calibri" panose="020F0502020204030204" pitchFamily="34" charset="0"/>
                <a:cs typeface="Times New Roman" panose="02020603050405020304" pitchFamily="18" charset="0"/>
              </a:rPr>
              <a:t>1 tsk </a:t>
            </a:r>
            <a:r>
              <a:rPr lang="sv-SE" sz="1100" dirty="0" err="1">
                <a:ea typeface="Calibri" panose="020F0502020204030204" pitchFamily="34" charset="0"/>
                <a:cs typeface="Times New Roman" panose="02020603050405020304" pitchFamily="18" charset="0"/>
              </a:rPr>
              <a:t>sambal</a:t>
            </a:r>
            <a:r>
              <a:rPr lang="sv-SE" sz="1100" dirty="0">
                <a:ea typeface="Calibri" panose="020F0502020204030204" pitchFamily="34" charset="0"/>
                <a:cs typeface="Times New Roman" panose="02020603050405020304" pitchFamily="18" charset="0"/>
              </a:rPr>
              <a:t> </a:t>
            </a:r>
            <a:r>
              <a:rPr lang="sv-SE" sz="1100" dirty="0" err="1">
                <a:ea typeface="Calibri" panose="020F0502020204030204" pitchFamily="34" charset="0"/>
                <a:cs typeface="Times New Roman" panose="02020603050405020304" pitchFamily="18" charset="0"/>
              </a:rPr>
              <a:t>oelek</a:t>
            </a:r>
            <a:endParaRPr lang="sv-SE" sz="1100" dirty="0">
              <a:ea typeface="Calibri" panose="020F0502020204030204" pitchFamily="34" charset="0"/>
              <a:cs typeface="Times New Roman" panose="02020603050405020304" pitchFamily="18" charset="0"/>
            </a:endParaRPr>
          </a:p>
          <a:p>
            <a:r>
              <a:rPr lang="sv-SE" sz="1100" dirty="0">
                <a:ea typeface="Calibri" panose="020F0502020204030204" pitchFamily="34" charset="0"/>
                <a:cs typeface="Times New Roman" panose="02020603050405020304" pitchFamily="18" charset="0"/>
              </a:rPr>
              <a:t>Salt och svartpeppar</a:t>
            </a:r>
          </a:p>
          <a:p>
            <a:pPr>
              <a:spcAft>
                <a:spcPts val="0"/>
              </a:spcAft>
            </a:pPr>
            <a:r>
              <a:rPr lang="sv-SE" sz="1100" dirty="0">
                <a:ea typeface="Calibri" panose="020F0502020204030204" pitchFamily="34" charset="0"/>
                <a:cs typeface="Times New Roman" panose="02020603050405020304" pitchFamily="18" charset="0"/>
              </a:rPr>
              <a:t>3 msk teriyakisås</a:t>
            </a:r>
          </a:p>
          <a:p>
            <a:pPr>
              <a:spcAft>
                <a:spcPts val="0"/>
              </a:spcAft>
            </a:pPr>
            <a:r>
              <a:rPr lang="sv-SE" sz="1100" dirty="0">
                <a:ea typeface="Calibri" panose="020F0502020204030204" pitchFamily="34" charset="0"/>
                <a:cs typeface="Times New Roman" panose="02020603050405020304" pitchFamily="18" charset="0"/>
              </a:rPr>
              <a:t>100 g sockerärtor</a:t>
            </a:r>
          </a:p>
          <a:p>
            <a:r>
              <a:rPr lang="sv-SE" sz="1100" dirty="0">
                <a:ea typeface="Calibri" panose="020F0502020204030204" pitchFamily="34" charset="0"/>
                <a:cs typeface="Times New Roman" panose="02020603050405020304" pitchFamily="18" charset="0"/>
              </a:rPr>
              <a:t>Saften av en ¼  lime</a:t>
            </a:r>
          </a:p>
          <a:p>
            <a:pPr>
              <a:spcAft>
                <a:spcPts val="0"/>
              </a:spcAft>
            </a:pPr>
            <a:r>
              <a:rPr lang="sv-SE" sz="1100" dirty="0">
                <a:ea typeface="Calibri" panose="020F0502020204030204" pitchFamily="34" charset="0"/>
                <a:cs typeface="Times New Roman" panose="02020603050405020304" pitchFamily="18" charset="0"/>
              </a:rPr>
              <a:t>1 msk hackad gräslök</a:t>
            </a:r>
          </a:p>
          <a:p>
            <a:pPr>
              <a:spcAft>
                <a:spcPts val="0"/>
              </a:spcAft>
            </a:pPr>
            <a:r>
              <a:rPr lang="sv-SE" sz="1100" dirty="0">
                <a:ea typeface="Calibri" panose="020F0502020204030204" pitchFamily="34" charset="0"/>
                <a:cs typeface="Times New Roman" panose="02020603050405020304" pitchFamily="18" charset="0"/>
              </a:rPr>
              <a:t>150 g böngroddar</a:t>
            </a:r>
          </a:p>
          <a:p>
            <a:pPr>
              <a:spcAft>
                <a:spcPts val="0"/>
              </a:spcAft>
            </a:pPr>
            <a:r>
              <a:rPr lang="sv-SE" sz="1100" dirty="0">
                <a:ea typeface="Calibri" panose="020F0502020204030204" pitchFamily="34" charset="0"/>
                <a:cs typeface="Times New Roman" panose="02020603050405020304" pitchFamily="18" charset="0"/>
              </a:rPr>
              <a:t> </a:t>
            </a:r>
          </a:p>
          <a:p>
            <a:pPr>
              <a:spcAft>
                <a:spcPts val="0"/>
              </a:spcAft>
            </a:pPr>
            <a:r>
              <a:rPr lang="sv-SE" sz="1100" b="1" dirty="0">
                <a:ea typeface="Calibri" panose="020F0502020204030204" pitchFamily="34" charset="0"/>
                <a:cs typeface="Times New Roman" panose="02020603050405020304" pitchFamily="18" charset="0"/>
              </a:rPr>
              <a:t>Dekoration:</a:t>
            </a:r>
            <a:r>
              <a:rPr lang="sv-SE" sz="1100" dirty="0">
                <a:ea typeface="Calibri" panose="020F0502020204030204" pitchFamily="34" charset="0"/>
                <a:cs typeface="Times New Roman" panose="02020603050405020304" pitchFamily="18" charset="0"/>
              </a:rPr>
              <a:t> </a:t>
            </a:r>
            <a:r>
              <a:rPr lang="sv-SE" sz="1100" dirty="0" err="1">
                <a:ea typeface="Calibri" panose="020F0502020204030204" pitchFamily="34" charset="0"/>
                <a:cs typeface="Times New Roman" panose="02020603050405020304" pitchFamily="18" charset="0"/>
              </a:rPr>
              <a:t>furikake</a:t>
            </a:r>
            <a:r>
              <a:rPr lang="sv-SE" sz="1100" dirty="0">
                <a:ea typeface="Calibri" panose="020F0502020204030204" pitchFamily="34" charset="0"/>
                <a:cs typeface="Times New Roman" panose="02020603050405020304" pitchFamily="18" charset="0"/>
              </a:rPr>
              <a:t> och hackad gräslök</a:t>
            </a:r>
          </a:p>
          <a:p>
            <a:pPr>
              <a:spcAft>
                <a:spcPts val="0"/>
              </a:spcAft>
            </a:pPr>
            <a:endParaRPr lang="sv-SE" sz="1100" dirty="0">
              <a:ea typeface="Calibri" panose="020F0502020204030204" pitchFamily="34" charset="0"/>
              <a:cs typeface="Times New Roman" panose="02020603050405020304" pitchFamily="18" charset="0"/>
            </a:endParaRPr>
          </a:p>
          <a:p>
            <a:r>
              <a:rPr lang="sv-SE" sz="1100" dirty="0">
                <a:ea typeface="Calibri" panose="020F0502020204030204" pitchFamily="34" charset="0"/>
                <a:cs typeface="Times New Roman" panose="02020603050405020304" pitchFamily="18" charset="0"/>
              </a:rPr>
              <a:t>Skiva morot, paprika och squash. Riv vitlöken. Hetta upp en stekpanna med olja och bryn kycklingfärs, vitlök, chili, ingefära och salladslök några minuter .Tillsätt sesamolja och </a:t>
            </a:r>
            <a:r>
              <a:rPr lang="sv-SE" sz="1100" dirty="0" err="1">
                <a:ea typeface="Calibri" panose="020F0502020204030204" pitchFamily="34" charset="0"/>
                <a:cs typeface="Times New Roman" panose="02020603050405020304" pitchFamily="18" charset="0"/>
              </a:rPr>
              <a:t>sambal</a:t>
            </a:r>
            <a:r>
              <a:rPr lang="sv-SE" sz="1100" dirty="0">
                <a:ea typeface="Calibri" panose="020F0502020204030204" pitchFamily="34" charset="0"/>
                <a:cs typeface="Times New Roman" panose="02020603050405020304" pitchFamily="18" charset="0"/>
              </a:rPr>
              <a:t> </a:t>
            </a:r>
            <a:r>
              <a:rPr lang="sv-SE" sz="1100" dirty="0" err="1">
                <a:ea typeface="Calibri" panose="020F0502020204030204" pitchFamily="34" charset="0"/>
                <a:cs typeface="Times New Roman" panose="02020603050405020304" pitchFamily="18" charset="0"/>
              </a:rPr>
              <a:t>oelek</a:t>
            </a:r>
            <a:r>
              <a:rPr lang="sv-SE" sz="1100" dirty="0">
                <a:ea typeface="Calibri" panose="020F0502020204030204" pitchFamily="34" charset="0"/>
                <a:cs typeface="Times New Roman" panose="02020603050405020304" pitchFamily="18" charset="0"/>
              </a:rPr>
              <a:t>. Strö på salt och peppar. Häll på teriyakisås och blanda ner alla grönsaker. Låt steka någon minut. Pressa limesaft över och blanda ner gräslök. Lägg groddar på tallrikar och lägg över kycklingwoken. Toppa med </a:t>
            </a:r>
            <a:r>
              <a:rPr lang="sv-SE" sz="1100" dirty="0" err="1">
                <a:ea typeface="Calibri" panose="020F0502020204030204" pitchFamily="34" charset="0"/>
                <a:cs typeface="Times New Roman" panose="02020603050405020304" pitchFamily="18" charset="0"/>
              </a:rPr>
              <a:t>furikake</a:t>
            </a:r>
            <a:r>
              <a:rPr lang="sv-SE" sz="1100" dirty="0">
                <a:ea typeface="Calibri" panose="020F0502020204030204" pitchFamily="34" charset="0"/>
                <a:cs typeface="Times New Roman" panose="02020603050405020304" pitchFamily="18" charset="0"/>
              </a:rPr>
              <a:t> och gräslök.</a:t>
            </a:r>
          </a:p>
          <a:p>
            <a:pPr>
              <a:spcAft>
                <a:spcPts val="0"/>
              </a:spcAft>
            </a:pPr>
            <a:endParaRPr lang="sv-SE" sz="1100" dirty="0">
              <a:ea typeface="Calibri" panose="020F0502020204030204" pitchFamily="34" charset="0"/>
              <a:cs typeface="Times New Roman" panose="02020603050405020304" pitchFamily="18" charset="0"/>
            </a:endParaRPr>
          </a:p>
          <a:p>
            <a:pPr>
              <a:spcAft>
                <a:spcPts val="0"/>
              </a:spcAft>
            </a:pPr>
            <a:r>
              <a:rPr lang="sv-SE" sz="1100" dirty="0">
                <a:ea typeface="Calibri" panose="020F0502020204030204" pitchFamily="34" charset="0"/>
                <a:cs typeface="Times New Roman" panose="02020603050405020304" pitchFamily="18" charset="0"/>
              </a:rPr>
              <a:t> </a:t>
            </a:r>
          </a:p>
        </p:txBody>
      </p:sp>
      <p:pic>
        <p:nvPicPr>
          <p:cNvPr id="11" name="Bildobjekt 10">
            <a:extLst>
              <a:ext uri="{FF2B5EF4-FFF2-40B4-BE49-F238E27FC236}">
                <a16:creationId xmlns:a16="http://schemas.microsoft.com/office/drawing/2014/main" id="{A0FDD327-89FC-464C-A879-14128E1D82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495607" y="980801"/>
            <a:ext cx="3709891" cy="2782419"/>
          </a:xfrm>
          <a:prstGeom prst="rect">
            <a:avLst/>
          </a:prstGeom>
        </p:spPr>
      </p:pic>
    </p:spTree>
    <p:extLst>
      <p:ext uri="{BB962C8B-B14F-4D97-AF65-F5344CB8AC3E}">
        <p14:creationId xmlns:p14="http://schemas.microsoft.com/office/powerpoint/2010/main" val="3123923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C13C0C45-6398-3E40-A5DE-31AA7C358185}"/>
              </a:ext>
            </a:extLst>
          </p:cNvPr>
          <p:cNvSpPr>
            <a:spLocks noGrp="1"/>
          </p:cNvSpPr>
          <p:nvPr>
            <p:ph type="sldNum" sz="quarter" idx="12"/>
          </p:nvPr>
        </p:nvSpPr>
        <p:spPr/>
        <p:txBody>
          <a:bodyPr/>
          <a:lstStyle/>
          <a:p>
            <a:fld id="{97BA8967-5D92-4842-BAFB-0C8F679E5DC4}" type="slidenum">
              <a:rPr lang="sv-SE" smtClean="0"/>
              <a:t>6</a:t>
            </a:fld>
            <a:endParaRPr lang="sv-SE"/>
          </a:p>
        </p:txBody>
      </p:sp>
      <p:sp>
        <p:nvSpPr>
          <p:cNvPr id="8" name="textruta 7">
            <a:extLst>
              <a:ext uri="{FF2B5EF4-FFF2-40B4-BE49-F238E27FC236}">
                <a16:creationId xmlns:a16="http://schemas.microsoft.com/office/drawing/2014/main" id="{EDAB3DE7-6ADF-DE48-9756-52DF4FBC33A8}"/>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9" name="Rektangel 8">
            <a:extLst>
              <a:ext uri="{FF2B5EF4-FFF2-40B4-BE49-F238E27FC236}">
                <a16:creationId xmlns:a16="http://schemas.microsoft.com/office/drawing/2014/main" id="{29F42726-9BC5-1843-9E33-157AE839E2F3}"/>
              </a:ext>
            </a:extLst>
          </p:cNvPr>
          <p:cNvSpPr/>
          <p:nvPr/>
        </p:nvSpPr>
        <p:spPr>
          <a:xfrm>
            <a:off x="170481" y="1273162"/>
            <a:ext cx="6344619" cy="7201972"/>
          </a:xfrm>
          <a:prstGeom prst="rect">
            <a:avLst/>
          </a:prstGeom>
        </p:spPr>
        <p:txBody>
          <a:bodyPr wrap="square" lIns="91440" tIns="45720" rIns="91440" bIns="45720" anchor="t">
            <a:spAutoFit/>
          </a:bodyPr>
          <a:lstStyle/>
          <a:p>
            <a:r>
              <a:rPr lang="sv-SE" sz="1100" b="1" dirty="0">
                <a:solidFill>
                  <a:srgbClr val="000000"/>
                </a:solidFill>
              </a:rPr>
              <a:t>Kycklingjärpar med linssallad - 2 portioner</a:t>
            </a:r>
            <a:endParaRPr lang="sv-SE" sz="1100" dirty="0">
              <a:solidFill>
                <a:srgbClr val="000000"/>
              </a:solidFill>
            </a:endParaRPr>
          </a:p>
          <a:p>
            <a:r>
              <a:rPr lang="sv-SE" sz="1100" dirty="0">
                <a:solidFill>
                  <a:srgbClr val="000000"/>
                </a:solidFill>
              </a:rPr>
              <a:t>4 trägrillspett</a:t>
            </a:r>
          </a:p>
          <a:p>
            <a:r>
              <a:rPr lang="sv-SE" sz="1100" dirty="0">
                <a:solidFill>
                  <a:srgbClr val="000000"/>
                </a:solidFill>
              </a:rPr>
              <a:t>5 cm purjolök </a:t>
            </a:r>
          </a:p>
          <a:p>
            <a:r>
              <a:rPr lang="sv-SE" sz="1100" dirty="0">
                <a:solidFill>
                  <a:srgbClr val="000000"/>
                </a:solidFill>
              </a:rPr>
              <a:t>1/2 vitlöksklyfta</a:t>
            </a:r>
          </a:p>
          <a:p>
            <a:r>
              <a:rPr lang="sv-SE" sz="1100" dirty="0">
                <a:solidFill>
                  <a:srgbClr val="000000"/>
                </a:solidFill>
              </a:rPr>
              <a:t>70 g mozzarella  </a:t>
            </a:r>
          </a:p>
          <a:p>
            <a:r>
              <a:rPr lang="sv-SE" sz="1100" dirty="0">
                <a:solidFill>
                  <a:srgbClr val="000000"/>
                </a:solidFill>
              </a:rPr>
              <a:t>2 msk </a:t>
            </a:r>
            <a:r>
              <a:rPr lang="sv-SE" sz="1100" dirty="0">
                <a:solidFill>
                  <a:srgbClr val="FF0000"/>
                </a:solidFill>
              </a:rPr>
              <a:t>hackad</a:t>
            </a:r>
            <a:r>
              <a:rPr lang="sv-SE" sz="1100" dirty="0">
                <a:solidFill>
                  <a:srgbClr val="000000"/>
                </a:solidFill>
              </a:rPr>
              <a:t> persilja</a:t>
            </a:r>
          </a:p>
          <a:p>
            <a:r>
              <a:rPr lang="sv-SE" sz="1100" dirty="0">
                <a:solidFill>
                  <a:srgbClr val="000000"/>
                </a:solidFill>
              </a:rPr>
              <a:t>300 g kycklingfärs</a:t>
            </a:r>
          </a:p>
          <a:p>
            <a:r>
              <a:rPr lang="sv-SE" sz="1100" dirty="0">
                <a:solidFill>
                  <a:srgbClr val="000000"/>
                </a:solidFill>
              </a:rPr>
              <a:t>1/2 tsk örtagårdskrydda</a:t>
            </a:r>
          </a:p>
          <a:p>
            <a:r>
              <a:rPr lang="sv-SE" sz="1100" dirty="0">
                <a:solidFill>
                  <a:srgbClr val="000000"/>
                </a:solidFill>
              </a:rPr>
              <a:t>Salt och svartpeppar</a:t>
            </a:r>
          </a:p>
          <a:p>
            <a:r>
              <a:rPr lang="sv-SE" sz="1100" dirty="0">
                <a:solidFill>
                  <a:srgbClr val="000000"/>
                </a:solidFill>
              </a:rPr>
              <a:t>1 tsk smör</a:t>
            </a:r>
          </a:p>
          <a:p>
            <a:endParaRPr lang="sv-SE" sz="1100" dirty="0">
              <a:solidFill>
                <a:srgbClr val="000000"/>
              </a:solidFill>
            </a:endParaRPr>
          </a:p>
          <a:p>
            <a:r>
              <a:rPr lang="sv-SE" sz="1100" b="1" dirty="0">
                <a:solidFill>
                  <a:srgbClr val="000000"/>
                </a:solidFill>
              </a:rPr>
              <a:t>Linssallad</a:t>
            </a:r>
            <a:endParaRPr lang="sv-SE" sz="1100" dirty="0">
              <a:solidFill>
                <a:srgbClr val="000000"/>
              </a:solidFill>
            </a:endParaRPr>
          </a:p>
          <a:p>
            <a:r>
              <a:rPr lang="sv-SE" sz="1100" dirty="0">
                <a:solidFill>
                  <a:srgbClr val="000000"/>
                </a:solidFill>
              </a:rPr>
              <a:t>1 dl torkade röda linser</a:t>
            </a:r>
          </a:p>
          <a:p>
            <a:r>
              <a:rPr lang="sv-SE" sz="1100" dirty="0">
                <a:solidFill>
                  <a:srgbClr val="FF0000"/>
                </a:solidFill>
              </a:rPr>
              <a:t>1/4 röd paprika</a:t>
            </a:r>
            <a:endParaRPr lang="sv-SE" sz="1100" dirty="0">
              <a:solidFill>
                <a:srgbClr val="FF0000"/>
              </a:solidFill>
              <a:ea typeface="Calibri"/>
              <a:cs typeface="Calibri"/>
            </a:endParaRPr>
          </a:p>
          <a:p>
            <a:r>
              <a:rPr lang="sv-SE" sz="1100" dirty="0">
                <a:solidFill>
                  <a:srgbClr val="FF0000"/>
                </a:solidFill>
              </a:rPr>
              <a:t>1/4 gul paprika</a:t>
            </a:r>
            <a:endParaRPr lang="sv-SE" sz="1100" dirty="0">
              <a:solidFill>
                <a:srgbClr val="FF0000"/>
              </a:solidFill>
              <a:ea typeface="Calibri"/>
              <a:cs typeface="Calibri"/>
            </a:endParaRPr>
          </a:p>
          <a:p>
            <a:r>
              <a:rPr lang="sv-SE" sz="1100" dirty="0">
                <a:solidFill>
                  <a:srgbClr val="000000"/>
                </a:solidFill>
              </a:rPr>
              <a:t>1/4 rödlök</a:t>
            </a:r>
          </a:p>
          <a:p>
            <a:r>
              <a:rPr lang="sv-SE" sz="1100" dirty="0">
                <a:solidFill>
                  <a:srgbClr val="000000"/>
                </a:solidFill>
              </a:rPr>
              <a:t>2 msk </a:t>
            </a:r>
            <a:r>
              <a:rPr lang="sv-SE" sz="1100" dirty="0">
                <a:solidFill>
                  <a:srgbClr val="FF0000"/>
                </a:solidFill>
              </a:rPr>
              <a:t>hackad</a:t>
            </a:r>
            <a:r>
              <a:rPr lang="sv-SE" sz="1100" dirty="0">
                <a:solidFill>
                  <a:srgbClr val="000000"/>
                </a:solidFill>
              </a:rPr>
              <a:t> persilja </a:t>
            </a:r>
          </a:p>
          <a:p>
            <a:r>
              <a:rPr lang="sv-SE" sz="1100" dirty="0">
                <a:solidFill>
                  <a:srgbClr val="000000"/>
                </a:solidFill>
              </a:rPr>
              <a:t>1/2 tsk </a:t>
            </a:r>
            <a:r>
              <a:rPr lang="sv-SE" sz="1100" dirty="0" err="1">
                <a:solidFill>
                  <a:srgbClr val="000000"/>
                </a:solidFill>
              </a:rPr>
              <a:t>sambal</a:t>
            </a:r>
            <a:r>
              <a:rPr lang="sv-SE" sz="1100" dirty="0">
                <a:solidFill>
                  <a:srgbClr val="000000"/>
                </a:solidFill>
              </a:rPr>
              <a:t> </a:t>
            </a:r>
            <a:r>
              <a:rPr lang="sv-SE" sz="1100" dirty="0" err="1">
                <a:solidFill>
                  <a:srgbClr val="000000"/>
                </a:solidFill>
              </a:rPr>
              <a:t>oelek</a:t>
            </a:r>
            <a:r>
              <a:rPr lang="sv-SE" sz="1100" dirty="0">
                <a:solidFill>
                  <a:srgbClr val="000000"/>
                </a:solidFill>
              </a:rPr>
              <a:t> </a:t>
            </a:r>
          </a:p>
          <a:p>
            <a:r>
              <a:rPr lang="sv-SE" sz="1100" dirty="0">
                <a:solidFill>
                  <a:srgbClr val="000000"/>
                </a:solidFill>
              </a:rPr>
              <a:t>1 krm örtagårdskrydda </a:t>
            </a:r>
          </a:p>
          <a:p>
            <a:r>
              <a:rPr lang="sv-SE" sz="1100" dirty="0">
                <a:solidFill>
                  <a:srgbClr val="000000"/>
                </a:solidFill>
              </a:rPr>
              <a:t>1/4 citron </a:t>
            </a:r>
          </a:p>
          <a:p>
            <a:r>
              <a:rPr lang="sv-SE" sz="1100" dirty="0">
                <a:solidFill>
                  <a:srgbClr val="000000"/>
                </a:solidFill>
              </a:rPr>
              <a:t>Salt och svartpeppar </a:t>
            </a:r>
          </a:p>
          <a:p>
            <a:r>
              <a:rPr lang="sv-SE" sz="1100" dirty="0">
                <a:solidFill>
                  <a:srgbClr val="000000"/>
                </a:solidFill>
              </a:rPr>
              <a:t>20 g bladspenat</a:t>
            </a:r>
          </a:p>
          <a:p>
            <a:endParaRPr lang="sv-SE" sz="1100" dirty="0">
              <a:solidFill>
                <a:srgbClr val="000000"/>
              </a:solidFill>
            </a:endParaRPr>
          </a:p>
          <a:p>
            <a:r>
              <a:rPr lang="sv-SE" sz="1100" b="1" dirty="0" err="1">
                <a:solidFill>
                  <a:srgbClr val="000000"/>
                </a:solidFill>
              </a:rPr>
              <a:t>Ajvaryoghurt</a:t>
            </a:r>
            <a:r>
              <a:rPr lang="sv-SE" sz="1100" b="1" dirty="0">
                <a:solidFill>
                  <a:srgbClr val="000000"/>
                </a:solidFill>
              </a:rPr>
              <a:t>. </a:t>
            </a:r>
            <a:endParaRPr lang="sv-SE" sz="1100" dirty="0">
              <a:solidFill>
                <a:srgbClr val="000000"/>
              </a:solidFill>
            </a:endParaRPr>
          </a:p>
          <a:p>
            <a:r>
              <a:rPr lang="sv-SE" sz="1100" dirty="0">
                <a:solidFill>
                  <a:srgbClr val="000000"/>
                </a:solidFill>
              </a:rPr>
              <a:t>1/2 dl grekisk yoghurt</a:t>
            </a:r>
          </a:p>
          <a:p>
            <a:r>
              <a:rPr lang="sv-SE" sz="1100" dirty="0">
                <a:solidFill>
                  <a:srgbClr val="000000"/>
                </a:solidFill>
              </a:rPr>
              <a:t>1 msk </a:t>
            </a:r>
            <a:r>
              <a:rPr lang="sv-SE" sz="1100" dirty="0" err="1">
                <a:solidFill>
                  <a:srgbClr val="000000"/>
                </a:solidFill>
              </a:rPr>
              <a:t>ajvar</a:t>
            </a:r>
            <a:r>
              <a:rPr lang="sv-SE" sz="1100" dirty="0">
                <a:solidFill>
                  <a:srgbClr val="000000"/>
                </a:solidFill>
              </a:rPr>
              <a:t> </a:t>
            </a:r>
            <a:r>
              <a:rPr lang="sv-SE" sz="1100" dirty="0" err="1">
                <a:solidFill>
                  <a:srgbClr val="000000"/>
                </a:solidFill>
              </a:rPr>
              <a:t>relish</a:t>
            </a:r>
            <a:endParaRPr lang="sv-SE" sz="1100" dirty="0">
              <a:solidFill>
                <a:srgbClr val="000000"/>
              </a:solidFill>
            </a:endParaRPr>
          </a:p>
          <a:p>
            <a:r>
              <a:rPr lang="sv-SE" sz="1100" dirty="0">
                <a:solidFill>
                  <a:srgbClr val="000000"/>
                </a:solidFill>
              </a:rPr>
              <a:t>1/5 vitlöksklyfta </a:t>
            </a:r>
          </a:p>
          <a:p>
            <a:r>
              <a:rPr lang="sv-SE" sz="1100" dirty="0">
                <a:solidFill>
                  <a:srgbClr val="000000"/>
                </a:solidFill>
              </a:rPr>
              <a:t>Salt och peppar. </a:t>
            </a:r>
          </a:p>
          <a:p>
            <a:endParaRPr lang="sv-SE" sz="1100" dirty="0">
              <a:solidFill>
                <a:srgbClr val="000000"/>
              </a:solidFill>
            </a:endParaRPr>
          </a:p>
          <a:p>
            <a:r>
              <a:rPr lang="sv-SE" sz="1100" b="1" dirty="0" err="1">
                <a:solidFill>
                  <a:srgbClr val="000000"/>
                </a:solidFill>
              </a:rPr>
              <a:t>Topping</a:t>
            </a:r>
            <a:endParaRPr lang="sv-SE" sz="1100" dirty="0">
              <a:solidFill>
                <a:srgbClr val="000000"/>
              </a:solidFill>
            </a:endParaRPr>
          </a:p>
          <a:p>
            <a:r>
              <a:rPr lang="sv-SE" sz="1100" dirty="0">
                <a:solidFill>
                  <a:srgbClr val="000000"/>
                </a:solidFill>
              </a:rPr>
              <a:t>Persiljekvistar. </a:t>
            </a:r>
            <a:br>
              <a:rPr lang="sv-SE" sz="1100" dirty="0">
                <a:solidFill>
                  <a:srgbClr val="000000"/>
                </a:solidFill>
              </a:rPr>
            </a:br>
            <a:endParaRPr lang="sv-SE" sz="1100" dirty="0">
              <a:solidFill>
                <a:srgbClr val="000000"/>
              </a:solidFill>
            </a:endParaRPr>
          </a:p>
          <a:p>
            <a:r>
              <a:rPr lang="sv-SE" sz="1100" dirty="0">
                <a:solidFill>
                  <a:srgbClr val="000000"/>
                </a:solidFill>
              </a:rPr>
              <a:t>Lägg grillspetten i blöt. Sätt ugnen på 200 grader. Finhacka purjolök. Skala och riv vitlöksklyfta. Riv mozzarella. Blanda purjolök, vitlök, mozzarella, persilja och kycklingfärs i en bunke. Strö på salt, peppar och örtagårdskrydda. Blanda om och forma till järpar. Trä järparna på spett. Hetta upp en stekpanna med smör och stek järparna runt om så att de får en fin stekyta. Lägg järparna på en ugnsplåt och ställ in i ugnen i 15 min. Koka lönerna i lättsaltat vatten i ca 7 min. Häll av vattnet och lägg i en skål. Skär paprika i mindre bitar. Skala och hacka rödlök. Blanda linser, paprika, rödlök och persilja i en skål. Rör ner </a:t>
            </a:r>
            <a:r>
              <a:rPr lang="sv-SE" sz="1100" dirty="0" err="1">
                <a:solidFill>
                  <a:srgbClr val="000000"/>
                </a:solidFill>
              </a:rPr>
              <a:t>sambal</a:t>
            </a:r>
            <a:r>
              <a:rPr lang="sv-SE" sz="1100" dirty="0">
                <a:solidFill>
                  <a:srgbClr val="000000"/>
                </a:solidFill>
              </a:rPr>
              <a:t> </a:t>
            </a:r>
            <a:r>
              <a:rPr lang="sv-SE" sz="1100" dirty="0" err="1">
                <a:solidFill>
                  <a:srgbClr val="000000"/>
                </a:solidFill>
              </a:rPr>
              <a:t>oelek</a:t>
            </a:r>
            <a:r>
              <a:rPr lang="sv-SE" sz="1100" dirty="0">
                <a:solidFill>
                  <a:srgbClr val="000000"/>
                </a:solidFill>
              </a:rPr>
              <a:t>. Krydda med örtagårdskrydda och </a:t>
            </a:r>
            <a:r>
              <a:rPr lang="sv-SE" sz="1100" dirty="0" err="1">
                <a:solidFill>
                  <a:srgbClr val="000000"/>
                </a:solidFill>
              </a:rPr>
              <a:t>presa</a:t>
            </a:r>
            <a:r>
              <a:rPr lang="sv-SE" sz="1100" dirty="0">
                <a:solidFill>
                  <a:srgbClr val="000000"/>
                </a:solidFill>
              </a:rPr>
              <a:t> citron över salladen. Strö på salt och peppar.</a:t>
            </a:r>
          </a:p>
          <a:p>
            <a:r>
              <a:rPr lang="sv-SE" sz="1100" dirty="0">
                <a:solidFill>
                  <a:srgbClr val="000000"/>
                </a:solidFill>
              </a:rPr>
              <a:t>Skala och riv vitlöksklyfta. Blanda grekisk yoghurt, </a:t>
            </a:r>
            <a:r>
              <a:rPr lang="sv-SE" sz="1100" dirty="0" err="1">
                <a:solidFill>
                  <a:srgbClr val="000000"/>
                </a:solidFill>
              </a:rPr>
              <a:t>ajvar</a:t>
            </a:r>
            <a:r>
              <a:rPr lang="sv-SE" sz="1100" dirty="0">
                <a:solidFill>
                  <a:srgbClr val="000000"/>
                </a:solidFill>
              </a:rPr>
              <a:t> </a:t>
            </a:r>
            <a:r>
              <a:rPr lang="sv-SE" sz="1100" dirty="0" err="1">
                <a:solidFill>
                  <a:srgbClr val="000000"/>
                </a:solidFill>
              </a:rPr>
              <a:t>relish</a:t>
            </a:r>
            <a:r>
              <a:rPr lang="sv-SE" sz="1100" dirty="0">
                <a:solidFill>
                  <a:srgbClr val="000000"/>
                </a:solidFill>
              </a:rPr>
              <a:t>, och vitlök i en skål. Strö på salt och peppar. </a:t>
            </a:r>
          </a:p>
          <a:p>
            <a:r>
              <a:rPr lang="sv-SE" sz="1100" dirty="0">
                <a:solidFill>
                  <a:srgbClr val="000000"/>
                </a:solidFill>
              </a:rPr>
              <a:t>Lägg bladspenat på tallrikar. Lägg över linssalladen och dekorera med persilja. Servera med kycklingjärparna och </a:t>
            </a:r>
            <a:r>
              <a:rPr lang="sv-SE" sz="1100" dirty="0" err="1">
                <a:solidFill>
                  <a:srgbClr val="000000"/>
                </a:solidFill>
              </a:rPr>
              <a:t>ajvaryoghurten</a:t>
            </a:r>
            <a:r>
              <a:rPr lang="sv-SE" sz="1100" dirty="0">
                <a:solidFill>
                  <a:srgbClr val="000000"/>
                </a:solidFill>
              </a:rPr>
              <a:t>. </a:t>
            </a:r>
            <a:endParaRPr lang="sv-SE" sz="1100" dirty="0">
              <a:solidFill>
                <a:srgbClr val="000000"/>
              </a:solidFill>
              <a:effectLst/>
            </a:endParaRPr>
          </a:p>
        </p:txBody>
      </p:sp>
      <p:sp>
        <p:nvSpPr>
          <p:cNvPr id="10" name="Ellips 9">
            <a:extLst>
              <a:ext uri="{FF2B5EF4-FFF2-40B4-BE49-F238E27FC236}">
                <a16:creationId xmlns:a16="http://schemas.microsoft.com/office/drawing/2014/main" id="{E9CE8EE6-821F-B24D-B715-6DD85C32BD4B}"/>
              </a:ext>
            </a:extLst>
          </p:cNvPr>
          <p:cNvSpPr/>
          <p:nvPr/>
        </p:nvSpPr>
        <p:spPr>
          <a:xfrm>
            <a:off x="1820527" y="177473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402kcal</a:t>
            </a:r>
            <a:endParaRPr sz="1200" b="1" dirty="0">
              <a:solidFill>
                <a:schemeClr val="bg1"/>
              </a:solidFill>
              <a:ea typeface="ＭＳ 明朝"/>
              <a:cs typeface="Avenir Light"/>
            </a:endParaRPr>
          </a:p>
        </p:txBody>
      </p:sp>
      <p:pic>
        <p:nvPicPr>
          <p:cNvPr id="11" name="Bildobjekt 10">
            <a:extLst>
              <a:ext uri="{FF2B5EF4-FFF2-40B4-BE49-F238E27FC236}">
                <a16:creationId xmlns:a16="http://schemas.microsoft.com/office/drawing/2014/main" id="{A8A8D5A1-4320-8D43-AACD-4742AFE7E7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278719" y="851961"/>
            <a:ext cx="5020513" cy="3765385"/>
          </a:xfrm>
          <a:prstGeom prst="rect">
            <a:avLst/>
          </a:prstGeom>
        </p:spPr>
      </p:pic>
      <p:sp>
        <p:nvSpPr>
          <p:cNvPr id="12" name="Platshållare för sidfot 1">
            <a:extLst>
              <a:ext uri="{FF2B5EF4-FFF2-40B4-BE49-F238E27FC236}">
                <a16:creationId xmlns:a16="http://schemas.microsoft.com/office/drawing/2014/main" id="{29A5841B-4124-C14C-AF2B-05E9E429F99E}"/>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spTree>
    <p:extLst>
      <p:ext uri="{BB962C8B-B14F-4D97-AF65-F5344CB8AC3E}">
        <p14:creationId xmlns:p14="http://schemas.microsoft.com/office/powerpoint/2010/main" val="883022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27B4467F-4054-164B-8B1D-FF80DF13FB72}"/>
              </a:ext>
            </a:extLst>
          </p:cNvPr>
          <p:cNvSpPr/>
          <p:nvPr/>
        </p:nvSpPr>
        <p:spPr>
          <a:xfrm>
            <a:off x="243157" y="1253651"/>
            <a:ext cx="6270901" cy="5170646"/>
          </a:xfrm>
          <a:prstGeom prst="rect">
            <a:avLst/>
          </a:prstGeom>
        </p:spPr>
        <p:txBody>
          <a:bodyPr wrap="square" lIns="91440" tIns="45720" rIns="91440" bIns="45720" anchor="t">
            <a:spAutoFit/>
          </a:bodyPr>
          <a:lstStyle/>
          <a:p>
            <a:r>
              <a:rPr lang="sv-SE" sz="1100" b="1" dirty="0">
                <a:solidFill>
                  <a:srgbClr val="000000"/>
                </a:solidFill>
              </a:rPr>
              <a:t>Skaldjursgryta med torsk i gul curry - 2 portioner </a:t>
            </a:r>
            <a:endParaRPr lang="sv-SE" sz="1100" dirty="0">
              <a:solidFill>
                <a:srgbClr val="000000"/>
              </a:solidFill>
            </a:endParaRPr>
          </a:p>
          <a:p>
            <a:r>
              <a:rPr lang="sv-SE" sz="1100" dirty="0">
                <a:solidFill>
                  <a:srgbClr val="000000"/>
                </a:solidFill>
              </a:rPr>
              <a:t>250 g fryst torskrygg</a:t>
            </a:r>
          </a:p>
          <a:p>
            <a:r>
              <a:rPr lang="sv-SE" sz="1100" dirty="0">
                <a:solidFill>
                  <a:srgbClr val="000000"/>
                </a:solidFill>
              </a:rPr>
              <a:t>150 g fryst </a:t>
            </a:r>
            <a:r>
              <a:rPr lang="sv-SE" sz="1100" dirty="0" err="1">
                <a:solidFill>
                  <a:srgbClr val="000000"/>
                </a:solidFill>
              </a:rPr>
              <a:t>scampi</a:t>
            </a:r>
            <a:endParaRPr lang="sv-SE" sz="1100" dirty="0">
              <a:solidFill>
                <a:srgbClr val="000000"/>
              </a:solidFill>
            </a:endParaRPr>
          </a:p>
          <a:p>
            <a:r>
              <a:rPr lang="sv-SE" sz="1100" dirty="0">
                <a:solidFill>
                  <a:srgbClr val="000000"/>
                </a:solidFill>
              </a:rPr>
              <a:t>150g frysta musslor utan skal</a:t>
            </a:r>
          </a:p>
          <a:p>
            <a:r>
              <a:rPr lang="sv-SE" sz="1100" dirty="0">
                <a:solidFill>
                  <a:srgbClr val="000000"/>
                </a:solidFill>
              </a:rPr>
              <a:t>1/2 gul lök</a:t>
            </a:r>
          </a:p>
          <a:p>
            <a:r>
              <a:rPr lang="sv-SE" sz="1100" dirty="0">
                <a:solidFill>
                  <a:srgbClr val="000000"/>
                </a:solidFill>
              </a:rPr>
              <a:t>1 vitlöksklyfta</a:t>
            </a:r>
          </a:p>
          <a:p>
            <a:r>
              <a:rPr lang="sv-SE" sz="1100" dirty="0">
                <a:solidFill>
                  <a:srgbClr val="000000"/>
                </a:solidFill>
              </a:rPr>
              <a:t>½ fänkål</a:t>
            </a:r>
          </a:p>
          <a:p>
            <a:r>
              <a:rPr lang="sv-SE" sz="1100" dirty="0">
                <a:solidFill>
                  <a:srgbClr val="000000"/>
                </a:solidFill>
              </a:rPr>
              <a:t>1 morot</a:t>
            </a:r>
          </a:p>
          <a:p>
            <a:r>
              <a:rPr lang="sv-SE" sz="1100" dirty="0">
                <a:solidFill>
                  <a:srgbClr val="000000"/>
                </a:solidFill>
              </a:rPr>
              <a:t>¼ squash</a:t>
            </a:r>
          </a:p>
          <a:p>
            <a:r>
              <a:rPr lang="sv-SE" sz="1100" dirty="0">
                <a:solidFill>
                  <a:srgbClr val="FF0000"/>
                </a:solidFill>
              </a:rPr>
              <a:t>1/2 röd paprika</a:t>
            </a:r>
            <a:endParaRPr lang="sv-SE" sz="1100" dirty="0">
              <a:solidFill>
                <a:srgbClr val="FF0000"/>
              </a:solidFill>
              <a:ea typeface="Calibri"/>
              <a:cs typeface="Calibri"/>
            </a:endParaRPr>
          </a:p>
          <a:p>
            <a:r>
              <a:rPr lang="sv-SE" sz="1100" dirty="0">
                <a:solidFill>
                  <a:srgbClr val="000000"/>
                </a:solidFill>
              </a:rPr>
              <a:t>salt och svartpeppar</a:t>
            </a:r>
          </a:p>
          <a:p>
            <a:r>
              <a:rPr lang="sv-SE" sz="1100" dirty="0">
                <a:solidFill>
                  <a:srgbClr val="000000"/>
                </a:solidFill>
              </a:rPr>
              <a:t>1 tsk olivolja</a:t>
            </a:r>
          </a:p>
          <a:p>
            <a:r>
              <a:rPr lang="sv-SE" sz="1100" dirty="0">
                <a:solidFill>
                  <a:srgbClr val="000000"/>
                </a:solidFill>
              </a:rPr>
              <a:t>1,5 dl vatten</a:t>
            </a:r>
          </a:p>
          <a:p>
            <a:r>
              <a:rPr lang="sv-SE" sz="1100" dirty="0">
                <a:solidFill>
                  <a:srgbClr val="000000"/>
                </a:solidFill>
              </a:rPr>
              <a:t>½ fiskbuljongtärning </a:t>
            </a:r>
          </a:p>
          <a:p>
            <a:r>
              <a:rPr lang="sv-SE" sz="1100" dirty="0">
                <a:solidFill>
                  <a:srgbClr val="000000"/>
                </a:solidFill>
              </a:rPr>
              <a:t>200 ml kokosmjölk </a:t>
            </a:r>
          </a:p>
          <a:p>
            <a:r>
              <a:rPr lang="sv-SE" sz="1100" dirty="0">
                <a:solidFill>
                  <a:srgbClr val="000000"/>
                </a:solidFill>
              </a:rPr>
              <a:t>2 tsk gul currypasta </a:t>
            </a:r>
          </a:p>
          <a:p>
            <a:r>
              <a:rPr lang="sv-SE" sz="1100" dirty="0">
                <a:solidFill>
                  <a:srgbClr val="000000"/>
                </a:solidFill>
              </a:rPr>
              <a:t>1 krm </a:t>
            </a:r>
            <a:r>
              <a:rPr lang="sv-SE" sz="1100" dirty="0" err="1">
                <a:solidFill>
                  <a:srgbClr val="000000"/>
                </a:solidFill>
              </a:rPr>
              <a:t>srirachasås</a:t>
            </a:r>
            <a:endParaRPr lang="sv-SE" sz="1100" dirty="0">
              <a:solidFill>
                <a:srgbClr val="000000"/>
              </a:solidFill>
            </a:endParaRPr>
          </a:p>
          <a:p>
            <a:r>
              <a:rPr lang="sv-SE" sz="1100" dirty="0">
                <a:solidFill>
                  <a:srgbClr val="000000"/>
                </a:solidFill>
              </a:rPr>
              <a:t>2 msk </a:t>
            </a:r>
            <a:r>
              <a:rPr lang="sv-SE" sz="1100" dirty="0">
                <a:solidFill>
                  <a:srgbClr val="FF0000"/>
                </a:solidFill>
              </a:rPr>
              <a:t>finhackad</a:t>
            </a:r>
            <a:r>
              <a:rPr lang="sv-SE" sz="1100" dirty="0">
                <a:solidFill>
                  <a:srgbClr val="000000"/>
                </a:solidFill>
              </a:rPr>
              <a:t> dill</a:t>
            </a:r>
          </a:p>
          <a:p>
            <a:endParaRPr lang="sv-SE" sz="1100" dirty="0">
              <a:solidFill>
                <a:srgbClr val="000000"/>
              </a:solidFill>
            </a:endParaRPr>
          </a:p>
          <a:p>
            <a:r>
              <a:rPr lang="sv-SE" sz="1100" b="1" dirty="0" err="1">
                <a:solidFill>
                  <a:srgbClr val="000000"/>
                </a:solidFill>
              </a:rPr>
              <a:t>Topping</a:t>
            </a:r>
            <a:endParaRPr lang="sv-SE" sz="1100" dirty="0">
              <a:solidFill>
                <a:srgbClr val="000000"/>
              </a:solidFill>
            </a:endParaRPr>
          </a:p>
          <a:p>
            <a:r>
              <a:rPr lang="sv-SE" sz="1100" dirty="0">
                <a:solidFill>
                  <a:srgbClr val="000000"/>
                </a:solidFill>
              </a:rPr>
              <a:t>½ dl </a:t>
            </a:r>
            <a:r>
              <a:rPr lang="sv-SE" sz="1100" dirty="0">
                <a:solidFill>
                  <a:srgbClr val="FF0000"/>
                </a:solidFill>
              </a:rPr>
              <a:t>finstrimlad</a:t>
            </a:r>
            <a:r>
              <a:rPr lang="sv-SE" sz="1100" dirty="0">
                <a:solidFill>
                  <a:srgbClr val="000000"/>
                </a:solidFill>
              </a:rPr>
              <a:t> purjolök (gröna delen) </a:t>
            </a:r>
          </a:p>
          <a:p>
            <a:r>
              <a:rPr lang="sv-SE" sz="1100" dirty="0">
                <a:solidFill>
                  <a:srgbClr val="000000"/>
                </a:solidFill>
              </a:rPr>
              <a:t>2 dillkvistar</a:t>
            </a:r>
          </a:p>
          <a:p>
            <a:r>
              <a:rPr lang="sv-SE" sz="1100" dirty="0">
                <a:solidFill>
                  <a:srgbClr val="000000"/>
                </a:solidFill>
              </a:rPr>
              <a:t>2 limeklyftor </a:t>
            </a:r>
            <a:br>
              <a:rPr lang="sv-SE" sz="1100" dirty="0">
                <a:solidFill>
                  <a:srgbClr val="000000"/>
                </a:solidFill>
              </a:rPr>
            </a:br>
            <a:endParaRPr lang="sv-SE" sz="1100" dirty="0">
              <a:solidFill>
                <a:srgbClr val="000000"/>
              </a:solidFill>
            </a:endParaRPr>
          </a:p>
          <a:p>
            <a:r>
              <a:rPr lang="sv-SE" sz="1100" dirty="0">
                <a:solidFill>
                  <a:srgbClr val="000000"/>
                </a:solidFill>
              </a:rPr>
              <a:t>Tina torsk, </a:t>
            </a:r>
            <a:r>
              <a:rPr lang="sv-SE" sz="1100" dirty="0" err="1">
                <a:solidFill>
                  <a:srgbClr val="000000"/>
                </a:solidFill>
              </a:rPr>
              <a:t>scampi</a:t>
            </a:r>
            <a:r>
              <a:rPr lang="sv-SE" sz="1100" dirty="0">
                <a:solidFill>
                  <a:srgbClr val="000000"/>
                </a:solidFill>
              </a:rPr>
              <a:t> och musslor. Skala och hacka lök i större bitar. Skala och riv vitlöksklyfta. Skala och skiva morot. Skiva fänkål. Skär squash och paprika. Hetta upp en kastrull med olivolja. Stek lök, vitlök, fänkål, morot, squash och paprika. Låt steka någon minut. Tillsätt vatten, fiskbuljongtärning, kokosmjölk, currypasta, </a:t>
            </a:r>
            <a:r>
              <a:rPr lang="sv-SE" sz="1100" dirty="0" err="1">
                <a:solidFill>
                  <a:srgbClr val="000000"/>
                </a:solidFill>
              </a:rPr>
              <a:t>srirachasås</a:t>
            </a:r>
            <a:r>
              <a:rPr lang="sv-SE" sz="1100" dirty="0">
                <a:solidFill>
                  <a:srgbClr val="000000"/>
                </a:solidFill>
              </a:rPr>
              <a:t> och dill i kastrullen. Låt puttra i 5 minuter. Skär torsken i stora bitar och strö på salt och peppar. Lägg torsk, </a:t>
            </a:r>
            <a:r>
              <a:rPr lang="sv-SE" sz="1100" dirty="0" err="1">
                <a:solidFill>
                  <a:srgbClr val="000000"/>
                </a:solidFill>
              </a:rPr>
              <a:t>scampi</a:t>
            </a:r>
            <a:r>
              <a:rPr lang="sv-SE" sz="1100" dirty="0">
                <a:solidFill>
                  <a:srgbClr val="000000"/>
                </a:solidFill>
              </a:rPr>
              <a:t> och musslor i kastrullen och låt sjuda på svag värme i 3 minuter. Lägg upp skaldjursgrytan i djupa tallrikar och toppa med purjolök. Dekorera med dillkvistar och limeklyftor.  </a:t>
            </a:r>
            <a:endParaRPr lang="sv-SE" sz="1100" dirty="0">
              <a:solidFill>
                <a:srgbClr val="000000"/>
              </a:solidFill>
              <a:effectLst/>
            </a:endParaRPr>
          </a:p>
        </p:txBody>
      </p:sp>
      <p:sp>
        <p:nvSpPr>
          <p:cNvPr id="5" name="Platshållare för bildnummer 4">
            <a:extLst>
              <a:ext uri="{FF2B5EF4-FFF2-40B4-BE49-F238E27FC236}">
                <a16:creationId xmlns:a16="http://schemas.microsoft.com/office/drawing/2014/main" id="{94B654D3-8306-7B48-8A78-36578E70C071}"/>
              </a:ext>
            </a:extLst>
          </p:cNvPr>
          <p:cNvSpPr>
            <a:spLocks noGrp="1"/>
          </p:cNvSpPr>
          <p:nvPr>
            <p:ph type="sldNum" sz="quarter" idx="12"/>
          </p:nvPr>
        </p:nvSpPr>
        <p:spPr/>
        <p:txBody>
          <a:bodyPr/>
          <a:lstStyle/>
          <a:p>
            <a:fld id="{97BA8967-5D92-4842-BAFB-0C8F679E5DC4}" type="slidenum">
              <a:rPr lang="sv-SE" smtClean="0"/>
              <a:t>7</a:t>
            </a:fld>
            <a:endParaRPr lang="sv-SE" dirty="0"/>
          </a:p>
        </p:txBody>
      </p:sp>
      <p:sp>
        <p:nvSpPr>
          <p:cNvPr id="6" name="textruta 5">
            <a:extLst>
              <a:ext uri="{FF2B5EF4-FFF2-40B4-BE49-F238E27FC236}">
                <a16:creationId xmlns:a16="http://schemas.microsoft.com/office/drawing/2014/main" id="{2D5BE3DB-A1D5-C847-BF3B-3EADD99F7365}"/>
              </a:ext>
            </a:extLst>
          </p:cNvPr>
          <p:cNvSpPr txBox="1"/>
          <p:nvPr/>
        </p:nvSpPr>
        <p:spPr>
          <a:xfrm>
            <a:off x="239168" y="384592"/>
            <a:ext cx="1951896"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9" name="Ellips 8">
            <a:extLst>
              <a:ext uri="{FF2B5EF4-FFF2-40B4-BE49-F238E27FC236}">
                <a16:creationId xmlns:a16="http://schemas.microsoft.com/office/drawing/2014/main" id="{CD354F09-E9FA-BB4E-B876-E708C3699E69}"/>
              </a:ext>
            </a:extLst>
          </p:cNvPr>
          <p:cNvSpPr/>
          <p:nvPr/>
        </p:nvSpPr>
        <p:spPr>
          <a:xfrm>
            <a:off x="2191064" y="199153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491</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pic>
        <p:nvPicPr>
          <p:cNvPr id="10" name="Bildobjekt 9">
            <a:extLst>
              <a:ext uri="{FF2B5EF4-FFF2-40B4-BE49-F238E27FC236}">
                <a16:creationId xmlns:a16="http://schemas.microsoft.com/office/drawing/2014/main" id="{F4AF3CBE-87A3-D24A-A6BA-9F7576CB986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82687" y="917645"/>
            <a:ext cx="4264425" cy="3198319"/>
          </a:xfrm>
          <a:prstGeom prst="rect">
            <a:avLst/>
          </a:prstGeom>
        </p:spPr>
      </p:pic>
      <p:sp>
        <p:nvSpPr>
          <p:cNvPr id="13" name="Platshållare för sidfot 1">
            <a:extLst>
              <a:ext uri="{FF2B5EF4-FFF2-40B4-BE49-F238E27FC236}">
                <a16:creationId xmlns:a16="http://schemas.microsoft.com/office/drawing/2014/main" id="{0CE6E097-2ECB-9648-9D54-2A684ED2B845}"/>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spTree>
    <p:extLst>
      <p:ext uri="{BB962C8B-B14F-4D97-AF65-F5344CB8AC3E}">
        <p14:creationId xmlns:p14="http://schemas.microsoft.com/office/powerpoint/2010/main" val="1460706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8</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10" name="Platshållare för sidfot 1">
            <a:extLst>
              <a:ext uri="{FF2B5EF4-FFF2-40B4-BE49-F238E27FC236}">
                <a16:creationId xmlns:a16="http://schemas.microsoft.com/office/drawing/2014/main" id="{277305BD-7589-704D-8BFC-5B18BEC3C74F}"/>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pic>
        <p:nvPicPr>
          <p:cNvPr id="12" name="Bildobjekt 11">
            <a:extLst>
              <a:ext uri="{FF2B5EF4-FFF2-40B4-BE49-F238E27FC236}">
                <a16:creationId xmlns:a16="http://schemas.microsoft.com/office/drawing/2014/main" id="{8F1B4B9C-7F6B-2B4C-918C-FE5A38D197D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606663" y="976169"/>
            <a:ext cx="4466785" cy="3350089"/>
          </a:xfrm>
          <a:prstGeom prst="rect">
            <a:avLst/>
          </a:prstGeom>
        </p:spPr>
      </p:pic>
      <p:sp>
        <p:nvSpPr>
          <p:cNvPr id="13" name="Rektangel 12">
            <a:extLst>
              <a:ext uri="{FF2B5EF4-FFF2-40B4-BE49-F238E27FC236}">
                <a16:creationId xmlns:a16="http://schemas.microsoft.com/office/drawing/2014/main" id="{47376DE1-57CF-DA41-9DB3-FF08498E3F46}"/>
              </a:ext>
            </a:extLst>
          </p:cNvPr>
          <p:cNvSpPr/>
          <p:nvPr/>
        </p:nvSpPr>
        <p:spPr>
          <a:xfrm>
            <a:off x="225220" y="3115105"/>
            <a:ext cx="6547464" cy="3985706"/>
          </a:xfrm>
          <a:prstGeom prst="rect">
            <a:avLst/>
          </a:prstGeom>
        </p:spPr>
        <p:txBody>
          <a:bodyPr wrap="square" lIns="91440" tIns="45720" rIns="91440" bIns="45720" anchor="t">
            <a:spAutoFit/>
          </a:bodyPr>
          <a:lstStyle/>
          <a:p>
            <a:pPr>
              <a:spcAft>
                <a:spcPts val="0"/>
              </a:spcAft>
            </a:pPr>
            <a:r>
              <a:rPr lang="sv-SE" sz="1100" b="1" dirty="0">
                <a:solidFill>
                  <a:srgbClr val="000000"/>
                </a:solidFill>
                <a:latin typeface="+mj-lt"/>
                <a:ea typeface="Arial Unicode MS" panose="020B0604020202020204" pitchFamily="34" charset="-128"/>
                <a:cs typeface="Arial Unicode MS" panose="020B0604020202020204" pitchFamily="34" charset="-128"/>
              </a:rPr>
              <a:t> Laxfilé med ratatouille - 2 portioner</a:t>
            </a:r>
            <a:endParaRPr lang="sv-SE" sz="1100" dirty="0">
              <a:solidFill>
                <a:srgbClr val="000000"/>
              </a:solidFill>
              <a:latin typeface="+mj-lt"/>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300 g laxfilé </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½ morot</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½ rödlök</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½ vitlöksklyfta</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1/5 squash</a:t>
            </a:r>
          </a:p>
          <a:p>
            <a:pPr>
              <a:spcAft>
                <a:spcPts val="0"/>
              </a:spcAft>
            </a:pPr>
            <a:r>
              <a:rPr lang="sv-SE" sz="1100" dirty="0">
                <a:solidFill>
                  <a:srgbClr val="FF0000"/>
                </a:solidFill>
                <a:latin typeface="+mj-lt"/>
                <a:ea typeface="Arial Unicode MS"/>
                <a:cs typeface="Arial Unicode MS"/>
              </a:rPr>
              <a:t>¼ grön paprika</a:t>
            </a:r>
          </a:p>
          <a:p>
            <a:pPr>
              <a:spcAft>
                <a:spcPts val="0"/>
              </a:spcAft>
            </a:pPr>
            <a:r>
              <a:rPr lang="sv-SE" sz="1100" dirty="0">
                <a:solidFill>
                  <a:srgbClr val="FF0000"/>
                </a:solidFill>
                <a:latin typeface="+mj-lt"/>
                <a:ea typeface="Arial Unicode MS"/>
                <a:cs typeface="Arial Unicode MS"/>
              </a:rPr>
              <a:t>½ röd paprika</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1 tsk olivolja</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1 krm örtagårdskrydda</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200 ml krossade tomater</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1/2 tsk </a:t>
            </a:r>
            <a:r>
              <a:rPr lang="sv-SE" sz="1100" dirty="0" err="1">
                <a:solidFill>
                  <a:srgbClr val="000000"/>
                </a:solidFill>
                <a:latin typeface="+mj-lt"/>
                <a:ea typeface="Arial Unicode MS" panose="020B0604020202020204" pitchFamily="34" charset="-128"/>
                <a:cs typeface="Arial Unicode MS" panose="020B0604020202020204" pitchFamily="34" charset="-128"/>
              </a:rPr>
              <a:t>sriracha</a:t>
            </a:r>
            <a:r>
              <a:rPr lang="sv-SE" sz="1100" dirty="0">
                <a:solidFill>
                  <a:srgbClr val="000000"/>
                </a:solidFill>
                <a:latin typeface="+mj-lt"/>
                <a:ea typeface="Arial Unicode MS" panose="020B0604020202020204" pitchFamily="34" charset="-128"/>
                <a:cs typeface="Arial Unicode MS" panose="020B0604020202020204" pitchFamily="34" charset="-128"/>
              </a:rPr>
              <a:t> sås</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½ tsk flytande honung</a:t>
            </a: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2 msk basilika</a:t>
            </a:r>
          </a:p>
          <a:p>
            <a:pPr>
              <a:spcAft>
                <a:spcPts val="0"/>
              </a:spcAft>
            </a:pPr>
            <a:endParaRPr lang="sv-SE" sz="1100" b="1" dirty="0">
              <a:solidFill>
                <a:srgbClr val="000000"/>
              </a:solidFill>
              <a:latin typeface="+mj-lt"/>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latin typeface="+mj-lt"/>
                <a:ea typeface="Arial Unicode MS" panose="020B0604020202020204" pitchFamily="34" charset="-128"/>
                <a:cs typeface="Arial Unicode MS" panose="020B0604020202020204" pitchFamily="34" charset="-128"/>
              </a:rPr>
              <a:t>Dekoration: </a:t>
            </a:r>
            <a:r>
              <a:rPr lang="sv-SE" sz="1100" dirty="0">
                <a:solidFill>
                  <a:srgbClr val="000000"/>
                </a:solidFill>
                <a:latin typeface="+mj-lt"/>
                <a:ea typeface="Arial Unicode MS" panose="020B0604020202020204" pitchFamily="34" charset="-128"/>
                <a:cs typeface="Arial Unicode MS" panose="020B0604020202020204" pitchFamily="34" charset="-128"/>
              </a:rPr>
              <a:t>citronskivor och persiljekvistar</a:t>
            </a:r>
          </a:p>
          <a:p>
            <a:pPr>
              <a:spcAft>
                <a:spcPts val="0"/>
              </a:spcAft>
            </a:pPr>
            <a:endParaRPr lang="sv-SE" sz="1100" dirty="0">
              <a:solidFill>
                <a:srgbClr val="000000"/>
              </a:solidFill>
              <a:latin typeface="+mj-lt"/>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latin typeface="+mj-lt"/>
                <a:ea typeface="Arial Unicode MS" panose="020B0604020202020204" pitchFamily="34" charset="-128"/>
                <a:cs typeface="Arial Unicode MS" panose="020B0604020202020204" pitchFamily="34" charset="-128"/>
              </a:rPr>
              <a:t>Sätt ugnen på 175 grader. Dela laxfilén i 2 bitar och lägg på en plåt. Strö över salt och peppar. Ugnsbaka 15 min. Skala och skiva morot. Skala och hacka rödlök. Skala och riv vitlök. Skär squash och paprika i bitar. Hetta upp en stekpanna med olivolja. Fräs grönsakerna med lök och vitlök några minuter. Strö på salt, peppar och örtagårdskrydda. Tillsätt krossade tomater, </a:t>
            </a:r>
            <a:r>
              <a:rPr lang="sv-SE" sz="1100" dirty="0" err="1">
                <a:solidFill>
                  <a:srgbClr val="000000"/>
                </a:solidFill>
                <a:latin typeface="+mj-lt"/>
                <a:ea typeface="Arial Unicode MS" panose="020B0604020202020204" pitchFamily="34" charset="-128"/>
                <a:cs typeface="Arial Unicode MS" panose="020B0604020202020204" pitchFamily="34" charset="-128"/>
              </a:rPr>
              <a:t>sriracha</a:t>
            </a:r>
            <a:r>
              <a:rPr lang="sv-SE" sz="1100" dirty="0">
                <a:solidFill>
                  <a:srgbClr val="000000"/>
                </a:solidFill>
                <a:latin typeface="+mj-lt"/>
                <a:ea typeface="Arial Unicode MS" panose="020B0604020202020204" pitchFamily="34" charset="-128"/>
                <a:cs typeface="Arial Unicode MS" panose="020B0604020202020204" pitchFamily="34" charset="-128"/>
              </a:rPr>
              <a:t> sås och honung. Hacka basilika och blanda ner. Servera laxfilén med ratatouille och dekorera med citronskivor och persiljekvistar. </a:t>
            </a:r>
          </a:p>
        </p:txBody>
      </p:sp>
      <p:sp>
        <p:nvSpPr>
          <p:cNvPr id="14" name="textruta 13">
            <a:extLst>
              <a:ext uri="{FF2B5EF4-FFF2-40B4-BE49-F238E27FC236}">
                <a16:creationId xmlns:a16="http://schemas.microsoft.com/office/drawing/2014/main" id="{FA133D9A-571B-8341-B769-81544CCEB488}"/>
              </a:ext>
            </a:extLst>
          </p:cNvPr>
          <p:cNvSpPr txBox="1"/>
          <p:nvPr/>
        </p:nvSpPr>
        <p:spPr>
          <a:xfrm>
            <a:off x="2171054" y="4124153"/>
            <a:ext cx="1833194" cy="369332"/>
          </a:xfrm>
          <a:prstGeom prst="rect">
            <a:avLst/>
          </a:prstGeom>
          <a:noFill/>
        </p:spPr>
        <p:txBody>
          <a:bodyPr wrap="none" rtlCol="0">
            <a:spAutoFit/>
          </a:bodyPr>
          <a:lstStyle/>
          <a:p>
            <a:r>
              <a:rPr lang="sv-SE" dirty="0"/>
              <a:t>Höst turbon 2024</a:t>
            </a:r>
          </a:p>
        </p:txBody>
      </p:sp>
      <p:sp>
        <p:nvSpPr>
          <p:cNvPr id="15" name="Ellips 14">
            <a:extLst>
              <a:ext uri="{FF2B5EF4-FFF2-40B4-BE49-F238E27FC236}">
                <a16:creationId xmlns:a16="http://schemas.microsoft.com/office/drawing/2014/main" id="{5ECE62F0-1AD4-0B4A-98CC-7CA31B407056}"/>
              </a:ext>
            </a:extLst>
          </p:cNvPr>
          <p:cNvSpPr/>
          <p:nvPr/>
        </p:nvSpPr>
        <p:spPr>
          <a:xfrm>
            <a:off x="2419424" y="3396273"/>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370kcal</a:t>
            </a:r>
            <a:endParaRPr sz="1200" b="1" dirty="0">
              <a:solidFill>
                <a:schemeClr val="bg1"/>
              </a:solidFill>
              <a:ea typeface="ＭＳ 明朝"/>
              <a:cs typeface="Avenir Light"/>
            </a:endParaRPr>
          </a:p>
        </p:txBody>
      </p:sp>
      <p:sp>
        <p:nvSpPr>
          <p:cNvPr id="16" name="textruta 15">
            <a:extLst>
              <a:ext uri="{FF2B5EF4-FFF2-40B4-BE49-F238E27FC236}">
                <a16:creationId xmlns:a16="http://schemas.microsoft.com/office/drawing/2014/main" id="{B19D6D76-A121-7747-8237-9C47EF3222C6}"/>
              </a:ext>
            </a:extLst>
          </p:cNvPr>
          <p:cNvSpPr txBox="1"/>
          <p:nvPr/>
        </p:nvSpPr>
        <p:spPr>
          <a:xfrm>
            <a:off x="589903" y="2143989"/>
            <a:ext cx="1833194" cy="369332"/>
          </a:xfrm>
          <a:prstGeom prst="rect">
            <a:avLst/>
          </a:prstGeom>
          <a:noFill/>
        </p:spPr>
        <p:txBody>
          <a:bodyPr wrap="none" rtlCol="0">
            <a:spAutoFit/>
          </a:bodyPr>
          <a:lstStyle/>
          <a:p>
            <a:r>
              <a:rPr lang="sv-SE" dirty="0"/>
              <a:t>Höst turbon 2024</a:t>
            </a:r>
          </a:p>
        </p:txBody>
      </p:sp>
    </p:spTree>
    <p:extLst>
      <p:ext uri="{BB962C8B-B14F-4D97-AF65-F5344CB8AC3E}">
        <p14:creationId xmlns:p14="http://schemas.microsoft.com/office/powerpoint/2010/main" val="948757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C555E48B-FA8F-5B4E-8991-3688DBC73B8F}"/>
              </a:ext>
            </a:extLst>
          </p:cNvPr>
          <p:cNvSpPr/>
          <p:nvPr/>
        </p:nvSpPr>
        <p:spPr>
          <a:xfrm>
            <a:off x="360549" y="1417436"/>
            <a:ext cx="3429000" cy="7032694"/>
          </a:xfrm>
          <a:prstGeom prst="rect">
            <a:avLst/>
          </a:prstGeom>
        </p:spPr>
        <p:txBody>
          <a:bodyPr lIns="91440" tIns="45720" rIns="91440" bIns="45720" anchor="t">
            <a:spAutoFit/>
          </a:bodyPr>
          <a:lstStyle/>
          <a:p>
            <a:r>
              <a:rPr lang="sv-SE" sz="1100" b="1" dirty="0">
                <a:solidFill>
                  <a:srgbClr val="000000"/>
                </a:solidFill>
              </a:rPr>
              <a:t>Köttfärslimpa med </a:t>
            </a:r>
            <a:r>
              <a:rPr lang="sv-SE" sz="1100" b="1" dirty="0" err="1">
                <a:solidFill>
                  <a:srgbClr val="000000"/>
                </a:solidFill>
              </a:rPr>
              <a:t>ajvar</a:t>
            </a:r>
            <a:r>
              <a:rPr lang="sv-SE" sz="1100" b="1" dirty="0">
                <a:solidFill>
                  <a:srgbClr val="000000"/>
                </a:solidFill>
              </a:rPr>
              <a:t> och </a:t>
            </a:r>
          </a:p>
          <a:p>
            <a:r>
              <a:rPr lang="sv-SE" sz="1100" b="1" dirty="0">
                <a:solidFill>
                  <a:srgbClr val="000000"/>
                </a:solidFill>
              </a:rPr>
              <a:t>rostad sötpotatis - 2 portioner </a:t>
            </a:r>
            <a:endParaRPr lang="sv-SE" sz="1100" dirty="0">
              <a:solidFill>
                <a:srgbClr val="000000"/>
              </a:solidFill>
            </a:endParaRPr>
          </a:p>
          <a:p>
            <a:r>
              <a:rPr lang="sv-SE" sz="1100" dirty="0">
                <a:solidFill>
                  <a:srgbClr val="000000"/>
                </a:solidFill>
              </a:rPr>
              <a:t>1/2 gul lök</a:t>
            </a:r>
          </a:p>
          <a:p>
            <a:r>
              <a:rPr lang="sv-SE" sz="1100" dirty="0">
                <a:solidFill>
                  <a:srgbClr val="000000"/>
                </a:solidFill>
              </a:rPr>
              <a:t>½ vitlöksklyfta</a:t>
            </a:r>
          </a:p>
          <a:p>
            <a:r>
              <a:rPr lang="sv-SE" sz="1100" dirty="0">
                <a:solidFill>
                  <a:srgbClr val="000000"/>
                </a:solidFill>
              </a:rPr>
              <a:t>½ dl havregryn</a:t>
            </a:r>
          </a:p>
          <a:p>
            <a:r>
              <a:rPr lang="sv-SE" sz="1100" dirty="0">
                <a:solidFill>
                  <a:srgbClr val="000000"/>
                </a:solidFill>
              </a:rPr>
              <a:t>3 msk vatten</a:t>
            </a:r>
          </a:p>
          <a:p>
            <a:r>
              <a:rPr lang="sv-SE" sz="1100" dirty="0">
                <a:solidFill>
                  <a:srgbClr val="000000"/>
                </a:solidFill>
              </a:rPr>
              <a:t>½ msk </a:t>
            </a:r>
            <a:r>
              <a:rPr lang="sv-SE" sz="1100" dirty="0" err="1">
                <a:solidFill>
                  <a:srgbClr val="000000"/>
                </a:solidFill>
              </a:rPr>
              <a:t>köftekrydda</a:t>
            </a:r>
            <a:endParaRPr lang="sv-SE" sz="1100" dirty="0">
              <a:solidFill>
                <a:srgbClr val="000000"/>
              </a:solidFill>
            </a:endParaRPr>
          </a:p>
          <a:p>
            <a:r>
              <a:rPr lang="sv-SE" sz="1100" dirty="0">
                <a:solidFill>
                  <a:srgbClr val="000000"/>
                </a:solidFill>
              </a:rPr>
              <a:t>2 msk </a:t>
            </a:r>
            <a:r>
              <a:rPr lang="sv-SE" sz="1100" dirty="0">
                <a:solidFill>
                  <a:srgbClr val="FF0000"/>
                </a:solidFill>
              </a:rPr>
              <a:t>hackad</a:t>
            </a:r>
            <a:r>
              <a:rPr lang="sv-SE" sz="1100" dirty="0">
                <a:solidFill>
                  <a:srgbClr val="000000"/>
                </a:solidFill>
              </a:rPr>
              <a:t> persilja </a:t>
            </a:r>
          </a:p>
          <a:p>
            <a:r>
              <a:rPr lang="sv-SE" sz="1100" dirty="0">
                <a:solidFill>
                  <a:srgbClr val="000000"/>
                </a:solidFill>
              </a:rPr>
              <a:t>300 g nötfärs</a:t>
            </a:r>
          </a:p>
          <a:p>
            <a:r>
              <a:rPr lang="sv-SE" sz="1100" dirty="0">
                <a:solidFill>
                  <a:srgbClr val="000000"/>
                </a:solidFill>
              </a:rPr>
              <a:t>½ ägg</a:t>
            </a:r>
          </a:p>
          <a:p>
            <a:r>
              <a:rPr lang="sv-SE" sz="1100" dirty="0">
                <a:solidFill>
                  <a:srgbClr val="000000"/>
                </a:solidFill>
              </a:rPr>
              <a:t>Salt och svartpeppar</a:t>
            </a:r>
          </a:p>
          <a:p>
            <a:r>
              <a:rPr lang="sv-SE" sz="1100" dirty="0">
                <a:solidFill>
                  <a:srgbClr val="000000"/>
                </a:solidFill>
              </a:rPr>
              <a:t>½ dl </a:t>
            </a:r>
            <a:r>
              <a:rPr lang="sv-SE" sz="1100" dirty="0" err="1">
                <a:solidFill>
                  <a:srgbClr val="000000"/>
                </a:solidFill>
              </a:rPr>
              <a:t>ajvar</a:t>
            </a:r>
            <a:r>
              <a:rPr lang="sv-SE" sz="1100" dirty="0">
                <a:solidFill>
                  <a:srgbClr val="000000"/>
                </a:solidFill>
              </a:rPr>
              <a:t> </a:t>
            </a:r>
            <a:r>
              <a:rPr lang="sv-SE" sz="1100" dirty="0" err="1">
                <a:solidFill>
                  <a:srgbClr val="000000"/>
                </a:solidFill>
              </a:rPr>
              <a:t>relish</a:t>
            </a:r>
            <a:endParaRPr lang="sv-SE" sz="1100" dirty="0">
              <a:solidFill>
                <a:srgbClr val="000000"/>
              </a:solidFill>
            </a:endParaRPr>
          </a:p>
          <a:p>
            <a:r>
              <a:rPr lang="sv-SE" sz="1100" dirty="0">
                <a:solidFill>
                  <a:srgbClr val="000000"/>
                </a:solidFill>
              </a:rPr>
              <a:t>50 g fetaost</a:t>
            </a:r>
          </a:p>
          <a:p>
            <a:r>
              <a:rPr lang="sv-SE" sz="1100" dirty="0">
                <a:solidFill>
                  <a:srgbClr val="000000"/>
                </a:solidFill>
              </a:rPr>
              <a:t>1 sötpotatis</a:t>
            </a:r>
          </a:p>
          <a:p>
            <a:r>
              <a:rPr lang="sv-SE" sz="1100" dirty="0">
                <a:solidFill>
                  <a:srgbClr val="000000"/>
                </a:solidFill>
              </a:rPr>
              <a:t>¼ vitlöksklyfta </a:t>
            </a:r>
          </a:p>
          <a:p>
            <a:r>
              <a:rPr lang="sv-SE" sz="1100" dirty="0">
                <a:solidFill>
                  <a:srgbClr val="000000"/>
                </a:solidFill>
              </a:rPr>
              <a:t>1 tsk olivolja</a:t>
            </a:r>
          </a:p>
          <a:p>
            <a:r>
              <a:rPr lang="sv-SE" sz="1100" dirty="0">
                <a:solidFill>
                  <a:srgbClr val="000000"/>
                </a:solidFill>
              </a:rPr>
              <a:t>1 krm örtagårdskrydda</a:t>
            </a:r>
          </a:p>
          <a:p>
            <a:r>
              <a:rPr lang="sv-SE" sz="1100" dirty="0">
                <a:solidFill>
                  <a:srgbClr val="000000"/>
                </a:solidFill>
              </a:rPr>
              <a:t>25 g färsk bladspenat</a:t>
            </a:r>
            <a:endParaRPr lang="sv-SE" sz="1100" dirty="0">
              <a:solidFill>
                <a:srgbClr val="000000"/>
              </a:solidFill>
              <a:ea typeface="Calibri"/>
              <a:cs typeface="Calibri"/>
            </a:endParaRPr>
          </a:p>
          <a:p>
            <a:r>
              <a:rPr lang="sv-SE" sz="1100" dirty="0">
                <a:solidFill>
                  <a:srgbClr val="000000"/>
                </a:solidFill>
              </a:rPr>
              <a:t>1/4 rödlök </a:t>
            </a:r>
          </a:p>
          <a:p>
            <a:r>
              <a:rPr lang="sv-SE" sz="1100" dirty="0">
                <a:solidFill>
                  <a:srgbClr val="000000"/>
                </a:solidFill>
              </a:rPr>
              <a:t>1/2 dl granatäpplekärnor</a:t>
            </a:r>
          </a:p>
          <a:p>
            <a:endParaRPr lang="sv-SE" sz="1100" dirty="0">
              <a:solidFill>
                <a:srgbClr val="000000"/>
              </a:solidFill>
            </a:endParaRPr>
          </a:p>
          <a:p>
            <a:r>
              <a:rPr lang="sv-SE" sz="1100" b="1" dirty="0" err="1">
                <a:solidFill>
                  <a:srgbClr val="000000"/>
                </a:solidFill>
              </a:rPr>
              <a:t>Topping</a:t>
            </a:r>
            <a:endParaRPr lang="sv-SE" sz="1100" dirty="0">
              <a:solidFill>
                <a:srgbClr val="000000"/>
              </a:solidFill>
            </a:endParaRPr>
          </a:p>
          <a:p>
            <a:r>
              <a:rPr lang="sv-SE" sz="1100" dirty="0">
                <a:solidFill>
                  <a:srgbClr val="000000"/>
                </a:solidFill>
              </a:rPr>
              <a:t>2 msk pumpafrön</a:t>
            </a:r>
          </a:p>
          <a:p>
            <a:r>
              <a:rPr lang="sv-SE" sz="1100" dirty="0">
                <a:solidFill>
                  <a:srgbClr val="000000"/>
                </a:solidFill>
              </a:rPr>
              <a:t>1 krm flytande honung </a:t>
            </a:r>
          </a:p>
          <a:p>
            <a:r>
              <a:rPr lang="sv-SE" sz="1100" dirty="0">
                <a:solidFill>
                  <a:srgbClr val="000000"/>
                </a:solidFill>
              </a:rPr>
              <a:t>Persiljekvistar. </a:t>
            </a:r>
          </a:p>
          <a:p>
            <a:endParaRPr lang="sv-SE" sz="1100" dirty="0">
              <a:solidFill>
                <a:srgbClr val="000000"/>
              </a:solidFill>
            </a:endParaRPr>
          </a:p>
          <a:p>
            <a:r>
              <a:rPr lang="sv-SE" sz="1100" dirty="0">
                <a:solidFill>
                  <a:srgbClr val="000000"/>
                </a:solidFill>
              </a:rPr>
              <a:t>Sätt ugnen på 200 grader. Skala och finhacka lök. Skala och riv vitlök. Blanda lök, vitlök, havregryn, vatten, </a:t>
            </a:r>
            <a:r>
              <a:rPr lang="sv-SE" sz="1100" dirty="0" err="1">
                <a:solidFill>
                  <a:srgbClr val="000000"/>
                </a:solidFill>
              </a:rPr>
              <a:t>köftekrydda</a:t>
            </a:r>
            <a:r>
              <a:rPr lang="sv-SE" sz="1100" dirty="0">
                <a:solidFill>
                  <a:srgbClr val="000000"/>
                </a:solidFill>
              </a:rPr>
              <a:t>, persilja, nötfärs och ägg i en bunke. Tillsätt salt och peppar. Arbeta ihop färsen och forma till en limpa. Lägg köttfärslimpan i en ugnsform och bre på ett lager med </a:t>
            </a:r>
            <a:r>
              <a:rPr lang="sv-SE" sz="1100" dirty="0" err="1">
                <a:solidFill>
                  <a:srgbClr val="000000"/>
                </a:solidFill>
              </a:rPr>
              <a:t>ajvar</a:t>
            </a:r>
            <a:r>
              <a:rPr lang="sv-SE" sz="1100" dirty="0">
                <a:solidFill>
                  <a:srgbClr val="000000"/>
                </a:solidFill>
              </a:rPr>
              <a:t>. Smula fetaost på toppen. Skala och skär sötpotatis i skivor och lägg på en ugnsplåt. Skala och riv vitlök. Ringla över olivolja, krydda med örtagårdskrydda och blanda om med riven vitlök. Ställ in köttfärslimpan och sötpotatisen i ugnen i 25 minuter. Skiva rödlök. Lägg upp bladspenat på ett fat. Lägg sötpotatisen på spenaten och blanda med rödlök och granatäpplekärnor. Hetta upp en stekpanna och rosta pumpafrön med honung. Strö på lite salt och toppa köttfärslimpan med fröna. Dekorera med persiljekvistar. </a:t>
            </a:r>
            <a:endParaRPr lang="sv-SE" sz="1100" dirty="0">
              <a:solidFill>
                <a:srgbClr val="000000"/>
              </a:solidFill>
              <a:effectLst/>
            </a:endParaRPr>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7" name="Platshållare för sidfot 1">
            <a:extLst>
              <a:ext uri="{FF2B5EF4-FFF2-40B4-BE49-F238E27FC236}">
                <a16:creationId xmlns:a16="http://schemas.microsoft.com/office/drawing/2014/main" id="{5EAC00F6-B54A-754D-A928-99AB0F3B7690}"/>
              </a:ext>
            </a:extLst>
          </p:cNvPr>
          <p:cNvSpPr>
            <a:spLocks noGrp="1"/>
          </p:cNvSpPr>
          <p:nvPr>
            <p:ph type="ftr" sz="quarter" idx="11"/>
          </p:nvPr>
        </p:nvSpPr>
        <p:spPr>
          <a:xfrm>
            <a:off x="1506500" y="8497384"/>
            <a:ext cx="3963599" cy="911286"/>
          </a:xfrm>
        </p:spPr>
        <p:txBody>
          <a:bodyPr/>
          <a:lstStyle/>
          <a:p>
            <a:r>
              <a:rPr lang="sv-SE" sz="900" dirty="0"/>
              <a:t>FUNCTIONAL FOODS BASKURS ● RECEPT  ● VECKA 5</a:t>
            </a:r>
          </a:p>
        </p:txBody>
      </p:sp>
      <p:sp>
        <p:nvSpPr>
          <p:cNvPr id="8" name="Ellips 7">
            <a:extLst>
              <a:ext uri="{FF2B5EF4-FFF2-40B4-BE49-F238E27FC236}">
                <a16:creationId xmlns:a16="http://schemas.microsoft.com/office/drawing/2014/main" id="{E4F0ACA2-248A-2F46-898B-A662EE4C8709}"/>
              </a:ext>
            </a:extLst>
          </p:cNvPr>
          <p:cNvSpPr/>
          <p:nvPr/>
        </p:nvSpPr>
        <p:spPr>
          <a:xfrm>
            <a:off x="2075049" y="218064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677kcal</a:t>
            </a:r>
            <a:endParaRPr sz="1200" b="1" dirty="0">
              <a:solidFill>
                <a:schemeClr val="bg1"/>
              </a:solidFill>
              <a:ea typeface="ＭＳ 明朝"/>
              <a:cs typeface="Avenir Light"/>
            </a:endParaRPr>
          </a:p>
        </p:txBody>
      </p:sp>
      <p:pic>
        <p:nvPicPr>
          <p:cNvPr id="4" name="Bildobjekt 3">
            <a:extLst>
              <a:ext uri="{FF2B5EF4-FFF2-40B4-BE49-F238E27FC236}">
                <a16:creationId xmlns:a16="http://schemas.microsoft.com/office/drawing/2014/main" id="{7AA5F2BA-85C5-1A4A-A8FD-DFE9C48B0E0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480813" y="832918"/>
            <a:ext cx="4868172" cy="3651129"/>
          </a:xfrm>
          <a:prstGeom prst="rect">
            <a:avLst/>
          </a:prstGeom>
        </p:spPr>
      </p:pic>
      <p:pic>
        <p:nvPicPr>
          <p:cNvPr id="10" name="Bildobjekt 9">
            <a:extLst>
              <a:ext uri="{FF2B5EF4-FFF2-40B4-BE49-F238E27FC236}">
                <a16:creationId xmlns:a16="http://schemas.microsoft.com/office/drawing/2014/main" id="{213F1EFD-1ED4-7A4F-9520-0651268BE1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970532" y="5648052"/>
            <a:ext cx="2999134" cy="2249350"/>
          </a:xfrm>
          <a:prstGeom prst="rect">
            <a:avLst/>
          </a:prstGeom>
        </p:spPr>
      </p:pic>
    </p:spTree>
    <p:extLst>
      <p:ext uri="{BB962C8B-B14F-4D97-AF65-F5344CB8AC3E}">
        <p14:creationId xmlns:p14="http://schemas.microsoft.com/office/powerpoint/2010/main" val="2038151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ktangel 9">
            <a:extLst>
              <a:ext uri="{FF2B5EF4-FFF2-40B4-BE49-F238E27FC236}">
                <a16:creationId xmlns:a16="http://schemas.microsoft.com/office/drawing/2014/main" id="{752BB232-F409-F746-870C-A027AD519D22}"/>
              </a:ext>
            </a:extLst>
          </p:cNvPr>
          <p:cNvSpPr/>
          <p:nvPr/>
        </p:nvSpPr>
        <p:spPr>
          <a:xfrm>
            <a:off x="319475" y="4389665"/>
            <a:ext cx="3429000" cy="2970044"/>
          </a:xfrm>
          <a:prstGeom prst="rect">
            <a:avLst/>
          </a:prstGeom>
        </p:spPr>
        <p:txBody>
          <a:bodyPr>
            <a:spAutoFit/>
          </a:bodyPr>
          <a:lstStyle/>
          <a:p>
            <a:r>
              <a:rPr lang="sv-SE" sz="1100" b="1" dirty="0">
                <a:solidFill>
                  <a:srgbClr val="050505"/>
                </a:solidFill>
                <a:latin typeface="inherit"/>
              </a:rPr>
              <a:t>Mandelkaka med frukt – 10 portioner</a:t>
            </a:r>
            <a:endParaRPr lang="sv-SE" sz="1100" b="1" dirty="0">
              <a:solidFill>
                <a:srgbClr val="050505"/>
              </a:solidFill>
              <a:latin typeface="system-ui"/>
            </a:endParaRPr>
          </a:p>
          <a:p>
            <a:r>
              <a:rPr lang="sv-SE" sz="1100" dirty="0">
                <a:solidFill>
                  <a:srgbClr val="050505"/>
                </a:solidFill>
                <a:latin typeface="inherit"/>
              </a:rPr>
              <a:t>200 g smör</a:t>
            </a:r>
            <a:endParaRPr lang="sv-SE" sz="1100" dirty="0">
              <a:solidFill>
                <a:srgbClr val="050505"/>
              </a:solidFill>
              <a:latin typeface="system-ui"/>
            </a:endParaRPr>
          </a:p>
          <a:p>
            <a:r>
              <a:rPr lang="sv-SE" sz="1100" dirty="0">
                <a:solidFill>
                  <a:srgbClr val="050505"/>
                </a:solidFill>
                <a:latin typeface="inherit"/>
              </a:rPr>
              <a:t>4 dl </a:t>
            </a:r>
            <a:r>
              <a:rPr lang="sv-SE" sz="1100" dirty="0" err="1">
                <a:solidFill>
                  <a:srgbClr val="050505"/>
                </a:solidFill>
                <a:latin typeface="inherit"/>
              </a:rPr>
              <a:t>mandelmjöl</a:t>
            </a:r>
            <a:endParaRPr lang="sv-SE" sz="1100" dirty="0">
              <a:solidFill>
                <a:srgbClr val="050505"/>
              </a:solidFill>
              <a:latin typeface="system-ui"/>
            </a:endParaRPr>
          </a:p>
          <a:p>
            <a:r>
              <a:rPr lang="sv-SE" sz="1100" dirty="0">
                <a:solidFill>
                  <a:srgbClr val="050505"/>
                </a:solidFill>
                <a:latin typeface="inherit"/>
              </a:rPr>
              <a:t>1 </a:t>
            </a:r>
            <a:r>
              <a:rPr lang="sv-SE" sz="1100">
                <a:solidFill>
                  <a:srgbClr val="050505"/>
                </a:solidFill>
                <a:latin typeface="inherit"/>
              </a:rPr>
              <a:t>dl agavesirap</a:t>
            </a:r>
            <a:endParaRPr lang="sv-SE" sz="1100" dirty="0">
              <a:solidFill>
                <a:srgbClr val="050505"/>
              </a:solidFill>
              <a:latin typeface="system-ui"/>
            </a:endParaRPr>
          </a:p>
          <a:p>
            <a:r>
              <a:rPr lang="sv-SE" sz="1100" dirty="0">
                <a:solidFill>
                  <a:srgbClr val="050505"/>
                </a:solidFill>
                <a:latin typeface="inherit"/>
              </a:rPr>
              <a:t>1,5 tsk bakpulver</a:t>
            </a:r>
            <a:endParaRPr lang="sv-SE" sz="1100" dirty="0">
              <a:solidFill>
                <a:srgbClr val="050505"/>
              </a:solidFill>
              <a:latin typeface="system-ui"/>
            </a:endParaRPr>
          </a:p>
          <a:p>
            <a:r>
              <a:rPr lang="sv-SE" sz="1100" dirty="0">
                <a:solidFill>
                  <a:srgbClr val="050505"/>
                </a:solidFill>
                <a:latin typeface="inherit"/>
              </a:rPr>
              <a:t>½ tsk vaniljpulver</a:t>
            </a:r>
            <a:endParaRPr lang="sv-SE" sz="1100" dirty="0">
              <a:solidFill>
                <a:srgbClr val="050505"/>
              </a:solidFill>
              <a:latin typeface="system-ui"/>
            </a:endParaRPr>
          </a:p>
          <a:p>
            <a:r>
              <a:rPr lang="sv-SE" sz="1100" dirty="0">
                <a:solidFill>
                  <a:srgbClr val="050505"/>
                </a:solidFill>
                <a:latin typeface="inherit"/>
              </a:rPr>
              <a:t>4 ägg</a:t>
            </a:r>
            <a:endParaRPr lang="sv-SE" sz="1100" dirty="0">
              <a:solidFill>
                <a:srgbClr val="050505"/>
              </a:solidFill>
              <a:latin typeface="system-ui"/>
            </a:endParaRPr>
          </a:p>
          <a:p>
            <a:r>
              <a:rPr lang="sv-SE" sz="1100" dirty="0">
                <a:solidFill>
                  <a:srgbClr val="050505"/>
                </a:solidFill>
                <a:latin typeface="inherit"/>
              </a:rPr>
              <a:t>½ krm salt</a:t>
            </a:r>
          </a:p>
          <a:p>
            <a:endParaRPr lang="sv-SE" sz="1100" dirty="0">
              <a:solidFill>
                <a:srgbClr val="050505"/>
              </a:solidFill>
              <a:latin typeface="system-ui"/>
            </a:endParaRPr>
          </a:p>
          <a:p>
            <a:r>
              <a:rPr lang="sv-SE" sz="1100" b="1" dirty="0" err="1">
                <a:solidFill>
                  <a:srgbClr val="050505"/>
                </a:solidFill>
                <a:latin typeface="inherit"/>
              </a:rPr>
              <a:t>Topping</a:t>
            </a:r>
            <a:r>
              <a:rPr lang="sv-SE" sz="1100" b="1" dirty="0">
                <a:solidFill>
                  <a:srgbClr val="050505"/>
                </a:solidFill>
                <a:latin typeface="inherit"/>
              </a:rPr>
              <a:t>: </a:t>
            </a:r>
            <a:r>
              <a:rPr lang="sv-SE" sz="1100" dirty="0">
                <a:solidFill>
                  <a:srgbClr val="050505"/>
                </a:solidFill>
                <a:latin typeface="inherit"/>
              </a:rPr>
              <a:t>5 aprikoser, 12 körsbär, 15 hallon, 25 g mandelspån</a:t>
            </a:r>
          </a:p>
          <a:p>
            <a:endParaRPr lang="sv-SE" sz="1100" dirty="0">
              <a:solidFill>
                <a:srgbClr val="050505"/>
              </a:solidFill>
              <a:latin typeface="system-ui"/>
            </a:endParaRPr>
          </a:p>
          <a:p>
            <a:r>
              <a:rPr lang="sv-SE" sz="1100" dirty="0">
                <a:solidFill>
                  <a:srgbClr val="050505"/>
                </a:solidFill>
                <a:latin typeface="inherit"/>
              </a:rPr>
              <a:t>Sätt ugnen på 175 grader. Smält smöret i en kastrull. Blanda i alla ingredienser till smeten. Häll ner smeten i en pajform med bakplåtspapper. Skiva frukten och lägg över pajen tillsammans med mandelspån. Grädda i ugnen i 20 minuter. Låt svalna. Frys in i portionsbitar.</a:t>
            </a:r>
            <a:endParaRPr lang="sv-SE" sz="1100" b="0" i="0" u="none" strike="noStrike" dirty="0">
              <a:solidFill>
                <a:srgbClr val="050505"/>
              </a:solidFill>
              <a:effectLst/>
              <a:latin typeface="system-ui"/>
            </a:endParaRPr>
          </a:p>
        </p:txBody>
      </p:sp>
      <p:sp>
        <p:nvSpPr>
          <p:cNvPr id="5" name="Platshållare för bildnummer 4">
            <a:extLst>
              <a:ext uri="{FF2B5EF4-FFF2-40B4-BE49-F238E27FC236}">
                <a16:creationId xmlns:a16="http://schemas.microsoft.com/office/drawing/2014/main" id="{9A473C6C-AB50-8D49-A05E-906425AFE944}"/>
              </a:ext>
            </a:extLst>
          </p:cNvPr>
          <p:cNvSpPr>
            <a:spLocks noGrp="1"/>
          </p:cNvSpPr>
          <p:nvPr>
            <p:ph type="sldNum" sz="quarter" idx="12"/>
          </p:nvPr>
        </p:nvSpPr>
        <p:spPr/>
        <p:txBody>
          <a:bodyPr/>
          <a:lstStyle/>
          <a:p>
            <a:fld id="{97BA8967-5D92-4842-BAFB-0C8F679E5DC4}" type="slidenum">
              <a:rPr lang="sv-SE" smtClean="0"/>
              <a:t>10</a:t>
            </a:fld>
            <a:endParaRPr lang="sv-SE"/>
          </a:p>
        </p:txBody>
      </p:sp>
      <p:sp>
        <p:nvSpPr>
          <p:cNvPr id="7" name="textruta 6">
            <a:extLst>
              <a:ext uri="{FF2B5EF4-FFF2-40B4-BE49-F238E27FC236}">
                <a16:creationId xmlns:a16="http://schemas.microsoft.com/office/drawing/2014/main" id="{F9EB437F-01AB-3149-8C81-01C55F26247A}"/>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8" name="Ellips 7">
            <a:extLst>
              <a:ext uri="{FF2B5EF4-FFF2-40B4-BE49-F238E27FC236}">
                <a16:creationId xmlns:a16="http://schemas.microsoft.com/office/drawing/2014/main" id="{EF022A43-F162-4A42-A689-8E1194D1E364}"/>
              </a:ext>
            </a:extLst>
          </p:cNvPr>
          <p:cNvSpPr/>
          <p:nvPr/>
        </p:nvSpPr>
        <p:spPr>
          <a:xfrm>
            <a:off x="1820527" y="514626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385kcal</a:t>
            </a:r>
            <a:endParaRPr sz="1200" b="1" dirty="0">
              <a:solidFill>
                <a:schemeClr val="bg1"/>
              </a:solidFill>
              <a:ea typeface="ＭＳ 明朝"/>
              <a:cs typeface="Avenir Light"/>
            </a:endParaRPr>
          </a:p>
        </p:txBody>
      </p:sp>
      <p:pic>
        <p:nvPicPr>
          <p:cNvPr id="3" name="Bildobjekt 2">
            <a:extLst>
              <a:ext uri="{FF2B5EF4-FFF2-40B4-BE49-F238E27FC236}">
                <a16:creationId xmlns:a16="http://schemas.microsoft.com/office/drawing/2014/main" id="{A494F579-E676-F043-A4F9-36B815863E8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53625" y="264300"/>
            <a:ext cx="3661475" cy="4881966"/>
          </a:xfrm>
          <a:prstGeom prst="rect">
            <a:avLst/>
          </a:prstGeom>
        </p:spPr>
      </p:pic>
      <p:sp>
        <p:nvSpPr>
          <p:cNvPr id="11" name="Moln 10">
            <a:extLst>
              <a:ext uri="{FF2B5EF4-FFF2-40B4-BE49-F238E27FC236}">
                <a16:creationId xmlns:a16="http://schemas.microsoft.com/office/drawing/2014/main" id="{2655DF7B-11A6-2948-A9C7-7CB2B9FD76D8}"/>
              </a:ext>
            </a:extLst>
          </p:cNvPr>
          <p:cNvSpPr/>
          <p:nvPr/>
        </p:nvSpPr>
        <p:spPr>
          <a:xfrm>
            <a:off x="4914900" y="5780868"/>
            <a:ext cx="1600200" cy="945396"/>
          </a:xfrm>
          <a:prstGeom prst="cloud">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sv-SE" sz="1200" dirty="0"/>
              <a:t>Frys in i portionsbitar!</a:t>
            </a:r>
          </a:p>
        </p:txBody>
      </p:sp>
      <p:sp>
        <p:nvSpPr>
          <p:cNvPr id="2" name="textruta 1">
            <a:extLst>
              <a:ext uri="{FF2B5EF4-FFF2-40B4-BE49-F238E27FC236}">
                <a16:creationId xmlns:a16="http://schemas.microsoft.com/office/drawing/2014/main" id="{B7A2A68F-7038-FB4E-BAF2-FD3BF8F04BEE}"/>
              </a:ext>
            </a:extLst>
          </p:cNvPr>
          <p:cNvSpPr txBox="1"/>
          <p:nvPr/>
        </p:nvSpPr>
        <p:spPr>
          <a:xfrm>
            <a:off x="170481" y="1518834"/>
            <a:ext cx="1703351" cy="369332"/>
          </a:xfrm>
          <a:prstGeom prst="rect">
            <a:avLst/>
          </a:prstGeom>
          <a:noFill/>
        </p:spPr>
        <p:txBody>
          <a:bodyPr wrap="none" rtlCol="0">
            <a:spAutoFit/>
          </a:bodyPr>
          <a:lstStyle/>
          <a:p>
            <a:r>
              <a:rPr lang="sv-SE" dirty="0"/>
              <a:t>Hösturbon 2024</a:t>
            </a:r>
          </a:p>
        </p:txBody>
      </p:sp>
    </p:spTree>
    <p:extLst>
      <p:ext uri="{BB962C8B-B14F-4D97-AF65-F5344CB8AC3E}">
        <p14:creationId xmlns:p14="http://schemas.microsoft.com/office/powerpoint/2010/main" val="1773022015"/>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474364</TotalTime>
  <Words>1750</Words>
  <Application>Microsoft Office PowerPoint</Application>
  <PresentationFormat>Bildspel på skärmen (4:3)</PresentationFormat>
  <Paragraphs>264</Paragraphs>
  <Slides>10</Slides>
  <Notes>2</Notes>
  <HiddenSlides>0</HiddenSlides>
  <MMClips>0</MMClips>
  <ScaleCrop>false</ScaleCrop>
  <HeadingPairs>
    <vt:vector size="4" baseType="variant">
      <vt:variant>
        <vt:lpstr>Tema</vt:lpstr>
      </vt:variant>
      <vt:variant>
        <vt:i4>1</vt:i4>
      </vt:variant>
      <vt:variant>
        <vt:lpstr>Bildrubriker</vt:lpstr>
      </vt:variant>
      <vt:variant>
        <vt:i4>10</vt:i4>
      </vt:variant>
    </vt:vector>
  </HeadingPairs>
  <TitlesOfParts>
    <vt:vector size="11" baseType="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ulrika.davidsson@dietshop.se</cp:lastModifiedBy>
  <cp:revision>1046</cp:revision>
  <cp:lastPrinted>2017-09-05T09:39:57Z</cp:lastPrinted>
  <dcterms:created xsi:type="dcterms:W3CDTF">2016-08-21T13:21:42Z</dcterms:created>
  <dcterms:modified xsi:type="dcterms:W3CDTF">2025-06-25T14:22:58Z</dcterms:modified>
</cp:coreProperties>
</file>