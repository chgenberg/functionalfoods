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2"/>
    <p:sldId id="448" r:id="rId3"/>
    <p:sldId id="415" r:id="rId4"/>
    <p:sldId id="334" r:id="rId5"/>
    <p:sldId id="258" r:id="rId6"/>
    <p:sldId id="274" r:id="rId7"/>
    <p:sldId id="281" r:id="rId8"/>
    <p:sldId id="275" r:id="rId9"/>
    <p:sldId id="446" r:id="rId10"/>
    <p:sldId id="418" r:id="rId11"/>
    <p:sldId id="434" r:id="rId12"/>
  </p:sldIdLst>
  <p:sldSz cx="6858000" cy="9144000" type="screen4x3"/>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564"/>
    <a:srgbClr val="009999"/>
    <a:srgbClr val="008080"/>
    <a:srgbClr val="65B7A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30" autoAdjust="0"/>
    <p:restoredTop sz="94690" autoAdjust="0"/>
  </p:normalViewPr>
  <p:slideViewPr>
    <p:cSldViewPr snapToGrid="0" snapToObjects="1">
      <p:cViewPr varScale="1">
        <p:scale>
          <a:sx n="83" d="100"/>
          <a:sy n="83" d="100"/>
        </p:scale>
        <p:origin x="2696" y="20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AF518D-D1B5-2545-B50F-6E9BBD888BCB}" type="datetimeFigureOut">
              <a:rPr lang="sv-SE" smtClean="0"/>
              <a:t>2025-01-06</a:t>
            </a:fld>
            <a:endParaRPr lang="sv-SE"/>
          </a:p>
        </p:txBody>
      </p:sp>
      <p:sp>
        <p:nvSpPr>
          <p:cNvPr id="4" name="Platshållare för bildobjekt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3415C0-1913-C443-8074-00E93713293E}" type="slidenum">
              <a:rPr lang="sv-SE" smtClean="0"/>
              <a:t>‹#›</a:t>
            </a:fld>
            <a:endParaRPr lang="sv-SE"/>
          </a:p>
        </p:txBody>
      </p:sp>
    </p:spTree>
    <p:extLst>
      <p:ext uri="{BB962C8B-B14F-4D97-AF65-F5344CB8AC3E}">
        <p14:creationId xmlns:p14="http://schemas.microsoft.com/office/powerpoint/2010/main" val="349778927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1</a:t>
            </a:fld>
            <a:endParaRPr lang="sv-SE"/>
          </a:p>
        </p:txBody>
      </p:sp>
    </p:spTree>
    <p:extLst>
      <p:ext uri="{BB962C8B-B14F-4D97-AF65-F5344CB8AC3E}">
        <p14:creationId xmlns:p14="http://schemas.microsoft.com/office/powerpoint/2010/main" val="2514039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2</a:t>
            </a:fld>
            <a:endParaRPr lang="sv-SE"/>
          </a:p>
        </p:txBody>
      </p:sp>
    </p:spTree>
    <p:extLst>
      <p:ext uri="{BB962C8B-B14F-4D97-AF65-F5344CB8AC3E}">
        <p14:creationId xmlns:p14="http://schemas.microsoft.com/office/powerpoint/2010/main" val="3616571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3</a:t>
            </a:fld>
            <a:endParaRPr lang="sv-SE"/>
          </a:p>
        </p:txBody>
      </p:sp>
    </p:spTree>
    <p:extLst>
      <p:ext uri="{BB962C8B-B14F-4D97-AF65-F5344CB8AC3E}">
        <p14:creationId xmlns:p14="http://schemas.microsoft.com/office/powerpoint/2010/main" val="3180551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7</a:t>
            </a:fld>
            <a:endParaRPr lang="sv-SE"/>
          </a:p>
        </p:txBody>
      </p:sp>
    </p:spTree>
    <p:extLst>
      <p:ext uri="{BB962C8B-B14F-4D97-AF65-F5344CB8AC3E}">
        <p14:creationId xmlns:p14="http://schemas.microsoft.com/office/powerpoint/2010/main" val="2141866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514350" y="2840568"/>
            <a:ext cx="5829300" cy="1960033"/>
          </a:xfrm>
        </p:spPr>
        <p:txBody>
          <a:bodyPr/>
          <a:lstStyle/>
          <a:p>
            <a:r>
              <a:rPr lang="sv-SE"/>
              <a:t>Klicka här för att ändra format</a:t>
            </a:r>
          </a:p>
        </p:txBody>
      </p:sp>
      <p:sp>
        <p:nvSpPr>
          <p:cNvPr id="3" name="Underrubrik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34FDA80A-1BE6-40A2-A134-482AAF037DFC}" type="datetime1">
              <a:rPr lang="sv-SE" smtClean="0"/>
              <a:t>2025-01-06</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932805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9F7DF21-0883-43EC-91D5-C9424F5F8865}" type="datetime1">
              <a:rPr lang="sv-SE" smtClean="0"/>
              <a:t>2025-01-06</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41783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541735" y="5875867"/>
            <a:ext cx="5829300" cy="1816100"/>
          </a:xfrm>
        </p:spPr>
        <p:txBody>
          <a:bodyPr anchor="t"/>
          <a:lstStyle>
            <a:lvl1pPr algn="l">
              <a:defRPr sz="4000" b="1" cap="all"/>
            </a:lvl1pPr>
          </a:lstStyle>
          <a:p>
            <a:r>
              <a:rPr lang="sv-SE"/>
              <a:t>Klicka här för att ändra format</a:t>
            </a:r>
          </a:p>
        </p:txBody>
      </p:sp>
      <p:sp>
        <p:nvSpPr>
          <p:cNvPr id="3" name="Platshållare för text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451640AB-E0B5-43CC-810E-D003D1BC6DFA}" type="datetime1">
              <a:rPr lang="sv-SE" smtClean="0"/>
              <a:t>2025-01-06</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4282179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7A845E01-A5E8-46B2-A7EB-D7DFD4EA7399}" type="datetime1">
              <a:rPr lang="sv-SE" smtClean="0"/>
              <a:t>2025-01-06</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271029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342900" y="366184"/>
            <a:ext cx="6172200" cy="1524000"/>
          </a:xfrm>
        </p:spPr>
        <p:txBody>
          <a:bodyPr/>
          <a:lstStyle>
            <a:lvl1pPr>
              <a:defRPr/>
            </a:lvl1pPr>
          </a:lstStyle>
          <a:p>
            <a:r>
              <a:rPr lang="sv-SE"/>
              <a:t>Klicka här för att ändra format</a:t>
            </a:r>
          </a:p>
        </p:txBody>
      </p:sp>
      <p:sp>
        <p:nvSpPr>
          <p:cNvPr id="3" name="Platshållare för text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3F3B0D4C-FCD8-4E77-B860-C0B2F667CB83}" type="datetime1">
              <a:rPr lang="sv-SE" smtClean="0"/>
              <a:t>2025-01-06</a:t>
            </a:fld>
            <a:endParaRPr lang="sv-SE"/>
          </a:p>
        </p:txBody>
      </p:sp>
      <p:sp>
        <p:nvSpPr>
          <p:cNvPr id="8" name="Platshållare för sidfot 7"/>
          <p:cNvSpPr>
            <a:spLocks noGrp="1"/>
          </p:cNvSpPr>
          <p:nvPr>
            <p:ph type="ftr" sz="quarter" idx="11"/>
          </p:nvPr>
        </p:nvSpPr>
        <p:spPr/>
        <p:txBody>
          <a:bodyPr/>
          <a:lstStyle/>
          <a:p>
            <a:r>
              <a:rPr lang="sv-SE"/>
              <a:t>ULRIKA DAVIDSSON ● LAGA LÄTT 6 VECKOR ● RECEPT  ● VECKA 1</a:t>
            </a:r>
          </a:p>
        </p:txBody>
      </p:sp>
      <p:sp>
        <p:nvSpPr>
          <p:cNvPr id="9" name="Platshållare för bildnummer 8"/>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394679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EC76126-DB9B-4BAA-A376-2217548CABED}" type="datetime1">
              <a:rPr lang="sv-SE" smtClean="0"/>
              <a:t>2025-01-06</a:t>
            </a:fld>
            <a:endParaRPr lang="sv-SE"/>
          </a:p>
        </p:txBody>
      </p:sp>
      <p:sp>
        <p:nvSpPr>
          <p:cNvPr id="4" name="Platshållare för sidfot 3"/>
          <p:cNvSpPr>
            <a:spLocks noGrp="1"/>
          </p:cNvSpPr>
          <p:nvPr>
            <p:ph type="ftr" sz="quarter" idx="11"/>
          </p:nvPr>
        </p:nvSpPr>
        <p:spPr/>
        <p:txBody>
          <a:bodyPr/>
          <a:lstStyle/>
          <a:p>
            <a:r>
              <a:rPr lang="sv-SE"/>
              <a:t>ULRIKA DAVIDSSON ● LAGA LÄTT 6 VECKOR ● RECEPT  ● VECKA 1</a:t>
            </a:r>
          </a:p>
        </p:txBody>
      </p:sp>
      <p:sp>
        <p:nvSpPr>
          <p:cNvPr id="5" name="Platshållare för bildnummer 4"/>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75122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26C1E6F0-24C7-41D4-B8C8-643F3434D7A8}" type="datetime1">
              <a:rPr lang="sv-SE" smtClean="0"/>
              <a:t>2025-01-06</a:t>
            </a:fld>
            <a:endParaRPr lang="sv-SE"/>
          </a:p>
        </p:txBody>
      </p:sp>
      <p:sp>
        <p:nvSpPr>
          <p:cNvPr id="3" name="Platshållare för sidfot 2"/>
          <p:cNvSpPr>
            <a:spLocks noGrp="1"/>
          </p:cNvSpPr>
          <p:nvPr>
            <p:ph type="ftr" sz="quarter" idx="11"/>
          </p:nvPr>
        </p:nvSpPr>
        <p:spPr/>
        <p:txBody>
          <a:bodyPr/>
          <a:lstStyle/>
          <a:p>
            <a:r>
              <a:rPr lang="sv-SE"/>
              <a:t>ULRIKA DAVIDSSON ● LAGA LÄTT 6 VECKOR ● RECEPT  ● VECKA 1</a:t>
            </a:r>
          </a:p>
        </p:txBody>
      </p:sp>
      <p:sp>
        <p:nvSpPr>
          <p:cNvPr id="4" name="Platshållare för bildnummer 3"/>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50216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342900" y="364067"/>
            <a:ext cx="2256235" cy="1549400"/>
          </a:xfrm>
        </p:spPr>
        <p:txBody>
          <a:bodyPr anchor="b"/>
          <a:lstStyle>
            <a:lvl1pPr algn="l">
              <a:defRPr sz="2000" b="1"/>
            </a:lvl1pPr>
          </a:lstStyle>
          <a:p>
            <a:r>
              <a:rPr lang="sv-SE"/>
              <a:t>Klicka här för att ändra format</a:t>
            </a:r>
          </a:p>
        </p:txBody>
      </p:sp>
      <p:sp>
        <p:nvSpPr>
          <p:cNvPr id="3" name="Platshållare för innehåll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85858CBC-F4EE-4838-AACD-F1AC7E759B58}" type="datetime1">
              <a:rPr lang="sv-SE" smtClean="0"/>
              <a:t>2025-01-06</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02030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344216" y="6400800"/>
            <a:ext cx="4114800" cy="755651"/>
          </a:xfrm>
        </p:spPr>
        <p:txBody>
          <a:bodyPr anchor="b"/>
          <a:lstStyle>
            <a:lvl1pPr algn="l">
              <a:defRPr sz="2000" b="1"/>
            </a:lvl1pPr>
          </a:lstStyle>
          <a:p>
            <a:r>
              <a:rPr lang="sv-SE"/>
              <a:t>Klicka här för att ändra format</a:t>
            </a:r>
          </a:p>
        </p:txBody>
      </p:sp>
      <p:sp>
        <p:nvSpPr>
          <p:cNvPr id="3" name="Platshållare för bild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5B5326A1-37BC-420F-86B7-C725CF2D32F4}" type="datetime1">
              <a:rPr lang="sv-SE" smtClean="0"/>
              <a:t>2025-01-06</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964272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B2C635E4-5849-42AC-A5E1-3E5BA8AE7326}" type="datetime1">
              <a:rPr lang="sv-SE" smtClean="0"/>
              <a:t>2025-01-06</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803887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3729037" y="488951"/>
            <a:ext cx="1157288" cy="10401300"/>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257175" y="488951"/>
            <a:ext cx="3357563" cy="1040130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050FD217-3DCE-44BA-ACD5-81FAAB86E102}" type="datetime1">
              <a:rPr lang="sv-SE" smtClean="0"/>
              <a:t>2025-01-06</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80006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6FAA230D-E3B8-4437-A196-7E6D616735AA}" type="datetime1">
              <a:rPr lang="sv-SE" smtClean="0"/>
              <a:t>2025-01-06</a:t>
            </a:fld>
            <a:endParaRPr lang="sv-SE"/>
          </a:p>
        </p:txBody>
      </p:sp>
      <p:sp>
        <p:nvSpPr>
          <p:cNvPr id="5" name="Platshållare för sidfot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ULRIKA DAVIDSSON ● LAGA LÄTT 6 VECKOR ● RECEPT  ● VECKA 1</a:t>
            </a:r>
          </a:p>
        </p:txBody>
      </p:sp>
      <p:sp>
        <p:nvSpPr>
          <p:cNvPr id="6" name="Platshållare för bildnumm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97BA8967-5D92-4842-BAFB-0C8F679E5DC4}" type="slidenum">
              <a:rPr lang="sv-SE" smtClean="0"/>
              <a:t>‹#›</a:t>
            </a:fld>
            <a:endParaRPr lang="sv-SE"/>
          </a:p>
        </p:txBody>
      </p:sp>
    </p:spTree>
    <p:extLst>
      <p:ext uri="{BB962C8B-B14F-4D97-AF65-F5344CB8AC3E}">
        <p14:creationId xmlns:p14="http://schemas.microsoft.com/office/powerpoint/2010/main" val="152480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ruta 22">
            <a:extLst>
              <a:ext uri="{FF2B5EF4-FFF2-40B4-BE49-F238E27FC236}">
                <a16:creationId xmlns:a16="http://schemas.microsoft.com/office/drawing/2014/main" id="{3DC32742-BCD6-8447-9120-14AB4FC3BB4C}"/>
              </a:ext>
            </a:extLst>
          </p:cNvPr>
          <p:cNvSpPr txBox="1"/>
          <p:nvPr/>
        </p:nvSpPr>
        <p:spPr>
          <a:xfrm>
            <a:off x="281584" y="1864896"/>
            <a:ext cx="3307789" cy="3816429"/>
          </a:xfrm>
          <a:prstGeom prst="rect">
            <a:avLst/>
          </a:prstGeom>
          <a:noFill/>
        </p:spPr>
        <p:txBody>
          <a:bodyPr wrap="square" rtlCol="0">
            <a:spAutoFit/>
          </a:bodyPr>
          <a:lstStyle/>
          <a:p>
            <a:r>
              <a:rPr lang="sv-SE" sz="1100" b="1" dirty="0" err="1"/>
              <a:t>Ketomüsli</a:t>
            </a:r>
            <a:r>
              <a:rPr lang="sv-SE" sz="1100" b="1" dirty="0"/>
              <a:t> - 15 portioner </a:t>
            </a:r>
          </a:p>
          <a:p>
            <a:r>
              <a:rPr lang="sv-SE" sz="1100" dirty="0"/>
              <a:t>1 dl paranötter</a:t>
            </a:r>
          </a:p>
          <a:p>
            <a:r>
              <a:rPr lang="sv-SE" sz="1100" dirty="0"/>
              <a:t>1 dl valnötter</a:t>
            </a:r>
          </a:p>
          <a:p>
            <a:r>
              <a:rPr lang="sv-SE" sz="1100" dirty="0"/>
              <a:t>1 dl hasselnötter</a:t>
            </a:r>
          </a:p>
          <a:p>
            <a:r>
              <a:rPr lang="sv-SE" sz="1100" dirty="0"/>
              <a:t>1 dl mandel</a:t>
            </a:r>
          </a:p>
          <a:p>
            <a:r>
              <a:rPr lang="sv-SE" sz="1100" dirty="0"/>
              <a:t>1 dl pekannötter</a:t>
            </a:r>
          </a:p>
          <a:p>
            <a:r>
              <a:rPr lang="sv-SE" sz="1100" dirty="0"/>
              <a:t>4 dl </a:t>
            </a:r>
            <a:r>
              <a:rPr lang="sv-SE" sz="1100" dirty="0" err="1"/>
              <a:t>mandelmjöl</a:t>
            </a:r>
            <a:endParaRPr lang="sv-SE" sz="1100" dirty="0"/>
          </a:p>
          <a:p>
            <a:r>
              <a:rPr lang="sv-SE" sz="1100" dirty="0"/>
              <a:t>1 msk </a:t>
            </a:r>
            <a:r>
              <a:rPr lang="sv-SE" sz="1100" dirty="0" err="1"/>
              <a:t>Nikks</a:t>
            </a:r>
            <a:r>
              <a:rPr lang="sv-SE" sz="1100" dirty="0"/>
              <a:t> fiberhonung</a:t>
            </a:r>
          </a:p>
          <a:p>
            <a:r>
              <a:rPr lang="sv-SE" sz="1100" dirty="0"/>
              <a:t>1 msk rapsolja</a:t>
            </a:r>
          </a:p>
          <a:p>
            <a:r>
              <a:rPr lang="sv-SE" sz="1100" dirty="0"/>
              <a:t>1 msk malen kanel</a:t>
            </a:r>
          </a:p>
          <a:p>
            <a:r>
              <a:rPr lang="sv-SE" sz="1100" dirty="0"/>
              <a:t>1 tsk malen kardemumma</a:t>
            </a:r>
          </a:p>
          <a:p>
            <a:r>
              <a:rPr lang="sv-SE" sz="1100" dirty="0"/>
              <a:t>1 krm salt</a:t>
            </a:r>
          </a:p>
          <a:p>
            <a:r>
              <a:rPr lang="sv-SE" sz="1100" dirty="0"/>
              <a:t>2 dl kokosflingor</a:t>
            </a:r>
          </a:p>
          <a:p>
            <a:r>
              <a:rPr lang="sv-SE" sz="1100" dirty="0"/>
              <a:t>2 dl kokosskivor</a:t>
            </a:r>
          </a:p>
          <a:p>
            <a:endParaRPr lang="sv-SE" sz="1100" dirty="0"/>
          </a:p>
          <a:p>
            <a:r>
              <a:rPr lang="sv-SE" sz="1100" dirty="0"/>
              <a:t>Hacka alla nötter grovt. Hetta upp en stekpanna och lägg ner </a:t>
            </a:r>
            <a:r>
              <a:rPr lang="sv-SE" sz="1100" dirty="0" err="1"/>
              <a:t>mandelmjöl</a:t>
            </a:r>
            <a:r>
              <a:rPr lang="sv-SE" sz="1100" dirty="0"/>
              <a:t>. Tillsätt fiberhonung, olja, kanel, kardemumma och salt. Sänk värmen och låt rosta 5 minuter under omrörning. Blanda ner kokosflingor och kokosskivor. Rosta nötterna i en torr stekpanna i några minuter. Blanda ner i stekpannan med </a:t>
            </a:r>
            <a:r>
              <a:rPr lang="sv-SE" sz="1100" dirty="0" err="1"/>
              <a:t>mandelmjöl</a:t>
            </a:r>
            <a:r>
              <a:rPr lang="sv-SE" sz="1100" dirty="0"/>
              <a:t>. Häll upp müslin i en burk med lock.</a:t>
            </a:r>
          </a:p>
        </p:txBody>
      </p:sp>
      <p:sp>
        <p:nvSpPr>
          <p:cNvPr id="12" name="textruta 11">
            <a:extLst>
              <a:ext uri="{FF2B5EF4-FFF2-40B4-BE49-F238E27FC236}">
                <a16:creationId xmlns:a16="http://schemas.microsoft.com/office/drawing/2014/main" id="{F15FD6BF-CC30-43C5-AC4C-78E43C405451}"/>
              </a:ext>
            </a:extLst>
          </p:cNvPr>
          <p:cNvSpPr txBox="1"/>
          <p:nvPr/>
        </p:nvSpPr>
        <p:spPr>
          <a:xfrm>
            <a:off x="177174" y="1422978"/>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2" name="textruta 1">
            <a:extLst>
              <a:ext uri="{FF2B5EF4-FFF2-40B4-BE49-F238E27FC236}">
                <a16:creationId xmlns:a16="http://schemas.microsoft.com/office/drawing/2014/main" id="{95E5F092-0F5D-723B-359F-8A4FEE34AE49}"/>
              </a:ext>
            </a:extLst>
          </p:cNvPr>
          <p:cNvSpPr txBox="1"/>
          <p:nvPr/>
        </p:nvSpPr>
        <p:spPr>
          <a:xfrm>
            <a:off x="94595" y="330759"/>
            <a:ext cx="6814135" cy="954107"/>
          </a:xfrm>
          <a:prstGeom prst="rect">
            <a:avLst/>
          </a:prstGeom>
          <a:noFill/>
        </p:spPr>
        <p:txBody>
          <a:bodyPr wrap="square" rtlCol="0">
            <a:spAutoFit/>
          </a:bodyPr>
          <a:lstStyle/>
          <a:p>
            <a:r>
              <a:rPr lang="sv-SE" sz="2800" dirty="0">
                <a:latin typeface="BigCaslonFB" panose="02000603080000020003" pitchFamily="50" charset="0"/>
              </a:rPr>
              <a:t>RECEPT v. 1</a:t>
            </a:r>
          </a:p>
          <a:p>
            <a:r>
              <a:rPr lang="sv-SE" sz="2800" dirty="0" err="1">
                <a:latin typeface="BigCaslonFB" panose="02000603080000020003" pitchFamily="50" charset="0"/>
              </a:rPr>
              <a:t>Functional</a:t>
            </a:r>
            <a:r>
              <a:rPr lang="sv-SE" sz="2800" dirty="0">
                <a:latin typeface="BigCaslonFB" panose="02000603080000020003" pitchFamily="50" charset="0"/>
              </a:rPr>
              <a:t> Foods</a:t>
            </a:r>
          </a:p>
        </p:txBody>
      </p:sp>
      <p:cxnSp>
        <p:nvCxnSpPr>
          <p:cNvPr id="3" name="Rak koppling 2">
            <a:extLst>
              <a:ext uri="{FF2B5EF4-FFF2-40B4-BE49-F238E27FC236}">
                <a16:creationId xmlns:a16="http://schemas.microsoft.com/office/drawing/2014/main" id="{23ABB56F-1DE2-40DD-CB7B-08E8DD7BF20F}"/>
              </a:ext>
            </a:extLst>
          </p:cNvPr>
          <p:cNvCxnSpPr>
            <a:cxnSpLocks/>
          </p:cNvCxnSpPr>
          <p:nvPr/>
        </p:nvCxnSpPr>
        <p:spPr>
          <a:xfrm flipV="1">
            <a:off x="-50815" y="175928"/>
            <a:ext cx="6875766" cy="7574"/>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 name="Rak koppling 4">
            <a:extLst>
              <a:ext uri="{FF2B5EF4-FFF2-40B4-BE49-F238E27FC236}">
                <a16:creationId xmlns:a16="http://schemas.microsoft.com/office/drawing/2014/main" id="{6DB80FA7-3373-94E0-A093-91846E7D6631}"/>
              </a:ext>
            </a:extLst>
          </p:cNvPr>
          <p:cNvCxnSpPr>
            <a:cxnSpLocks/>
          </p:cNvCxnSpPr>
          <p:nvPr/>
        </p:nvCxnSpPr>
        <p:spPr>
          <a:xfrm flipV="1">
            <a:off x="21755" y="1346779"/>
            <a:ext cx="6843163" cy="64101"/>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1</a:t>
            </a:fld>
            <a:endParaRPr lang="sv-SE" sz="900" dirty="0"/>
          </a:p>
        </p:txBody>
      </p:sp>
      <p:sp>
        <p:nvSpPr>
          <p:cNvPr id="31" name="Platshållare för sidfot 1">
            <a:extLst>
              <a:ext uri="{FF2B5EF4-FFF2-40B4-BE49-F238E27FC236}">
                <a16:creationId xmlns:a16="http://schemas.microsoft.com/office/drawing/2014/main" id="{AE4DE5F7-994E-2F41-BF38-824798F7BE46}"/>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
        <p:nvSpPr>
          <p:cNvPr id="16" name="Ellips 15">
            <a:extLst>
              <a:ext uri="{FF2B5EF4-FFF2-40B4-BE49-F238E27FC236}">
                <a16:creationId xmlns:a16="http://schemas.microsoft.com/office/drawing/2014/main" id="{E9CA3D72-46BF-CC48-AE8D-2DDB342B9698}"/>
              </a:ext>
            </a:extLst>
          </p:cNvPr>
          <p:cNvSpPr/>
          <p:nvPr/>
        </p:nvSpPr>
        <p:spPr>
          <a:xfrm>
            <a:off x="2621324" y="2311712"/>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258 kcal</a:t>
            </a:r>
            <a:endParaRPr sz="1200" b="1" dirty="0">
              <a:solidFill>
                <a:schemeClr val="bg1"/>
              </a:solidFill>
              <a:ea typeface="ＭＳ 明朝"/>
              <a:cs typeface="Avenir Light"/>
            </a:endParaRPr>
          </a:p>
        </p:txBody>
      </p:sp>
      <p:sp>
        <p:nvSpPr>
          <p:cNvPr id="13" name="Rektangel 12">
            <a:extLst>
              <a:ext uri="{FF2B5EF4-FFF2-40B4-BE49-F238E27FC236}">
                <a16:creationId xmlns:a16="http://schemas.microsoft.com/office/drawing/2014/main" id="{19A6BCCC-D092-0A44-BDF7-D39165E49D6C}"/>
              </a:ext>
            </a:extLst>
          </p:cNvPr>
          <p:cNvSpPr/>
          <p:nvPr/>
        </p:nvSpPr>
        <p:spPr>
          <a:xfrm>
            <a:off x="4552979" y="6319279"/>
            <a:ext cx="2059571" cy="1277273"/>
          </a:xfrm>
          <a:prstGeom prst="rect">
            <a:avLst/>
          </a:prstGeom>
        </p:spPr>
        <p:txBody>
          <a:bodyPr wrap="square">
            <a:spAutoFit/>
          </a:bodyPr>
          <a:lstStyle/>
          <a:p>
            <a:r>
              <a:rPr lang="sv-SE" sz="1100" b="1" dirty="0">
                <a:latin typeface="DejaVuSansMono"/>
              </a:rPr>
              <a:t>Yoghurt med </a:t>
            </a:r>
            <a:r>
              <a:rPr lang="sv-SE" sz="1100" b="1" dirty="0" err="1">
                <a:latin typeface="DejaVuSansMono"/>
              </a:rPr>
              <a:t>ketomüsli</a:t>
            </a:r>
            <a:r>
              <a:rPr lang="sv-SE" sz="1100" b="1" dirty="0">
                <a:latin typeface="DejaVuSansMono"/>
              </a:rPr>
              <a:t> </a:t>
            </a:r>
            <a:br>
              <a:rPr lang="sv-SE" sz="1100" b="1" dirty="0">
                <a:latin typeface="DejaVuSansMono"/>
              </a:rPr>
            </a:br>
            <a:r>
              <a:rPr lang="sv-SE" sz="1100" b="1" dirty="0">
                <a:latin typeface="DejaVuSansMono"/>
              </a:rPr>
              <a:t>– 1 portion</a:t>
            </a:r>
            <a:br>
              <a:rPr lang="sv-SE" sz="1100" b="1" dirty="0">
                <a:latin typeface="DejaVuSansMono"/>
              </a:rPr>
            </a:br>
            <a:r>
              <a:rPr lang="sv-SE" sz="1100" dirty="0">
                <a:latin typeface="DejaVuSansMono"/>
              </a:rPr>
              <a:t>1 dl grekisk yoghurt, 10%</a:t>
            </a:r>
          </a:p>
          <a:p>
            <a:r>
              <a:rPr lang="sv-SE" sz="1100" dirty="0">
                <a:latin typeface="DejaVuSansMono"/>
              </a:rPr>
              <a:t>¾ dl </a:t>
            </a:r>
            <a:r>
              <a:rPr lang="sv-SE" sz="1100" dirty="0" err="1">
                <a:latin typeface="DejaVuSansMono"/>
              </a:rPr>
              <a:t>ketomüsli</a:t>
            </a:r>
            <a:endParaRPr lang="sv-SE" sz="1100" dirty="0">
              <a:latin typeface="DejaVuSansMono"/>
            </a:endParaRPr>
          </a:p>
          <a:p>
            <a:endParaRPr lang="sv-SE" sz="1100" dirty="0">
              <a:effectLst/>
              <a:latin typeface="DejaVuSansMono"/>
            </a:endParaRPr>
          </a:p>
          <a:p>
            <a:r>
              <a:rPr lang="sv-SE" sz="1100" dirty="0">
                <a:latin typeface="DejaVuSansMono"/>
              </a:rPr>
              <a:t>Lägg yoghurt i en skål och lägg på </a:t>
            </a:r>
            <a:r>
              <a:rPr lang="sv-SE" sz="1100" dirty="0" err="1">
                <a:latin typeface="DejaVuSansMono"/>
              </a:rPr>
              <a:t>ketomüsli</a:t>
            </a:r>
            <a:r>
              <a:rPr lang="sv-SE" sz="1100" dirty="0">
                <a:latin typeface="DejaVuSansMono"/>
              </a:rPr>
              <a:t>.</a:t>
            </a:r>
            <a:endParaRPr lang="sv-SE" sz="1100" dirty="0">
              <a:effectLst/>
            </a:endParaRPr>
          </a:p>
        </p:txBody>
      </p:sp>
      <p:pic>
        <p:nvPicPr>
          <p:cNvPr id="7" name="Bildobjekt 6">
            <a:extLst>
              <a:ext uri="{FF2B5EF4-FFF2-40B4-BE49-F238E27FC236}">
                <a16:creationId xmlns:a16="http://schemas.microsoft.com/office/drawing/2014/main" id="{72ADE170-A51D-CE49-AFCF-1123BE6C4AF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6904" y="5830854"/>
            <a:ext cx="3894848" cy="2921136"/>
          </a:xfrm>
          <a:prstGeom prst="rect">
            <a:avLst/>
          </a:prstGeom>
        </p:spPr>
      </p:pic>
      <p:pic>
        <p:nvPicPr>
          <p:cNvPr id="9" name="Bildobjekt 8">
            <a:extLst>
              <a:ext uri="{FF2B5EF4-FFF2-40B4-BE49-F238E27FC236}">
                <a16:creationId xmlns:a16="http://schemas.microsoft.com/office/drawing/2014/main" id="{89ECC41C-E56E-944B-BBBD-EB45862F43F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3222277" y="1986616"/>
            <a:ext cx="3943504" cy="2957628"/>
          </a:xfrm>
          <a:prstGeom prst="rect">
            <a:avLst/>
          </a:prstGeom>
        </p:spPr>
      </p:pic>
      <p:pic>
        <p:nvPicPr>
          <p:cNvPr id="21" name="Bildobjekt 20">
            <a:extLst>
              <a:ext uri="{FF2B5EF4-FFF2-40B4-BE49-F238E27FC236}">
                <a16:creationId xmlns:a16="http://schemas.microsoft.com/office/drawing/2014/main" id="{3F14912E-D1B5-A44E-AABD-BEEA1E3BAA8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279951" y="8059567"/>
            <a:ext cx="734109" cy="607461"/>
          </a:xfrm>
          <a:prstGeom prst="rect">
            <a:avLst/>
          </a:prstGeom>
        </p:spPr>
      </p:pic>
      <p:sp>
        <p:nvSpPr>
          <p:cNvPr id="24" name="Ellips 23">
            <a:extLst>
              <a:ext uri="{FF2B5EF4-FFF2-40B4-BE49-F238E27FC236}">
                <a16:creationId xmlns:a16="http://schemas.microsoft.com/office/drawing/2014/main" id="{D1298FD0-9D69-BD47-B86D-B8D3C09E3C54}"/>
              </a:ext>
            </a:extLst>
          </p:cNvPr>
          <p:cNvSpPr/>
          <p:nvPr/>
        </p:nvSpPr>
        <p:spPr>
          <a:xfrm>
            <a:off x="5867053" y="7653952"/>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378 kcal</a:t>
            </a:r>
            <a:endParaRPr sz="1200" b="1" dirty="0">
              <a:solidFill>
                <a:schemeClr val="bg1"/>
              </a:solidFill>
              <a:ea typeface="ＭＳ 明朝"/>
              <a:cs typeface="Avenir Light"/>
            </a:endParaRPr>
          </a:p>
        </p:txBody>
      </p:sp>
      <p:sp>
        <p:nvSpPr>
          <p:cNvPr id="15" name="textruta 14">
            <a:extLst>
              <a:ext uri="{FF2B5EF4-FFF2-40B4-BE49-F238E27FC236}">
                <a16:creationId xmlns:a16="http://schemas.microsoft.com/office/drawing/2014/main" id="{AF8F2A72-8220-5E44-BAD0-9ACDBF9AA658}"/>
              </a:ext>
            </a:extLst>
          </p:cNvPr>
          <p:cNvSpPr txBox="1"/>
          <p:nvPr/>
        </p:nvSpPr>
        <p:spPr>
          <a:xfrm>
            <a:off x="4131752" y="5546373"/>
            <a:ext cx="2230611" cy="369332"/>
          </a:xfrm>
          <a:prstGeom prst="rect">
            <a:avLst/>
          </a:prstGeom>
          <a:noFill/>
        </p:spPr>
        <p:txBody>
          <a:bodyPr wrap="none" rtlCol="0">
            <a:spAutoFit/>
          </a:bodyPr>
          <a:lstStyle/>
          <a:p>
            <a:r>
              <a:rPr lang="sv-SE" dirty="0"/>
              <a:t>14-day </a:t>
            </a:r>
            <a:r>
              <a:rPr lang="sv-SE" dirty="0" err="1"/>
              <a:t>challenge</a:t>
            </a:r>
            <a:r>
              <a:rPr lang="sv-SE" dirty="0"/>
              <a:t> </a:t>
            </a:r>
            <a:r>
              <a:rPr lang="sv-SE" dirty="0" err="1"/>
              <a:t>keto</a:t>
            </a:r>
            <a:endParaRPr lang="sv-SE" dirty="0"/>
          </a:p>
        </p:txBody>
      </p:sp>
    </p:spTree>
    <p:extLst>
      <p:ext uri="{BB962C8B-B14F-4D97-AF65-F5344CB8AC3E}">
        <p14:creationId xmlns:p14="http://schemas.microsoft.com/office/powerpoint/2010/main" val="3788094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F15FD6BF-CC30-43C5-AC4C-78E43C405451}"/>
              </a:ext>
            </a:extLst>
          </p:cNvPr>
          <p:cNvSpPr txBox="1"/>
          <p:nvPr/>
        </p:nvSpPr>
        <p:spPr>
          <a:xfrm>
            <a:off x="328873" y="221080"/>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2</a:t>
            </a:fld>
            <a:endParaRPr lang="sv-SE" sz="900" dirty="0"/>
          </a:p>
        </p:txBody>
      </p:sp>
      <p:pic>
        <p:nvPicPr>
          <p:cNvPr id="8" name="Bildobjekt 7">
            <a:extLst>
              <a:ext uri="{FF2B5EF4-FFF2-40B4-BE49-F238E27FC236}">
                <a16:creationId xmlns:a16="http://schemas.microsoft.com/office/drawing/2014/main" id="{A334A9C7-8B5E-9A41-9990-8103B7B8F18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139742" y="857915"/>
            <a:ext cx="3952205" cy="2964154"/>
          </a:xfrm>
          <a:prstGeom prst="rect">
            <a:avLst/>
          </a:prstGeom>
        </p:spPr>
      </p:pic>
      <p:sp>
        <p:nvSpPr>
          <p:cNvPr id="9" name="Rektangel 8">
            <a:extLst>
              <a:ext uri="{FF2B5EF4-FFF2-40B4-BE49-F238E27FC236}">
                <a16:creationId xmlns:a16="http://schemas.microsoft.com/office/drawing/2014/main" id="{EDA9B25C-A30B-5E40-A68A-EE8E63C36B76}"/>
              </a:ext>
            </a:extLst>
          </p:cNvPr>
          <p:cNvSpPr/>
          <p:nvPr/>
        </p:nvSpPr>
        <p:spPr>
          <a:xfrm>
            <a:off x="328873" y="682745"/>
            <a:ext cx="3402229" cy="2800767"/>
          </a:xfrm>
          <a:prstGeom prst="rect">
            <a:avLst/>
          </a:prstGeom>
        </p:spPr>
        <p:txBody>
          <a:bodyPr wrap="square">
            <a:spAutoFit/>
          </a:bodyPr>
          <a:lstStyle/>
          <a:p>
            <a:r>
              <a:rPr lang="sv-SE" sz="1100" b="1" dirty="0">
                <a:cs typeface="Avenir Light"/>
              </a:rPr>
              <a:t>Tropisk </a:t>
            </a:r>
            <a:r>
              <a:rPr lang="sv-SE" sz="1100" b="1" dirty="0" err="1">
                <a:cs typeface="Avenir Light"/>
              </a:rPr>
              <a:t>smoothiebowl</a:t>
            </a:r>
            <a:r>
              <a:rPr lang="sv-SE" sz="1100" b="1" dirty="0">
                <a:cs typeface="Avenir Light"/>
              </a:rPr>
              <a:t>– 2 portioner </a:t>
            </a:r>
          </a:p>
          <a:p>
            <a:r>
              <a:rPr lang="sv-SE" sz="1100" dirty="0">
                <a:cs typeface="Avenir Light"/>
              </a:rPr>
              <a:t>100 g fryst mango</a:t>
            </a:r>
          </a:p>
          <a:p>
            <a:r>
              <a:rPr lang="sv-SE" sz="1100" dirty="0">
                <a:cs typeface="Avenir Light"/>
              </a:rPr>
              <a:t>100 g fryst ananas</a:t>
            </a:r>
          </a:p>
          <a:p>
            <a:r>
              <a:rPr lang="sv-SE" sz="1100" dirty="0">
                <a:cs typeface="Avenir Light"/>
              </a:rPr>
              <a:t>1 banan</a:t>
            </a:r>
          </a:p>
          <a:p>
            <a:r>
              <a:rPr lang="sv-SE" sz="1100" dirty="0">
                <a:cs typeface="Avenir Light"/>
              </a:rPr>
              <a:t>1 dl mandelmjölk</a:t>
            </a:r>
          </a:p>
          <a:p>
            <a:endParaRPr lang="sv-SE" sz="1100" dirty="0">
              <a:cs typeface="Avenir Light"/>
            </a:endParaRPr>
          </a:p>
          <a:p>
            <a:r>
              <a:rPr lang="sv-SE" sz="1100" b="1" dirty="0" err="1">
                <a:cs typeface="Avenir Light"/>
              </a:rPr>
              <a:t>Topping</a:t>
            </a:r>
            <a:r>
              <a:rPr lang="sv-SE" sz="1100" b="1" dirty="0">
                <a:cs typeface="Avenir Light"/>
              </a:rPr>
              <a:t>: </a:t>
            </a:r>
            <a:r>
              <a:rPr lang="sv-SE" sz="1100" dirty="0">
                <a:cs typeface="Avenir Light"/>
              </a:rPr>
              <a:t> 1/3 dl färsk mango, 1 passionsfrukt, 2 msk  kokosskivor, 2 msk hackade pistagenötter</a:t>
            </a:r>
          </a:p>
          <a:p>
            <a:endParaRPr lang="sv-SE" sz="1100" dirty="0">
              <a:cs typeface="Avenir Light"/>
            </a:endParaRPr>
          </a:p>
          <a:p>
            <a:r>
              <a:rPr lang="sv-SE" sz="1100" dirty="0">
                <a:cs typeface="Avenir Light"/>
              </a:rPr>
              <a:t>Lägg mango, ananas och banan  i en matberedare och mixa till en krämig smet. Häll på lite mandelmjölk och mixa till en bra konsistens. Häll upp i en skål och toppa med mango, passionsfrukt,  kokosskivor och pistagenötter.</a:t>
            </a:r>
            <a:endParaRPr lang="sv-SE" sz="1100" b="1" dirty="0">
              <a:cs typeface="Avenir Light"/>
            </a:endParaRPr>
          </a:p>
          <a:p>
            <a:endParaRPr lang="sv-SE" sz="1100" b="1" dirty="0">
              <a:cs typeface="Avenir Light"/>
            </a:endParaRPr>
          </a:p>
          <a:p>
            <a:endParaRPr lang="sv-SE" sz="1100" dirty="0">
              <a:cs typeface="Avenir Light"/>
            </a:endParaRPr>
          </a:p>
        </p:txBody>
      </p:sp>
      <p:sp>
        <p:nvSpPr>
          <p:cNvPr id="10" name="Rektangel 9">
            <a:extLst>
              <a:ext uri="{FF2B5EF4-FFF2-40B4-BE49-F238E27FC236}">
                <a16:creationId xmlns:a16="http://schemas.microsoft.com/office/drawing/2014/main" id="{8902C212-83A5-7547-98E8-E7A21CFAD06E}"/>
              </a:ext>
            </a:extLst>
          </p:cNvPr>
          <p:cNvSpPr/>
          <p:nvPr/>
        </p:nvSpPr>
        <p:spPr>
          <a:xfrm>
            <a:off x="290417" y="3144902"/>
            <a:ext cx="2806617" cy="3139321"/>
          </a:xfrm>
          <a:prstGeom prst="rect">
            <a:avLst/>
          </a:prstGeom>
        </p:spPr>
        <p:txBody>
          <a:bodyPr wrap="square">
            <a:spAutoFit/>
          </a:bodyPr>
          <a:lstStyle/>
          <a:p>
            <a:r>
              <a:rPr lang="sv-SE" sz="1100" b="1" dirty="0" err="1">
                <a:cs typeface="Avenir Light"/>
              </a:rPr>
              <a:t>Bärmoothiebowl</a:t>
            </a:r>
            <a:r>
              <a:rPr lang="sv-SE" sz="1100" b="1" dirty="0">
                <a:cs typeface="Avenir Light"/>
              </a:rPr>
              <a:t> – 2 portioner </a:t>
            </a:r>
          </a:p>
          <a:p>
            <a:r>
              <a:rPr lang="sv-SE" sz="1100" dirty="0">
                <a:cs typeface="Avenir Light"/>
              </a:rPr>
              <a:t>1 banan</a:t>
            </a:r>
          </a:p>
          <a:p>
            <a:r>
              <a:rPr lang="sv-SE" sz="1100" dirty="0">
                <a:cs typeface="Avenir Light"/>
              </a:rPr>
              <a:t>2 dl frysta blåbär</a:t>
            </a:r>
          </a:p>
          <a:p>
            <a:r>
              <a:rPr lang="sv-SE" sz="1100" dirty="0">
                <a:cs typeface="Avenir Light"/>
              </a:rPr>
              <a:t>2 dl frysta hallon</a:t>
            </a:r>
          </a:p>
          <a:p>
            <a:r>
              <a:rPr lang="sv-SE" sz="1100" dirty="0">
                <a:cs typeface="Avenir Light"/>
              </a:rPr>
              <a:t>1 dl mandelmjölk</a:t>
            </a:r>
          </a:p>
          <a:p>
            <a:endParaRPr lang="sv-SE" sz="1100" dirty="0">
              <a:cs typeface="Avenir Light"/>
            </a:endParaRPr>
          </a:p>
          <a:p>
            <a:r>
              <a:rPr lang="sv-SE" sz="1100" b="1" dirty="0" err="1">
                <a:cs typeface="Avenir Light"/>
              </a:rPr>
              <a:t>Topping</a:t>
            </a:r>
            <a:r>
              <a:rPr lang="sv-SE" sz="1100" b="1" dirty="0">
                <a:cs typeface="Avenir Light"/>
              </a:rPr>
              <a:t>:</a:t>
            </a:r>
            <a:r>
              <a:rPr lang="sv-SE" sz="1100" dirty="0">
                <a:cs typeface="Avenir Light"/>
              </a:rPr>
              <a:t>  8 skivade jordgubbar, 1/2 dl  pekannötter och 2 msk granatäpplekärnor.</a:t>
            </a:r>
          </a:p>
          <a:p>
            <a:endParaRPr lang="sv-SE" sz="1100" dirty="0">
              <a:cs typeface="Avenir Light"/>
            </a:endParaRPr>
          </a:p>
          <a:p>
            <a:r>
              <a:rPr lang="sv-SE" sz="1100" dirty="0">
                <a:cs typeface="Avenir Light"/>
              </a:rPr>
              <a:t>Lägg banan, bär och mandelmjölk i en matberedare och mixa till en krämig smet. Häll upp i en skål och toppa med skivade jordgubbar, pekannötter och granatäpplekärnor.</a:t>
            </a:r>
          </a:p>
          <a:p>
            <a:endParaRPr lang="sv-SE" sz="1100" dirty="0">
              <a:cs typeface="Avenir Light"/>
            </a:endParaRPr>
          </a:p>
          <a:p>
            <a:endParaRPr lang="sv-SE" sz="1100" b="1" dirty="0">
              <a:cs typeface="Avenir Light"/>
            </a:endParaRPr>
          </a:p>
          <a:p>
            <a:endParaRPr lang="sv-SE" sz="1100" b="1" dirty="0">
              <a:cs typeface="Avenir Light"/>
            </a:endParaRPr>
          </a:p>
          <a:p>
            <a:endParaRPr lang="sv-SE" sz="1100" dirty="0">
              <a:cs typeface="Avenir Light"/>
            </a:endParaRPr>
          </a:p>
        </p:txBody>
      </p:sp>
      <p:sp>
        <p:nvSpPr>
          <p:cNvPr id="17" name="textruta 16">
            <a:extLst>
              <a:ext uri="{FF2B5EF4-FFF2-40B4-BE49-F238E27FC236}">
                <a16:creationId xmlns:a16="http://schemas.microsoft.com/office/drawing/2014/main" id="{1212B1D7-CA35-F44A-99A7-4F848FD817E1}"/>
              </a:ext>
            </a:extLst>
          </p:cNvPr>
          <p:cNvSpPr txBox="1"/>
          <p:nvPr/>
        </p:nvSpPr>
        <p:spPr>
          <a:xfrm>
            <a:off x="3731102" y="4450285"/>
            <a:ext cx="1267848" cy="369332"/>
          </a:xfrm>
          <a:prstGeom prst="rect">
            <a:avLst/>
          </a:prstGeom>
          <a:noFill/>
        </p:spPr>
        <p:txBody>
          <a:bodyPr wrap="none" rtlCol="0">
            <a:spAutoFit/>
          </a:bodyPr>
          <a:lstStyle/>
          <a:p>
            <a:r>
              <a:rPr lang="sv-SE" dirty="0"/>
              <a:t>Jorden runt</a:t>
            </a:r>
          </a:p>
        </p:txBody>
      </p:sp>
      <p:sp>
        <p:nvSpPr>
          <p:cNvPr id="18" name="Platshållare för sidfot 1">
            <a:extLst>
              <a:ext uri="{FF2B5EF4-FFF2-40B4-BE49-F238E27FC236}">
                <a16:creationId xmlns:a16="http://schemas.microsoft.com/office/drawing/2014/main" id="{BC4F2F9D-AF1C-BC47-8471-039D23A056DA}"/>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
        <p:nvSpPr>
          <p:cNvPr id="20" name="Ellips 19">
            <a:extLst>
              <a:ext uri="{FF2B5EF4-FFF2-40B4-BE49-F238E27FC236}">
                <a16:creationId xmlns:a16="http://schemas.microsoft.com/office/drawing/2014/main" id="{9AF5F60E-67DB-9345-8815-709E8FF0B488}"/>
              </a:ext>
            </a:extLst>
          </p:cNvPr>
          <p:cNvSpPr/>
          <p:nvPr/>
        </p:nvSpPr>
        <p:spPr>
          <a:xfrm>
            <a:off x="2468384" y="99448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461 kcal</a:t>
            </a:r>
            <a:endParaRPr sz="1200" b="1" dirty="0">
              <a:solidFill>
                <a:schemeClr val="bg1"/>
              </a:solidFill>
              <a:ea typeface="ＭＳ 明朝"/>
              <a:cs typeface="Avenir Light"/>
            </a:endParaRPr>
          </a:p>
        </p:txBody>
      </p:sp>
      <p:sp>
        <p:nvSpPr>
          <p:cNvPr id="21" name="Ellips 20">
            <a:extLst>
              <a:ext uri="{FF2B5EF4-FFF2-40B4-BE49-F238E27FC236}">
                <a16:creationId xmlns:a16="http://schemas.microsoft.com/office/drawing/2014/main" id="{9C6451AF-CD8C-3441-B276-2C994940B904}"/>
              </a:ext>
            </a:extLst>
          </p:cNvPr>
          <p:cNvSpPr/>
          <p:nvPr/>
        </p:nvSpPr>
        <p:spPr>
          <a:xfrm>
            <a:off x="2506840" y="349410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546 kcal</a:t>
            </a:r>
            <a:endParaRPr sz="1200" b="1" dirty="0">
              <a:solidFill>
                <a:schemeClr val="bg1"/>
              </a:solidFill>
              <a:ea typeface="ＭＳ 明朝"/>
              <a:cs typeface="Avenir Light"/>
            </a:endParaRPr>
          </a:p>
        </p:txBody>
      </p:sp>
      <p:pic>
        <p:nvPicPr>
          <p:cNvPr id="22" name="Bildobjekt 21">
            <a:extLst>
              <a:ext uri="{FF2B5EF4-FFF2-40B4-BE49-F238E27FC236}">
                <a16:creationId xmlns:a16="http://schemas.microsoft.com/office/drawing/2014/main" id="{28AF0F32-E5D0-2A40-8435-444187FD80F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16200000">
            <a:off x="3270156" y="4657610"/>
            <a:ext cx="3025966" cy="4034621"/>
          </a:xfrm>
          <a:prstGeom prst="rect">
            <a:avLst/>
          </a:prstGeom>
        </p:spPr>
      </p:pic>
      <p:sp>
        <p:nvSpPr>
          <p:cNvPr id="23" name="Rektangel 22">
            <a:extLst>
              <a:ext uri="{FF2B5EF4-FFF2-40B4-BE49-F238E27FC236}">
                <a16:creationId xmlns:a16="http://schemas.microsoft.com/office/drawing/2014/main" id="{7BF4C674-666F-C444-9086-17331780C6A1}"/>
              </a:ext>
            </a:extLst>
          </p:cNvPr>
          <p:cNvSpPr/>
          <p:nvPr/>
        </p:nvSpPr>
        <p:spPr>
          <a:xfrm>
            <a:off x="328873" y="5610854"/>
            <a:ext cx="6623683" cy="3308598"/>
          </a:xfrm>
          <a:prstGeom prst="rect">
            <a:avLst/>
          </a:prstGeom>
        </p:spPr>
        <p:txBody>
          <a:bodyPr wrap="square">
            <a:spAutoFit/>
          </a:bodyPr>
          <a:lstStyle/>
          <a:p>
            <a:pPr>
              <a:spcAft>
                <a:spcPts val="0"/>
              </a:spcAft>
            </a:pPr>
            <a:r>
              <a:rPr lang="it-IT" sz="1100" b="1" dirty="0">
                <a:solidFill>
                  <a:srgbClr val="000000"/>
                </a:solidFill>
                <a:ea typeface="Helvetica Neue" panose="02000503000000020004" pitchFamily="2" charset="0"/>
                <a:cs typeface="Helvetica Neue" panose="02000503000000020004" pitchFamily="2" charset="0"/>
              </a:rPr>
              <a:t>Havre</a:t>
            </a:r>
            <a:r>
              <a:rPr lang="en-US" sz="1100" b="1" dirty="0" err="1">
                <a:solidFill>
                  <a:srgbClr val="000000"/>
                </a:solidFill>
                <a:ea typeface="Helvetica Neue" panose="02000503000000020004" pitchFamily="2" charset="0"/>
                <a:cs typeface="Helvetica Neue" panose="02000503000000020004" pitchFamily="2" charset="0"/>
              </a:rPr>
              <a:t>frallor</a:t>
            </a:r>
            <a:r>
              <a:rPr lang="en-US" sz="1100" b="1" dirty="0">
                <a:solidFill>
                  <a:srgbClr val="000000"/>
                </a:solidFill>
                <a:ea typeface="Helvetica Neue" panose="02000503000000020004" pitchFamily="2" charset="0"/>
                <a:cs typeface="Helvetica Neue" panose="02000503000000020004" pitchFamily="2" charset="0"/>
              </a:rPr>
              <a:t> med </a:t>
            </a:r>
            <a:r>
              <a:rPr lang="en-US" sz="1100" b="1" dirty="0" err="1">
                <a:solidFill>
                  <a:srgbClr val="000000"/>
                </a:solidFill>
                <a:ea typeface="Helvetica Neue" panose="02000503000000020004" pitchFamily="2" charset="0"/>
                <a:cs typeface="Helvetica Neue" panose="02000503000000020004" pitchFamily="2" charset="0"/>
              </a:rPr>
              <a:t>morötter</a:t>
            </a:r>
            <a:r>
              <a:rPr lang="en-US" sz="1100" b="1" dirty="0">
                <a:solidFill>
                  <a:srgbClr val="000000"/>
                </a:solidFill>
                <a:ea typeface="Helvetica Neue" panose="02000503000000020004" pitchFamily="2" charset="0"/>
                <a:cs typeface="Helvetica Neue" panose="02000503000000020004" pitchFamily="2" charset="0"/>
              </a:rPr>
              <a:t> </a:t>
            </a:r>
            <a:r>
              <a:rPr lang="en-US" sz="1100" b="1" dirty="0" err="1">
                <a:solidFill>
                  <a:srgbClr val="000000"/>
                </a:solidFill>
                <a:ea typeface="Helvetica Neue" panose="02000503000000020004" pitchFamily="2" charset="0"/>
                <a:cs typeface="Helvetica Neue" panose="02000503000000020004" pitchFamily="2" charset="0"/>
              </a:rPr>
              <a:t>och</a:t>
            </a:r>
            <a:r>
              <a:rPr lang="en-US" sz="1100" b="1" dirty="0">
                <a:solidFill>
                  <a:srgbClr val="000000"/>
                </a:solidFill>
                <a:ea typeface="Helvetica Neue" panose="02000503000000020004" pitchFamily="2" charset="0"/>
                <a:cs typeface="Helvetica Neue" panose="02000503000000020004" pitchFamily="2" charset="0"/>
              </a:rPr>
              <a:t> </a:t>
            </a:r>
          </a:p>
          <a:p>
            <a:pPr>
              <a:spcAft>
                <a:spcPts val="0"/>
              </a:spcAft>
            </a:pPr>
            <a:r>
              <a:rPr lang="en-US" sz="1100" b="1" dirty="0" err="1">
                <a:solidFill>
                  <a:srgbClr val="000000"/>
                </a:solidFill>
                <a:ea typeface="Helvetica Neue" panose="02000503000000020004" pitchFamily="2" charset="0"/>
                <a:cs typeface="Helvetica Neue" panose="02000503000000020004" pitchFamily="2" charset="0"/>
              </a:rPr>
              <a:t>aprikoser</a:t>
            </a:r>
            <a:r>
              <a:rPr lang="en-US" sz="1100" b="1" dirty="0">
                <a:solidFill>
                  <a:srgbClr val="000000"/>
                </a:solidFill>
                <a:ea typeface="Helvetica Neue" panose="02000503000000020004" pitchFamily="2" charset="0"/>
                <a:cs typeface="Helvetica Neue" panose="02000503000000020004" pitchFamily="2" charset="0"/>
              </a:rPr>
              <a:t> - 8 </a:t>
            </a:r>
            <a:r>
              <a:rPr lang="en-US" sz="1100" b="1" dirty="0" err="1">
                <a:solidFill>
                  <a:srgbClr val="000000"/>
                </a:solidFill>
                <a:ea typeface="Helvetica Neue" panose="02000503000000020004" pitchFamily="2" charset="0"/>
                <a:cs typeface="Helvetica Neue" panose="02000503000000020004" pitchFamily="2" charset="0"/>
              </a:rPr>
              <a:t>st</a:t>
            </a:r>
            <a:r>
              <a:rPr lang="en-US" sz="1100" b="1" dirty="0">
                <a:solidFill>
                  <a:srgbClr val="000000"/>
                </a:solidFill>
                <a:ea typeface="Helvetica Neue" panose="02000503000000020004" pitchFamily="2" charset="0"/>
                <a:cs typeface="Helvetica Neue" panose="02000503000000020004" pitchFamily="2" charset="0"/>
              </a:rPr>
              <a:t>  </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dl havregryn</a:t>
            </a: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a:t>
            </a:r>
            <a:r>
              <a:rPr lang="da-DK" sz="1100" dirty="0" err="1">
                <a:solidFill>
                  <a:srgbClr val="000000"/>
                </a:solidFill>
                <a:ea typeface="Helvetica Neue" panose="02000503000000020004" pitchFamily="2" charset="0"/>
                <a:cs typeface="Helvetica Neue" panose="02000503000000020004" pitchFamily="2" charset="0"/>
              </a:rPr>
              <a:t>torkade</a:t>
            </a:r>
            <a:r>
              <a:rPr lang="da-DK" sz="1100" dirty="0">
                <a:solidFill>
                  <a:srgbClr val="000000"/>
                </a:solidFill>
                <a:ea typeface="Helvetica Neue" panose="02000503000000020004" pitchFamily="2" charset="0"/>
                <a:cs typeface="Helvetica Neue" panose="02000503000000020004" pitchFamily="2" charset="0"/>
              </a:rPr>
              <a:t> </a:t>
            </a:r>
            <a:r>
              <a:rPr lang="da-DK" sz="1100" dirty="0" err="1">
                <a:solidFill>
                  <a:srgbClr val="000000"/>
                </a:solidFill>
                <a:ea typeface="Helvetica Neue" panose="02000503000000020004" pitchFamily="2" charset="0"/>
                <a:cs typeface="Helvetica Neue" panose="02000503000000020004" pitchFamily="2" charset="0"/>
              </a:rPr>
              <a:t>aprikoser</a:t>
            </a:r>
            <a:endParaRPr lang="da-DK"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1 </a:t>
            </a:r>
            <a:r>
              <a:rPr lang="da-DK" sz="1100" dirty="0" err="1">
                <a:solidFill>
                  <a:srgbClr val="000000"/>
                </a:solidFill>
                <a:ea typeface="Helvetica Neue" panose="02000503000000020004" pitchFamily="2" charset="0"/>
                <a:cs typeface="Helvetica Neue" panose="02000503000000020004" pitchFamily="2" charset="0"/>
              </a:rPr>
              <a:t>morot</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3 dl keso 4%</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4 ä</a:t>
            </a:r>
            <a:r>
              <a:rPr lang="it-IT" sz="1100" dirty="0">
                <a:solidFill>
                  <a:srgbClr val="000000"/>
                </a:solidFill>
                <a:ea typeface="Helvetica Neue" panose="02000503000000020004" pitchFamily="2" charset="0"/>
                <a:cs typeface="Helvetica Neue" panose="02000503000000020004" pitchFamily="2" charset="0"/>
              </a:rPr>
              <a:t>gg</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solroskärnor</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pumpafrön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sesamfrön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1.5 tsk bakpulver </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krm salt</a:t>
            </a:r>
          </a:p>
          <a:p>
            <a:pPr>
              <a:spcAft>
                <a:spcPts val="0"/>
              </a:spcAft>
            </a:pP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b="1" dirty="0" err="1">
                <a:solidFill>
                  <a:srgbClr val="000000"/>
                </a:solidFill>
                <a:ea typeface="Helvetica Neue" panose="02000503000000020004" pitchFamily="2" charset="0"/>
                <a:cs typeface="Helvetica Neue" panose="02000503000000020004" pitchFamily="2" charset="0"/>
              </a:rPr>
              <a:t>Topping</a:t>
            </a:r>
            <a:r>
              <a:rPr lang="sv-SE" sz="1100" b="1" dirty="0">
                <a:solidFill>
                  <a:srgbClr val="000000"/>
                </a:solidFill>
                <a:ea typeface="Helvetica Neue" panose="02000503000000020004" pitchFamily="2" charset="0"/>
                <a:cs typeface="Helvetica Neue" panose="02000503000000020004" pitchFamily="2" charset="0"/>
              </a:rPr>
              <a:t>: </a:t>
            </a:r>
            <a:r>
              <a:rPr lang="sv-SE" sz="1100" dirty="0">
                <a:solidFill>
                  <a:srgbClr val="000000"/>
                </a:solidFill>
                <a:ea typeface="Helvetica Neue" panose="02000503000000020004" pitchFamily="2" charset="0"/>
                <a:cs typeface="Helvetica Neue" panose="02000503000000020004" pitchFamily="2" charset="0"/>
              </a:rPr>
              <a:t>1/2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pitchFamily="2" charset="0"/>
                <a:cs typeface="Helvetica" pitchFamily="2" charset="0"/>
              </a:rPr>
              <a:t> </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Sätt ugnen p</a:t>
            </a:r>
            <a:r>
              <a:rPr lang="da-DK" sz="1100" dirty="0">
                <a:solidFill>
                  <a:srgbClr val="000000"/>
                </a:solidFill>
                <a:ea typeface="Helvetica Neue" panose="02000503000000020004" pitchFamily="2" charset="0"/>
                <a:cs typeface="Helvetica Neue" panose="02000503000000020004" pitchFamily="2" charset="0"/>
              </a:rPr>
              <a:t>å </a:t>
            </a:r>
            <a:r>
              <a:rPr lang="sv-SE" sz="1100" dirty="0">
                <a:solidFill>
                  <a:srgbClr val="000000"/>
                </a:solidFill>
                <a:ea typeface="Helvetica Neue" panose="02000503000000020004" pitchFamily="2" charset="0"/>
                <a:cs typeface="Helvetica Neue" panose="02000503000000020004" pitchFamily="2" charset="0"/>
              </a:rPr>
              <a:t>200 grader. Skala och riv morot grovt. Hacka aprikoserna. Lägg i en skål med alla ingredienser. Blanda ihop och </a:t>
            </a:r>
            <a:r>
              <a:rPr lang="pt-PT" sz="1100" dirty="0">
                <a:solidFill>
                  <a:srgbClr val="000000"/>
                </a:solidFill>
                <a:ea typeface="Helvetica Neue" panose="02000503000000020004" pitchFamily="2" charset="0"/>
                <a:cs typeface="Helvetica Neue" panose="02000503000000020004" pitchFamily="2" charset="0"/>
              </a:rPr>
              <a:t>f</a:t>
            </a:r>
            <a:r>
              <a:rPr lang="sv-SE" sz="1100" dirty="0">
                <a:solidFill>
                  <a:srgbClr val="000000"/>
                </a:solidFill>
                <a:ea typeface="Helvetica Neue" panose="02000503000000020004" pitchFamily="2" charset="0"/>
                <a:cs typeface="Helvetica Neue" panose="02000503000000020004" pitchFamily="2" charset="0"/>
              </a:rPr>
              <a:t>orma till avlånga bullar. Lägg på en bakplåtsklädd plåt och strö på </a:t>
            </a:r>
            <a:r>
              <a:rPr lang="sv-SE" sz="1100" dirty="0" err="1">
                <a:solidFill>
                  <a:srgbClr val="000000"/>
                </a:solidFill>
                <a:ea typeface="Helvetica Neue" panose="02000503000000020004" pitchFamily="2" charset="0"/>
                <a:cs typeface="Helvetica Neue" panose="02000503000000020004" pitchFamily="2" charset="0"/>
              </a:rPr>
              <a:t>hampafrön</a:t>
            </a:r>
            <a:r>
              <a:rPr lang="sv-SE" sz="1100" dirty="0">
                <a:solidFill>
                  <a:srgbClr val="000000"/>
                </a:solidFill>
                <a:ea typeface="Helvetica Neue" panose="02000503000000020004" pitchFamily="2" charset="0"/>
                <a:cs typeface="Helvetica Neue" panose="02000503000000020004" pitchFamily="2" charset="0"/>
              </a:rPr>
              <a:t>.  </a:t>
            </a:r>
            <a:r>
              <a:rPr lang="sv-SE" sz="1100" dirty="0" err="1">
                <a:solidFill>
                  <a:srgbClr val="000000"/>
                </a:solidFill>
                <a:ea typeface="Helvetica Neue" panose="02000503000000020004" pitchFamily="2" charset="0"/>
                <a:cs typeface="Helvetica Neue" panose="02000503000000020004" pitchFamily="2" charset="0"/>
              </a:rPr>
              <a:t>Grä</a:t>
            </a:r>
            <a:r>
              <a:rPr lang="it-IT" sz="1100" dirty="0">
                <a:solidFill>
                  <a:srgbClr val="000000"/>
                </a:solidFill>
                <a:ea typeface="Helvetica Neue" panose="02000503000000020004" pitchFamily="2" charset="0"/>
                <a:cs typeface="Helvetica Neue" panose="02000503000000020004" pitchFamily="2" charset="0"/>
              </a:rPr>
              <a:t>dda i ugnen ca: 2</a:t>
            </a:r>
            <a:r>
              <a:rPr lang="sv-SE" sz="1100" dirty="0">
                <a:solidFill>
                  <a:srgbClr val="000000"/>
                </a:solidFill>
                <a:ea typeface="Helvetica Neue" panose="02000503000000020004" pitchFamily="2" charset="0"/>
                <a:cs typeface="Helvetica Neue" panose="02000503000000020004" pitchFamily="2" charset="0"/>
              </a:rPr>
              <a:t>0 min. L</a:t>
            </a:r>
            <a:r>
              <a:rPr lang="da-DK" sz="1100" dirty="0">
                <a:solidFill>
                  <a:srgbClr val="000000"/>
                </a:solidFill>
                <a:ea typeface="Helvetica Neue" panose="02000503000000020004" pitchFamily="2" charset="0"/>
                <a:cs typeface="Helvetica Neue" panose="02000503000000020004" pitchFamily="2" charset="0"/>
              </a:rPr>
              <a:t>å</a:t>
            </a:r>
            <a:r>
              <a:rPr lang="sv-SE" sz="1100" dirty="0">
                <a:solidFill>
                  <a:srgbClr val="000000"/>
                </a:solidFill>
                <a:ea typeface="Helvetica Neue" panose="02000503000000020004" pitchFamily="2" charset="0"/>
                <a:cs typeface="Helvetica Neue" panose="02000503000000020004" pitchFamily="2" charset="0"/>
              </a:rPr>
              <a:t>t svalna och förvara i frysen.</a:t>
            </a:r>
          </a:p>
        </p:txBody>
      </p:sp>
      <p:sp>
        <p:nvSpPr>
          <p:cNvPr id="24" name="Ellips 23">
            <a:extLst>
              <a:ext uri="{FF2B5EF4-FFF2-40B4-BE49-F238E27FC236}">
                <a16:creationId xmlns:a16="http://schemas.microsoft.com/office/drawing/2014/main" id="{8F6EBAFC-37A1-F74D-9BA6-07982426E34C}"/>
              </a:ext>
            </a:extLst>
          </p:cNvPr>
          <p:cNvSpPr/>
          <p:nvPr/>
        </p:nvSpPr>
        <p:spPr>
          <a:xfrm>
            <a:off x="1882602" y="604530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354 kcal</a:t>
            </a:r>
            <a:endParaRPr sz="1200" b="1" dirty="0">
              <a:solidFill>
                <a:schemeClr val="bg1"/>
              </a:solidFill>
              <a:ea typeface="ＭＳ 明朝"/>
              <a:cs typeface="Avenir Light"/>
            </a:endParaRPr>
          </a:p>
        </p:txBody>
      </p:sp>
      <p:sp>
        <p:nvSpPr>
          <p:cNvPr id="2" name="textruta 1">
            <a:extLst>
              <a:ext uri="{FF2B5EF4-FFF2-40B4-BE49-F238E27FC236}">
                <a16:creationId xmlns:a16="http://schemas.microsoft.com/office/drawing/2014/main" id="{7237DCAA-56D2-3C41-A624-434D670FCE79}"/>
              </a:ext>
            </a:extLst>
          </p:cNvPr>
          <p:cNvSpPr txBox="1"/>
          <p:nvPr/>
        </p:nvSpPr>
        <p:spPr>
          <a:xfrm>
            <a:off x="1693725" y="7027863"/>
            <a:ext cx="1777025" cy="369332"/>
          </a:xfrm>
          <a:prstGeom prst="rect">
            <a:avLst/>
          </a:prstGeom>
          <a:noFill/>
        </p:spPr>
        <p:txBody>
          <a:bodyPr wrap="none" rtlCol="0">
            <a:spAutoFit/>
          </a:bodyPr>
          <a:lstStyle/>
          <a:p>
            <a:r>
              <a:rPr lang="sv-SE" dirty="0"/>
              <a:t>Höstturbon 2024</a:t>
            </a:r>
          </a:p>
        </p:txBody>
      </p:sp>
    </p:spTree>
    <p:extLst>
      <p:ext uri="{BB962C8B-B14F-4D97-AF65-F5344CB8AC3E}">
        <p14:creationId xmlns:p14="http://schemas.microsoft.com/office/powerpoint/2010/main" val="3512584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ktangel 18">
            <a:extLst>
              <a:ext uri="{FF2B5EF4-FFF2-40B4-BE49-F238E27FC236}">
                <a16:creationId xmlns:a16="http://schemas.microsoft.com/office/drawing/2014/main" id="{89BC3AF1-3C9A-8E4C-BD8D-3A6ABE252FF6}"/>
              </a:ext>
            </a:extLst>
          </p:cNvPr>
          <p:cNvSpPr/>
          <p:nvPr/>
        </p:nvSpPr>
        <p:spPr>
          <a:xfrm>
            <a:off x="526431" y="1313519"/>
            <a:ext cx="2722170" cy="2292935"/>
          </a:xfrm>
          <a:prstGeom prst="rect">
            <a:avLst/>
          </a:prstGeom>
        </p:spPr>
        <p:txBody>
          <a:bodyPr wrap="square">
            <a:spAutoFit/>
          </a:bodyPr>
          <a:lstStyle/>
          <a:p>
            <a:r>
              <a:rPr lang="sv-SE" sz="1100" b="1" dirty="0">
                <a:cs typeface="Avenir Light"/>
              </a:rPr>
              <a:t>Stekt ägg med lax  – 1 portion</a:t>
            </a:r>
          </a:p>
          <a:p>
            <a:r>
              <a:rPr lang="sv-SE" sz="1100" dirty="0">
                <a:cs typeface="Avenir Light"/>
              </a:rPr>
              <a:t>1 tsk smör</a:t>
            </a:r>
          </a:p>
          <a:p>
            <a:r>
              <a:rPr lang="sv-SE" sz="1100" dirty="0">
                <a:cs typeface="Avenir Light"/>
              </a:rPr>
              <a:t>2 ägg</a:t>
            </a:r>
          </a:p>
          <a:p>
            <a:r>
              <a:rPr lang="sv-SE" sz="1100" dirty="0">
                <a:cs typeface="Avenir Light"/>
              </a:rPr>
              <a:t>Salt och svartpeppar</a:t>
            </a:r>
          </a:p>
          <a:p>
            <a:r>
              <a:rPr lang="sv-SE" sz="1100" dirty="0">
                <a:cs typeface="Avenir Light"/>
              </a:rPr>
              <a:t>50 g kallrökt lax</a:t>
            </a:r>
          </a:p>
          <a:p>
            <a:r>
              <a:rPr lang="sv-SE" sz="1100" dirty="0">
                <a:cs typeface="Avenir Light"/>
              </a:rPr>
              <a:t>Persilja och citronklyfta</a:t>
            </a:r>
          </a:p>
          <a:p>
            <a:endParaRPr lang="sv-SE" sz="1100" dirty="0">
              <a:cs typeface="Avenir Light"/>
            </a:endParaRPr>
          </a:p>
          <a:p>
            <a:r>
              <a:rPr lang="sv-SE" sz="1100" dirty="0">
                <a:cs typeface="Avenir Light"/>
              </a:rPr>
              <a:t>Hetta upp en stekpanna med smör och knäck ner äggen. Låt steka några minuter och strö på salt och peppar. Lägg upp på en tallrik och lägg lax bredvid. Dekorera med persilja och citron.</a:t>
            </a:r>
          </a:p>
          <a:p>
            <a:endParaRPr lang="sv-SE" sz="1100" dirty="0">
              <a:cs typeface="Avenir Light"/>
            </a:endParaRPr>
          </a:p>
        </p:txBody>
      </p:sp>
      <p:sp>
        <p:nvSpPr>
          <p:cNvPr id="12" name="textruta 11">
            <a:extLst>
              <a:ext uri="{FF2B5EF4-FFF2-40B4-BE49-F238E27FC236}">
                <a16:creationId xmlns:a16="http://schemas.microsoft.com/office/drawing/2014/main" id="{EA745202-70D2-4822-9DF5-D98FE15317DA}"/>
              </a:ext>
            </a:extLst>
          </p:cNvPr>
          <p:cNvSpPr txBox="1"/>
          <p:nvPr/>
        </p:nvSpPr>
        <p:spPr>
          <a:xfrm>
            <a:off x="345542" y="546795"/>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3" name="Platshållare för bildnummer 2">
            <a:extLst>
              <a:ext uri="{FF2B5EF4-FFF2-40B4-BE49-F238E27FC236}">
                <a16:creationId xmlns:a16="http://schemas.microsoft.com/office/drawing/2014/main" id="{951B1928-3D89-295A-9AE2-0F50731B449E}"/>
              </a:ext>
            </a:extLst>
          </p:cNvPr>
          <p:cNvSpPr>
            <a:spLocks noGrp="1"/>
          </p:cNvSpPr>
          <p:nvPr>
            <p:ph type="sldNum" sz="quarter" idx="12"/>
          </p:nvPr>
        </p:nvSpPr>
        <p:spPr>
          <a:xfrm>
            <a:off x="5068259" y="8634484"/>
            <a:ext cx="1600200" cy="486833"/>
          </a:xfrm>
        </p:spPr>
        <p:txBody>
          <a:bodyPr/>
          <a:lstStyle/>
          <a:p>
            <a:fld id="{97BA8967-5D92-4842-BAFB-0C8F679E5DC4}" type="slidenum">
              <a:rPr lang="sv-SE" sz="900" smtClean="0"/>
              <a:t>3</a:t>
            </a:fld>
            <a:endParaRPr lang="sv-SE" sz="900" dirty="0"/>
          </a:p>
        </p:txBody>
      </p:sp>
      <p:sp>
        <p:nvSpPr>
          <p:cNvPr id="16" name="Ellips 15">
            <a:extLst>
              <a:ext uri="{FF2B5EF4-FFF2-40B4-BE49-F238E27FC236}">
                <a16:creationId xmlns:a16="http://schemas.microsoft.com/office/drawing/2014/main" id="{9533C8A9-DF09-BE4B-AF6B-ED843A19A311}"/>
              </a:ext>
            </a:extLst>
          </p:cNvPr>
          <p:cNvSpPr/>
          <p:nvPr/>
        </p:nvSpPr>
        <p:spPr>
          <a:xfrm>
            <a:off x="2204086" y="163794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278 kcal</a:t>
            </a:r>
            <a:endParaRPr sz="1200" b="1" dirty="0">
              <a:solidFill>
                <a:schemeClr val="bg1"/>
              </a:solidFill>
              <a:ea typeface="ＭＳ 明朝"/>
              <a:cs typeface="Avenir Light"/>
            </a:endParaRPr>
          </a:p>
        </p:txBody>
      </p:sp>
      <p:pic>
        <p:nvPicPr>
          <p:cNvPr id="21" name="Bildobjekt 20">
            <a:extLst>
              <a:ext uri="{FF2B5EF4-FFF2-40B4-BE49-F238E27FC236}">
                <a16:creationId xmlns:a16="http://schemas.microsoft.com/office/drawing/2014/main" id="{47891CFE-4855-624E-83A5-BC5ED550A55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067005" y="805259"/>
            <a:ext cx="4100914" cy="3075686"/>
          </a:xfrm>
          <a:prstGeom prst="rect">
            <a:avLst/>
          </a:prstGeom>
        </p:spPr>
      </p:pic>
      <p:pic>
        <p:nvPicPr>
          <p:cNvPr id="8" name="Bildobjekt 7">
            <a:extLst>
              <a:ext uri="{FF2B5EF4-FFF2-40B4-BE49-F238E27FC236}">
                <a16:creationId xmlns:a16="http://schemas.microsoft.com/office/drawing/2014/main" id="{29C863B4-2DBD-1F46-B77E-031932EA3D6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8173" y="5481624"/>
            <a:ext cx="3626603" cy="2719952"/>
          </a:xfrm>
          <a:prstGeom prst="rect">
            <a:avLst/>
          </a:prstGeom>
        </p:spPr>
      </p:pic>
      <p:sp>
        <p:nvSpPr>
          <p:cNvPr id="9" name="Rektangel 8">
            <a:extLst>
              <a:ext uri="{FF2B5EF4-FFF2-40B4-BE49-F238E27FC236}">
                <a16:creationId xmlns:a16="http://schemas.microsoft.com/office/drawing/2014/main" id="{03D1E348-6776-0341-AB3E-8DFB6A6CC622}"/>
              </a:ext>
            </a:extLst>
          </p:cNvPr>
          <p:cNvSpPr/>
          <p:nvPr/>
        </p:nvSpPr>
        <p:spPr>
          <a:xfrm>
            <a:off x="3486890" y="5340208"/>
            <a:ext cx="3028210" cy="1954381"/>
          </a:xfrm>
          <a:prstGeom prst="rect">
            <a:avLst/>
          </a:prstGeom>
        </p:spPr>
        <p:txBody>
          <a:bodyPr wrap="square">
            <a:spAutoFit/>
          </a:bodyPr>
          <a:lstStyle/>
          <a:p>
            <a:r>
              <a:rPr lang="sv-SE" sz="1100" b="1" dirty="0">
                <a:solidFill>
                  <a:srgbClr val="000000"/>
                </a:solidFill>
              </a:rPr>
              <a:t>Omelett  med tomat - 1 portion </a:t>
            </a:r>
            <a:endParaRPr lang="sv-SE" sz="1100" dirty="0">
              <a:solidFill>
                <a:srgbClr val="000000"/>
              </a:solidFill>
            </a:endParaRPr>
          </a:p>
          <a:p>
            <a:r>
              <a:rPr lang="sv-SE" sz="1100" dirty="0">
                <a:solidFill>
                  <a:srgbClr val="000000"/>
                </a:solidFill>
              </a:rPr>
              <a:t>2 ägg</a:t>
            </a:r>
          </a:p>
          <a:p>
            <a:r>
              <a:rPr lang="sv-SE" sz="1100" dirty="0">
                <a:solidFill>
                  <a:srgbClr val="000000"/>
                </a:solidFill>
              </a:rPr>
              <a:t>salt och svartpeppar</a:t>
            </a:r>
          </a:p>
          <a:p>
            <a:r>
              <a:rPr lang="sv-SE" sz="1100" dirty="0">
                <a:solidFill>
                  <a:srgbClr val="000000"/>
                </a:solidFill>
              </a:rPr>
              <a:t>1 tsk olivolja</a:t>
            </a:r>
          </a:p>
          <a:p>
            <a:r>
              <a:rPr lang="sv-SE" sz="1100" dirty="0">
                <a:solidFill>
                  <a:srgbClr val="000000"/>
                </a:solidFill>
              </a:rPr>
              <a:t>1 tomat</a:t>
            </a:r>
          </a:p>
          <a:p>
            <a:r>
              <a:rPr lang="sv-SE" sz="1100" dirty="0">
                <a:solidFill>
                  <a:srgbClr val="000000"/>
                </a:solidFill>
              </a:rPr>
              <a:t>1 persiljekvist</a:t>
            </a:r>
          </a:p>
          <a:p>
            <a:endParaRPr lang="sv-SE" sz="1100" dirty="0">
              <a:solidFill>
                <a:srgbClr val="000000"/>
              </a:solidFill>
            </a:endParaRPr>
          </a:p>
          <a:p>
            <a:r>
              <a:rPr lang="sv-SE" sz="1100" dirty="0">
                <a:solidFill>
                  <a:srgbClr val="000000"/>
                </a:solidFill>
              </a:rPr>
              <a:t>Vispa ihop ägg, salt och peppar i en skål. Stek omeletten några minuter i olivolja. Lägg på ett fat. Skär tomaten i bitar och lägg över. Dekorera persilja.</a:t>
            </a:r>
            <a:endParaRPr lang="sv-SE" sz="1100" dirty="0">
              <a:solidFill>
                <a:srgbClr val="000000"/>
              </a:solidFill>
              <a:effectLst/>
            </a:endParaRPr>
          </a:p>
        </p:txBody>
      </p:sp>
      <p:sp>
        <p:nvSpPr>
          <p:cNvPr id="10" name="Ellips 9">
            <a:extLst>
              <a:ext uri="{FF2B5EF4-FFF2-40B4-BE49-F238E27FC236}">
                <a16:creationId xmlns:a16="http://schemas.microsoft.com/office/drawing/2014/main" id="{3D1E0572-879D-244C-AA0B-669FF0AEE906}"/>
              </a:ext>
            </a:extLst>
          </p:cNvPr>
          <p:cNvSpPr/>
          <p:nvPr/>
        </p:nvSpPr>
        <p:spPr>
          <a:xfrm>
            <a:off x="5229476" y="592880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240 kcal</a:t>
            </a:r>
            <a:endParaRPr sz="1200" b="1" dirty="0">
              <a:solidFill>
                <a:schemeClr val="bg1"/>
              </a:solidFill>
              <a:ea typeface="ＭＳ 明朝"/>
              <a:cs typeface="Avenir Light"/>
            </a:endParaRPr>
          </a:p>
        </p:txBody>
      </p:sp>
      <p:sp>
        <p:nvSpPr>
          <p:cNvPr id="11" name="textruta 10">
            <a:extLst>
              <a:ext uri="{FF2B5EF4-FFF2-40B4-BE49-F238E27FC236}">
                <a16:creationId xmlns:a16="http://schemas.microsoft.com/office/drawing/2014/main" id="{56F34983-93D0-E541-B68D-5783C3E60AFF}"/>
              </a:ext>
            </a:extLst>
          </p:cNvPr>
          <p:cNvSpPr txBox="1"/>
          <p:nvPr/>
        </p:nvSpPr>
        <p:spPr>
          <a:xfrm>
            <a:off x="4029559" y="7842142"/>
            <a:ext cx="1777025" cy="369332"/>
          </a:xfrm>
          <a:prstGeom prst="rect">
            <a:avLst/>
          </a:prstGeom>
          <a:noFill/>
        </p:spPr>
        <p:txBody>
          <a:bodyPr wrap="none" rtlCol="0">
            <a:spAutoFit/>
          </a:bodyPr>
          <a:lstStyle/>
          <a:p>
            <a:r>
              <a:rPr lang="sv-SE" dirty="0"/>
              <a:t>Höstturbon 2024</a:t>
            </a:r>
          </a:p>
        </p:txBody>
      </p:sp>
      <p:sp>
        <p:nvSpPr>
          <p:cNvPr id="13" name="textruta 12">
            <a:extLst>
              <a:ext uri="{FF2B5EF4-FFF2-40B4-BE49-F238E27FC236}">
                <a16:creationId xmlns:a16="http://schemas.microsoft.com/office/drawing/2014/main" id="{DF14705D-110D-4B46-953A-FA5885ABFB31}"/>
              </a:ext>
            </a:extLst>
          </p:cNvPr>
          <p:cNvSpPr txBox="1"/>
          <p:nvPr/>
        </p:nvSpPr>
        <p:spPr>
          <a:xfrm>
            <a:off x="1055711" y="3523032"/>
            <a:ext cx="2230611" cy="369332"/>
          </a:xfrm>
          <a:prstGeom prst="rect">
            <a:avLst/>
          </a:prstGeom>
          <a:noFill/>
        </p:spPr>
        <p:txBody>
          <a:bodyPr wrap="none" rtlCol="0">
            <a:spAutoFit/>
          </a:bodyPr>
          <a:lstStyle/>
          <a:p>
            <a:r>
              <a:rPr lang="sv-SE" dirty="0"/>
              <a:t>14-day </a:t>
            </a:r>
            <a:r>
              <a:rPr lang="sv-SE" dirty="0" err="1"/>
              <a:t>challenge</a:t>
            </a:r>
            <a:r>
              <a:rPr lang="sv-SE" dirty="0"/>
              <a:t> </a:t>
            </a:r>
            <a:r>
              <a:rPr lang="sv-SE" dirty="0" err="1"/>
              <a:t>keto</a:t>
            </a:r>
            <a:endParaRPr lang="sv-SE" dirty="0"/>
          </a:p>
        </p:txBody>
      </p:sp>
      <p:sp>
        <p:nvSpPr>
          <p:cNvPr id="14" name="Platshållare för sidfot 1">
            <a:extLst>
              <a:ext uri="{FF2B5EF4-FFF2-40B4-BE49-F238E27FC236}">
                <a16:creationId xmlns:a16="http://schemas.microsoft.com/office/drawing/2014/main" id="{E3AFCEDB-7642-4742-9D0B-15A428123BF8}"/>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842120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6AB51C2B-9A7E-6942-A611-9DB1376E0F57}"/>
              </a:ext>
            </a:extLst>
          </p:cNvPr>
          <p:cNvSpPr/>
          <p:nvPr/>
        </p:nvSpPr>
        <p:spPr>
          <a:xfrm>
            <a:off x="3702990" y="5429338"/>
            <a:ext cx="2732801" cy="2631490"/>
          </a:xfrm>
          <a:prstGeom prst="rect">
            <a:avLst/>
          </a:prstGeom>
        </p:spPr>
        <p:txBody>
          <a:bodyPr wrap="square">
            <a:spAutoFit/>
          </a:bodyPr>
          <a:lstStyle/>
          <a:p>
            <a:pPr>
              <a:spcAft>
                <a:spcPts val="0"/>
              </a:spcAft>
            </a:pPr>
            <a:r>
              <a:rPr lang="sv-SE" sz="1100" b="1" dirty="0">
                <a:ea typeface="MS Mincho" panose="02020609040205080304" pitchFamily="49" charset="-128"/>
                <a:cs typeface="Times New Roman" panose="02020603050405020304" pitchFamily="18" charset="0"/>
              </a:rPr>
              <a:t>Grön </a:t>
            </a:r>
            <a:r>
              <a:rPr lang="sv-SE" sz="1100" b="1" dirty="0" err="1">
                <a:ea typeface="MS Mincho" panose="02020609040205080304" pitchFamily="49" charset="-128"/>
                <a:cs typeface="Times New Roman" panose="02020603050405020304" pitchFamily="18" charset="0"/>
              </a:rPr>
              <a:t>smoothie</a:t>
            </a:r>
            <a:r>
              <a:rPr lang="sv-SE" sz="1100" b="1" dirty="0">
                <a:ea typeface="MS Mincho" panose="02020609040205080304" pitchFamily="49" charset="-128"/>
                <a:cs typeface="Times New Roman" panose="02020603050405020304" pitchFamily="18" charset="0"/>
              </a:rPr>
              <a:t>  - 1 portion </a:t>
            </a:r>
          </a:p>
          <a:p>
            <a:pPr>
              <a:spcAft>
                <a:spcPts val="0"/>
              </a:spcAft>
            </a:pPr>
            <a:r>
              <a:rPr lang="sv-SE" sz="1100" dirty="0">
                <a:ea typeface="MS Mincho" panose="02020609040205080304" pitchFamily="49" charset="-128"/>
                <a:cs typeface="Times New Roman" panose="02020603050405020304" pitchFamily="18" charset="0"/>
              </a:rPr>
              <a:t>25 g spenat</a:t>
            </a:r>
          </a:p>
          <a:p>
            <a:pPr>
              <a:spcAft>
                <a:spcPts val="0"/>
              </a:spcAft>
            </a:pPr>
            <a:r>
              <a:rPr lang="sv-SE" sz="1100" dirty="0">
                <a:ea typeface="MS Mincho" panose="02020609040205080304" pitchFamily="49" charset="-128"/>
                <a:cs typeface="Times New Roman" panose="02020603050405020304" pitchFamily="18" charset="0"/>
              </a:rPr>
              <a:t>1 selleristång</a:t>
            </a:r>
          </a:p>
          <a:p>
            <a:pPr>
              <a:spcAft>
                <a:spcPts val="0"/>
              </a:spcAft>
            </a:pPr>
            <a:r>
              <a:rPr lang="sv-SE" sz="1100" dirty="0">
                <a:ea typeface="MS Mincho" panose="02020609040205080304" pitchFamily="49" charset="-128"/>
                <a:cs typeface="Times New Roman" panose="02020603050405020304" pitchFamily="18" charset="0"/>
              </a:rPr>
              <a:t>½ gurka</a:t>
            </a:r>
          </a:p>
          <a:p>
            <a:pPr>
              <a:spcAft>
                <a:spcPts val="0"/>
              </a:spcAft>
            </a:pPr>
            <a:r>
              <a:rPr lang="sv-SE" sz="1100" dirty="0">
                <a:ea typeface="MS Mincho" panose="02020609040205080304" pitchFamily="49" charset="-128"/>
                <a:cs typeface="Times New Roman" panose="02020603050405020304" pitchFamily="18" charset="0"/>
              </a:rPr>
              <a:t>1 apelsin</a:t>
            </a:r>
          </a:p>
          <a:p>
            <a:pPr>
              <a:spcAft>
                <a:spcPts val="0"/>
              </a:spcAft>
            </a:pPr>
            <a:r>
              <a:rPr lang="sv-SE" sz="1100" dirty="0">
                <a:ea typeface="MS Mincho" panose="02020609040205080304" pitchFamily="49" charset="-128"/>
                <a:cs typeface="Times New Roman" panose="02020603050405020304" pitchFamily="18" charset="0"/>
              </a:rPr>
              <a:t>1 msk färsk ingefära</a:t>
            </a:r>
          </a:p>
          <a:p>
            <a:pPr>
              <a:spcAft>
                <a:spcPts val="0"/>
              </a:spcAft>
            </a:pPr>
            <a:r>
              <a:rPr lang="sv-SE" sz="1100" dirty="0">
                <a:ea typeface="MS Mincho" panose="02020609040205080304" pitchFamily="49" charset="-128"/>
                <a:cs typeface="Times New Roman" panose="02020603050405020304" pitchFamily="18" charset="0"/>
              </a:rPr>
              <a:t>1 lime</a:t>
            </a:r>
          </a:p>
          <a:p>
            <a:pPr>
              <a:spcAft>
                <a:spcPts val="0"/>
              </a:spcAft>
            </a:pPr>
            <a:r>
              <a:rPr lang="sv-SE" sz="1100" dirty="0">
                <a:ea typeface="MS Mincho" panose="02020609040205080304" pitchFamily="49" charset="-128"/>
                <a:cs typeface="Times New Roman" panose="02020603050405020304" pitchFamily="18" charset="0"/>
              </a:rPr>
              <a:t>1,5 dl vatten </a:t>
            </a:r>
          </a:p>
          <a:p>
            <a:pPr>
              <a:spcAft>
                <a:spcPts val="0"/>
              </a:spcAft>
            </a:pPr>
            <a:endParaRPr lang="sv-SE" sz="1100" dirty="0">
              <a:ea typeface="MS Mincho" panose="02020609040205080304" pitchFamily="49" charset="-128"/>
              <a:cs typeface="Times New Roman" panose="02020603050405020304" pitchFamily="18" charset="0"/>
            </a:endParaRPr>
          </a:p>
          <a:p>
            <a:r>
              <a:rPr lang="sv-SE" sz="1100" dirty="0">
                <a:ea typeface="MS Mincho" panose="02020609040205080304" pitchFamily="49" charset="-128"/>
                <a:cs typeface="Times New Roman" panose="02020603050405020304" pitchFamily="18" charset="0"/>
              </a:rPr>
              <a:t>Lägg spenat i en </a:t>
            </a:r>
            <a:r>
              <a:rPr lang="sv-SE" sz="1100" dirty="0" err="1">
                <a:ea typeface="MS Mincho" panose="02020609040205080304" pitchFamily="49" charset="-128"/>
                <a:cs typeface="Times New Roman" panose="02020603050405020304" pitchFamily="18" charset="0"/>
              </a:rPr>
              <a:t>blender</a:t>
            </a:r>
            <a:r>
              <a:rPr lang="sv-SE" sz="1100" dirty="0">
                <a:ea typeface="MS Mincho" panose="02020609040205080304" pitchFamily="49" charset="-128"/>
                <a:cs typeface="Times New Roman" panose="02020603050405020304" pitchFamily="18" charset="0"/>
              </a:rPr>
              <a:t>.  Skär selleri och gurka  i bitar. Skär bort skalet på apelsinen. Lägg ner i </a:t>
            </a:r>
            <a:r>
              <a:rPr lang="sv-SE" sz="1100" dirty="0" err="1">
                <a:ea typeface="MS Mincho" panose="02020609040205080304" pitchFamily="49" charset="-128"/>
                <a:cs typeface="Times New Roman" panose="02020603050405020304" pitchFamily="18" charset="0"/>
              </a:rPr>
              <a:t>blendern</a:t>
            </a:r>
            <a:r>
              <a:rPr lang="sv-SE" sz="1100" dirty="0">
                <a:ea typeface="MS Mincho" panose="02020609040205080304" pitchFamily="49" charset="-128"/>
                <a:cs typeface="Times New Roman" panose="02020603050405020304" pitchFamily="18" charset="0"/>
              </a:rPr>
              <a:t> tillsammans med ingefära och limesaft. Mixa och späd med vatten till en jämn </a:t>
            </a:r>
            <a:r>
              <a:rPr lang="sv-SE" sz="1100" dirty="0" err="1">
                <a:ea typeface="MS Mincho" panose="02020609040205080304" pitchFamily="49" charset="-128"/>
                <a:cs typeface="Times New Roman" panose="02020603050405020304" pitchFamily="18" charset="0"/>
              </a:rPr>
              <a:t>smoothie</a:t>
            </a:r>
            <a:r>
              <a:rPr lang="sv-SE" sz="1100" dirty="0">
                <a:ea typeface="MS Mincho" panose="02020609040205080304" pitchFamily="49" charset="-128"/>
                <a:cs typeface="Times New Roman" panose="02020603050405020304" pitchFamily="18" charset="0"/>
              </a:rPr>
              <a:t>. Häll upp på glas och förvara rester i kylen. </a:t>
            </a:r>
          </a:p>
        </p:txBody>
      </p:sp>
      <p:pic>
        <p:nvPicPr>
          <p:cNvPr id="7" name="Bildobjekt 6">
            <a:extLst>
              <a:ext uri="{FF2B5EF4-FFF2-40B4-BE49-F238E27FC236}">
                <a16:creationId xmlns:a16="http://schemas.microsoft.com/office/drawing/2014/main" id="{92A80D65-5F10-B648-8E84-F9823BB9A14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024107" y="726481"/>
            <a:ext cx="4200041" cy="3150031"/>
          </a:xfrm>
          <a:prstGeom prst="rect">
            <a:avLst/>
          </a:prstGeom>
        </p:spPr>
      </p:pic>
      <p:sp>
        <p:nvSpPr>
          <p:cNvPr id="9" name="Rektangel 8">
            <a:extLst>
              <a:ext uri="{FF2B5EF4-FFF2-40B4-BE49-F238E27FC236}">
                <a16:creationId xmlns:a16="http://schemas.microsoft.com/office/drawing/2014/main" id="{04ED9FA6-196C-1F47-9C04-3675893B3BC8}"/>
              </a:ext>
            </a:extLst>
          </p:cNvPr>
          <p:cNvSpPr/>
          <p:nvPr/>
        </p:nvSpPr>
        <p:spPr>
          <a:xfrm>
            <a:off x="217334" y="2294014"/>
            <a:ext cx="2772073" cy="1954381"/>
          </a:xfrm>
          <a:prstGeom prst="rect">
            <a:avLst/>
          </a:prstGeom>
        </p:spPr>
        <p:txBody>
          <a:bodyPr wrap="square">
            <a:spAutoFit/>
          </a:bodyPr>
          <a:lstStyle/>
          <a:p>
            <a:pPr>
              <a:spcAft>
                <a:spcPts val="0"/>
              </a:spcAft>
            </a:pPr>
            <a:r>
              <a:rPr lang="sv-SE" sz="1100" b="1" dirty="0">
                <a:ea typeface="MS Mincho" panose="02020609040205080304" pitchFamily="49" charset="-128"/>
                <a:cs typeface="Times New Roman" panose="02020603050405020304" pitchFamily="18" charset="0"/>
              </a:rPr>
              <a:t>Morotsjuice – 2 portioner </a:t>
            </a:r>
          </a:p>
          <a:p>
            <a:pPr>
              <a:spcAft>
                <a:spcPts val="0"/>
              </a:spcAft>
            </a:pPr>
            <a:r>
              <a:rPr lang="sv-SE" sz="1100" dirty="0">
                <a:ea typeface="MS Mincho" panose="02020609040205080304" pitchFamily="49" charset="-128"/>
                <a:cs typeface="Times New Roman" panose="02020603050405020304" pitchFamily="18" charset="0"/>
              </a:rPr>
              <a:t>1 kg morötter</a:t>
            </a:r>
          </a:p>
          <a:p>
            <a:pPr>
              <a:spcAft>
                <a:spcPts val="0"/>
              </a:spcAft>
            </a:pPr>
            <a:r>
              <a:rPr lang="sv-SE" sz="1100" dirty="0">
                <a:ea typeface="MS Mincho" panose="02020609040205080304" pitchFamily="49" charset="-128"/>
                <a:cs typeface="Times New Roman" panose="02020603050405020304" pitchFamily="18" charset="0"/>
              </a:rPr>
              <a:t>1 äpple</a:t>
            </a:r>
          </a:p>
          <a:p>
            <a:pPr>
              <a:spcAft>
                <a:spcPts val="0"/>
              </a:spcAft>
            </a:pPr>
            <a:r>
              <a:rPr lang="sv-SE" sz="1100" dirty="0">
                <a:ea typeface="MS Mincho" panose="02020609040205080304" pitchFamily="49" charset="-128"/>
                <a:cs typeface="Times New Roman" panose="02020603050405020304" pitchFamily="18" charset="0"/>
              </a:rPr>
              <a:t>1 apelsin</a:t>
            </a:r>
          </a:p>
          <a:p>
            <a:pPr>
              <a:spcAft>
                <a:spcPts val="0"/>
              </a:spcAft>
            </a:pPr>
            <a:r>
              <a:rPr lang="sv-SE" sz="1100" dirty="0">
                <a:ea typeface="MS Mincho" panose="02020609040205080304" pitchFamily="49" charset="-128"/>
                <a:cs typeface="Times New Roman" panose="02020603050405020304" pitchFamily="18" charset="0"/>
              </a:rPr>
              <a:t>2 cm färsk, skalad ingefära</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Skär morötter och äpple i bitar. Skär bort skalet på apelsinen dela. Lägg ner morötter, äpple, apelsin och ingefära i en råsaftcentrifug och häll upp saften på glas eller flaska. Håller sig 3 dagar i kyl.</a:t>
            </a:r>
          </a:p>
        </p:txBody>
      </p:sp>
      <p:sp>
        <p:nvSpPr>
          <p:cNvPr id="11" name="Rektangel 10">
            <a:extLst>
              <a:ext uri="{FF2B5EF4-FFF2-40B4-BE49-F238E27FC236}">
                <a16:creationId xmlns:a16="http://schemas.microsoft.com/office/drawing/2014/main" id="{401F727C-B724-1E44-9677-9AA389049D6B}"/>
              </a:ext>
            </a:extLst>
          </p:cNvPr>
          <p:cNvSpPr/>
          <p:nvPr/>
        </p:nvSpPr>
        <p:spPr>
          <a:xfrm>
            <a:off x="217334" y="4706339"/>
            <a:ext cx="2981032" cy="1785104"/>
          </a:xfrm>
          <a:prstGeom prst="rect">
            <a:avLst/>
          </a:prstGeom>
        </p:spPr>
        <p:txBody>
          <a:bodyPr wrap="square">
            <a:spAutoFit/>
          </a:bodyPr>
          <a:lstStyle/>
          <a:p>
            <a:pPr>
              <a:spcAft>
                <a:spcPts val="0"/>
              </a:spcAft>
            </a:pPr>
            <a:r>
              <a:rPr lang="sv-SE" sz="1100" b="1" dirty="0">
                <a:ea typeface="MS Mincho" panose="02020609040205080304" pitchFamily="49" charset="-128"/>
                <a:cs typeface="Times New Roman" panose="02020603050405020304" pitchFamily="18" charset="0"/>
              </a:rPr>
              <a:t>Rödbetsjuice – 2 portioner</a:t>
            </a:r>
          </a:p>
          <a:p>
            <a:pPr>
              <a:spcAft>
                <a:spcPts val="0"/>
              </a:spcAft>
            </a:pPr>
            <a:r>
              <a:rPr lang="sv-SE" sz="1100" dirty="0">
                <a:ea typeface="MS Mincho" panose="02020609040205080304" pitchFamily="49" charset="-128"/>
                <a:cs typeface="Times New Roman" panose="02020603050405020304" pitchFamily="18" charset="0"/>
              </a:rPr>
              <a:t>1 kg rödbetor</a:t>
            </a:r>
          </a:p>
          <a:p>
            <a:pPr>
              <a:spcAft>
                <a:spcPts val="0"/>
              </a:spcAft>
            </a:pPr>
            <a:r>
              <a:rPr lang="sv-SE" sz="1100" dirty="0">
                <a:ea typeface="MS Mincho" panose="02020609040205080304" pitchFamily="49" charset="-128"/>
                <a:cs typeface="Times New Roman" panose="02020603050405020304" pitchFamily="18" charset="0"/>
              </a:rPr>
              <a:t>1 citron</a:t>
            </a:r>
          </a:p>
          <a:p>
            <a:pPr>
              <a:spcAft>
                <a:spcPts val="0"/>
              </a:spcAft>
            </a:pPr>
            <a:r>
              <a:rPr lang="sv-SE" sz="1100" dirty="0">
                <a:ea typeface="MS Mincho" panose="02020609040205080304" pitchFamily="49" charset="-128"/>
                <a:cs typeface="Times New Roman" panose="02020603050405020304" pitchFamily="18" charset="0"/>
              </a:rPr>
              <a:t>1 rejäl bit ingefära </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Skala rödbetor om du vill eller behåll skalet på. Skär i klyftor. Skär bort skalet på citronen och skär i bitar. Lägg ner rödbetor, citron och ingefära i en råsaftcentrifug och häll upp saften på glas eller flaska. Håller sig 3 dagar i kyl.</a:t>
            </a:r>
          </a:p>
        </p:txBody>
      </p:sp>
      <p:sp>
        <p:nvSpPr>
          <p:cNvPr id="13" name="textruta 12">
            <a:extLst>
              <a:ext uri="{FF2B5EF4-FFF2-40B4-BE49-F238E27FC236}">
                <a16:creationId xmlns:a16="http://schemas.microsoft.com/office/drawing/2014/main" id="{03331FCF-23F5-3645-B3A5-00737A8DC96A}"/>
              </a:ext>
            </a:extLst>
          </p:cNvPr>
          <p:cNvSpPr txBox="1"/>
          <p:nvPr/>
        </p:nvSpPr>
        <p:spPr>
          <a:xfrm>
            <a:off x="178821" y="188293"/>
            <a:ext cx="4328308" cy="461665"/>
          </a:xfrm>
          <a:prstGeom prst="rect">
            <a:avLst/>
          </a:prstGeom>
          <a:noFill/>
        </p:spPr>
        <p:txBody>
          <a:bodyPr wrap="square" rtlCol="0">
            <a:spAutoFit/>
          </a:bodyPr>
          <a:lstStyle/>
          <a:p>
            <a:r>
              <a:rPr lang="sv-SE" sz="2400" dirty="0">
                <a:latin typeface="BigCaslonFB" panose="02000603080000020003" pitchFamily="50" charset="0"/>
              </a:rPr>
              <a:t>Juicer och Smoothies</a:t>
            </a:r>
          </a:p>
        </p:txBody>
      </p:sp>
      <p:sp>
        <p:nvSpPr>
          <p:cNvPr id="2" name="textruta 1">
            <a:extLst>
              <a:ext uri="{FF2B5EF4-FFF2-40B4-BE49-F238E27FC236}">
                <a16:creationId xmlns:a16="http://schemas.microsoft.com/office/drawing/2014/main" id="{5FF13B94-B39F-5C48-B4B5-065DD9B4FA5A}"/>
              </a:ext>
            </a:extLst>
          </p:cNvPr>
          <p:cNvSpPr txBox="1"/>
          <p:nvPr/>
        </p:nvSpPr>
        <p:spPr>
          <a:xfrm>
            <a:off x="759417" y="7470183"/>
            <a:ext cx="1267848" cy="369332"/>
          </a:xfrm>
          <a:prstGeom prst="rect">
            <a:avLst/>
          </a:prstGeom>
          <a:noFill/>
        </p:spPr>
        <p:txBody>
          <a:bodyPr wrap="none" rtlCol="0">
            <a:spAutoFit/>
          </a:bodyPr>
          <a:lstStyle/>
          <a:p>
            <a:r>
              <a:rPr lang="sv-SE" dirty="0"/>
              <a:t>Jorden runt</a:t>
            </a:r>
          </a:p>
        </p:txBody>
      </p:sp>
      <p:sp>
        <p:nvSpPr>
          <p:cNvPr id="19" name="Ellips 18">
            <a:extLst>
              <a:ext uri="{FF2B5EF4-FFF2-40B4-BE49-F238E27FC236}">
                <a16:creationId xmlns:a16="http://schemas.microsoft.com/office/drawing/2014/main" id="{5C6D8454-FA5E-2545-A425-FCD8791CD3E7}"/>
              </a:ext>
            </a:extLst>
          </p:cNvPr>
          <p:cNvSpPr/>
          <p:nvPr/>
        </p:nvSpPr>
        <p:spPr>
          <a:xfrm>
            <a:off x="2326285" y="243923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310 kcal</a:t>
            </a:r>
            <a:endParaRPr sz="1200" b="1" dirty="0">
              <a:solidFill>
                <a:schemeClr val="bg1"/>
              </a:solidFill>
              <a:ea typeface="ＭＳ 明朝"/>
              <a:cs typeface="Avenir Light"/>
            </a:endParaRPr>
          </a:p>
        </p:txBody>
      </p:sp>
      <p:sp>
        <p:nvSpPr>
          <p:cNvPr id="20" name="Ellips 19">
            <a:extLst>
              <a:ext uri="{FF2B5EF4-FFF2-40B4-BE49-F238E27FC236}">
                <a16:creationId xmlns:a16="http://schemas.microsoft.com/office/drawing/2014/main" id="{73F77363-E5CE-7F42-84E0-94E21DEAA0F5}"/>
              </a:ext>
            </a:extLst>
          </p:cNvPr>
          <p:cNvSpPr/>
          <p:nvPr/>
        </p:nvSpPr>
        <p:spPr>
          <a:xfrm>
            <a:off x="2360757" y="478379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250 kcal</a:t>
            </a:r>
            <a:endParaRPr sz="1200" b="1" dirty="0">
              <a:solidFill>
                <a:schemeClr val="bg1"/>
              </a:solidFill>
              <a:ea typeface="ＭＳ 明朝"/>
              <a:cs typeface="Avenir Light"/>
            </a:endParaRPr>
          </a:p>
        </p:txBody>
      </p:sp>
      <p:sp>
        <p:nvSpPr>
          <p:cNvPr id="21" name="Ellips 20">
            <a:extLst>
              <a:ext uri="{FF2B5EF4-FFF2-40B4-BE49-F238E27FC236}">
                <a16:creationId xmlns:a16="http://schemas.microsoft.com/office/drawing/2014/main" id="{1552E930-5663-5F44-9BF2-35F5EF07504D}"/>
              </a:ext>
            </a:extLst>
          </p:cNvPr>
          <p:cNvSpPr/>
          <p:nvPr/>
        </p:nvSpPr>
        <p:spPr>
          <a:xfrm>
            <a:off x="5470099" y="583153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133 kcal</a:t>
            </a:r>
            <a:endParaRPr sz="1200" b="1" dirty="0">
              <a:solidFill>
                <a:schemeClr val="bg1"/>
              </a:solidFill>
              <a:ea typeface="ＭＳ 明朝"/>
              <a:cs typeface="Avenir Light"/>
            </a:endParaRPr>
          </a:p>
        </p:txBody>
      </p:sp>
      <p:sp>
        <p:nvSpPr>
          <p:cNvPr id="22" name="Platshållare för sidfot 1">
            <a:extLst>
              <a:ext uri="{FF2B5EF4-FFF2-40B4-BE49-F238E27FC236}">
                <a16:creationId xmlns:a16="http://schemas.microsoft.com/office/drawing/2014/main" id="{1D71C8E1-00A1-8E45-9B22-19C572C05C54}"/>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411284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0823864C-B572-E440-A468-944A209016C3}"/>
              </a:ext>
            </a:extLst>
          </p:cNvPr>
          <p:cNvSpPr/>
          <p:nvPr/>
        </p:nvSpPr>
        <p:spPr>
          <a:xfrm>
            <a:off x="543481" y="2920240"/>
            <a:ext cx="5330377" cy="3707105"/>
          </a:xfrm>
          <a:prstGeom prst="rect">
            <a:avLst/>
          </a:prstGeom>
        </p:spPr>
        <p:txBody>
          <a:bodyPr wrap="square">
            <a:spAutoFit/>
          </a:bodyPr>
          <a:lstStyle/>
          <a:p>
            <a:pPr>
              <a:lnSpc>
                <a:spcPct val="107000"/>
              </a:lnSpc>
              <a:spcAft>
                <a:spcPts val="0"/>
              </a:spcAft>
            </a:pPr>
            <a:r>
              <a:rPr lang="sv-SE" sz="1100" b="1" dirty="0">
                <a:solidFill>
                  <a:srgbClr val="000000"/>
                </a:solidFill>
                <a:latin typeface="Calibri" panose="020F0502020204030204" pitchFamily="34" charset="0"/>
                <a:ea typeface="Calibri" panose="020F0502020204030204" pitchFamily="34" charset="0"/>
                <a:cs typeface="Avenir Light" panose="020B0402020203020204" pitchFamily="34" charset="77"/>
              </a:rPr>
              <a:t>Het ratatouille – 2 portioner</a:t>
            </a:r>
          </a:p>
          <a:p>
            <a:pPr>
              <a:lnSpc>
                <a:spcPct val="107000"/>
              </a:lnSpc>
              <a:spcAft>
                <a:spcPts val="0"/>
              </a:spcAft>
            </a:pPr>
            <a:r>
              <a:rPr lang="sv-SE" sz="1100" dirty="0">
                <a:latin typeface="Calibri" panose="020F0502020204030204" pitchFamily="34" charset="0"/>
                <a:ea typeface="Calibri" panose="020F0502020204030204" pitchFamily="34" charset="0"/>
                <a:cs typeface="Avenir Light" panose="020B0402020203020204" pitchFamily="34" charset="77"/>
              </a:rPr>
              <a:t>½ rödlök </a:t>
            </a:r>
            <a:r>
              <a:rPr lang="en-US" sz="1100" dirty="0">
                <a:latin typeface="MS Gothic" panose="020B0609070205080204" pitchFamily="49" charset="-128"/>
                <a:ea typeface="Calibri" panose="020F0502020204030204" pitchFamily="34" charset="0"/>
                <a:cs typeface="MS Gothic" panose="020B0609070205080204" pitchFamily="49" charset="-128"/>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¼ squash</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½ paprika</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1 morot</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200 g blomkål</a:t>
            </a: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½ msk olivolja att steka i</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1 vitlöksklyfta </a:t>
            </a:r>
            <a:r>
              <a:rPr lang="en-US" sz="1100" dirty="0">
                <a:solidFill>
                  <a:srgbClr val="000000"/>
                </a:solidFill>
                <a:latin typeface="MS Gothic" panose="020B0609070205080204" pitchFamily="49" charset="-128"/>
                <a:ea typeface="Calibri" panose="020F0502020204030204" pitchFamily="34" charset="0"/>
                <a:cs typeface="MS Gothic" panose="020B0609070205080204" pitchFamily="49" charset="-128"/>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200 g konserverade krossade tomater</a:t>
            </a:r>
            <a:r>
              <a:rPr lang="en-US" sz="1100" dirty="0">
                <a:solidFill>
                  <a:srgbClr val="000000"/>
                </a:solidFill>
                <a:latin typeface="MS Gothic" panose="020B0609070205080204" pitchFamily="49" charset="-128"/>
                <a:ea typeface="Calibri" panose="020F0502020204030204" pitchFamily="34" charset="0"/>
                <a:cs typeface="MS Gothic" panose="020B0609070205080204" pitchFamily="49" charset="-128"/>
              </a:rPr>
              <a:t> </a:t>
            </a:r>
          </a:p>
          <a:p>
            <a:pPr>
              <a:lnSpc>
                <a:spcPct val="107000"/>
              </a:lnSpc>
              <a:spcAft>
                <a:spcPts val="0"/>
              </a:spcAft>
            </a:pPr>
            <a:r>
              <a:rPr lang="en-US" sz="1100" dirty="0">
                <a:solidFill>
                  <a:srgbClr val="000000"/>
                </a:solidFill>
                <a:ea typeface="Calibri" panose="020F0502020204030204" pitchFamily="34" charset="0"/>
                <a:cs typeface="Times New Roman" panose="02020603050405020304" pitchFamily="18" charset="0"/>
              </a:rPr>
              <a:t>½ </a:t>
            </a:r>
            <a:r>
              <a:rPr lang="en-US" sz="1100" dirty="0" err="1">
                <a:solidFill>
                  <a:srgbClr val="000000"/>
                </a:solidFill>
                <a:ea typeface="Calibri" panose="020F0502020204030204" pitchFamily="34" charset="0"/>
                <a:cs typeface="Times New Roman" panose="02020603050405020304" pitchFamily="18" charset="0"/>
              </a:rPr>
              <a:t>krm</a:t>
            </a:r>
            <a:r>
              <a:rPr lang="en-US" sz="1100" dirty="0">
                <a:solidFill>
                  <a:srgbClr val="000000"/>
                </a:solidFill>
                <a:ea typeface="Calibri" panose="020F0502020204030204" pitchFamily="34" charset="0"/>
                <a:cs typeface="Times New Roman" panose="02020603050405020304" pitchFamily="18" charset="0"/>
              </a:rPr>
              <a:t> </a:t>
            </a:r>
            <a:r>
              <a:rPr lang="en-US" sz="1100" dirty="0" err="1">
                <a:solidFill>
                  <a:srgbClr val="000000"/>
                </a:solidFill>
                <a:ea typeface="Calibri" panose="020F0502020204030204" pitchFamily="34" charset="0"/>
                <a:cs typeface="Times New Roman" panose="02020603050405020304" pitchFamily="18" charset="0"/>
              </a:rPr>
              <a:t>chiliflakes</a:t>
            </a:r>
            <a:endParaRPr lang="sv-SE" sz="1100" dirty="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MS Gothic" panose="020B0609070205080204" pitchFamily="49" charset="-128"/>
                <a:cs typeface="MS Gothic" panose="020B0609070205080204" pitchFamily="49" charset="-128"/>
              </a:rPr>
              <a:t>1 tsk flytande honung</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1 tsk torkade örter</a:t>
            </a:r>
            <a:r>
              <a:rPr lang="en-US" sz="1100" dirty="0">
                <a:solidFill>
                  <a:srgbClr val="000000"/>
                </a:solidFill>
                <a:latin typeface="MS Gothic" panose="020B0609070205080204" pitchFamily="49" charset="-128"/>
                <a:ea typeface="Calibri" panose="020F0502020204030204" pitchFamily="34" charset="0"/>
                <a:cs typeface="MS Gothic" panose="020B0609070205080204" pitchFamily="49" charset="-128"/>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salt och svartpeppar</a:t>
            </a:r>
            <a:r>
              <a:rPr lang="en-US" sz="1100" dirty="0">
                <a:solidFill>
                  <a:srgbClr val="000000"/>
                </a:solidFill>
                <a:latin typeface="MS Gothic" panose="020B0609070205080204" pitchFamily="49" charset="-128"/>
                <a:ea typeface="Calibri" panose="020F0502020204030204" pitchFamily="34" charset="0"/>
                <a:cs typeface="MS Gothic" panose="020B0609070205080204" pitchFamily="49" charset="-128"/>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3 dl rucolasallad</a:t>
            </a:r>
            <a:b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br>
            <a:r>
              <a:rPr lang="sv-SE" sz="1100" dirty="0">
                <a:solidFill>
                  <a:srgbClr val="000000"/>
                </a:solidFill>
                <a:latin typeface="Calibri" panose="020F0502020204030204" pitchFamily="34" charset="0"/>
                <a:ea typeface="Calibri" panose="020F0502020204030204" pitchFamily="34" charset="0"/>
                <a:cs typeface="Times" pitchFamily="2" charset="0"/>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Skär rödlök, squash och paprika i bitar. Dela moroten i bitar. Dela blomkålen i små buketter. Riv vitlöken fint. Hetta upp en stekpanna med olivolja och fräs grönsakerna ihop med vitlök i några minuter. Blanda ner krossade tomater, chiliflakes och honung. Krydda med torkade örter, salt och peppar .Låt puttra i 10 minuter.  </a:t>
            </a:r>
            <a:r>
              <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Lägg upp på en tallrik eller lägg i en lunchbox och servera med rucolasallad. </a:t>
            </a:r>
            <a:endParaRPr lang="sv-SE" sz="1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9" name="Bildobjekt 8">
            <a:extLst>
              <a:ext uri="{FF2B5EF4-FFF2-40B4-BE49-F238E27FC236}">
                <a16:creationId xmlns:a16="http://schemas.microsoft.com/office/drawing/2014/main" id="{AC706ABB-4031-E744-AB97-5C92A89125D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74772" y="419125"/>
            <a:ext cx="2762036" cy="3682715"/>
          </a:xfrm>
          <a:prstGeom prst="rect">
            <a:avLst/>
          </a:prstGeom>
        </p:spPr>
      </p:pic>
      <p:sp>
        <p:nvSpPr>
          <p:cNvPr id="16" name="textruta 15">
            <a:extLst>
              <a:ext uri="{FF2B5EF4-FFF2-40B4-BE49-F238E27FC236}">
                <a16:creationId xmlns:a16="http://schemas.microsoft.com/office/drawing/2014/main" id="{9CC8EAC3-B1D1-9A45-8F77-86ED715DFE86}"/>
              </a:ext>
            </a:extLst>
          </p:cNvPr>
          <p:cNvSpPr txBox="1"/>
          <p:nvPr/>
        </p:nvSpPr>
        <p:spPr>
          <a:xfrm>
            <a:off x="178821" y="188293"/>
            <a:ext cx="4328308" cy="461665"/>
          </a:xfrm>
          <a:prstGeom prst="rect">
            <a:avLst/>
          </a:prstGeom>
          <a:noFill/>
        </p:spPr>
        <p:txBody>
          <a:bodyPr wrap="square" rtlCol="0">
            <a:spAutoFit/>
          </a:bodyPr>
          <a:lstStyle/>
          <a:p>
            <a:r>
              <a:rPr lang="sv-SE" sz="2400" dirty="0" err="1">
                <a:latin typeface="BigCaslonFB" panose="02000603080000020003" pitchFamily="50" charset="0"/>
              </a:rPr>
              <a:t>Vego</a:t>
            </a:r>
            <a:endParaRPr lang="sv-SE" sz="2400" dirty="0">
              <a:latin typeface="BigCaslonFB" panose="02000603080000020003" pitchFamily="50" charset="0"/>
            </a:endParaRPr>
          </a:p>
        </p:txBody>
      </p:sp>
      <p:sp>
        <p:nvSpPr>
          <p:cNvPr id="18" name="Ellips 17">
            <a:extLst>
              <a:ext uri="{FF2B5EF4-FFF2-40B4-BE49-F238E27FC236}">
                <a16:creationId xmlns:a16="http://schemas.microsoft.com/office/drawing/2014/main" id="{84740CF7-2F4B-B946-B475-33E79BCA36A3}"/>
              </a:ext>
            </a:extLst>
          </p:cNvPr>
          <p:cNvSpPr/>
          <p:nvPr/>
        </p:nvSpPr>
        <p:spPr>
          <a:xfrm>
            <a:off x="2595482" y="3399167"/>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157</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11" name="Platshållare för sidfot 1">
            <a:extLst>
              <a:ext uri="{FF2B5EF4-FFF2-40B4-BE49-F238E27FC236}">
                <a16:creationId xmlns:a16="http://schemas.microsoft.com/office/drawing/2014/main" id="{1C1BB00D-FA33-9245-9D2E-877202FEA8E7}"/>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308247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ktangel 16">
            <a:extLst>
              <a:ext uri="{FF2B5EF4-FFF2-40B4-BE49-F238E27FC236}">
                <a16:creationId xmlns:a16="http://schemas.microsoft.com/office/drawing/2014/main" id="{F66CD2FF-EF3A-EB4A-AE81-5E941C45E8C6}"/>
              </a:ext>
            </a:extLst>
          </p:cNvPr>
          <p:cNvSpPr/>
          <p:nvPr/>
        </p:nvSpPr>
        <p:spPr>
          <a:xfrm>
            <a:off x="226583" y="707886"/>
            <a:ext cx="6631417" cy="6355586"/>
          </a:xfrm>
          <a:prstGeom prst="rect">
            <a:avLst/>
          </a:prstGeom>
        </p:spPr>
        <p:txBody>
          <a:bodyPr wrap="square">
            <a:spAutoFit/>
          </a:bodyPr>
          <a:lstStyle/>
          <a:p>
            <a:r>
              <a:rPr lang="sv-SE" sz="1100" b="1" dirty="0">
                <a:cs typeface="Avenir Light"/>
              </a:rPr>
              <a:t>Kycklinggryta med bakad spetskål – 4  portioner</a:t>
            </a:r>
            <a:endParaRPr lang="sv-SE" sz="1100" dirty="0">
              <a:cs typeface="Avenir Light"/>
            </a:endParaRPr>
          </a:p>
          <a:p>
            <a:r>
              <a:rPr lang="sv-SE" sz="1100" dirty="0">
                <a:cs typeface="Avenir Light"/>
              </a:rPr>
              <a:t>1 spetskålshuvud, 300 g</a:t>
            </a:r>
          </a:p>
          <a:p>
            <a:r>
              <a:rPr lang="sv-SE" sz="1100" dirty="0">
                <a:cs typeface="Avenir Light"/>
              </a:rPr>
              <a:t>1 msk olivolja</a:t>
            </a:r>
          </a:p>
          <a:p>
            <a:r>
              <a:rPr lang="sv-SE" sz="1100" dirty="0">
                <a:cs typeface="Avenir Light"/>
              </a:rPr>
              <a:t>Salt och svartpeppar</a:t>
            </a:r>
          </a:p>
          <a:p>
            <a:r>
              <a:rPr lang="sv-SE" sz="1100" dirty="0">
                <a:cs typeface="Avenir Light"/>
              </a:rPr>
              <a:t>½ gul lök</a:t>
            </a:r>
          </a:p>
          <a:p>
            <a:r>
              <a:rPr lang="sv-SE" sz="1100" dirty="0">
                <a:cs typeface="Avenir Light"/>
              </a:rPr>
              <a:t>½ rödlök</a:t>
            </a:r>
          </a:p>
          <a:p>
            <a:r>
              <a:rPr lang="sv-SE" sz="1100" dirty="0">
                <a:cs typeface="Avenir Light"/>
              </a:rPr>
              <a:t>2 vitlöksklyftor</a:t>
            </a:r>
          </a:p>
          <a:p>
            <a:r>
              <a:rPr lang="sv-SE" sz="1100" dirty="0">
                <a:cs typeface="Avenir Light"/>
              </a:rPr>
              <a:t>½ röd paprika</a:t>
            </a:r>
          </a:p>
          <a:p>
            <a:r>
              <a:rPr lang="sv-SE" sz="1100" dirty="0">
                <a:cs typeface="Avenir Light"/>
              </a:rPr>
              <a:t>½ gul paprika</a:t>
            </a:r>
          </a:p>
          <a:p>
            <a:r>
              <a:rPr lang="sv-SE" sz="1100" dirty="0">
                <a:cs typeface="Avenir Light"/>
              </a:rPr>
              <a:t>2 tomater</a:t>
            </a:r>
          </a:p>
          <a:p>
            <a:r>
              <a:rPr lang="sv-SE" sz="1100" dirty="0">
                <a:cs typeface="Avenir Light"/>
              </a:rPr>
              <a:t>800 g kycklinglårfilé</a:t>
            </a:r>
          </a:p>
          <a:p>
            <a:r>
              <a:rPr lang="sv-SE" sz="1100" dirty="0">
                <a:cs typeface="Avenir Light"/>
              </a:rPr>
              <a:t>250 g </a:t>
            </a:r>
            <a:r>
              <a:rPr lang="sv-SE" sz="1100" dirty="0" err="1">
                <a:cs typeface="Avenir Light"/>
              </a:rPr>
              <a:t>kabanoss</a:t>
            </a:r>
            <a:endParaRPr lang="sv-SE" sz="1100" dirty="0">
              <a:cs typeface="Avenir Light"/>
            </a:endParaRPr>
          </a:p>
          <a:p>
            <a:r>
              <a:rPr lang="sv-SE" sz="1100" dirty="0">
                <a:cs typeface="Avenir Light"/>
              </a:rPr>
              <a:t>½ msk olivolja</a:t>
            </a:r>
          </a:p>
          <a:p>
            <a:r>
              <a:rPr lang="sv-SE" sz="1100" dirty="0">
                <a:cs typeface="Avenir Light"/>
              </a:rPr>
              <a:t>1 </a:t>
            </a:r>
            <a:r>
              <a:rPr lang="sv-SE" sz="1100" dirty="0" err="1">
                <a:cs typeface="Avenir Light"/>
              </a:rPr>
              <a:t>ksm</a:t>
            </a:r>
            <a:r>
              <a:rPr lang="sv-SE" sz="1100" dirty="0">
                <a:cs typeface="Avenir Light"/>
              </a:rPr>
              <a:t> örtagårdskrydda</a:t>
            </a:r>
          </a:p>
          <a:p>
            <a:r>
              <a:rPr lang="sv-SE" sz="1100" dirty="0">
                <a:cs typeface="Avenir Light"/>
              </a:rPr>
              <a:t>1 hönsbuljongtärning</a:t>
            </a:r>
          </a:p>
          <a:p>
            <a:r>
              <a:rPr lang="sv-SE" sz="1100" dirty="0">
                <a:cs typeface="Avenir Light"/>
              </a:rPr>
              <a:t>½ dl </a:t>
            </a:r>
            <a:r>
              <a:rPr lang="sv-SE" sz="1100" dirty="0" err="1">
                <a:cs typeface="Avenir Light"/>
              </a:rPr>
              <a:t>ajvar</a:t>
            </a:r>
            <a:r>
              <a:rPr lang="sv-SE" sz="1100" dirty="0">
                <a:cs typeface="Avenir Light"/>
              </a:rPr>
              <a:t> </a:t>
            </a:r>
            <a:r>
              <a:rPr lang="sv-SE" sz="1100" dirty="0" err="1">
                <a:cs typeface="Avenir Light"/>
              </a:rPr>
              <a:t>relish</a:t>
            </a:r>
            <a:endParaRPr lang="sv-SE" sz="1100" dirty="0">
              <a:cs typeface="Avenir Light"/>
            </a:endParaRPr>
          </a:p>
          <a:p>
            <a:r>
              <a:rPr lang="sv-SE" sz="1100" dirty="0">
                <a:cs typeface="Avenir Light"/>
              </a:rPr>
              <a:t>1 dl blandade oliver</a:t>
            </a:r>
          </a:p>
          <a:p>
            <a:r>
              <a:rPr lang="sv-SE" sz="1100" dirty="0">
                <a:cs typeface="Avenir Light"/>
              </a:rPr>
              <a:t>2 msk färsk timjan</a:t>
            </a:r>
          </a:p>
          <a:p>
            <a:r>
              <a:rPr lang="sv-SE" sz="1100" dirty="0">
                <a:cs typeface="Avenir Light"/>
              </a:rPr>
              <a:t>4 dl vatten</a:t>
            </a:r>
          </a:p>
          <a:p>
            <a:endParaRPr lang="sv-SE" sz="1100" dirty="0">
              <a:cs typeface="Avenir Light"/>
            </a:endParaRPr>
          </a:p>
          <a:p>
            <a:r>
              <a:rPr lang="sv-SE" sz="1100" b="1" dirty="0">
                <a:cs typeface="Avenir Light"/>
              </a:rPr>
              <a:t>Tillbehör:</a:t>
            </a:r>
          </a:p>
          <a:p>
            <a:r>
              <a:rPr lang="sv-SE" sz="1100" dirty="0">
                <a:cs typeface="Avenir Light"/>
              </a:rPr>
              <a:t>1 dl rostad lök</a:t>
            </a:r>
          </a:p>
          <a:p>
            <a:r>
              <a:rPr lang="sv-SE" sz="1100" dirty="0">
                <a:cs typeface="Avenir Light"/>
              </a:rPr>
              <a:t>1 dl grekisk yoghurt </a:t>
            </a:r>
          </a:p>
          <a:p>
            <a:r>
              <a:rPr lang="sv-SE" sz="1100" dirty="0">
                <a:cs typeface="Avenir Light"/>
              </a:rPr>
              <a:t>Lite färsk timjan</a:t>
            </a:r>
          </a:p>
          <a:p>
            <a:endParaRPr lang="sv-SE" sz="1100" dirty="0">
              <a:cs typeface="Avenir Light"/>
            </a:endParaRPr>
          </a:p>
          <a:p>
            <a:endParaRPr lang="sv-SE" sz="1100" dirty="0">
              <a:cs typeface="Avenir Light"/>
            </a:endParaRPr>
          </a:p>
          <a:p>
            <a:r>
              <a:rPr lang="sv-SE" sz="1100" dirty="0">
                <a:cs typeface="Avenir Light"/>
              </a:rPr>
              <a:t>Sätt ugnen på 200 grader. Skär spetskålen i 4 klyftor och lägg på en ugnsplåt. Ringla olivolja över och strö på salt och peppar. Sätt in i ugnen i 15-20 min. Skala och hacka gul lök och skiva rödlök. Skala och riv vitlöken. Skär paprika och tomat i mindre bitar. Strö på salt och peppar på kycklingen och skiva korven. Hetta upp en stekpanna med olja och lägg ner kyckling, korv, vitlök och gul lök. Låt steka några minuter och krydda med örtagårdskrydda. Hacka timjan. Lägg ner tomater, hönsbuljongtärning, </a:t>
            </a:r>
            <a:r>
              <a:rPr lang="sv-SE" sz="1100" dirty="0" err="1">
                <a:cs typeface="Avenir Light"/>
              </a:rPr>
              <a:t>ajvar</a:t>
            </a:r>
            <a:r>
              <a:rPr lang="sv-SE" sz="1100" dirty="0">
                <a:cs typeface="Avenir Light"/>
              </a:rPr>
              <a:t> </a:t>
            </a:r>
            <a:r>
              <a:rPr lang="sv-SE" sz="1100" dirty="0" err="1">
                <a:cs typeface="Avenir Light"/>
              </a:rPr>
              <a:t>relish</a:t>
            </a:r>
            <a:r>
              <a:rPr lang="sv-SE" sz="1100" dirty="0">
                <a:cs typeface="Avenir Light"/>
              </a:rPr>
              <a:t>, oliver, timjan och blanda om. Häll på vatten och sätt på ett lock. Tillsätt paprika och rödlök och låt steka några minuter. Tillsätt blandningen i grytan. Låt grytan koka ytterligare 30 minuter. Servera kycklinggrytan med spetskål och toppa med rostad lök och yoghurt. Dekorera med färsk timjan. </a:t>
            </a:r>
          </a:p>
          <a:p>
            <a:endParaRPr lang="sv-SE" sz="1100" dirty="0">
              <a:cs typeface="Avenir Light"/>
            </a:endParaRPr>
          </a:p>
          <a:p>
            <a:endParaRPr lang="sv-SE" sz="1100" dirty="0">
              <a:cs typeface="Avenir Light"/>
            </a:endParaRPr>
          </a:p>
        </p:txBody>
      </p:sp>
      <p:pic>
        <p:nvPicPr>
          <p:cNvPr id="5" name="Bildobjekt 4">
            <a:extLst>
              <a:ext uri="{FF2B5EF4-FFF2-40B4-BE49-F238E27FC236}">
                <a16:creationId xmlns:a16="http://schemas.microsoft.com/office/drawing/2014/main" id="{F96387B3-064F-B64A-892E-1C091C38E77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35323" y="126549"/>
            <a:ext cx="3531692" cy="4708922"/>
          </a:xfrm>
          <a:prstGeom prst="rect">
            <a:avLst/>
          </a:prstGeom>
        </p:spPr>
      </p:pic>
      <p:sp>
        <p:nvSpPr>
          <p:cNvPr id="21" name="Moln 20">
            <a:extLst>
              <a:ext uri="{FF2B5EF4-FFF2-40B4-BE49-F238E27FC236}">
                <a16:creationId xmlns:a16="http://schemas.microsoft.com/office/drawing/2014/main" id="{CBDAF45A-9880-B848-B02D-5425CEF538E7}"/>
              </a:ext>
            </a:extLst>
          </p:cNvPr>
          <p:cNvSpPr/>
          <p:nvPr/>
        </p:nvSpPr>
        <p:spPr>
          <a:xfrm>
            <a:off x="2088184" y="4107051"/>
            <a:ext cx="1147139" cy="728420"/>
          </a:xfrm>
          <a:prstGeom prst="cloud">
            <a:avLst/>
          </a:prstGeom>
          <a:solidFill>
            <a:srgbClr val="00999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v-SE" sz="1000" b="1" dirty="0">
                <a:solidFill>
                  <a:schemeClr val="bg1"/>
                </a:solidFill>
              </a:rPr>
              <a:t>Frys in 2 portioner</a:t>
            </a:r>
          </a:p>
        </p:txBody>
      </p:sp>
      <p:sp>
        <p:nvSpPr>
          <p:cNvPr id="12" name="textruta 11">
            <a:extLst>
              <a:ext uri="{FF2B5EF4-FFF2-40B4-BE49-F238E27FC236}">
                <a16:creationId xmlns:a16="http://schemas.microsoft.com/office/drawing/2014/main" id="{9A1BFCC5-17E2-0543-A557-7A290C3AD20C}"/>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sp>
        <p:nvSpPr>
          <p:cNvPr id="8" name="Ellips 7">
            <a:extLst>
              <a:ext uri="{FF2B5EF4-FFF2-40B4-BE49-F238E27FC236}">
                <a16:creationId xmlns:a16="http://schemas.microsoft.com/office/drawing/2014/main" id="{3D0AE525-E6D0-9542-BB38-632832E56814}"/>
              </a:ext>
            </a:extLst>
          </p:cNvPr>
          <p:cNvSpPr/>
          <p:nvPr/>
        </p:nvSpPr>
        <p:spPr>
          <a:xfrm>
            <a:off x="2134852" y="138228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650</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9" name="Platshållare för sidfot 1">
            <a:extLst>
              <a:ext uri="{FF2B5EF4-FFF2-40B4-BE49-F238E27FC236}">
                <a16:creationId xmlns:a16="http://schemas.microsoft.com/office/drawing/2014/main" id="{5D1132AF-8FF8-234C-9DCA-F3061D9C717E}"/>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3462147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C88496A0-6F4D-634F-B246-E385C00F8CAC}"/>
              </a:ext>
            </a:extLst>
          </p:cNvPr>
          <p:cNvSpPr txBox="1"/>
          <p:nvPr/>
        </p:nvSpPr>
        <p:spPr>
          <a:xfrm>
            <a:off x="3461739" y="5170270"/>
            <a:ext cx="184731" cy="646331"/>
          </a:xfrm>
          <a:prstGeom prst="rect">
            <a:avLst/>
          </a:prstGeom>
          <a:noFill/>
        </p:spPr>
        <p:txBody>
          <a:bodyPr wrap="none" rtlCol="0">
            <a:spAutoFit/>
          </a:bodyPr>
          <a:lstStyle/>
          <a:p>
            <a:endParaRPr lang="sv-SE" dirty="0"/>
          </a:p>
          <a:p>
            <a:endParaRPr lang="sv-SE" dirty="0"/>
          </a:p>
        </p:txBody>
      </p:sp>
      <p:sp>
        <p:nvSpPr>
          <p:cNvPr id="11" name="textruta 10">
            <a:extLst>
              <a:ext uri="{FF2B5EF4-FFF2-40B4-BE49-F238E27FC236}">
                <a16:creationId xmlns:a16="http://schemas.microsoft.com/office/drawing/2014/main" id="{CED011CB-EE5A-1F46-B3D6-80742884AFC6}"/>
              </a:ext>
            </a:extLst>
          </p:cNvPr>
          <p:cNvSpPr txBox="1"/>
          <p:nvPr/>
        </p:nvSpPr>
        <p:spPr>
          <a:xfrm>
            <a:off x="285023" y="2280267"/>
            <a:ext cx="6621562" cy="4832092"/>
          </a:xfrm>
          <a:prstGeom prst="rect">
            <a:avLst/>
          </a:prstGeom>
          <a:noFill/>
        </p:spPr>
        <p:txBody>
          <a:bodyPr wrap="square" rtlCol="0">
            <a:spAutoFit/>
          </a:bodyPr>
          <a:lstStyle/>
          <a:p>
            <a:pPr>
              <a:spcAft>
                <a:spcPts val="0"/>
              </a:spcAft>
            </a:pPr>
            <a:r>
              <a:rPr lang="sv-SE" sz="1100" b="1" dirty="0" err="1">
                <a:latin typeface="+mj-lt"/>
                <a:ea typeface="Avenir Book" charset="0"/>
                <a:cs typeface="Avenir Book" charset="0"/>
              </a:rPr>
              <a:t>Poké</a:t>
            </a:r>
            <a:r>
              <a:rPr lang="sv-SE" sz="1100" b="1" dirty="0">
                <a:latin typeface="+mj-lt"/>
                <a:ea typeface="Avenir Book" charset="0"/>
                <a:cs typeface="Avenir Book" charset="0"/>
              </a:rPr>
              <a:t> </a:t>
            </a:r>
            <a:r>
              <a:rPr lang="sv-SE" sz="1100" b="1" dirty="0" err="1">
                <a:latin typeface="+mj-lt"/>
                <a:ea typeface="Avenir Book" charset="0"/>
                <a:cs typeface="Avenir Book" charset="0"/>
              </a:rPr>
              <a:t>bowl</a:t>
            </a:r>
            <a:r>
              <a:rPr lang="sv-SE" sz="1100" b="1" dirty="0">
                <a:latin typeface="+mj-lt"/>
                <a:ea typeface="Avenir Book" charset="0"/>
                <a:cs typeface="Avenir Book" charset="0"/>
              </a:rPr>
              <a:t> med kyckling </a:t>
            </a:r>
            <a:r>
              <a:rPr lang="mr-IN" sz="1100" b="1" dirty="0">
                <a:latin typeface="+mj-lt"/>
                <a:ea typeface="Avenir Book" charset="0"/>
                <a:cs typeface="Avenir Book" charset="0"/>
              </a:rPr>
              <a:t>–</a:t>
            </a:r>
            <a:r>
              <a:rPr lang="sv-SE" sz="1100" b="1" dirty="0">
                <a:latin typeface="+mj-lt"/>
                <a:ea typeface="Avenir Book" charset="0"/>
                <a:cs typeface="Avenir Book" charset="0"/>
              </a:rPr>
              <a:t> 1 portion</a:t>
            </a:r>
            <a:endParaRPr lang="sv-SE" sz="1100" b="1" dirty="0">
              <a:latin typeface="Calibri" panose="020F0502020204030204" pitchFamily="34" charset="0"/>
              <a:ea typeface="Avenir Book"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250 g kycklingfilé</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riven vitlöksklyfta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tsk färsk ingefära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msk </a:t>
            </a:r>
            <a:r>
              <a:rPr lang="sv-SE" sz="1100" dirty="0" err="1">
                <a:latin typeface="Calibri" panose="020F0502020204030204" pitchFamily="34" charset="0"/>
                <a:ea typeface="Calibri" panose="020F0502020204030204" pitchFamily="34" charset="0"/>
                <a:cs typeface="Times New Roman" panose="02020603050405020304" pitchFamily="18" charset="0"/>
              </a:rPr>
              <a:t>ketjap</a:t>
            </a:r>
            <a:r>
              <a:rPr lang="sv-SE" sz="1100" dirty="0">
                <a:latin typeface="Calibri" panose="020F0502020204030204" pitchFamily="34" charset="0"/>
                <a:ea typeface="Calibri" panose="020F0502020204030204" pitchFamily="34" charset="0"/>
                <a:cs typeface="Times New Roman" panose="02020603050405020304" pitchFamily="18" charset="0"/>
              </a:rPr>
              <a:t> manis</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tsk olivolja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dl vatten</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¼ blomkålshuvud </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 msk koriander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Saft från ½ lime</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 </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4 dl  isbergssalladshuvud</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50 g sockerärtor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1/4 mango </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morot</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dl frysta sojabönor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tsk  sesamfrön</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 </a:t>
            </a:r>
          </a:p>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Förslag på </a:t>
            </a:r>
            <a:r>
              <a:rPr lang="sv-SE" sz="1100" b="1" dirty="0" err="1">
                <a:latin typeface="Calibri" panose="020F0502020204030204" pitchFamily="34" charset="0"/>
                <a:ea typeface="Calibri" panose="020F0502020204030204" pitchFamily="34" charset="0"/>
                <a:cs typeface="Times New Roman" panose="02020603050405020304" pitchFamily="18" charset="0"/>
              </a:rPr>
              <a:t>topping</a:t>
            </a:r>
            <a:r>
              <a:rPr lang="sv-SE" sz="1100" b="1" dirty="0">
                <a:latin typeface="Calibri" panose="020F0502020204030204" pitchFamily="34" charset="0"/>
                <a:ea typeface="Calibri" panose="020F0502020204030204" pitchFamily="34" charset="0"/>
                <a:cs typeface="Times New Roman" panose="02020603050405020304" pitchFamily="18" charset="0"/>
              </a:rPr>
              <a:t>: </a:t>
            </a:r>
            <a:r>
              <a:rPr lang="sv-SE" sz="1100" dirty="0">
                <a:latin typeface="Calibri" panose="020F0502020204030204" pitchFamily="34" charset="0"/>
                <a:ea typeface="Calibri" panose="020F0502020204030204" pitchFamily="34" charset="0"/>
                <a:cs typeface="Times New Roman" panose="02020603050405020304" pitchFamily="18" charset="0"/>
              </a:rPr>
              <a:t>½ dl syltat rödlök, 1 msk granatäppelkärnor, 2 strimlade rädisor, lite ärtskott</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 </a:t>
            </a:r>
          </a:p>
          <a:p>
            <a:pPr lvl="0">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Lägg kycklingen i en plastpåse och blanda ner vitlök, ingefära och </a:t>
            </a:r>
            <a:r>
              <a:rPr lang="sv-SE" sz="1100" dirty="0" err="1">
                <a:latin typeface="Calibri" panose="020F0502020204030204" pitchFamily="34" charset="0"/>
                <a:ea typeface="Calibri" panose="020F0502020204030204" pitchFamily="34" charset="0"/>
                <a:cs typeface="Times New Roman" panose="02020603050405020304" pitchFamily="18" charset="0"/>
              </a:rPr>
              <a:t>ketjap</a:t>
            </a:r>
            <a:r>
              <a:rPr lang="sv-SE" sz="1100" dirty="0">
                <a:latin typeface="Calibri" panose="020F0502020204030204" pitchFamily="34" charset="0"/>
                <a:ea typeface="Calibri" panose="020F0502020204030204" pitchFamily="34" charset="0"/>
                <a:cs typeface="Times New Roman" panose="02020603050405020304" pitchFamily="18" charset="0"/>
              </a:rPr>
              <a:t> manis. Riv blomkålen på ett rivjärn eller mixa i en matberedare till ett ris. Lägg i en skål och blanda ner koriander, limesaft, salt och peppar. Hetta upp en stekpanna med olja och bryn kycklingen runt om. Häll på vatten och låt ångkoka 10 minuter eller till kycklingen är klar. Skiva i bitar. Lägg strimlad sallad i botten på 2 djupa skålar. Fördela blomkålsriset över. Skiva sockerärtor och skär mango i bitar. Finhacka morot. Lägg på salladen tillsammans med sojabönor och kyckling Toppa med sesamfrön. Lägg på övrig </a:t>
            </a:r>
            <a:r>
              <a:rPr lang="sv-SE" sz="1100" dirty="0" err="1">
                <a:latin typeface="Calibri" panose="020F0502020204030204" pitchFamily="34" charset="0"/>
                <a:ea typeface="Calibri" panose="020F0502020204030204" pitchFamily="34" charset="0"/>
                <a:cs typeface="Times New Roman" panose="02020603050405020304" pitchFamily="18" charset="0"/>
              </a:rPr>
              <a:t>topping</a:t>
            </a:r>
            <a:r>
              <a:rPr lang="sv-SE" sz="1100" dirty="0">
                <a:latin typeface="Calibri" panose="020F0502020204030204" pitchFamily="34" charset="0"/>
                <a:ea typeface="Calibri" panose="020F0502020204030204" pitchFamily="34" charset="0"/>
                <a:cs typeface="Times New Roman" panose="02020603050405020304" pitchFamily="18" charset="0"/>
              </a:rPr>
              <a:t> om du vill. Servera med </a:t>
            </a:r>
            <a:r>
              <a:rPr lang="sv-SE" sz="1100" dirty="0" err="1">
                <a:latin typeface="Calibri" panose="020F0502020204030204" pitchFamily="34" charset="0"/>
                <a:ea typeface="Calibri" panose="020F0502020204030204" pitchFamily="34" charset="0"/>
                <a:cs typeface="Times New Roman" panose="02020603050405020304" pitchFamily="18" charset="0"/>
              </a:rPr>
              <a:t>yoghurtcréme</a:t>
            </a:r>
            <a:r>
              <a:rPr lang="sv-SE" sz="1100" dirty="0">
                <a:latin typeface="Calibri" panose="020F0502020204030204" pitchFamily="34" charset="0"/>
                <a:ea typeface="Calibri" panose="020F0502020204030204" pitchFamily="34" charset="0"/>
                <a:cs typeface="Times New Roman" panose="02020603050405020304" pitchFamily="18" charset="0"/>
              </a:rPr>
              <a:t>. </a:t>
            </a:r>
          </a:p>
          <a:p>
            <a:endParaRPr lang="sv-SE" sz="1100" b="1" dirty="0">
              <a:latin typeface="+mj-lt"/>
              <a:ea typeface="Avenir Book" charset="0"/>
              <a:cs typeface="Avenir Book" charset="0"/>
            </a:endParaRPr>
          </a:p>
        </p:txBody>
      </p:sp>
      <p:pic>
        <p:nvPicPr>
          <p:cNvPr id="4" name="Bildobjekt 3">
            <a:extLst>
              <a:ext uri="{FF2B5EF4-FFF2-40B4-BE49-F238E27FC236}">
                <a16:creationId xmlns:a16="http://schemas.microsoft.com/office/drawing/2014/main" id="{96141D67-30D2-F241-A8AA-E155120756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146599" y="648201"/>
            <a:ext cx="3998972" cy="2999229"/>
          </a:xfrm>
          <a:prstGeom prst="rect">
            <a:avLst/>
          </a:prstGeom>
        </p:spPr>
      </p:pic>
      <p:sp>
        <p:nvSpPr>
          <p:cNvPr id="8" name="Rektangel 7">
            <a:extLst>
              <a:ext uri="{FF2B5EF4-FFF2-40B4-BE49-F238E27FC236}">
                <a16:creationId xmlns:a16="http://schemas.microsoft.com/office/drawing/2014/main" id="{2015301B-4750-9B46-A634-A963932B61E7}"/>
              </a:ext>
            </a:extLst>
          </p:cNvPr>
          <p:cNvSpPr/>
          <p:nvPr/>
        </p:nvSpPr>
        <p:spPr>
          <a:xfrm>
            <a:off x="2435523" y="4151780"/>
            <a:ext cx="1991936" cy="938719"/>
          </a:xfrm>
          <a:prstGeom prst="rect">
            <a:avLst/>
          </a:prstGeom>
        </p:spPr>
        <p:txBody>
          <a:bodyPr wrap="square">
            <a:spAutoFit/>
          </a:bodyPr>
          <a:lstStyle/>
          <a:p>
            <a:pPr>
              <a:spcAft>
                <a:spcPts val="0"/>
              </a:spcAft>
            </a:pPr>
            <a:r>
              <a:rPr lang="sv-SE" sz="1100" b="1" dirty="0" err="1">
                <a:latin typeface="Calibri" panose="020F0502020204030204" pitchFamily="34" charset="0"/>
                <a:ea typeface="Calibri" panose="020F0502020204030204" pitchFamily="34" charset="0"/>
                <a:cs typeface="Times New Roman" panose="02020603050405020304" pitchFamily="18" charset="0"/>
              </a:rPr>
              <a:t>Yoghurtcréme</a:t>
            </a:r>
            <a:endParaRPr lang="sv-SE" sz="1100" b="1"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4 msk grekisk yoghurt</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tsk soja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krm </a:t>
            </a:r>
            <a:r>
              <a:rPr lang="sv-SE" sz="1100" dirty="0" err="1">
                <a:latin typeface="Calibri" panose="020F0502020204030204" pitchFamily="34" charset="0"/>
                <a:ea typeface="Calibri" panose="020F0502020204030204" pitchFamily="34" charset="0"/>
                <a:cs typeface="Times New Roman" panose="02020603050405020304" pitchFamily="18" charset="0"/>
              </a:rPr>
              <a:t>srirachasås</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peppar</a:t>
            </a:r>
          </a:p>
        </p:txBody>
      </p:sp>
      <p:sp>
        <p:nvSpPr>
          <p:cNvPr id="14" name="textruta 13">
            <a:extLst>
              <a:ext uri="{FF2B5EF4-FFF2-40B4-BE49-F238E27FC236}">
                <a16:creationId xmlns:a16="http://schemas.microsoft.com/office/drawing/2014/main" id="{4A69283C-4A4E-4841-B44F-F9250AD08036}"/>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sp>
        <p:nvSpPr>
          <p:cNvPr id="17" name="Ellips 16">
            <a:extLst>
              <a:ext uri="{FF2B5EF4-FFF2-40B4-BE49-F238E27FC236}">
                <a16:creationId xmlns:a16="http://schemas.microsoft.com/office/drawing/2014/main" id="{33853E32-34FD-884A-AABF-23101916605E}"/>
              </a:ext>
            </a:extLst>
          </p:cNvPr>
          <p:cNvSpPr/>
          <p:nvPr/>
        </p:nvSpPr>
        <p:spPr>
          <a:xfrm>
            <a:off x="2632520" y="2741932"/>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350</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9" name="Platshållare för sidfot 1">
            <a:extLst>
              <a:ext uri="{FF2B5EF4-FFF2-40B4-BE49-F238E27FC236}">
                <a16:creationId xmlns:a16="http://schemas.microsoft.com/office/drawing/2014/main" id="{85ADC97C-EF3A-5A47-97D8-EC1749B33E31}"/>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236092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ktangel 14">
            <a:extLst>
              <a:ext uri="{FF2B5EF4-FFF2-40B4-BE49-F238E27FC236}">
                <a16:creationId xmlns:a16="http://schemas.microsoft.com/office/drawing/2014/main" id="{332B32CA-823F-D14D-A833-25CA0FE0CB75}"/>
              </a:ext>
            </a:extLst>
          </p:cNvPr>
          <p:cNvSpPr/>
          <p:nvPr/>
        </p:nvSpPr>
        <p:spPr>
          <a:xfrm>
            <a:off x="172240" y="297685"/>
            <a:ext cx="6487360" cy="5170646"/>
          </a:xfrm>
          <a:prstGeom prst="rect">
            <a:avLst/>
          </a:prstGeom>
        </p:spPr>
        <p:txBody>
          <a:bodyPr wrap="square">
            <a:spAutoFit/>
          </a:bodyPr>
          <a:lstStyle/>
          <a:p>
            <a:r>
              <a:rPr lang="sv-SE" sz="1100" b="1" dirty="0">
                <a:cs typeface="Avenir Light"/>
              </a:rPr>
              <a:t>Laxburgare med krämig grönsaksröra – 2 portioner</a:t>
            </a:r>
            <a:endParaRPr lang="sv-SE" sz="1100" dirty="0">
              <a:cs typeface="Avenir Light"/>
            </a:endParaRPr>
          </a:p>
          <a:p>
            <a:r>
              <a:rPr lang="sv-SE" sz="1100" dirty="0">
                <a:cs typeface="Avenir Light"/>
              </a:rPr>
              <a:t>250 g laxfilé</a:t>
            </a:r>
          </a:p>
          <a:p>
            <a:r>
              <a:rPr lang="sv-SE" sz="1100" dirty="0">
                <a:cs typeface="Avenir Light"/>
              </a:rPr>
              <a:t>1 salladslök</a:t>
            </a:r>
          </a:p>
          <a:p>
            <a:r>
              <a:rPr lang="sv-SE" sz="1100" dirty="0">
                <a:cs typeface="Avenir Light"/>
              </a:rPr>
              <a:t>1 msk färsk ingefära</a:t>
            </a:r>
          </a:p>
          <a:p>
            <a:r>
              <a:rPr lang="sv-SE" sz="1100" dirty="0">
                <a:cs typeface="Avenir Light"/>
              </a:rPr>
              <a:t>1 vitlöksklyfta</a:t>
            </a:r>
          </a:p>
          <a:p>
            <a:r>
              <a:rPr lang="sv-SE" sz="1100" dirty="0">
                <a:cs typeface="Avenir Light"/>
              </a:rPr>
              <a:t>Salt och svartpeppar</a:t>
            </a:r>
          </a:p>
          <a:p>
            <a:r>
              <a:rPr lang="sv-SE" sz="1100" dirty="0">
                <a:cs typeface="Avenir Light"/>
              </a:rPr>
              <a:t>Saft av ½ lime</a:t>
            </a:r>
          </a:p>
          <a:p>
            <a:r>
              <a:rPr lang="sv-SE" sz="1100" dirty="0">
                <a:cs typeface="Avenir Light"/>
              </a:rPr>
              <a:t>2 msk  sesamfrön</a:t>
            </a:r>
          </a:p>
          <a:p>
            <a:r>
              <a:rPr lang="sv-SE" sz="1100" dirty="0">
                <a:cs typeface="Avenir Light"/>
              </a:rPr>
              <a:t>½ msk olivolja</a:t>
            </a:r>
          </a:p>
          <a:p>
            <a:r>
              <a:rPr lang="sv-SE" sz="1100" dirty="0">
                <a:cs typeface="Avenir Light"/>
              </a:rPr>
              <a:t>1 msk </a:t>
            </a:r>
            <a:r>
              <a:rPr lang="sv-SE" sz="1100" dirty="0" err="1">
                <a:cs typeface="Avenir Light"/>
              </a:rPr>
              <a:t>furikakekrydda</a:t>
            </a:r>
            <a:endParaRPr lang="sv-SE" sz="1100" dirty="0">
              <a:cs typeface="Avenir Light"/>
            </a:endParaRPr>
          </a:p>
          <a:p>
            <a:endParaRPr lang="sv-SE" sz="1100" b="1" dirty="0">
              <a:cs typeface="Avenir Light"/>
            </a:endParaRPr>
          </a:p>
          <a:p>
            <a:r>
              <a:rPr lang="sv-SE" sz="1100" b="1" dirty="0">
                <a:cs typeface="Avenir Light"/>
              </a:rPr>
              <a:t>Krämig grönsaksröra</a:t>
            </a:r>
          </a:p>
          <a:p>
            <a:r>
              <a:rPr lang="sv-SE" sz="1100" dirty="0">
                <a:cs typeface="Avenir Light"/>
              </a:rPr>
              <a:t>200 g frysta sojabönor</a:t>
            </a:r>
          </a:p>
          <a:p>
            <a:r>
              <a:rPr lang="sv-SE" sz="1100" dirty="0">
                <a:cs typeface="Avenir Light"/>
              </a:rPr>
              <a:t>100 g sugarsnaps</a:t>
            </a:r>
          </a:p>
          <a:p>
            <a:r>
              <a:rPr lang="sv-SE" sz="1100" dirty="0">
                <a:cs typeface="Avenir Light"/>
              </a:rPr>
              <a:t>1 salladslök</a:t>
            </a:r>
          </a:p>
          <a:p>
            <a:r>
              <a:rPr lang="sv-SE" sz="1100" dirty="0">
                <a:cs typeface="Avenir Light"/>
              </a:rPr>
              <a:t>100 g kräftstjärtar i lake</a:t>
            </a:r>
          </a:p>
          <a:p>
            <a:r>
              <a:rPr lang="sv-SE" sz="1100" dirty="0">
                <a:cs typeface="Avenir Light"/>
              </a:rPr>
              <a:t>½ dl gräddfil</a:t>
            </a:r>
          </a:p>
          <a:p>
            <a:r>
              <a:rPr lang="sv-SE" sz="1100" dirty="0">
                <a:cs typeface="Avenir Light"/>
              </a:rPr>
              <a:t>2 msk majonnäs</a:t>
            </a:r>
          </a:p>
          <a:p>
            <a:r>
              <a:rPr lang="sv-SE" sz="1100" dirty="0">
                <a:cs typeface="Avenir Light"/>
              </a:rPr>
              <a:t>½ msk malen curry</a:t>
            </a:r>
          </a:p>
          <a:p>
            <a:r>
              <a:rPr lang="sv-SE" sz="1100" dirty="0">
                <a:cs typeface="Avenir Light"/>
              </a:rPr>
              <a:t>Salt och svartpeppar</a:t>
            </a:r>
          </a:p>
          <a:p>
            <a:endParaRPr lang="sv-SE" sz="1100" b="1" dirty="0">
              <a:cs typeface="Avenir Light"/>
            </a:endParaRPr>
          </a:p>
          <a:p>
            <a:endParaRPr lang="sv-SE" sz="1100" dirty="0">
              <a:cs typeface="Avenir Light"/>
            </a:endParaRPr>
          </a:p>
          <a:p>
            <a:r>
              <a:rPr lang="sv-SE" sz="1100" dirty="0">
                <a:cs typeface="Avenir Light"/>
              </a:rPr>
              <a:t>Skär laxen i bitar. Strimla salladslök. Lägg ner fisk, hälften av salladslöken, ingefära och vitlök i en matberedare. Krydda med salt och peppar och pressa ner limesaft. Mixa till en jämn färs och forma till 2 biffar. Doppa i sesamfrön.  Koka sojabönor snabbt och lägg i en skål. Skiva sugarsnaps och salladslök och lägg i skålen. Blanda ner resten av ingredienserna. Spara lite kräftstjärtar till dekoration. Hetta upp en stekpanna med olja och bryn laxbiffarna 4-5 min per sida på svag värme. Strö på </a:t>
            </a:r>
            <a:r>
              <a:rPr lang="sv-SE" sz="1100" dirty="0" err="1">
                <a:cs typeface="Avenir Light"/>
              </a:rPr>
              <a:t>furikakekrydda</a:t>
            </a:r>
            <a:r>
              <a:rPr lang="sv-SE" sz="1100" dirty="0">
                <a:cs typeface="Avenir Light"/>
              </a:rPr>
              <a:t>.  Servera med bladspenat och den krämiga grönsaksröran. Toppa med granatäpplekärnor, kräftstjärtar och salladslök. Dekorera med en limeklyfta.</a:t>
            </a:r>
          </a:p>
          <a:p>
            <a:endParaRPr lang="sv-SE" sz="1100" dirty="0">
              <a:cs typeface="Avenir Light"/>
            </a:endParaRPr>
          </a:p>
          <a:p>
            <a:r>
              <a:rPr lang="sv-SE" sz="1100" dirty="0">
                <a:cs typeface="Avenir Light"/>
              </a:rPr>
              <a:t>.</a:t>
            </a:r>
          </a:p>
        </p:txBody>
      </p:sp>
      <p:pic>
        <p:nvPicPr>
          <p:cNvPr id="14" name="Bildobjekt 13">
            <a:extLst>
              <a:ext uri="{FF2B5EF4-FFF2-40B4-BE49-F238E27FC236}">
                <a16:creationId xmlns:a16="http://schemas.microsoft.com/office/drawing/2014/main" id="{BDEB52E1-68FD-344A-902D-DAC6C05FD3D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455309" y="728310"/>
            <a:ext cx="3726093" cy="2794570"/>
          </a:xfrm>
          <a:prstGeom prst="rect">
            <a:avLst/>
          </a:prstGeom>
        </p:spPr>
      </p:pic>
      <p:sp>
        <p:nvSpPr>
          <p:cNvPr id="20" name="textruta 19">
            <a:extLst>
              <a:ext uri="{FF2B5EF4-FFF2-40B4-BE49-F238E27FC236}">
                <a16:creationId xmlns:a16="http://schemas.microsoft.com/office/drawing/2014/main" id="{19869912-18AA-B444-9D9B-B9276764CD29}"/>
              </a:ext>
            </a:extLst>
          </p:cNvPr>
          <p:cNvSpPr txBox="1"/>
          <p:nvPr/>
        </p:nvSpPr>
        <p:spPr>
          <a:xfrm>
            <a:off x="2206570" y="612840"/>
            <a:ext cx="4328308"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23" name="Ellips 22">
            <a:extLst>
              <a:ext uri="{FF2B5EF4-FFF2-40B4-BE49-F238E27FC236}">
                <a16:creationId xmlns:a16="http://schemas.microsoft.com/office/drawing/2014/main" id="{DF8125B0-B435-6242-BDCA-7151CC9B19BD}"/>
              </a:ext>
            </a:extLst>
          </p:cNvPr>
          <p:cNvSpPr/>
          <p:nvPr/>
        </p:nvSpPr>
        <p:spPr>
          <a:xfrm>
            <a:off x="2590820" y="1150289"/>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700</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2" name="Rektangel 1">
            <a:extLst>
              <a:ext uri="{FF2B5EF4-FFF2-40B4-BE49-F238E27FC236}">
                <a16:creationId xmlns:a16="http://schemas.microsoft.com/office/drawing/2014/main" id="{F75BA325-1BC3-2A4E-9D06-6B1D0E79380C}"/>
              </a:ext>
            </a:extLst>
          </p:cNvPr>
          <p:cNvSpPr/>
          <p:nvPr/>
        </p:nvSpPr>
        <p:spPr>
          <a:xfrm>
            <a:off x="2206570" y="2472218"/>
            <a:ext cx="3429000" cy="938719"/>
          </a:xfrm>
          <a:prstGeom prst="rect">
            <a:avLst/>
          </a:prstGeom>
        </p:spPr>
        <p:txBody>
          <a:bodyPr>
            <a:spAutoFit/>
          </a:bodyPr>
          <a:lstStyle/>
          <a:p>
            <a:r>
              <a:rPr lang="sv-SE" sz="1100" b="1" dirty="0" err="1">
                <a:cs typeface="Avenir Light"/>
              </a:rPr>
              <a:t>Topping</a:t>
            </a:r>
            <a:r>
              <a:rPr lang="sv-SE" sz="1100" b="1" dirty="0">
                <a:cs typeface="Avenir Light"/>
              </a:rPr>
              <a:t>: </a:t>
            </a:r>
          </a:p>
          <a:p>
            <a:r>
              <a:rPr lang="sv-SE" sz="1100" dirty="0">
                <a:cs typeface="Avenir Light"/>
              </a:rPr>
              <a:t>15 g</a:t>
            </a:r>
            <a:r>
              <a:rPr lang="sv-SE" sz="1100" b="1" dirty="0">
                <a:cs typeface="Avenir Light"/>
              </a:rPr>
              <a:t> </a:t>
            </a:r>
            <a:r>
              <a:rPr lang="sv-SE" sz="1100" dirty="0">
                <a:cs typeface="Avenir Light"/>
              </a:rPr>
              <a:t>bladspenat</a:t>
            </a:r>
          </a:p>
          <a:p>
            <a:r>
              <a:rPr lang="sv-SE" sz="1100" dirty="0">
                <a:cs typeface="Avenir Light"/>
              </a:rPr>
              <a:t>½ dl granatäppelkärnor</a:t>
            </a:r>
          </a:p>
          <a:p>
            <a:r>
              <a:rPr lang="sv-SE" sz="1100" dirty="0">
                <a:cs typeface="Avenir Light"/>
              </a:rPr>
              <a:t>½ strimlad salladslök</a:t>
            </a:r>
          </a:p>
          <a:p>
            <a:r>
              <a:rPr lang="sv-SE" sz="1100" dirty="0">
                <a:cs typeface="Avenir Light"/>
              </a:rPr>
              <a:t>2 limeklyftor</a:t>
            </a:r>
          </a:p>
        </p:txBody>
      </p:sp>
      <p:sp>
        <p:nvSpPr>
          <p:cNvPr id="13" name="Rektangel 12">
            <a:extLst>
              <a:ext uri="{FF2B5EF4-FFF2-40B4-BE49-F238E27FC236}">
                <a16:creationId xmlns:a16="http://schemas.microsoft.com/office/drawing/2014/main" id="{B332D7D9-D5F1-8E4E-B3FF-425A2B6461A4}"/>
              </a:ext>
            </a:extLst>
          </p:cNvPr>
          <p:cNvSpPr/>
          <p:nvPr/>
        </p:nvSpPr>
        <p:spPr>
          <a:xfrm>
            <a:off x="3086100" y="5302075"/>
            <a:ext cx="3429000" cy="3308598"/>
          </a:xfrm>
          <a:prstGeom prst="rect">
            <a:avLst/>
          </a:prstGeom>
        </p:spPr>
        <p:txBody>
          <a:bodyPr>
            <a:spAutoFit/>
          </a:bodyPr>
          <a:lstStyle/>
          <a:p>
            <a:r>
              <a:rPr lang="sv-SE" sz="1100" b="1" dirty="0">
                <a:solidFill>
                  <a:srgbClr val="000000"/>
                </a:solidFill>
              </a:rPr>
              <a:t>Tonfisksallad med äpple - 1 portion </a:t>
            </a:r>
            <a:endParaRPr lang="sv-SE" sz="1100" dirty="0">
              <a:solidFill>
                <a:srgbClr val="000000"/>
              </a:solidFill>
            </a:endParaRPr>
          </a:p>
          <a:p>
            <a:r>
              <a:rPr lang="sv-SE" sz="1100" dirty="0">
                <a:solidFill>
                  <a:srgbClr val="000000"/>
                </a:solidFill>
              </a:rPr>
              <a:t>1/4 rödlök</a:t>
            </a:r>
          </a:p>
          <a:p>
            <a:r>
              <a:rPr lang="sv-SE" sz="1100" dirty="0">
                <a:solidFill>
                  <a:srgbClr val="000000"/>
                </a:solidFill>
              </a:rPr>
              <a:t>¼ röd paprika</a:t>
            </a:r>
          </a:p>
          <a:p>
            <a:r>
              <a:rPr lang="sv-SE" sz="1100" dirty="0">
                <a:solidFill>
                  <a:srgbClr val="000000"/>
                </a:solidFill>
              </a:rPr>
              <a:t>¼ grön paprika</a:t>
            </a:r>
          </a:p>
          <a:p>
            <a:r>
              <a:rPr lang="sv-SE" sz="1100" dirty="0">
                <a:solidFill>
                  <a:srgbClr val="000000"/>
                </a:solidFill>
              </a:rPr>
              <a:t>1/2 äpple</a:t>
            </a:r>
          </a:p>
          <a:p>
            <a:r>
              <a:rPr lang="sv-SE" sz="1100" dirty="0">
                <a:solidFill>
                  <a:srgbClr val="000000"/>
                </a:solidFill>
              </a:rPr>
              <a:t>125 g tonfisk i vatten</a:t>
            </a:r>
          </a:p>
          <a:p>
            <a:r>
              <a:rPr lang="sv-SE" sz="1100" dirty="0">
                <a:solidFill>
                  <a:srgbClr val="000000"/>
                </a:solidFill>
              </a:rPr>
              <a:t>2 kokta ägg</a:t>
            </a:r>
          </a:p>
          <a:p>
            <a:r>
              <a:rPr lang="sv-SE" sz="1100" dirty="0">
                <a:solidFill>
                  <a:srgbClr val="000000"/>
                </a:solidFill>
              </a:rPr>
              <a:t>1 huvud hjärtsallad</a:t>
            </a:r>
          </a:p>
          <a:p>
            <a:r>
              <a:rPr lang="sv-SE" sz="1100" dirty="0">
                <a:solidFill>
                  <a:srgbClr val="000000"/>
                </a:solidFill>
              </a:rPr>
              <a:t>1 msk skivade gröna oliver</a:t>
            </a:r>
          </a:p>
          <a:p>
            <a:endParaRPr lang="sv-SE" sz="1100" b="1" dirty="0">
              <a:solidFill>
                <a:srgbClr val="000000"/>
              </a:solidFill>
            </a:endParaRPr>
          </a:p>
          <a:p>
            <a:r>
              <a:rPr lang="sv-SE" sz="1100" b="1" dirty="0">
                <a:solidFill>
                  <a:srgbClr val="000000"/>
                </a:solidFill>
              </a:rPr>
              <a:t>Dekoration: </a:t>
            </a:r>
            <a:r>
              <a:rPr lang="sv-SE" sz="1100" dirty="0">
                <a:solidFill>
                  <a:srgbClr val="000000"/>
                </a:solidFill>
              </a:rPr>
              <a:t>persiljekvist och</a:t>
            </a:r>
          </a:p>
          <a:p>
            <a:r>
              <a:rPr lang="sv-SE" sz="1100" dirty="0">
                <a:solidFill>
                  <a:srgbClr val="000000"/>
                </a:solidFill>
              </a:rPr>
              <a:t>citronklyfta</a:t>
            </a:r>
          </a:p>
          <a:p>
            <a:endParaRPr lang="sv-SE" sz="1100" dirty="0">
              <a:solidFill>
                <a:srgbClr val="000000"/>
              </a:solidFill>
            </a:endParaRPr>
          </a:p>
          <a:p>
            <a:r>
              <a:rPr lang="sv-SE" sz="1100" dirty="0">
                <a:solidFill>
                  <a:srgbClr val="000000"/>
                </a:solidFill>
              </a:rPr>
              <a:t>Skala och strimla rödlök. Skär röd och grön paprika i mindre bitar. Kärna ur och skiva äpple. Låt tonfisk rinna av i ett durkslag. Skala och skär ägg i mindre bitar. </a:t>
            </a:r>
          </a:p>
          <a:p>
            <a:r>
              <a:rPr lang="sv-SE" sz="1100" dirty="0">
                <a:solidFill>
                  <a:srgbClr val="000000"/>
                </a:solidFill>
              </a:rPr>
              <a:t>Placera ut salladsbladen på ett fat. Lägg upp ägg, tonfisk, rödlök, paprika och äpple. Garnera med skivade oliver, en persiljekvist samt citronklyfta. </a:t>
            </a:r>
            <a:endParaRPr lang="sv-SE" sz="1100" dirty="0">
              <a:solidFill>
                <a:srgbClr val="000000"/>
              </a:solidFill>
              <a:effectLst/>
            </a:endParaRPr>
          </a:p>
        </p:txBody>
      </p:sp>
      <p:sp>
        <p:nvSpPr>
          <p:cNvPr id="16" name="Ellips 15">
            <a:extLst>
              <a:ext uri="{FF2B5EF4-FFF2-40B4-BE49-F238E27FC236}">
                <a16:creationId xmlns:a16="http://schemas.microsoft.com/office/drawing/2014/main" id="{979A6330-BF1F-5940-83E2-173EC11ECA99}"/>
              </a:ext>
            </a:extLst>
          </p:cNvPr>
          <p:cNvSpPr/>
          <p:nvPr/>
        </p:nvSpPr>
        <p:spPr>
          <a:xfrm>
            <a:off x="5155774" y="567885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443kcal</a:t>
            </a:r>
            <a:endParaRPr sz="1200" b="1" dirty="0">
              <a:solidFill>
                <a:schemeClr val="bg1"/>
              </a:solidFill>
              <a:ea typeface="ＭＳ 明朝"/>
              <a:cs typeface="Avenir Light"/>
            </a:endParaRPr>
          </a:p>
        </p:txBody>
      </p:sp>
      <p:pic>
        <p:nvPicPr>
          <p:cNvPr id="17" name="Bildobjekt 16">
            <a:extLst>
              <a:ext uri="{FF2B5EF4-FFF2-40B4-BE49-F238E27FC236}">
                <a16:creationId xmlns:a16="http://schemas.microsoft.com/office/drawing/2014/main" id="{E439AF3E-081D-6747-8CEE-30D7DCCE8B7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122142" y="5634743"/>
            <a:ext cx="3524351" cy="2643263"/>
          </a:xfrm>
          <a:prstGeom prst="rect">
            <a:avLst/>
          </a:prstGeom>
        </p:spPr>
      </p:pic>
      <p:sp>
        <p:nvSpPr>
          <p:cNvPr id="18" name="Platshållare för sidfot 1">
            <a:extLst>
              <a:ext uri="{FF2B5EF4-FFF2-40B4-BE49-F238E27FC236}">
                <a16:creationId xmlns:a16="http://schemas.microsoft.com/office/drawing/2014/main" id="{3B33587A-E120-0B4B-9995-C69CFF20AB4A}"/>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07771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ktangel 8">
            <a:extLst>
              <a:ext uri="{FF2B5EF4-FFF2-40B4-BE49-F238E27FC236}">
                <a16:creationId xmlns:a16="http://schemas.microsoft.com/office/drawing/2014/main" id="{B676574F-98AB-B340-B94D-52273AA71DC7}"/>
              </a:ext>
            </a:extLst>
          </p:cNvPr>
          <p:cNvSpPr/>
          <p:nvPr/>
        </p:nvSpPr>
        <p:spPr>
          <a:xfrm>
            <a:off x="157798" y="5571242"/>
            <a:ext cx="6700202" cy="3262432"/>
          </a:xfrm>
          <a:prstGeom prst="rect">
            <a:avLst/>
          </a:prstGeom>
        </p:spPr>
        <p:txBody>
          <a:bodyPr wrap="square">
            <a:spAutoFit/>
          </a:bodyPr>
          <a:lstStyle/>
          <a:p>
            <a:pPr>
              <a:spcAft>
                <a:spcPts val="0"/>
              </a:spcAft>
            </a:pPr>
            <a:r>
              <a:rPr lang="sv-SE" sz="1100"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Squashspagetti med köttfärssås – 2 portioner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tsk olivolja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salt och svartpeppar</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300 g nötfärs</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latin typeface="Calibri" panose="020F0502020204030204" pitchFamily="34" charset="0"/>
                <a:ea typeface="Calibri" panose="020F0502020204030204" pitchFamily="34" charset="0"/>
                <a:cs typeface="Calibri" panose="020F0502020204030204" pitchFamily="34" charset="0"/>
              </a:rPr>
              <a:t>½ gul lök</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latin typeface="Calibri" panose="020F0502020204030204" pitchFamily="34" charset="0"/>
                <a:ea typeface="Calibri" panose="020F0502020204030204" pitchFamily="34" charset="0"/>
                <a:cs typeface="Calibri" panose="020F0502020204030204" pitchFamily="34" charset="0"/>
              </a:rPr>
              <a:t>1 liten finhackad vitlöksklyfta</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morot</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stjälkselleri</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200 g konserverade krossade tomater (200 g)</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½ msk stark chilisås</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krm torkade örter</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squash</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basilikakvist</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Times" pitchFamily="2" charset="0"/>
                <a:ea typeface="Calibri" panose="020F0502020204030204" pitchFamily="34" charset="0"/>
                <a:cs typeface="Times" pitchFamily="2" charset="0"/>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Skala moroten och skär i tärningar. Skär selleri i små tärningar. Hetta upp en stekpanna med olivolja. Stek nötfärsen i några minuter. Strö på salt och peppar. Tillsätt lök, vitlök, morot och selleri och stek i ytterligare några minuter. Rör ner krossade tomater, chilisås och örtkryddor. Låt köttfärssåsen koka ihop i cirka 20 minuter. Svarva squash till spagetti eller använd en potatisskalare och hyvla till tagliatelle. Lägg squashen på en tallrik och häll över köttfärssås. Dekorera med basilika.</a:t>
            </a:r>
            <a:endParaRPr lang="sv-SE" sz="1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9</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15" name="Ellips 14">
            <a:extLst>
              <a:ext uri="{FF2B5EF4-FFF2-40B4-BE49-F238E27FC236}">
                <a16:creationId xmlns:a16="http://schemas.microsoft.com/office/drawing/2014/main" id="{4D6BD160-FA87-624C-9079-B4244AC4E744}"/>
              </a:ext>
            </a:extLst>
          </p:cNvPr>
          <p:cNvSpPr/>
          <p:nvPr/>
        </p:nvSpPr>
        <p:spPr>
          <a:xfrm>
            <a:off x="2217572" y="606898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341 kcal</a:t>
            </a:r>
            <a:endParaRPr sz="1200" b="1" dirty="0">
              <a:solidFill>
                <a:schemeClr val="bg1"/>
              </a:solidFill>
              <a:ea typeface="ＭＳ 明朝"/>
              <a:cs typeface="Avenir Light"/>
            </a:endParaRPr>
          </a:p>
        </p:txBody>
      </p:sp>
      <p:pic>
        <p:nvPicPr>
          <p:cNvPr id="13" name="Bildobjekt 12">
            <a:extLst>
              <a:ext uri="{FF2B5EF4-FFF2-40B4-BE49-F238E27FC236}">
                <a16:creationId xmlns:a16="http://schemas.microsoft.com/office/drawing/2014/main" id="{574F8753-B824-A24C-9455-A58AC6D85E6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507899" y="4763251"/>
            <a:ext cx="3184790" cy="2962595"/>
          </a:xfrm>
          <a:prstGeom prst="rect">
            <a:avLst/>
          </a:prstGeom>
        </p:spPr>
      </p:pic>
      <p:sp>
        <p:nvSpPr>
          <p:cNvPr id="18" name="Rektangel 17">
            <a:extLst>
              <a:ext uri="{FF2B5EF4-FFF2-40B4-BE49-F238E27FC236}">
                <a16:creationId xmlns:a16="http://schemas.microsoft.com/office/drawing/2014/main" id="{42EA53CA-4A37-6B41-951B-CD246DBF5C59}"/>
              </a:ext>
            </a:extLst>
          </p:cNvPr>
          <p:cNvSpPr/>
          <p:nvPr/>
        </p:nvSpPr>
        <p:spPr>
          <a:xfrm>
            <a:off x="225220" y="730290"/>
            <a:ext cx="3219857" cy="4662815"/>
          </a:xfrm>
          <a:prstGeom prst="rect">
            <a:avLst/>
          </a:prstGeom>
        </p:spPr>
        <p:txBody>
          <a:bodyPr wrap="square">
            <a:spAutoFit/>
          </a:bodyPr>
          <a:lstStyle/>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Ugnsbakad tomat med köttfärs — 2 portioner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4 bifftomater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1/2 gul lök</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vitlöksklyfta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1/4 grön paprika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1/4 röd paprika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tsk olivolja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250 g nötfärs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1/2 tsk örtagårdskrydda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msk röd pesto</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4 msk grädde</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msk </a:t>
            </a:r>
            <a:r>
              <a:rPr lang="sv-SE" sz="1100" dirty="0">
                <a:ea typeface="Arial Unicode MS" panose="020B0604020202020204" pitchFamily="34" charset="-128"/>
                <a:cs typeface="Arial Unicode MS" panose="020B0604020202020204" pitchFamily="34" charset="-128"/>
              </a:rPr>
              <a:t>finhackad persilja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25 g fetaost</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4 dl ruccolasallad</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Sätt ugnen på 200 grader. Skär toppen av tomaterna samt gröp ur köttet. Lägg tomaterna i en ugnsfast form. Skala och hacka lök. Skala och riv vitlök. Hacka grön och röd paprika fint. Hetta upp en stekpanna med olja. Bryn nötfärs tillsammans med gul lök, vitlök och paprika. Krydda med salt, peppar och örtagårdskrydda. Tillsätt röd pesto, grädde och persilja. Fyll de urgröpta tomaterna med nötfärsröran. Toppa med fetaost. Gratinera i ugn 15 min.  Dekorera med persilja. Servera med rucolasallad.</a:t>
            </a:r>
          </a:p>
        </p:txBody>
      </p:sp>
      <p:pic>
        <p:nvPicPr>
          <p:cNvPr id="19" name="Bildobjekt 18">
            <a:extLst>
              <a:ext uri="{FF2B5EF4-FFF2-40B4-BE49-F238E27FC236}">
                <a16:creationId xmlns:a16="http://schemas.microsoft.com/office/drawing/2014/main" id="{463EDF64-5394-BA47-963F-89535DCEAC2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2903809" y="807080"/>
            <a:ext cx="4330148" cy="3247611"/>
          </a:xfrm>
          <a:prstGeom prst="rect">
            <a:avLst/>
          </a:prstGeom>
        </p:spPr>
      </p:pic>
      <p:sp>
        <p:nvSpPr>
          <p:cNvPr id="14" name="Ellips 13">
            <a:extLst>
              <a:ext uri="{FF2B5EF4-FFF2-40B4-BE49-F238E27FC236}">
                <a16:creationId xmlns:a16="http://schemas.microsoft.com/office/drawing/2014/main" id="{C844A33B-2243-504B-946C-5E1669B50443}"/>
              </a:ext>
            </a:extLst>
          </p:cNvPr>
          <p:cNvSpPr/>
          <p:nvPr/>
        </p:nvSpPr>
        <p:spPr>
          <a:xfrm>
            <a:off x="2217572" y="1494053"/>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507 kcal</a:t>
            </a:r>
            <a:endParaRPr sz="1200" b="1" dirty="0">
              <a:solidFill>
                <a:schemeClr val="bg1"/>
              </a:solidFill>
              <a:ea typeface="ＭＳ 明朝"/>
              <a:cs typeface="Avenir Light"/>
            </a:endParaRPr>
          </a:p>
        </p:txBody>
      </p:sp>
      <p:sp>
        <p:nvSpPr>
          <p:cNvPr id="16" name="Platshållare för sidfot 1">
            <a:extLst>
              <a:ext uri="{FF2B5EF4-FFF2-40B4-BE49-F238E27FC236}">
                <a16:creationId xmlns:a16="http://schemas.microsoft.com/office/drawing/2014/main" id="{05AA399C-E6BE-9946-8C01-9FA804D75D56}"/>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948757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10</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13" name="Rektangel 12">
            <a:extLst>
              <a:ext uri="{FF2B5EF4-FFF2-40B4-BE49-F238E27FC236}">
                <a16:creationId xmlns:a16="http://schemas.microsoft.com/office/drawing/2014/main" id="{8708395A-1C10-9E45-B52A-8A4BF0B6E0C8}"/>
              </a:ext>
            </a:extLst>
          </p:cNvPr>
          <p:cNvSpPr/>
          <p:nvPr/>
        </p:nvSpPr>
        <p:spPr>
          <a:xfrm>
            <a:off x="223018" y="750581"/>
            <a:ext cx="6566076" cy="4324261"/>
          </a:xfrm>
          <a:prstGeom prst="rect">
            <a:avLst/>
          </a:prstGeom>
        </p:spPr>
        <p:txBody>
          <a:bodyPr wrap="square">
            <a:spAutoFit/>
          </a:bodyPr>
          <a:lstStyle/>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Köttfärsbiffar med stekt blomkål — 2 portioner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250 g blomkål (2 skivor)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tsk olivolja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1/4 gul lök</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vitlöksklyfta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250 g nötfärs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tsk </a:t>
            </a:r>
            <a:r>
              <a:rPr lang="sv-SE" sz="1100" dirty="0" err="1">
                <a:solidFill>
                  <a:srgbClr val="000000"/>
                </a:solidFill>
                <a:ea typeface="Arial Unicode MS" panose="020B0604020202020204" pitchFamily="34" charset="-128"/>
                <a:cs typeface="Arial Unicode MS" panose="020B0604020202020204" pitchFamily="34" charset="-128"/>
              </a:rPr>
              <a:t>ketjap</a:t>
            </a:r>
            <a:r>
              <a:rPr lang="sv-SE" sz="1100" dirty="0">
                <a:solidFill>
                  <a:srgbClr val="000000"/>
                </a:solidFill>
                <a:ea typeface="Arial Unicode MS" panose="020B0604020202020204" pitchFamily="34" charset="-128"/>
                <a:cs typeface="Arial Unicode MS" panose="020B0604020202020204" pitchFamily="34" charset="-128"/>
              </a:rPr>
              <a:t> manis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krm örtagårdskrydda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tsk smör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3/4 dl vatten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4 cocktailtomater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Färsk persilja som dekoration</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Pestokräm</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3 msk grekisk yoghurt</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tsk röd pesto</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Blanda ihop grekisk yoghurt med röd pesto till en pestokräm. Ställ åt sidan. Skär blomkålen i skivor. Hetta upp en stekpanna med olivolja. Stek blomkålsskivorna några minuter på varje sida. Skala och hacka gul lök. Skala och riv vitlök. Blanda nötfärs med lök, vitlök och </a:t>
            </a:r>
            <a:r>
              <a:rPr lang="sv-SE" sz="1100" dirty="0" err="1">
                <a:solidFill>
                  <a:srgbClr val="000000"/>
                </a:solidFill>
                <a:ea typeface="Arial Unicode MS" panose="020B0604020202020204" pitchFamily="34" charset="-128"/>
                <a:cs typeface="Arial Unicode MS" panose="020B0604020202020204" pitchFamily="34" charset="-128"/>
              </a:rPr>
              <a:t>ketjap</a:t>
            </a:r>
            <a:r>
              <a:rPr lang="sv-SE" sz="1100" dirty="0">
                <a:solidFill>
                  <a:srgbClr val="000000"/>
                </a:solidFill>
                <a:ea typeface="Arial Unicode MS" panose="020B0604020202020204" pitchFamily="34" charset="-128"/>
                <a:cs typeface="Arial Unicode MS" panose="020B0604020202020204" pitchFamily="34" charset="-128"/>
              </a:rPr>
              <a:t> manis i en skål. Krydda med salt, peppar och örtagårdskrydda. Blanda och forma till 2 biffar. Hetta upp en stekpanna och stek biffarna i smör. Sänk värmen innan biffarna är helt genomstekta. Häll på vatten och låt biffarna få ångkoka klart. Placera blomkålsskivorna på tallrikar. Lägg biffarna ovanpå blomkålen. Skär tomater i klyftor och lägg vid sidan om. Servera med pestokräm och dekorera med persiljekvistar.</a:t>
            </a:r>
          </a:p>
        </p:txBody>
      </p:sp>
      <p:pic>
        <p:nvPicPr>
          <p:cNvPr id="16" name="Bildobjekt 15">
            <a:extLst>
              <a:ext uri="{FF2B5EF4-FFF2-40B4-BE49-F238E27FC236}">
                <a16:creationId xmlns:a16="http://schemas.microsoft.com/office/drawing/2014/main" id="{F6B28597-08D3-904D-968C-919F8231A22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499894" y="605976"/>
            <a:ext cx="3617387" cy="2713040"/>
          </a:xfrm>
          <a:prstGeom prst="rect">
            <a:avLst/>
          </a:prstGeom>
        </p:spPr>
      </p:pic>
      <p:sp>
        <p:nvSpPr>
          <p:cNvPr id="22" name="Ellips 21">
            <a:extLst>
              <a:ext uri="{FF2B5EF4-FFF2-40B4-BE49-F238E27FC236}">
                <a16:creationId xmlns:a16="http://schemas.microsoft.com/office/drawing/2014/main" id="{DECE4957-E238-244D-BA98-0AF1C67E55A2}"/>
              </a:ext>
            </a:extLst>
          </p:cNvPr>
          <p:cNvSpPr/>
          <p:nvPr/>
        </p:nvSpPr>
        <p:spPr>
          <a:xfrm>
            <a:off x="2337959" y="128284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355 kcal</a:t>
            </a:r>
            <a:endParaRPr sz="1200" b="1" dirty="0">
              <a:solidFill>
                <a:schemeClr val="bg1"/>
              </a:solidFill>
              <a:ea typeface="ＭＳ 明朝"/>
              <a:cs typeface="Avenir Light"/>
            </a:endParaRPr>
          </a:p>
        </p:txBody>
      </p:sp>
      <p:sp>
        <p:nvSpPr>
          <p:cNvPr id="8" name="Platshållare för sidfot 1">
            <a:extLst>
              <a:ext uri="{FF2B5EF4-FFF2-40B4-BE49-F238E27FC236}">
                <a16:creationId xmlns:a16="http://schemas.microsoft.com/office/drawing/2014/main" id="{96005667-57D5-274E-9CA7-CAED49DB7EC5}"/>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516864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FBB45A7C-8AF3-3645-B2BA-3E0B6B53C4ED}"/>
              </a:ext>
            </a:extLst>
          </p:cNvPr>
          <p:cNvSpPr>
            <a:spLocks noGrp="1"/>
          </p:cNvSpPr>
          <p:nvPr>
            <p:ph type="sldNum" sz="quarter" idx="12"/>
          </p:nvPr>
        </p:nvSpPr>
        <p:spPr/>
        <p:txBody>
          <a:bodyPr/>
          <a:lstStyle/>
          <a:p>
            <a:fld id="{97BA8967-5D92-4842-BAFB-0C8F679E5DC4}" type="slidenum">
              <a:rPr lang="sv-SE" smtClean="0"/>
              <a:t>11</a:t>
            </a:fld>
            <a:endParaRPr lang="sv-SE"/>
          </a:p>
        </p:txBody>
      </p:sp>
      <p:sp>
        <p:nvSpPr>
          <p:cNvPr id="8" name="Ellips 7">
            <a:extLst>
              <a:ext uri="{FF2B5EF4-FFF2-40B4-BE49-F238E27FC236}">
                <a16:creationId xmlns:a16="http://schemas.microsoft.com/office/drawing/2014/main" id="{96B9470E-EFED-3648-85E2-976511C5F1FC}"/>
              </a:ext>
            </a:extLst>
          </p:cNvPr>
          <p:cNvSpPr/>
          <p:nvPr/>
        </p:nvSpPr>
        <p:spPr>
          <a:xfrm>
            <a:off x="2610496" y="153454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123kcal</a:t>
            </a:r>
            <a:endParaRPr sz="1200" b="1" dirty="0">
              <a:solidFill>
                <a:schemeClr val="bg1"/>
              </a:solidFill>
              <a:ea typeface="ＭＳ 明朝"/>
              <a:cs typeface="Avenir Light"/>
            </a:endParaRPr>
          </a:p>
        </p:txBody>
      </p:sp>
      <p:sp>
        <p:nvSpPr>
          <p:cNvPr id="14" name="textruta 13">
            <a:extLst>
              <a:ext uri="{FF2B5EF4-FFF2-40B4-BE49-F238E27FC236}">
                <a16:creationId xmlns:a16="http://schemas.microsoft.com/office/drawing/2014/main" id="{3A0F5176-7E66-B948-8D80-90EA9B6582E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Dessert</a:t>
            </a:r>
          </a:p>
        </p:txBody>
      </p:sp>
      <p:sp>
        <p:nvSpPr>
          <p:cNvPr id="9" name="Rektangel 8">
            <a:extLst>
              <a:ext uri="{FF2B5EF4-FFF2-40B4-BE49-F238E27FC236}">
                <a16:creationId xmlns:a16="http://schemas.microsoft.com/office/drawing/2014/main" id="{A03B9583-6EE2-434D-BDDC-049638CA4FF4}"/>
              </a:ext>
            </a:extLst>
          </p:cNvPr>
          <p:cNvSpPr/>
          <p:nvPr/>
        </p:nvSpPr>
        <p:spPr>
          <a:xfrm>
            <a:off x="225220" y="1534541"/>
            <a:ext cx="3013926" cy="1352293"/>
          </a:xfrm>
          <a:prstGeom prst="rect">
            <a:avLst/>
          </a:prstGeom>
        </p:spPr>
        <p:txBody>
          <a:bodyPr wrap="square">
            <a:spAutoFit/>
          </a:bodyPr>
          <a:lstStyle/>
          <a:p>
            <a:pPr>
              <a:lnSpc>
                <a:spcPct val="107000"/>
              </a:lnSpc>
              <a:spcAft>
                <a:spcPts val="0"/>
              </a:spcAft>
            </a:pPr>
            <a:r>
              <a:rPr lang="nb-NO" sz="1100" b="1" kern="100" dirty="0">
                <a:latin typeface="Aptos"/>
                <a:ea typeface="Aptos"/>
                <a:cs typeface="Times New Roman" panose="02020603050405020304" pitchFamily="18" charset="0"/>
              </a:rPr>
              <a:t>Mangoglass – 2 </a:t>
            </a:r>
            <a:r>
              <a:rPr lang="nb-NO" sz="1100" b="1" kern="100" dirty="0" err="1">
                <a:latin typeface="Aptos"/>
                <a:ea typeface="Aptos"/>
                <a:cs typeface="Times New Roman" panose="02020603050405020304" pitchFamily="18" charset="0"/>
              </a:rPr>
              <a:t>portioner</a:t>
            </a:r>
            <a:endParaRPr lang="sv-SE" sz="1100" kern="100" dirty="0">
              <a:latin typeface="Aptos"/>
              <a:ea typeface="Aptos"/>
              <a:cs typeface="Times New Roman" panose="02020603050405020304" pitchFamily="18" charset="0"/>
            </a:endParaRPr>
          </a:p>
          <a:p>
            <a:pPr>
              <a:lnSpc>
                <a:spcPct val="107000"/>
              </a:lnSpc>
              <a:spcAft>
                <a:spcPts val="0"/>
              </a:spcAft>
            </a:pPr>
            <a:r>
              <a:rPr lang="nb-NO" sz="1100" kern="100" dirty="0">
                <a:latin typeface="Aptos"/>
                <a:ea typeface="Aptos"/>
                <a:cs typeface="Times New Roman" panose="02020603050405020304" pitchFamily="18" charset="0"/>
              </a:rPr>
              <a:t>250 g fryst mango</a:t>
            </a:r>
            <a:endParaRPr lang="sv-SE" sz="1100" kern="100" dirty="0">
              <a:latin typeface="Aptos"/>
              <a:ea typeface="Aptos"/>
              <a:cs typeface="Times New Roman" panose="02020603050405020304" pitchFamily="18" charset="0"/>
            </a:endParaRPr>
          </a:p>
          <a:p>
            <a:pPr>
              <a:lnSpc>
                <a:spcPct val="107000"/>
              </a:lnSpc>
              <a:spcAft>
                <a:spcPts val="0"/>
              </a:spcAft>
            </a:pPr>
            <a:r>
              <a:rPr lang="nb-NO" sz="1100" kern="100" dirty="0">
                <a:latin typeface="Aptos"/>
                <a:ea typeface="Aptos"/>
                <a:cs typeface="Times New Roman" panose="02020603050405020304" pitchFamily="18" charset="0"/>
              </a:rPr>
              <a:t>1 dl yoghurt</a:t>
            </a:r>
            <a:endParaRPr lang="sv-SE" sz="1100" kern="100" dirty="0">
              <a:latin typeface="Aptos"/>
              <a:ea typeface="Aptos"/>
              <a:cs typeface="Times New Roman" panose="02020603050405020304" pitchFamily="18" charset="0"/>
            </a:endParaRPr>
          </a:p>
          <a:p>
            <a:pPr>
              <a:lnSpc>
                <a:spcPct val="107000"/>
              </a:lnSpc>
              <a:spcAft>
                <a:spcPts val="0"/>
              </a:spcAft>
            </a:pPr>
            <a:r>
              <a:rPr lang="sv-SE" sz="1100" kern="100" dirty="0">
                <a:latin typeface="Aptos"/>
                <a:ea typeface="Aptos"/>
                <a:cs typeface="Times New Roman" panose="02020603050405020304" pitchFamily="18" charset="0"/>
              </a:rPr>
              <a:t>½ tsk flytande honung</a:t>
            </a:r>
          </a:p>
          <a:p>
            <a:pPr>
              <a:lnSpc>
                <a:spcPct val="107000"/>
              </a:lnSpc>
              <a:spcAft>
                <a:spcPts val="0"/>
              </a:spcAft>
            </a:pPr>
            <a:r>
              <a:rPr lang="sv-SE" sz="1100" kern="100" dirty="0">
                <a:latin typeface="Aptos"/>
                <a:ea typeface="Aptos"/>
                <a:cs typeface="Times New Roman" panose="02020603050405020304" pitchFamily="18" charset="0"/>
              </a:rPr>
              <a:t> </a:t>
            </a:r>
          </a:p>
          <a:p>
            <a:pPr>
              <a:lnSpc>
                <a:spcPct val="107000"/>
              </a:lnSpc>
              <a:spcAft>
                <a:spcPts val="0"/>
              </a:spcAft>
            </a:pPr>
            <a:r>
              <a:rPr lang="sv-SE" sz="1100" kern="100" dirty="0">
                <a:latin typeface="Aptos"/>
                <a:ea typeface="Aptos"/>
                <a:cs typeface="Times New Roman" panose="02020603050405020304" pitchFamily="18" charset="0"/>
              </a:rPr>
              <a:t>Mixa samman ingredienserna i en </a:t>
            </a:r>
            <a:r>
              <a:rPr lang="sv-SE" sz="1100" kern="100" dirty="0" err="1">
                <a:latin typeface="Aptos"/>
                <a:ea typeface="Aptos"/>
                <a:cs typeface="Times New Roman" panose="02020603050405020304" pitchFamily="18" charset="0"/>
              </a:rPr>
              <a:t>blender</a:t>
            </a:r>
            <a:r>
              <a:rPr lang="sv-SE" sz="1100" kern="100" dirty="0">
                <a:latin typeface="Aptos"/>
                <a:ea typeface="Aptos"/>
                <a:cs typeface="Times New Roman" panose="02020603050405020304" pitchFamily="18" charset="0"/>
              </a:rPr>
              <a:t> och servera i två glas.</a:t>
            </a:r>
          </a:p>
        </p:txBody>
      </p:sp>
      <p:pic>
        <p:nvPicPr>
          <p:cNvPr id="10" name="Bildobjekt 9">
            <a:extLst>
              <a:ext uri="{FF2B5EF4-FFF2-40B4-BE49-F238E27FC236}">
                <a16:creationId xmlns:a16="http://schemas.microsoft.com/office/drawing/2014/main" id="{B39C6008-AC76-8E40-903B-4A1A7256698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175215" y="605787"/>
            <a:ext cx="3936570" cy="2952428"/>
          </a:xfrm>
          <a:prstGeom prst="rect">
            <a:avLst/>
          </a:prstGeom>
        </p:spPr>
      </p:pic>
      <p:sp>
        <p:nvSpPr>
          <p:cNvPr id="11" name="Platshållare för sidfot 1">
            <a:extLst>
              <a:ext uri="{FF2B5EF4-FFF2-40B4-BE49-F238E27FC236}">
                <a16:creationId xmlns:a16="http://schemas.microsoft.com/office/drawing/2014/main" id="{72B6186C-3997-A24A-8813-516CD6C25E23}"/>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674272433"/>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454397</TotalTime>
  <Words>2263</Words>
  <Application>Microsoft Macintosh PowerPoint</Application>
  <PresentationFormat>Bildspel på skärmen (4:3)</PresentationFormat>
  <Paragraphs>331</Paragraphs>
  <Slides>11</Slides>
  <Notes>4</Notes>
  <HiddenSlides>0</HiddenSlides>
  <MMClips>0</MMClips>
  <ScaleCrop>false</ScaleCrop>
  <HeadingPairs>
    <vt:vector size="6" baseType="variant">
      <vt:variant>
        <vt:lpstr>Använt teckensnitt</vt:lpstr>
      </vt:variant>
      <vt:variant>
        <vt:i4>15</vt:i4>
      </vt:variant>
      <vt:variant>
        <vt:lpstr>Tema</vt:lpstr>
      </vt:variant>
      <vt:variant>
        <vt:i4>1</vt:i4>
      </vt:variant>
      <vt:variant>
        <vt:lpstr>Bildrubriker</vt:lpstr>
      </vt:variant>
      <vt:variant>
        <vt:i4>11</vt:i4>
      </vt:variant>
    </vt:vector>
  </HeadingPairs>
  <TitlesOfParts>
    <vt:vector size="27" baseType="lpstr">
      <vt:lpstr>Arial Unicode MS</vt:lpstr>
      <vt:lpstr>MS Gothic</vt:lpstr>
      <vt:lpstr>MS Mincho</vt:lpstr>
      <vt:lpstr>MS Mincho</vt:lpstr>
      <vt:lpstr>Aptos</vt:lpstr>
      <vt:lpstr>Arial</vt:lpstr>
      <vt:lpstr>Avenir Book</vt:lpstr>
      <vt:lpstr>Avenir Light</vt:lpstr>
      <vt:lpstr>BigCaslonFB</vt:lpstr>
      <vt:lpstr>Calibri</vt:lpstr>
      <vt:lpstr>DejaVuSansMono</vt:lpstr>
      <vt:lpstr>Helvetica</vt:lpstr>
      <vt:lpstr>Helvetica Neue</vt:lpstr>
      <vt:lpstr>Times</vt:lpstr>
      <vt:lpstr>Times New Roman</vt: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The Diet Shop</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Ulrika Davidsson</dc:creator>
  <cp:lastModifiedBy>ulrika.davidsson@dietshop.se</cp:lastModifiedBy>
  <cp:revision>1005</cp:revision>
  <cp:lastPrinted>2017-09-05T09:39:57Z</cp:lastPrinted>
  <dcterms:created xsi:type="dcterms:W3CDTF">2016-08-21T13:21:42Z</dcterms:created>
  <dcterms:modified xsi:type="dcterms:W3CDTF">2025-01-06T13:41:39Z</dcterms:modified>
</cp:coreProperties>
</file>