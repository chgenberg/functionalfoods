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7" r:id="rId2"/>
    <p:sldId id="368" r:id="rId3"/>
    <p:sldId id="496" r:id="rId4"/>
    <p:sldId id="371" r:id="rId5"/>
    <p:sldId id="501" r:id="rId6"/>
    <p:sldId id="446" r:id="rId7"/>
    <p:sldId id="503" r:id="rId8"/>
    <p:sldId id="418" r:id="rId9"/>
    <p:sldId id="502" r:id="rId10"/>
    <p:sldId id="434" r:id="rId11"/>
  </p:sldIdLst>
  <p:sldSz cx="6858000" cy="9144000" type="screen4x3"/>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6564"/>
    <a:srgbClr val="009999"/>
    <a:srgbClr val="008080"/>
    <a:srgbClr val="65B7A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30" autoAdjust="0"/>
    <p:restoredTop sz="94760" autoAdjust="0"/>
  </p:normalViewPr>
  <p:slideViewPr>
    <p:cSldViewPr snapToGrid="0" snapToObjects="1">
      <p:cViewPr varScale="1">
        <p:scale>
          <a:sx n="82" d="100"/>
          <a:sy n="82" d="100"/>
        </p:scale>
        <p:origin x="2696" y="16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AF518D-D1B5-2545-B50F-6E9BBD888BCB}" type="datetimeFigureOut">
              <a:rPr lang="sv-SE" smtClean="0"/>
              <a:t>2025-02-14</a:t>
            </a:fld>
            <a:endParaRPr lang="sv-SE"/>
          </a:p>
        </p:txBody>
      </p:sp>
      <p:sp>
        <p:nvSpPr>
          <p:cNvPr id="4" name="Platshållare för bildobjekt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3415C0-1913-C443-8074-00E93713293E}" type="slidenum">
              <a:rPr lang="sv-SE" smtClean="0"/>
              <a:t>‹#›</a:t>
            </a:fld>
            <a:endParaRPr lang="sv-SE"/>
          </a:p>
        </p:txBody>
      </p:sp>
    </p:spTree>
    <p:extLst>
      <p:ext uri="{BB962C8B-B14F-4D97-AF65-F5344CB8AC3E}">
        <p14:creationId xmlns:p14="http://schemas.microsoft.com/office/powerpoint/2010/main" val="349778927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1</a:t>
            </a:fld>
            <a:endParaRPr lang="sv-SE"/>
          </a:p>
        </p:txBody>
      </p:sp>
    </p:spTree>
    <p:extLst>
      <p:ext uri="{BB962C8B-B14F-4D97-AF65-F5344CB8AC3E}">
        <p14:creationId xmlns:p14="http://schemas.microsoft.com/office/powerpoint/2010/main" val="2514039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2</a:t>
            </a:fld>
            <a:endParaRPr lang="sv-SE"/>
          </a:p>
        </p:txBody>
      </p:sp>
    </p:spTree>
    <p:extLst>
      <p:ext uri="{BB962C8B-B14F-4D97-AF65-F5344CB8AC3E}">
        <p14:creationId xmlns:p14="http://schemas.microsoft.com/office/powerpoint/2010/main" val="3163457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514350" y="2840568"/>
            <a:ext cx="5829300" cy="1960033"/>
          </a:xfrm>
        </p:spPr>
        <p:txBody>
          <a:bodyPr/>
          <a:lstStyle/>
          <a:p>
            <a:r>
              <a:rPr lang="sv-SE"/>
              <a:t>Klicka här för att ändra format</a:t>
            </a:r>
          </a:p>
        </p:txBody>
      </p:sp>
      <p:sp>
        <p:nvSpPr>
          <p:cNvPr id="3" name="Underrubrik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format på underrubrik i bakgrunden</a:t>
            </a:r>
          </a:p>
        </p:txBody>
      </p:sp>
      <p:sp>
        <p:nvSpPr>
          <p:cNvPr id="4" name="Platshållare för datum 3"/>
          <p:cNvSpPr>
            <a:spLocks noGrp="1"/>
          </p:cNvSpPr>
          <p:nvPr>
            <p:ph type="dt" sz="half" idx="10"/>
          </p:nvPr>
        </p:nvSpPr>
        <p:spPr/>
        <p:txBody>
          <a:bodyPr/>
          <a:lstStyle/>
          <a:p>
            <a:fld id="{34FDA80A-1BE6-40A2-A134-482AAF037DFC}" type="datetime1">
              <a:rPr lang="sv-SE" smtClean="0"/>
              <a:t>2025-02-14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932805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9F7DF21-0883-43EC-91D5-C9424F5F8865}" type="datetime1">
              <a:rPr lang="sv-SE" smtClean="0"/>
              <a:t>2025-02-14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41783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541735" y="5875867"/>
            <a:ext cx="5829300" cy="1816100"/>
          </a:xfrm>
        </p:spPr>
        <p:txBody>
          <a:bodyPr anchor="t"/>
          <a:lstStyle>
            <a:lvl1pPr algn="l">
              <a:defRPr sz="4000" b="1" cap="all"/>
            </a:lvl1pPr>
          </a:lstStyle>
          <a:p>
            <a:r>
              <a:rPr lang="sv-SE"/>
              <a:t>Klicka här för att ändra format</a:t>
            </a:r>
          </a:p>
        </p:txBody>
      </p:sp>
      <p:sp>
        <p:nvSpPr>
          <p:cNvPr id="3" name="Platshållare för text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fld id="{451640AB-E0B5-43CC-810E-D003D1BC6DFA}" type="datetime1">
              <a:rPr lang="sv-SE" smtClean="0"/>
              <a:t>2025-02-14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4282179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7A845E01-A5E8-46B2-A7EB-D7DFD4EA7399}" type="datetime1">
              <a:rPr lang="sv-SE" smtClean="0"/>
              <a:t>2025-02-14</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271029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342900" y="366184"/>
            <a:ext cx="6172200" cy="1524000"/>
          </a:xfrm>
        </p:spPr>
        <p:txBody>
          <a:bodyPr/>
          <a:lstStyle>
            <a:lvl1pPr>
              <a:defRPr/>
            </a:lvl1pPr>
          </a:lstStyle>
          <a:p>
            <a:r>
              <a:rPr lang="sv-SE"/>
              <a:t>Klicka här för att ändra format</a:t>
            </a:r>
          </a:p>
        </p:txBody>
      </p:sp>
      <p:sp>
        <p:nvSpPr>
          <p:cNvPr id="3" name="Platshållare för text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3F3B0D4C-FCD8-4E77-B860-C0B2F667CB83}" type="datetime1">
              <a:rPr lang="sv-SE" smtClean="0"/>
              <a:t>2025-02-14</a:t>
            </a:fld>
            <a:endParaRPr lang="sv-SE"/>
          </a:p>
        </p:txBody>
      </p:sp>
      <p:sp>
        <p:nvSpPr>
          <p:cNvPr id="8" name="Platshållare för sidfot 7"/>
          <p:cNvSpPr>
            <a:spLocks noGrp="1"/>
          </p:cNvSpPr>
          <p:nvPr>
            <p:ph type="ftr" sz="quarter" idx="11"/>
          </p:nvPr>
        </p:nvSpPr>
        <p:spPr/>
        <p:txBody>
          <a:bodyPr/>
          <a:lstStyle/>
          <a:p>
            <a:r>
              <a:rPr lang="sv-SE"/>
              <a:t>ULRIKA DAVIDSSON ● LAGA LÄTT 6 VECKOR ● RECEPT  ● VECKA 1</a:t>
            </a:r>
          </a:p>
        </p:txBody>
      </p:sp>
      <p:sp>
        <p:nvSpPr>
          <p:cNvPr id="9" name="Platshållare för bildnummer 8"/>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3946790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1EC76126-DB9B-4BAA-A376-2217548CABED}" type="datetime1">
              <a:rPr lang="sv-SE" smtClean="0"/>
              <a:t>2025-02-14</a:t>
            </a:fld>
            <a:endParaRPr lang="sv-SE"/>
          </a:p>
        </p:txBody>
      </p:sp>
      <p:sp>
        <p:nvSpPr>
          <p:cNvPr id="4" name="Platshållare för sidfot 3"/>
          <p:cNvSpPr>
            <a:spLocks noGrp="1"/>
          </p:cNvSpPr>
          <p:nvPr>
            <p:ph type="ftr" sz="quarter" idx="11"/>
          </p:nvPr>
        </p:nvSpPr>
        <p:spPr/>
        <p:txBody>
          <a:bodyPr/>
          <a:lstStyle/>
          <a:p>
            <a:r>
              <a:rPr lang="sv-SE"/>
              <a:t>ULRIKA DAVIDSSON ● LAGA LÄTT 6 VECKOR ● RECEPT  ● VECKA 1</a:t>
            </a:r>
          </a:p>
        </p:txBody>
      </p:sp>
      <p:sp>
        <p:nvSpPr>
          <p:cNvPr id="5" name="Platshållare för bildnummer 4"/>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75122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26C1E6F0-24C7-41D4-B8C8-643F3434D7A8}" type="datetime1">
              <a:rPr lang="sv-SE" smtClean="0"/>
              <a:t>2025-02-14</a:t>
            </a:fld>
            <a:endParaRPr lang="sv-SE"/>
          </a:p>
        </p:txBody>
      </p:sp>
      <p:sp>
        <p:nvSpPr>
          <p:cNvPr id="3" name="Platshållare för sidfot 2"/>
          <p:cNvSpPr>
            <a:spLocks noGrp="1"/>
          </p:cNvSpPr>
          <p:nvPr>
            <p:ph type="ftr" sz="quarter" idx="11"/>
          </p:nvPr>
        </p:nvSpPr>
        <p:spPr/>
        <p:txBody>
          <a:bodyPr/>
          <a:lstStyle/>
          <a:p>
            <a:r>
              <a:rPr lang="sv-SE"/>
              <a:t>ULRIKA DAVIDSSON ● LAGA LÄTT 6 VECKOR ● RECEPT  ● VECKA 1</a:t>
            </a:r>
          </a:p>
        </p:txBody>
      </p:sp>
      <p:sp>
        <p:nvSpPr>
          <p:cNvPr id="4" name="Platshållare för bildnummer 3"/>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502167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342900" y="364067"/>
            <a:ext cx="2256235" cy="1549400"/>
          </a:xfrm>
        </p:spPr>
        <p:txBody>
          <a:bodyPr anchor="b"/>
          <a:lstStyle>
            <a:lvl1pPr algn="l">
              <a:defRPr sz="2000" b="1"/>
            </a:lvl1pPr>
          </a:lstStyle>
          <a:p>
            <a:r>
              <a:rPr lang="sv-SE"/>
              <a:t>Klicka här för att ändra format</a:t>
            </a:r>
          </a:p>
        </p:txBody>
      </p:sp>
      <p:sp>
        <p:nvSpPr>
          <p:cNvPr id="3" name="Platshållare för innehåll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85858CBC-F4EE-4838-AACD-F1AC7E759B58}" type="datetime1">
              <a:rPr lang="sv-SE" smtClean="0"/>
              <a:t>2025-02-14</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02030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344216" y="6400800"/>
            <a:ext cx="4114800" cy="755651"/>
          </a:xfrm>
        </p:spPr>
        <p:txBody>
          <a:bodyPr anchor="b"/>
          <a:lstStyle>
            <a:lvl1pPr algn="l">
              <a:defRPr sz="2000" b="1"/>
            </a:lvl1pPr>
          </a:lstStyle>
          <a:p>
            <a:r>
              <a:rPr lang="sv-SE"/>
              <a:t>Klicka här för att ändra format</a:t>
            </a:r>
          </a:p>
        </p:txBody>
      </p:sp>
      <p:sp>
        <p:nvSpPr>
          <p:cNvPr id="3" name="Platshållare för bild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5B5326A1-37BC-420F-86B7-C725CF2D32F4}" type="datetime1">
              <a:rPr lang="sv-SE" smtClean="0"/>
              <a:t>2025-02-14</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964272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B2C635E4-5849-42AC-A5E1-3E5BA8AE7326}" type="datetime1">
              <a:rPr lang="sv-SE" smtClean="0"/>
              <a:t>2025-02-14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803887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3729037" y="488951"/>
            <a:ext cx="1157288" cy="10401300"/>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257175" y="488951"/>
            <a:ext cx="3357563" cy="1040130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050FD217-3DCE-44BA-ACD5-81FAAB86E102}" type="datetime1">
              <a:rPr lang="sv-SE" smtClean="0"/>
              <a:t>2025-02-14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800062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6FAA230D-E3B8-4437-A196-7E6D616735AA}" type="datetime1">
              <a:rPr lang="sv-SE" smtClean="0"/>
              <a:t>2025-02-14</a:t>
            </a:fld>
            <a:endParaRPr lang="sv-SE"/>
          </a:p>
        </p:txBody>
      </p:sp>
      <p:sp>
        <p:nvSpPr>
          <p:cNvPr id="5" name="Platshållare för sidfot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ULRIKA DAVIDSSON ● LAGA LÄTT 6 VECKOR ● RECEPT  ● VECKA 1</a:t>
            </a:r>
          </a:p>
        </p:txBody>
      </p:sp>
      <p:sp>
        <p:nvSpPr>
          <p:cNvPr id="6" name="Platshållare för bildnumm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97BA8967-5D92-4842-BAFB-0C8F679E5DC4}" type="slidenum">
              <a:rPr lang="sv-SE" smtClean="0"/>
              <a:t>‹#›</a:t>
            </a:fld>
            <a:endParaRPr lang="sv-SE"/>
          </a:p>
        </p:txBody>
      </p:sp>
    </p:spTree>
    <p:extLst>
      <p:ext uri="{BB962C8B-B14F-4D97-AF65-F5344CB8AC3E}">
        <p14:creationId xmlns:p14="http://schemas.microsoft.com/office/powerpoint/2010/main" val="152480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ktangel 16">
            <a:extLst>
              <a:ext uri="{FF2B5EF4-FFF2-40B4-BE49-F238E27FC236}">
                <a16:creationId xmlns:a16="http://schemas.microsoft.com/office/drawing/2014/main" id="{2C884EC7-DBC4-CD4F-BE83-B7071564BCD0}"/>
              </a:ext>
            </a:extLst>
          </p:cNvPr>
          <p:cNvSpPr/>
          <p:nvPr/>
        </p:nvSpPr>
        <p:spPr>
          <a:xfrm>
            <a:off x="285047" y="5523310"/>
            <a:ext cx="6623683" cy="3308598"/>
          </a:xfrm>
          <a:prstGeom prst="rect">
            <a:avLst/>
          </a:prstGeom>
        </p:spPr>
        <p:txBody>
          <a:bodyPr wrap="square">
            <a:spAutoFit/>
          </a:bodyPr>
          <a:lstStyle/>
          <a:p>
            <a:pPr>
              <a:spcAft>
                <a:spcPts val="0"/>
              </a:spcAft>
            </a:pPr>
            <a:r>
              <a:rPr lang="it-IT" sz="1100" b="1" dirty="0">
                <a:solidFill>
                  <a:srgbClr val="000000"/>
                </a:solidFill>
                <a:ea typeface="Helvetica Neue" panose="02000503000000020004" pitchFamily="2" charset="0"/>
                <a:cs typeface="Helvetica Neue" panose="02000503000000020004" pitchFamily="2" charset="0"/>
              </a:rPr>
              <a:t>Havre</a:t>
            </a:r>
            <a:r>
              <a:rPr lang="en-US" sz="1100" b="1" dirty="0" err="1">
                <a:solidFill>
                  <a:srgbClr val="000000"/>
                </a:solidFill>
                <a:ea typeface="Helvetica Neue" panose="02000503000000020004" pitchFamily="2" charset="0"/>
                <a:cs typeface="Helvetica Neue" panose="02000503000000020004" pitchFamily="2" charset="0"/>
              </a:rPr>
              <a:t>frallor</a:t>
            </a:r>
            <a:r>
              <a:rPr lang="en-US" sz="1100" b="1" dirty="0">
                <a:solidFill>
                  <a:srgbClr val="000000"/>
                </a:solidFill>
                <a:ea typeface="Helvetica Neue" panose="02000503000000020004" pitchFamily="2" charset="0"/>
                <a:cs typeface="Helvetica Neue" panose="02000503000000020004" pitchFamily="2" charset="0"/>
              </a:rPr>
              <a:t> med </a:t>
            </a:r>
            <a:r>
              <a:rPr lang="en-US" sz="1100" b="1" dirty="0" err="1">
                <a:solidFill>
                  <a:srgbClr val="000000"/>
                </a:solidFill>
                <a:ea typeface="Helvetica Neue" panose="02000503000000020004" pitchFamily="2" charset="0"/>
                <a:cs typeface="Helvetica Neue" panose="02000503000000020004" pitchFamily="2" charset="0"/>
              </a:rPr>
              <a:t>morötter</a:t>
            </a:r>
            <a:r>
              <a:rPr lang="en-US" sz="1100" b="1" dirty="0">
                <a:solidFill>
                  <a:srgbClr val="000000"/>
                </a:solidFill>
                <a:ea typeface="Helvetica Neue" panose="02000503000000020004" pitchFamily="2" charset="0"/>
                <a:cs typeface="Helvetica Neue" panose="02000503000000020004" pitchFamily="2" charset="0"/>
              </a:rPr>
              <a:t> </a:t>
            </a:r>
            <a:r>
              <a:rPr lang="en-US" sz="1100" b="1" dirty="0" err="1">
                <a:solidFill>
                  <a:srgbClr val="000000"/>
                </a:solidFill>
                <a:ea typeface="Helvetica Neue" panose="02000503000000020004" pitchFamily="2" charset="0"/>
                <a:cs typeface="Helvetica Neue" panose="02000503000000020004" pitchFamily="2" charset="0"/>
              </a:rPr>
              <a:t>och</a:t>
            </a:r>
            <a:r>
              <a:rPr lang="en-US" sz="1100" b="1" dirty="0">
                <a:solidFill>
                  <a:srgbClr val="000000"/>
                </a:solidFill>
                <a:ea typeface="Helvetica Neue" panose="02000503000000020004" pitchFamily="2" charset="0"/>
                <a:cs typeface="Helvetica Neue" panose="02000503000000020004" pitchFamily="2" charset="0"/>
              </a:rPr>
              <a:t> </a:t>
            </a:r>
          </a:p>
          <a:p>
            <a:pPr>
              <a:spcAft>
                <a:spcPts val="0"/>
              </a:spcAft>
            </a:pPr>
            <a:r>
              <a:rPr lang="en-US" sz="1100" b="1" dirty="0" err="1">
                <a:solidFill>
                  <a:srgbClr val="000000"/>
                </a:solidFill>
                <a:ea typeface="Helvetica Neue" panose="02000503000000020004" pitchFamily="2" charset="0"/>
                <a:cs typeface="Helvetica Neue" panose="02000503000000020004" pitchFamily="2" charset="0"/>
              </a:rPr>
              <a:t>aprikoser</a:t>
            </a:r>
            <a:r>
              <a:rPr lang="en-US" sz="1100" b="1" dirty="0">
                <a:solidFill>
                  <a:srgbClr val="000000"/>
                </a:solidFill>
                <a:ea typeface="Helvetica Neue" panose="02000503000000020004" pitchFamily="2" charset="0"/>
                <a:cs typeface="Helvetica Neue" panose="02000503000000020004" pitchFamily="2" charset="0"/>
              </a:rPr>
              <a:t> - 8 </a:t>
            </a:r>
            <a:r>
              <a:rPr lang="en-US" sz="1100" b="1" dirty="0" err="1">
                <a:solidFill>
                  <a:srgbClr val="000000"/>
                </a:solidFill>
                <a:ea typeface="Helvetica Neue" panose="02000503000000020004" pitchFamily="2" charset="0"/>
                <a:cs typeface="Helvetica Neue" panose="02000503000000020004" pitchFamily="2" charset="0"/>
              </a:rPr>
              <a:t>st</a:t>
            </a:r>
            <a:r>
              <a:rPr lang="en-US" sz="1100" b="1" dirty="0">
                <a:solidFill>
                  <a:srgbClr val="000000"/>
                </a:solidFill>
                <a:ea typeface="Helvetica Neue" panose="02000503000000020004" pitchFamily="2" charset="0"/>
                <a:cs typeface="Helvetica Neue" panose="02000503000000020004" pitchFamily="2" charset="0"/>
              </a:rPr>
              <a:t>  </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da-DK" sz="1100" dirty="0">
                <a:solidFill>
                  <a:srgbClr val="000000"/>
                </a:solidFill>
                <a:ea typeface="Helvetica Neue" panose="02000503000000020004" pitchFamily="2" charset="0"/>
                <a:cs typeface="Helvetica Neue" panose="02000503000000020004" pitchFamily="2" charset="0"/>
              </a:rPr>
              <a:t>4 dl havregryn</a:t>
            </a:r>
          </a:p>
          <a:p>
            <a:pPr>
              <a:spcAft>
                <a:spcPts val="0"/>
              </a:spcAft>
            </a:pPr>
            <a:r>
              <a:rPr lang="da-DK" sz="1100" dirty="0">
                <a:solidFill>
                  <a:srgbClr val="000000"/>
                </a:solidFill>
                <a:ea typeface="Helvetica Neue" panose="02000503000000020004" pitchFamily="2" charset="0"/>
                <a:cs typeface="Helvetica Neue" panose="02000503000000020004" pitchFamily="2" charset="0"/>
              </a:rPr>
              <a:t>4 </a:t>
            </a:r>
            <a:r>
              <a:rPr lang="da-DK" sz="1100" dirty="0" err="1">
                <a:solidFill>
                  <a:srgbClr val="000000"/>
                </a:solidFill>
                <a:ea typeface="Helvetica Neue" panose="02000503000000020004" pitchFamily="2" charset="0"/>
                <a:cs typeface="Helvetica Neue" panose="02000503000000020004" pitchFamily="2" charset="0"/>
              </a:rPr>
              <a:t>torkade</a:t>
            </a:r>
            <a:r>
              <a:rPr lang="da-DK" sz="1100" dirty="0">
                <a:solidFill>
                  <a:srgbClr val="000000"/>
                </a:solidFill>
                <a:ea typeface="Helvetica Neue" panose="02000503000000020004" pitchFamily="2" charset="0"/>
                <a:cs typeface="Helvetica Neue" panose="02000503000000020004" pitchFamily="2" charset="0"/>
              </a:rPr>
              <a:t> </a:t>
            </a:r>
            <a:r>
              <a:rPr lang="da-DK" sz="1100" dirty="0" err="1">
                <a:solidFill>
                  <a:srgbClr val="000000"/>
                </a:solidFill>
                <a:ea typeface="Helvetica Neue" panose="02000503000000020004" pitchFamily="2" charset="0"/>
                <a:cs typeface="Helvetica Neue" panose="02000503000000020004" pitchFamily="2" charset="0"/>
              </a:rPr>
              <a:t>aprikoser</a:t>
            </a:r>
            <a:endParaRPr lang="da-DK" sz="1100" dirty="0">
              <a:solidFill>
                <a:srgbClr val="000000"/>
              </a:solidFill>
              <a:ea typeface="Helvetica Neue" panose="02000503000000020004" pitchFamily="2" charset="0"/>
              <a:cs typeface="Helvetica Neue" panose="02000503000000020004" pitchFamily="2" charset="0"/>
            </a:endParaRPr>
          </a:p>
          <a:p>
            <a:pPr>
              <a:spcAft>
                <a:spcPts val="0"/>
              </a:spcAft>
            </a:pPr>
            <a:r>
              <a:rPr lang="da-DK" sz="1100" dirty="0">
                <a:solidFill>
                  <a:srgbClr val="000000"/>
                </a:solidFill>
                <a:ea typeface="Helvetica Neue" panose="02000503000000020004" pitchFamily="2" charset="0"/>
                <a:cs typeface="Helvetica Neue" panose="02000503000000020004" pitchFamily="2" charset="0"/>
              </a:rPr>
              <a:t>1 </a:t>
            </a:r>
            <a:r>
              <a:rPr lang="da-DK" sz="1100" dirty="0" err="1">
                <a:solidFill>
                  <a:srgbClr val="000000"/>
                </a:solidFill>
                <a:ea typeface="Helvetica Neue" panose="02000503000000020004" pitchFamily="2" charset="0"/>
                <a:cs typeface="Helvetica Neue" panose="02000503000000020004" pitchFamily="2" charset="0"/>
              </a:rPr>
              <a:t>morot</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3 dl keso 4%</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4 ä</a:t>
            </a:r>
            <a:r>
              <a:rPr lang="it-IT" sz="1100" dirty="0">
                <a:solidFill>
                  <a:srgbClr val="000000"/>
                </a:solidFill>
                <a:ea typeface="Helvetica Neue" panose="02000503000000020004" pitchFamily="2" charset="0"/>
                <a:cs typeface="Helvetica Neue" panose="02000503000000020004" pitchFamily="2" charset="0"/>
              </a:rPr>
              <a:t>gg</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solroskärnor</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pumpafrön</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a:t>
            </a:r>
            <a:r>
              <a:rPr lang="sv-SE" sz="1100" dirty="0" err="1">
                <a:solidFill>
                  <a:srgbClr val="000000"/>
                </a:solidFill>
                <a:ea typeface="Helvetica Neue" panose="02000503000000020004" pitchFamily="2" charset="0"/>
                <a:cs typeface="Helvetica Neue" panose="02000503000000020004" pitchFamily="2" charset="0"/>
              </a:rPr>
              <a:t>hampafrön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sesamfrön</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1.5 tsk bakpulver </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krm salt</a:t>
            </a:r>
          </a:p>
          <a:p>
            <a:pPr>
              <a:spcAft>
                <a:spcPts val="0"/>
              </a:spcAft>
            </a:pP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b="1" dirty="0" err="1">
                <a:solidFill>
                  <a:srgbClr val="000000"/>
                </a:solidFill>
                <a:ea typeface="Helvetica Neue" panose="02000503000000020004" pitchFamily="2" charset="0"/>
                <a:cs typeface="Helvetica Neue" panose="02000503000000020004" pitchFamily="2" charset="0"/>
              </a:rPr>
              <a:t>Topping</a:t>
            </a:r>
            <a:r>
              <a:rPr lang="sv-SE" sz="1100" b="1" dirty="0">
                <a:solidFill>
                  <a:srgbClr val="000000"/>
                </a:solidFill>
                <a:ea typeface="Helvetica Neue" panose="02000503000000020004" pitchFamily="2" charset="0"/>
                <a:cs typeface="Helvetica Neue" panose="02000503000000020004" pitchFamily="2" charset="0"/>
              </a:rPr>
              <a:t>: </a:t>
            </a:r>
            <a:r>
              <a:rPr lang="sv-SE" sz="1100" dirty="0">
                <a:solidFill>
                  <a:srgbClr val="000000"/>
                </a:solidFill>
                <a:ea typeface="Helvetica Neue" panose="02000503000000020004" pitchFamily="2" charset="0"/>
                <a:cs typeface="Helvetica Neue" panose="02000503000000020004" pitchFamily="2" charset="0"/>
              </a:rPr>
              <a:t>1/2 dl </a:t>
            </a:r>
            <a:r>
              <a:rPr lang="sv-SE" sz="1100" dirty="0" err="1">
                <a:solidFill>
                  <a:srgbClr val="000000"/>
                </a:solidFill>
                <a:ea typeface="Helvetica Neue" panose="02000503000000020004" pitchFamily="2" charset="0"/>
                <a:cs typeface="Helvetica Neue" panose="02000503000000020004" pitchFamily="2" charset="0"/>
              </a:rPr>
              <a:t>hampafrön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pitchFamily="2" charset="0"/>
                <a:cs typeface="Helvetica" pitchFamily="2" charset="0"/>
              </a:rPr>
              <a:t> </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Sätt ugnen p</a:t>
            </a:r>
            <a:r>
              <a:rPr lang="da-DK" sz="1100" dirty="0">
                <a:solidFill>
                  <a:srgbClr val="000000"/>
                </a:solidFill>
                <a:ea typeface="Helvetica Neue" panose="02000503000000020004" pitchFamily="2" charset="0"/>
                <a:cs typeface="Helvetica Neue" panose="02000503000000020004" pitchFamily="2" charset="0"/>
              </a:rPr>
              <a:t>å </a:t>
            </a:r>
            <a:r>
              <a:rPr lang="sv-SE" sz="1100" dirty="0">
                <a:solidFill>
                  <a:srgbClr val="000000"/>
                </a:solidFill>
                <a:ea typeface="Helvetica Neue" panose="02000503000000020004" pitchFamily="2" charset="0"/>
                <a:cs typeface="Helvetica Neue" panose="02000503000000020004" pitchFamily="2" charset="0"/>
              </a:rPr>
              <a:t>200 grader. Skala och riv morot grovt. Hacka aprikoserna. Lägg i en skål med alla ingredienser. Blanda ihop och </a:t>
            </a:r>
            <a:r>
              <a:rPr lang="pt-PT" sz="1100" dirty="0">
                <a:solidFill>
                  <a:srgbClr val="000000"/>
                </a:solidFill>
                <a:ea typeface="Helvetica Neue" panose="02000503000000020004" pitchFamily="2" charset="0"/>
                <a:cs typeface="Helvetica Neue" panose="02000503000000020004" pitchFamily="2" charset="0"/>
              </a:rPr>
              <a:t>f</a:t>
            </a:r>
            <a:r>
              <a:rPr lang="sv-SE" sz="1100" dirty="0">
                <a:solidFill>
                  <a:srgbClr val="000000"/>
                </a:solidFill>
                <a:ea typeface="Helvetica Neue" panose="02000503000000020004" pitchFamily="2" charset="0"/>
                <a:cs typeface="Helvetica Neue" panose="02000503000000020004" pitchFamily="2" charset="0"/>
              </a:rPr>
              <a:t>orma till avlånga bullar. Lägg på en bakplåtsklädd plåt och strö på </a:t>
            </a:r>
            <a:r>
              <a:rPr lang="sv-SE" sz="1100" dirty="0" err="1">
                <a:solidFill>
                  <a:srgbClr val="000000"/>
                </a:solidFill>
                <a:ea typeface="Helvetica Neue" panose="02000503000000020004" pitchFamily="2" charset="0"/>
                <a:cs typeface="Helvetica Neue" panose="02000503000000020004" pitchFamily="2" charset="0"/>
              </a:rPr>
              <a:t>hampafrön</a:t>
            </a:r>
            <a:r>
              <a:rPr lang="sv-SE" sz="1100" dirty="0">
                <a:solidFill>
                  <a:srgbClr val="000000"/>
                </a:solidFill>
                <a:ea typeface="Helvetica Neue" panose="02000503000000020004" pitchFamily="2" charset="0"/>
                <a:cs typeface="Helvetica Neue" panose="02000503000000020004" pitchFamily="2" charset="0"/>
              </a:rPr>
              <a:t>.  </a:t>
            </a:r>
          </a:p>
          <a:p>
            <a:pPr>
              <a:spcAft>
                <a:spcPts val="0"/>
              </a:spcAft>
            </a:pPr>
            <a:r>
              <a:rPr lang="sv-SE" sz="1100" dirty="0" err="1">
                <a:solidFill>
                  <a:srgbClr val="000000"/>
                </a:solidFill>
                <a:ea typeface="Helvetica Neue" panose="02000503000000020004" pitchFamily="2" charset="0"/>
                <a:cs typeface="Helvetica Neue" panose="02000503000000020004" pitchFamily="2" charset="0"/>
              </a:rPr>
              <a:t>Grä</a:t>
            </a:r>
            <a:r>
              <a:rPr lang="it-IT" sz="1100" dirty="0">
                <a:solidFill>
                  <a:srgbClr val="000000"/>
                </a:solidFill>
                <a:ea typeface="Helvetica Neue" panose="02000503000000020004" pitchFamily="2" charset="0"/>
                <a:cs typeface="Helvetica Neue" panose="02000503000000020004" pitchFamily="2" charset="0"/>
              </a:rPr>
              <a:t>dda i ugnen ca: 2</a:t>
            </a:r>
            <a:r>
              <a:rPr lang="sv-SE" sz="1100" dirty="0">
                <a:solidFill>
                  <a:srgbClr val="000000"/>
                </a:solidFill>
                <a:ea typeface="Helvetica Neue" panose="02000503000000020004" pitchFamily="2" charset="0"/>
                <a:cs typeface="Helvetica Neue" panose="02000503000000020004" pitchFamily="2" charset="0"/>
              </a:rPr>
              <a:t>0 min. L</a:t>
            </a:r>
            <a:r>
              <a:rPr lang="da-DK" sz="1100" dirty="0">
                <a:solidFill>
                  <a:srgbClr val="000000"/>
                </a:solidFill>
                <a:ea typeface="Helvetica Neue" panose="02000503000000020004" pitchFamily="2" charset="0"/>
                <a:cs typeface="Helvetica Neue" panose="02000503000000020004" pitchFamily="2" charset="0"/>
              </a:rPr>
              <a:t>å</a:t>
            </a:r>
            <a:r>
              <a:rPr lang="sv-SE" sz="1100" dirty="0">
                <a:solidFill>
                  <a:srgbClr val="000000"/>
                </a:solidFill>
                <a:ea typeface="Helvetica Neue" panose="02000503000000020004" pitchFamily="2" charset="0"/>
                <a:cs typeface="Helvetica Neue" panose="02000503000000020004" pitchFamily="2" charset="0"/>
              </a:rPr>
              <a:t>t svalna och förvara i frysen.</a:t>
            </a:r>
          </a:p>
        </p:txBody>
      </p:sp>
      <p:sp>
        <p:nvSpPr>
          <p:cNvPr id="12" name="textruta 11">
            <a:extLst>
              <a:ext uri="{FF2B5EF4-FFF2-40B4-BE49-F238E27FC236}">
                <a16:creationId xmlns:a16="http://schemas.microsoft.com/office/drawing/2014/main" id="{F15FD6BF-CC30-43C5-AC4C-78E43C405451}"/>
              </a:ext>
            </a:extLst>
          </p:cNvPr>
          <p:cNvSpPr txBox="1"/>
          <p:nvPr/>
        </p:nvSpPr>
        <p:spPr>
          <a:xfrm>
            <a:off x="177174" y="1422978"/>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2" name="textruta 1">
            <a:extLst>
              <a:ext uri="{FF2B5EF4-FFF2-40B4-BE49-F238E27FC236}">
                <a16:creationId xmlns:a16="http://schemas.microsoft.com/office/drawing/2014/main" id="{95E5F092-0F5D-723B-359F-8A4FEE34AE49}"/>
              </a:ext>
            </a:extLst>
          </p:cNvPr>
          <p:cNvSpPr txBox="1"/>
          <p:nvPr/>
        </p:nvSpPr>
        <p:spPr>
          <a:xfrm>
            <a:off x="94595" y="330759"/>
            <a:ext cx="6814135" cy="954107"/>
          </a:xfrm>
          <a:prstGeom prst="rect">
            <a:avLst/>
          </a:prstGeom>
          <a:noFill/>
        </p:spPr>
        <p:txBody>
          <a:bodyPr wrap="square" rtlCol="0">
            <a:spAutoFit/>
          </a:bodyPr>
          <a:lstStyle/>
          <a:p>
            <a:r>
              <a:rPr lang="sv-SE" sz="2800" dirty="0">
                <a:latin typeface="BigCaslonFB" panose="02000603080000020003" pitchFamily="50" charset="0"/>
              </a:rPr>
              <a:t>RECEPT v. 6</a:t>
            </a:r>
          </a:p>
          <a:p>
            <a:r>
              <a:rPr lang="sv-SE" sz="2800" dirty="0" err="1">
                <a:latin typeface="BigCaslonFB" panose="02000603080000020003" pitchFamily="50" charset="0"/>
              </a:rPr>
              <a:t>Functional</a:t>
            </a:r>
            <a:r>
              <a:rPr lang="sv-SE" sz="2800" dirty="0">
                <a:latin typeface="BigCaslonFB" panose="02000603080000020003" pitchFamily="50" charset="0"/>
              </a:rPr>
              <a:t> Foods</a:t>
            </a:r>
          </a:p>
        </p:txBody>
      </p:sp>
      <p:cxnSp>
        <p:nvCxnSpPr>
          <p:cNvPr id="3" name="Rak koppling 2">
            <a:extLst>
              <a:ext uri="{FF2B5EF4-FFF2-40B4-BE49-F238E27FC236}">
                <a16:creationId xmlns:a16="http://schemas.microsoft.com/office/drawing/2014/main" id="{23ABB56F-1DE2-40DD-CB7B-08E8DD7BF20F}"/>
              </a:ext>
            </a:extLst>
          </p:cNvPr>
          <p:cNvCxnSpPr>
            <a:cxnSpLocks/>
          </p:cNvCxnSpPr>
          <p:nvPr/>
        </p:nvCxnSpPr>
        <p:spPr>
          <a:xfrm flipV="1">
            <a:off x="-50815" y="175928"/>
            <a:ext cx="6875766" cy="7574"/>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 name="Rak koppling 4">
            <a:extLst>
              <a:ext uri="{FF2B5EF4-FFF2-40B4-BE49-F238E27FC236}">
                <a16:creationId xmlns:a16="http://schemas.microsoft.com/office/drawing/2014/main" id="{6DB80FA7-3373-94E0-A093-91846E7D6631}"/>
              </a:ext>
            </a:extLst>
          </p:cNvPr>
          <p:cNvCxnSpPr>
            <a:cxnSpLocks/>
          </p:cNvCxnSpPr>
          <p:nvPr/>
        </p:nvCxnSpPr>
        <p:spPr>
          <a:xfrm flipV="1">
            <a:off x="21755" y="1346779"/>
            <a:ext cx="6843163" cy="64101"/>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1</a:t>
            </a:fld>
            <a:endParaRPr lang="sv-SE" sz="900" dirty="0"/>
          </a:p>
        </p:txBody>
      </p:sp>
      <p:pic>
        <p:nvPicPr>
          <p:cNvPr id="13" name="Bildobjekt 12">
            <a:extLst>
              <a:ext uri="{FF2B5EF4-FFF2-40B4-BE49-F238E27FC236}">
                <a16:creationId xmlns:a16="http://schemas.microsoft.com/office/drawing/2014/main" id="{A19D216B-362D-794B-9659-68D5CE3EBCF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173140" y="2023607"/>
            <a:ext cx="3999660" cy="2999745"/>
          </a:xfrm>
          <a:prstGeom prst="rect">
            <a:avLst/>
          </a:prstGeom>
        </p:spPr>
      </p:pic>
      <p:sp>
        <p:nvSpPr>
          <p:cNvPr id="14" name="Rektangel 13">
            <a:extLst>
              <a:ext uri="{FF2B5EF4-FFF2-40B4-BE49-F238E27FC236}">
                <a16:creationId xmlns:a16="http://schemas.microsoft.com/office/drawing/2014/main" id="{5C37086A-CDA1-9E47-A3FC-D9F612140087}"/>
              </a:ext>
            </a:extLst>
          </p:cNvPr>
          <p:cNvSpPr/>
          <p:nvPr/>
        </p:nvSpPr>
        <p:spPr>
          <a:xfrm>
            <a:off x="378594" y="2111321"/>
            <a:ext cx="2605654" cy="2631490"/>
          </a:xfrm>
          <a:prstGeom prst="rect">
            <a:avLst/>
          </a:prstGeom>
        </p:spPr>
        <p:txBody>
          <a:bodyPr wrap="square">
            <a:spAutoFit/>
          </a:bodyPr>
          <a:lstStyle/>
          <a:p>
            <a:r>
              <a:rPr lang="sv-SE" sz="1100" b="1" dirty="0">
                <a:solidFill>
                  <a:srgbClr val="1A1A1A"/>
                </a:solidFill>
              </a:rPr>
              <a:t>Äggröra med granatäpple och kiwi</a:t>
            </a:r>
          </a:p>
          <a:p>
            <a:r>
              <a:rPr lang="sv-SE" sz="1100" b="1" dirty="0">
                <a:solidFill>
                  <a:srgbClr val="1A1A1A"/>
                </a:solidFill>
              </a:rPr>
              <a:t> - 1 portion</a:t>
            </a:r>
            <a:endParaRPr lang="sv-SE" sz="1100" dirty="0">
              <a:solidFill>
                <a:srgbClr val="1A1A1A"/>
              </a:solidFill>
            </a:endParaRPr>
          </a:p>
          <a:p>
            <a:r>
              <a:rPr lang="sv-SE" sz="1100" dirty="0">
                <a:solidFill>
                  <a:srgbClr val="1A1A1A"/>
                </a:solidFill>
              </a:rPr>
              <a:t>2 ägg</a:t>
            </a:r>
          </a:p>
          <a:p>
            <a:r>
              <a:rPr lang="sv-SE" sz="1100" dirty="0">
                <a:solidFill>
                  <a:srgbClr val="1A1A1A"/>
                </a:solidFill>
              </a:rPr>
              <a:t>1 tsk smör</a:t>
            </a:r>
          </a:p>
          <a:p>
            <a:r>
              <a:rPr lang="sv-SE" sz="1100" dirty="0">
                <a:solidFill>
                  <a:srgbClr val="1A1A1A"/>
                </a:solidFill>
              </a:rPr>
              <a:t>Salt och svartpeppar </a:t>
            </a:r>
          </a:p>
          <a:p>
            <a:r>
              <a:rPr lang="sv-SE" sz="1100" dirty="0">
                <a:solidFill>
                  <a:srgbClr val="1A1A1A"/>
                </a:solidFill>
              </a:rPr>
              <a:t>2 msk granatäpplekärnor</a:t>
            </a:r>
          </a:p>
          <a:p>
            <a:r>
              <a:rPr lang="sv-SE" sz="1100" dirty="0">
                <a:solidFill>
                  <a:srgbClr val="1A1A1A"/>
                </a:solidFill>
              </a:rPr>
              <a:t>1/2 kiwi</a:t>
            </a:r>
          </a:p>
          <a:p>
            <a:endParaRPr lang="sv-SE" sz="1100" dirty="0">
              <a:solidFill>
                <a:srgbClr val="1A1A1A"/>
              </a:solidFill>
            </a:endParaRPr>
          </a:p>
          <a:p>
            <a:r>
              <a:rPr lang="sv-SE" sz="1100" dirty="0">
                <a:solidFill>
                  <a:srgbClr val="1A1A1A"/>
                </a:solidFill>
              </a:rPr>
              <a:t>Skär kiwi i mindre bitar. Blanda ägg och grädde i en skål. Strö på salt och peppar. Hetta upp en stekpanna med smör. Häll i äggröran i pannan och rör om på svag värme tills äggröran blivit mjuk och krämig. Lägg äggröran på en tallrik och toppa med granatäpplekärnor och kiwi. </a:t>
            </a:r>
            <a:endParaRPr lang="sv-SE" sz="1100" dirty="0">
              <a:solidFill>
                <a:srgbClr val="1A1A1A"/>
              </a:solidFill>
              <a:effectLst/>
            </a:endParaRPr>
          </a:p>
        </p:txBody>
      </p:sp>
      <p:sp>
        <p:nvSpPr>
          <p:cNvPr id="15" name="Ellips 14">
            <a:extLst>
              <a:ext uri="{FF2B5EF4-FFF2-40B4-BE49-F238E27FC236}">
                <a16:creationId xmlns:a16="http://schemas.microsoft.com/office/drawing/2014/main" id="{A87898B7-8493-D54C-B5F2-CE2647F4BB49}"/>
              </a:ext>
            </a:extLst>
          </p:cNvPr>
          <p:cNvSpPr/>
          <p:nvPr/>
        </p:nvSpPr>
        <p:spPr>
          <a:xfrm>
            <a:off x="2275685" y="252898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230kcal</a:t>
            </a:r>
            <a:endParaRPr sz="1200" b="1" dirty="0">
              <a:solidFill>
                <a:schemeClr val="bg1"/>
              </a:solidFill>
              <a:ea typeface="ＭＳ 明朝"/>
              <a:cs typeface="Avenir Light"/>
            </a:endParaRPr>
          </a:p>
        </p:txBody>
      </p:sp>
      <p:pic>
        <p:nvPicPr>
          <p:cNvPr id="16" name="Bildobjekt 15">
            <a:extLst>
              <a:ext uri="{FF2B5EF4-FFF2-40B4-BE49-F238E27FC236}">
                <a16:creationId xmlns:a16="http://schemas.microsoft.com/office/drawing/2014/main" id="{7D37AB3A-3EFC-164A-822F-E16F2CD4D99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16200000">
            <a:off x="3760703" y="5234847"/>
            <a:ext cx="2486862" cy="3315816"/>
          </a:xfrm>
          <a:prstGeom prst="rect">
            <a:avLst/>
          </a:prstGeom>
        </p:spPr>
      </p:pic>
      <p:sp>
        <p:nvSpPr>
          <p:cNvPr id="18" name="Ellips 17">
            <a:extLst>
              <a:ext uri="{FF2B5EF4-FFF2-40B4-BE49-F238E27FC236}">
                <a16:creationId xmlns:a16="http://schemas.microsoft.com/office/drawing/2014/main" id="{8E05A415-FAB5-2647-A354-92E214E372DA}"/>
              </a:ext>
            </a:extLst>
          </p:cNvPr>
          <p:cNvSpPr/>
          <p:nvPr/>
        </p:nvSpPr>
        <p:spPr>
          <a:xfrm>
            <a:off x="1709852" y="6123087"/>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354 kcal</a:t>
            </a:r>
            <a:endParaRPr sz="1200" b="1" dirty="0">
              <a:solidFill>
                <a:schemeClr val="bg1"/>
              </a:solidFill>
              <a:ea typeface="ＭＳ 明朝"/>
              <a:cs typeface="Avenir Light"/>
            </a:endParaRPr>
          </a:p>
        </p:txBody>
      </p:sp>
      <p:sp>
        <p:nvSpPr>
          <p:cNvPr id="21" name="Platshållare för sidfot 1">
            <a:extLst>
              <a:ext uri="{FF2B5EF4-FFF2-40B4-BE49-F238E27FC236}">
                <a16:creationId xmlns:a16="http://schemas.microsoft.com/office/drawing/2014/main" id="{AF322454-A20F-B14C-8C89-A388C81145C1}"/>
              </a:ext>
            </a:extLst>
          </p:cNvPr>
          <p:cNvSpPr>
            <a:spLocks noGrp="1"/>
          </p:cNvSpPr>
          <p:nvPr>
            <p:ph type="ftr" sz="quarter" idx="11"/>
          </p:nvPr>
        </p:nvSpPr>
        <p:spPr>
          <a:xfrm>
            <a:off x="1506500" y="8497384"/>
            <a:ext cx="3963599" cy="911286"/>
          </a:xfrm>
        </p:spPr>
        <p:txBody>
          <a:bodyPr/>
          <a:lstStyle/>
          <a:p>
            <a:r>
              <a:rPr lang="sv-SE" sz="900" dirty="0"/>
              <a:t>FUNCTIONAL FOODS BASKURS ● RECEPT  ● VECKA 6</a:t>
            </a:r>
          </a:p>
        </p:txBody>
      </p:sp>
    </p:spTree>
    <p:extLst>
      <p:ext uri="{BB962C8B-B14F-4D97-AF65-F5344CB8AC3E}">
        <p14:creationId xmlns:p14="http://schemas.microsoft.com/office/powerpoint/2010/main" val="3788094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ruta 11">
            <a:extLst>
              <a:ext uri="{FF2B5EF4-FFF2-40B4-BE49-F238E27FC236}">
                <a16:creationId xmlns:a16="http://schemas.microsoft.com/office/drawing/2014/main" id="{EA745202-70D2-4822-9DF5-D98FE15317DA}"/>
              </a:ext>
            </a:extLst>
          </p:cNvPr>
          <p:cNvSpPr txBox="1"/>
          <p:nvPr/>
        </p:nvSpPr>
        <p:spPr>
          <a:xfrm>
            <a:off x="391413" y="345219"/>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3" name="Platshållare för bildnummer 2">
            <a:extLst>
              <a:ext uri="{FF2B5EF4-FFF2-40B4-BE49-F238E27FC236}">
                <a16:creationId xmlns:a16="http://schemas.microsoft.com/office/drawing/2014/main" id="{951B1928-3D89-295A-9AE2-0F50731B449E}"/>
              </a:ext>
            </a:extLst>
          </p:cNvPr>
          <p:cNvSpPr>
            <a:spLocks noGrp="1"/>
          </p:cNvSpPr>
          <p:nvPr>
            <p:ph type="sldNum" sz="quarter" idx="12"/>
          </p:nvPr>
        </p:nvSpPr>
        <p:spPr>
          <a:xfrm>
            <a:off x="5068259" y="8634484"/>
            <a:ext cx="1600200" cy="486833"/>
          </a:xfrm>
        </p:spPr>
        <p:txBody>
          <a:bodyPr/>
          <a:lstStyle/>
          <a:p>
            <a:fld id="{97BA8967-5D92-4842-BAFB-0C8F679E5DC4}" type="slidenum">
              <a:rPr lang="sv-SE" sz="900" smtClean="0"/>
              <a:t>2</a:t>
            </a:fld>
            <a:endParaRPr lang="sv-SE" sz="900" dirty="0"/>
          </a:p>
        </p:txBody>
      </p:sp>
      <p:sp>
        <p:nvSpPr>
          <p:cNvPr id="10" name="Ellips 9">
            <a:extLst>
              <a:ext uri="{FF2B5EF4-FFF2-40B4-BE49-F238E27FC236}">
                <a16:creationId xmlns:a16="http://schemas.microsoft.com/office/drawing/2014/main" id="{CCA61836-59C3-0A47-9ACF-B9B0FE47378A}"/>
              </a:ext>
            </a:extLst>
          </p:cNvPr>
          <p:cNvSpPr/>
          <p:nvPr/>
        </p:nvSpPr>
        <p:spPr>
          <a:xfrm>
            <a:off x="2347025" y="176956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268kcal</a:t>
            </a:r>
            <a:endParaRPr sz="1200" b="1" dirty="0">
              <a:solidFill>
                <a:schemeClr val="bg1"/>
              </a:solidFill>
              <a:ea typeface="ＭＳ 明朝"/>
              <a:cs typeface="Avenir Light"/>
            </a:endParaRPr>
          </a:p>
        </p:txBody>
      </p:sp>
      <p:pic>
        <p:nvPicPr>
          <p:cNvPr id="11" name="Bildobjekt 10">
            <a:extLst>
              <a:ext uri="{FF2B5EF4-FFF2-40B4-BE49-F238E27FC236}">
                <a16:creationId xmlns:a16="http://schemas.microsoft.com/office/drawing/2014/main" id="{2A537121-E68F-4B40-9189-BBF226E82F0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2835755" y="784166"/>
            <a:ext cx="4204966" cy="3153725"/>
          </a:xfrm>
          <a:prstGeom prst="rect">
            <a:avLst/>
          </a:prstGeom>
        </p:spPr>
      </p:pic>
      <p:pic>
        <p:nvPicPr>
          <p:cNvPr id="13" name="Bildobjekt 12">
            <a:extLst>
              <a:ext uri="{FF2B5EF4-FFF2-40B4-BE49-F238E27FC236}">
                <a16:creationId xmlns:a16="http://schemas.microsoft.com/office/drawing/2014/main" id="{A02BA1D4-9F18-1343-8030-1DD591A3648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314339" y="5131575"/>
            <a:ext cx="4200816" cy="3150612"/>
          </a:xfrm>
          <a:prstGeom prst="rect">
            <a:avLst/>
          </a:prstGeom>
        </p:spPr>
      </p:pic>
      <p:sp>
        <p:nvSpPr>
          <p:cNvPr id="14" name="Rektangel 13">
            <a:extLst>
              <a:ext uri="{FF2B5EF4-FFF2-40B4-BE49-F238E27FC236}">
                <a16:creationId xmlns:a16="http://schemas.microsoft.com/office/drawing/2014/main" id="{3D7E12B6-B532-D24E-AE49-26EC77FCC98D}"/>
              </a:ext>
            </a:extLst>
          </p:cNvPr>
          <p:cNvSpPr/>
          <p:nvPr/>
        </p:nvSpPr>
        <p:spPr>
          <a:xfrm>
            <a:off x="404015" y="2361028"/>
            <a:ext cx="2764510" cy="1785104"/>
          </a:xfrm>
          <a:prstGeom prst="rect">
            <a:avLst/>
          </a:prstGeom>
        </p:spPr>
        <p:txBody>
          <a:bodyPr wrap="square">
            <a:spAutoFit/>
          </a:bodyPr>
          <a:lstStyle/>
          <a:p>
            <a:r>
              <a:rPr lang="sv-SE" sz="1100" b="1" dirty="0">
                <a:solidFill>
                  <a:srgbClr val="1A1A1A"/>
                </a:solidFill>
              </a:rPr>
              <a:t>Kokt ägg med majonnäs - 1 portion</a:t>
            </a:r>
            <a:endParaRPr lang="sv-SE" sz="1100" dirty="0">
              <a:solidFill>
                <a:srgbClr val="1A1A1A"/>
              </a:solidFill>
            </a:endParaRPr>
          </a:p>
          <a:p>
            <a:r>
              <a:rPr lang="sv-SE" sz="1100" dirty="0">
                <a:solidFill>
                  <a:srgbClr val="1A1A1A"/>
                </a:solidFill>
              </a:rPr>
              <a:t>2 ägg</a:t>
            </a:r>
          </a:p>
          <a:p>
            <a:r>
              <a:rPr lang="sv-SE" sz="1100" dirty="0">
                <a:solidFill>
                  <a:srgbClr val="1A1A1A"/>
                </a:solidFill>
              </a:rPr>
              <a:t>1/2 msk majonnäs</a:t>
            </a:r>
          </a:p>
          <a:p>
            <a:r>
              <a:rPr lang="sv-SE" sz="1100" dirty="0">
                <a:solidFill>
                  <a:srgbClr val="1A1A1A"/>
                </a:solidFill>
              </a:rPr>
              <a:t>Salt</a:t>
            </a:r>
          </a:p>
          <a:p>
            <a:endParaRPr lang="sv-SE" sz="1100" dirty="0">
              <a:solidFill>
                <a:srgbClr val="1A1A1A"/>
              </a:solidFill>
            </a:endParaRPr>
          </a:p>
          <a:p>
            <a:r>
              <a:rPr lang="sv-SE" sz="1100" dirty="0">
                <a:solidFill>
                  <a:srgbClr val="1A1A1A"/>
                </a:solidFill>
              </a:rPr>
              <a:t>Koka upp vatten i en kastrull. Lägg försiktigt i ägget och sänk värmen. Koka i ca 7-10 minuter. Spola ägget under allt vatten för att avstanna kokningen. Skala ägget, strö på lite salt och servera med en klick majonnäs.</a:t>
            </a:r>
            <a:endParaRPr lang="sv-SE" sz="1100" dirty="0">
              <a:solidFill>
                <a:srgbClr val="1A1A1A"/>
              </a:solidFill>
              <a:effectLst/>
            </a:endParaRPr>
          </a:p>
        </p:txBody>
      </p:sp>
      <p:sp>
        <p:nvSpPr>
          <p:cNvPr id="16" name="Rektangel 15">
            <a:extLst>
              <a:ext uri="{FF2B5EF4-FFF2-40B4-BE49-F238E27FC236}">
                <a16:creationId xmlns:a16="http://schemas.microsoft.com/office/drawing/2014/main" id="{9081D4CC-01E7-3747-8614-ADC56F129DF3}"/>
              </a:ext>
            </a:extLst>
          </p:cNvPr>
          <p:cNvSpPr/>
          <p:nvPr/>
        </p:nvSpPr>
        <p:spPr>
          <a:xfrm>
            <a:off x="3535149" y="5238084"/>
            <a:ext cx="2759501" cy="2970044"/>
          </a:xfrm>
          <a:prstGeom prst="rect">
            <a:avLst/>
          </a:prstGeom>
        </p:spPr>
        <p:txBody>
          <a:bodyPr wrap="square">
            <a:spAutoFit/>
          </a:bodyPr>
          <a:lstStyle/>
          <a:p>
            <a:r>
              <a:rPr lang="sv-SE" sz="1100" b="1" dirty="0">
                <a:solidFill>
                  <a:srgbClr val="1A1A1A"/>
                </a:solidFill>
              </a:rPr>
              <a:t>Havregrynsgröt med apelsin och kokos - 1 portion</a:t>
            </a:r>
            <a:endParaRPr lang="sv-SE" sz="1100" dirty="0">
              <a:solidFill>
                <a:srgbClr val="1A1A1A"/>
              </a:solidFill>
            </a:endParaRPr>
          </a:p>
          <a:p>
            <a:r>
              <a:rPr lang="sv-SE" sz="1100" dirty="0">
                <a:solidFill>
                  <a:srgbClr val="1A1A1A"/>
                </a:solidFill>
              </a:rPr>
              <a:t>1 dl havregryn</a:t>
            </a:r>
          </a:p>
          <a:p>
            <a:r>
              <a:rPr lang="sv-SE" sz="1100" dirty="0">
                <a:solidFill>
                  <a:srgbClr val="1A1A1A"/>
                </a:solidFill>
              </a:rPr>
              <a:t>2 dl vatten</a:t>
            </a:r>
          </a:p>
          <a:p>
            <a:r>
              <a:rPr lang="sv-SE" sz="1100" dirty="0">
                <a:solidFill>
                  <a:srgbClr val="1A1A1A"/>
                </a:solidFill>
              </a:rPr>
              <a:t>Salt</a:t>
            </a:r>
          </a:p>
          <a:p>
            <a:r>
              <a:rPr lang="sv-SE" sz="1100" dirty="0">
                <a:solidFill>
                  <a:srgbClr val="1A1A1A"/>
                </a:solidFill>
              </a:rPr>
              <a:t>1 krm kardemumma </a:t>
            </a:r>
          </a:p>
          <a:p>
            <a:r>
              <a:rPr lang="sv-SE" sz="1100" dirty="0">
                <a:solidFill>
                  <a:srgbClr val="1A1A1A"/>
                </a:solidFill>
              </a:rPr>
              <a:t>1/2 apelsin</a:t>
            </a:r>
          </a:p>
          <a:p>
            <a:r>
              <a:rPr lang="sv-SE" sz="1100" dirty="0">
                <a:solidFill>
                  <a:srgbClr val="1A1A1A"/>
                </a:solidFill>
              </a:rPr>
              <a:t>1 msk kokosflingor</a:t>
            </a:r>
          </a:p>
          <a:p>
            <a:endParaRPr lang="sv-SE" sz="1100" dirty="0">
              <a:solidFill>
                <a:srgbClr val="1A1A1A"/>
              </a:solidFill>
            </a:endParaRPr>
          </a:p>
          <a:p>
            <a:r>
              <a:rPr lang="sv-SE" sz="1100" b="1" dirty="0">
                <a:solidFill>
                  <a:srgbClr val="1A1A1A"/>
                </a:solidFill>
              </a:rPr>
              <a:t>Tillbehör: </a:t>
            </a:r>
            <a:r>
              <a:rPr lang="sv-SE" sz="1100" dirty="0">
                <a:solidFill>
                  <a:srgbClr val="1A1A1A"/>
                </a:solidFill>
              </a:rPr>
              <a:t>1 dl mandelmjölk</a:t>
            </a:r>
          </a:p>
          <a:p>
            <a:endParaRPr lang="sv-SE" sz="1100" dirty="0">
              <a:solidFill>
                <a:srgbClr val="1A1A1A"/>
              </a:solidFill>
            </a:endParaRPr>
          </a:p>
          <a:p>
            <a:r>
              <a:rPr lang="sv-SE" sz="1100" dirty="0">
                <a:solidFill>
                  <a:srgbClr val="1A1A1A"/>
                </a:solidFill>
              </a:rPr>
              <a:t>Skala och skär apelsin i klyftor. Blanda havregryn, vatten, kardemumma och salt i en kastrull. Låt  koka upp. Koka på svag värme under omrörning i 3 min. Lägg upp gröten i en skål och toppa med apelsin och kokos. Strö på kardemumma. </a:t>
            </a:r>
            <a:endParaRPr lang="sv-SE" sz="1100" dirty="0">
              <a:solidFill>
                <a:srgbClr val="1A1A1A"/>
              </a:solidFill>
              <a:effectLst/>
            </a:endParaRPr>
          </a:p>
        </p:txBody>
      </p:sp>
      <p:sp>
        <p:nvSpPr>
          <p:cNvPr id="20" name="Ellips 19">
            <a:extLst>
              <a:ext uri="{FF2B5EF4-FFF2-40B4-BE49-F238E27FC236}">
                <a16:creationId xmlns:a16="http://schemas.microsoft.com/office/drawing/2014/main" id="{ADB14AE3-9B29-4B4F-AA2C-2A4E9DEBC54E}"/>
              </a:ext>
            </a:extLst>
          </p:cNvPr>
          <p:cNvSpPr/>
          <p:nvPr/>
        </p:nvSpPr>
        <p:spPr>
          <a:xfrm>
            <a:off x="5009026" y="592880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239 kcal</a:t>
            </a:r>
            <a:endParaRPr sz="1200" b="1" dirty="0">
              <a:solidFill>
                <a:schemeClr val="bg1"/>
              </a:solidFill>
              <a:ea typeface="ＭＳ 明朝"/>
              <a:cs typeface="Avenir Light"/>
            </a:endParaRPr>
          </a:p>
        </p:txBody>
      </p:sp>
      <p:sp>
        <p:nvSpPr>
          <p:cNvPr id="21" name="Platshållare för sidfot 1">
            <a:extLst>
              <a:ext uri="{FF2B5EF4-FFF2-40B4-BE49-F238E27FC236}">
                <a16:creationId xmlns:a16="http://schemas.microsoft.com/office/drawing/2014/main" id="{37920585-E743-6E49-9724-B4079B3AC540}"/>
              </a:ext>
            </a:extLst>
          </p:cNvPr>
          <p:cNvSpPr>
            <a:spLocks noGrp="1"/>
          </p:cNvSpPr>
          <p:nvPr>
            <p:ph type="ftr" sz="quarter" idx="11"/>
          </p:nvPr>
        </p:nvSpPr>
        <p:spPr>
          <a:xfrm>
            <a:off x="1506500" y="8497384"/>
            <a:ext cx="3963599" cy="911286"/>
          </a:xfrm>
        </p:spPr>
        <p:txBody>
          <a:bodyPr/>
          <a:lstStyle/>
          <a:p>
            <a:r>
              <a:rPr lang="sv-SE" sz="900" dirty="0"/>
              <a:t>FUNCTIONAL FOODS BASKURS ● RECEPT  ● VECKA 6</a:t>
            </a:r>
          </a:p>
        </p:txBody>
      </p:sp>
    </p:spTree>
    <p:extLst>
      <p:ext uri="{BB962C8B-B14F-4D97-AF65-F5344CB8AC3E}">
        <p14:creationId xmlns:p14="http://schemas.microsoft.com/office/powerpoint/2010/main" val="3136698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7C6411BE-0591-C244-ADC6-D62D3E4DDB08}"/>
              </a:ext>
            </a:extLst>
          </p:cNvPr>
          <p:cNvSpPr>
            <a:spLocks noGrp="1"/>
          </p:cNvSpPr>
          <p:nvPr>
            <p:ph type="sldNum" sz="quarter" idx="12"/>
          </p:nvPr>
        </p:nvSpPr>
        <p:spPr/>
        <p:txBody>
          <a:bodyPr/>
          <a:lstStyle/>
          <a:p>
            <a:fld id="{97BA8967-5D92-4842-BAFB-0C8F679E5DC4}" type="slidenum">
              <a:rPr lang="sv-SE" smtClean="0"/>
              <a:t>3</a:t>
            </a:fld>
            <a:endParaRPr lang="sv-SE"/>
          </a:p>
        </p:txBody>
      </p:sp>
      <p:sp>
        <p:nvSpPr>
          <p:cNvPr id="9" name="textruta 8">
            <a:extLst>
              <a:ext uri="{FF2B5EF4-FFF2-40B4-BE49-F238E27FC236}">
                <a16:creationId xmlns:a16="http://schemas.microsoft.com/office/drawing/2014/main" id="{8707E3D6-D352-3A49-9E09-BC365DF83D50}"/>
              </a:ext>
            </a:extLst>
          </p:cNvPr>
          <p:cNvSpPr txBox="1"/>
          <p:nvPr/>
        </p:nvSpPr>
        <p:spPr>
          <a:xfrm>
            <a:off x="239168" y="384592"/>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pic>
        <p:nvPicPr>
          <p:cNvPr id="11" name="Bildobjekt 10">
            <a:extLst>
              <a:ext uri="{FF2B5EF4-FFF2-40B4-BE49-F238E27FC236}">
                <a16:creationId xmlns:a16="http://schemas.microsoft.com/office/drawing/2014/main" id="{76C3E66C-341B-3042-94D2-908BA6296B8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799381" y="915409"/>
            <a:ext cx="4246536" cy="3184902"/>
          </a:xfrm>
          <a:prstGeom prst="rect">
            <a:avLst/>
          </a:prstGeom>
        </p:spPr>
      </p:pic>
      <p:sp>
        <p:nvSpPr>
          <p:cNvPr id="12" name="Ellips 11">
            <a:extLst>
              <a:ext uri="{FF2B5EF4-FFF2-40B4-BE49-F238E27FC236}">
                <a16:creationId xmlns:a16="http://schemas.microsoft.com/office/drawing/2014/main" id="{1A61EC9E-0907-204F-9836-AD846E76180C}"/>
              </a:ext>
            </a:extLst>
          </p:cNvPr>
          <p:cNvSpPr/>
          <p:nvPr/>
        </p:nvSpPr>
        <p:spPr>
          <a:xfrm>
            <a:off x="2068936" y="1950583"/>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202 kcal</a:t>
            </a:r>
            <a:endParaRPr sz="1200" b="1" dirty="0">
              <a:solidFill>
                <a:schemeClr val="bg1"/>
              </a:solidFill>
              <a:ea typeface="ＭＳ 明朝"/>
              <a:cs typeface="Avenir Light"/>
            </a:endParaRPr>
          </a:p>
        </p:txBody>
      </p:sp>
      <p:sp>
        <p:nvSpPr>
          <p:cNvPr id="13" name="Rektangel 12">
            <a:extLst>
              <a:ext uri="{FF2B5EF4-FFF2-40B4-BE49-F238E27FC236}">
                <a16:creationId xmlns:a16="http://schemas.microsoft.com/office/drawing/2014/main" id="{0CBBAE55-6362-EB46-927D-32A46C4F279A}"/>
              </a:ext>
            </a:extLst>
          </p:cNvPr>
          <p:cNvSpPr/>
          <p:nvPr/>
        </p:nvSpPr>
        <p:spPr>
          <a:xfrm>
            <a:off x="239168" y="1619690"/>
            <a:ext cx="2887740" cy="1954381"/>
          </a:xfrm>
          <a:prstGeom prst="rect">
            <a:avLst/>
          </a:prstGeom>
        </p:spPr>
        <p:txBody>
          <a:bodyPr wrap="square">
            <a:spAutoFit/>
          </a:bodyPr>
          <a:lstStyle/>
          <a:p>
            <a:r>
              <a:rPr lang="sv-SE" sz="1100" b="1" dirty="0">
                <a:solidFill>
                  <a:srgbClr val="1A1A1A"/>
                </a:solidFill>
              </a:rPr>
              <a:t>Mango med keso och nötter - 1 portion</a:t>
            </a:r>
            <a:endParaRPr lang="sv-SE" sz="1100" dirty="0">
              <a:solidFill>
                <a:srgbClr val="1A1A1A"/>
              </a:solidFill>
            </a:endParaRPr>
          </a:p>
          <a:p>
            <a:r>
              <a:rPr lang="sv-SE" sz="1100" dirty="0">
                <a:solidFill>
                  <a:srgbClr val="1A1A1A"/>
                </a:solidFill>
              </a:rPr>
              <a:t>1/4 mango</a:t>
            </a:r>
          </a:p>
          <a:p>
            <a:r>
              <a:rPr lang="sv-SE" sz="1100" dirty="0">
                <a:solidFill>
                  <a:srgbClr val="1A1A1A"/>
                </a:solidFill>
              </a:rPr>
              <a:t>1 dl keso</a:t>
            </a:r>
          </a:p>
          <a:p>
            <a:r>
              <a:rPr lang="sv-SE" sz="1100" dirty="0">
                <a:solidFill>
                  <a:srgbClr val="1A1A1A"/>
                </a:solidFill>
              </a:rPr>
              <a:t>1 msk pekannötter</a:t>
            </a:r>
          </a:p>
          <a:p>
            <a:r>
              <a:rPr lang="sv-SE" sz="1100" dirty="0">
                <a:solidFill>
                  <a:srgbClr val="1A1A1A"/>
                </a:solidFill>
              </a:rPr>
              <a:t>1/2 msk pistagenötter</a:t>
            </a:r>
          </a:p>
          <a:p>
            <a:endParaRPr lang="sv-SE" sz="1100" dirty="0">
              <a:solidFill>
                <a:srgbClr val="1A1A1A"/>
              </a:solidFill>
            </a:endParaRPr>
          </a:p>
          <a:p>
            <a:r>
              <a:rPr lang="sv-SE" sz="1100" dirty="0">
                <a:solidFill>
                  <a:srgbClr val="1A1A1A"/>
                </a:solidFill>
              </a:rPr>
              <a:t>Skär mango i mindre bitar och lägg upp på en tallrik. Toppa mangon med keso. </a:t>
            </a:r>
            <a:r>
              <a:rPr lang="sv-SE" sz="1100" dirty="0" err="1">
                <a:solidFill>
                  <a:srgbClr val="1A1A1A"/>
                </a:solidFill>
              </a:rPr>
              <a:t>Stö</a:t>
            </a:r>
            <a:r>
              <a:rPr lang="sv-SE" sz="1100" dirty="0">
                <a:solidFill>
                  <a:srgbClr val="1A1A1A"/>
                </a:solidFill>
              </a:rPr>
              <a:t> över pistagenötter och pekannötter. </a:t>
            </a:r>
          </a:p>
          <a:p>
            <a:br>
              <a:rPr lang="sv-SE" sz="1100" dirty="0">
                <a:solidFill>
                  <a:srgbClr val="1A1A1A"/>
                </a:solidFill>
              </a:rPr>
            </a:br>
            <a:endParaRPr lang="sv-SE" sz="1100" dirty="0">
              <a:solidFill>
                <a:srgbClr val="1A1A1A"/>
              </a:solidFill>
              <a:effectLst/>
            </a:endParaRPr>
          </a:p>
        </p:txBody>
      </p:sp>
      <p:sp>
        <p:nvSpPr>
          <p:cNvPr id="17" name="Platshållare för sidfot 1">
            <a:extLst>
              <a:ext uri="{FF2B5EF4-FFF2-40B4-BE49-F238E27FC236}">
                <a16:creationId xmlns:a16="http://schemas.microsoft.com/office/drawing/2014/main" id="{60ED4A8B-1989-494C-B55F-E2A8760E3BEC}"/>
              </a:ext>
            </a:extLst>
          </p:cNvPr>
          <p:cNvSpPr>
            <a:spLocks noGrp="1"/>
          </p:cNvSpPr>
          <p:nvPr>
            <p:ph type="ftr" sz="quarter" idx="11"/>
          </p:nvPr>
        </p:nvSpPr>
        <p:spPr>
          <a:xfrm>
            <a:off x="1506500" y="8497384"/>
            <a:ext cx="3963599" cy="911286"/>
          </a:xfrm>
        </p:spPr>
        <p:txBody>
          <a:bodyPr/>
          <a:lstStyle/>
          <a:p>
            <a:r>
              <a:rPr lang="sv-SE" sz="900" dirty="0"/>
              <a:t>FUNCTIONAL FOODS BASKURS ● RECEPT  ● VECKA 6</a:t>
            </a:r>
          </a:p>
        </p:txBody>
      </p:sp>
      <p:sp>
        <p:nvSpPr>
          <p:cNvPr id="18" name="Rektangel 17">
            <a:extLst>
              <a:ext uri="{FF2B5EF4-FFF2-40B4-BE49-F238E27FC236}">
                <a16:creationId xmlns:a16="http://schemas.microsoft.com/office/drawing/2014/main" id="{97D49FF7-0DC4-C94B-B175-CA0E320031A5}"/>
              </a:ext>
            </a:extLst>
          </p:cNvPr>
          <p:cNvSpPr/>
          <p:nvPr/>
        </p:nvSpPr>
        <p:spPr>
          <a:xfrm>
            <a:off x="3672647" y="5480640"/>
            <a:ext cx="2762345" cy="2292935"/>
          </a:xfrm>
          <a:prstGeom prst="rect">
            <a:avLst/>
          </a:prstGeom>
        </p:spPr>
        <p:txBody>
          <a:bodyPr wrap="square">
            <a:spAutoFit/>
          </a:bodyPr>
          <a:lstStyle/>
          <a:p>
            <a:pPr>
              <a:spcAft>
                <a:spcPts val="0"/>
              </a:spcAft>
            </a:pPr>
            <a:r>
              <a:rPr lang="sv-SE" sz="1100" b="1" dirty="0">
                <a:ea typeface="MS Mincho" panose="02020609040205080304" pitchFamily="49" charset="-128"/>
                <a:cs typeface="Times New Roman" panose="02020603050405020304" pitchFamily="18" charset="0"/>
              </a:rPr>
              <a:t>Hallon- och </a:t>
            </a:r>
            <a:r>
              <a:rPr lang="sv-SE" sz="1100" b="1" dirty="0" err="1">
                <a:ea typeface="MS Mincho" panose="02020609040205080304" pitchFamily="49" charset="-128"/>
                <a:cs typeface="Times New Roman" panose="02020603050405020304" pitchFamily="18" charset="0"/>
              </a:rPr>
              <a:t>blåbärssmoothie</a:t>
            </a:r>
            <a:r>
              <a:rPr lang="sv-SE" sz="1100" b="1" dirty="0">
                <a:ea typeface="MS Mincho" panose="02020609040205080304" pitchFamily="49" charset="-128"/>
                <a:cs typeface="Times New Roman" panose="02020603050405020304" pitchFamily="18" charset="0"/>
              </a:rPr>
              <a:t> – 2 portioner</a:t>
            </a:r>
          </a:p>
          <a:p>
            <a:pPr>
              <a:spcAft>
                <a:spcPts val="0"/>
              </a:spcAft>
            </a:pPr>
            <a:r>
              <a:rPr lang="sv-SE" sz="1100" dirty="0">
                <a:ea typeface="MS Mincho" panose="02020609040205080304" pitchFamily="49" charset="-128"/>
                <a:cs typeface="Times New Roman" panose="02020603050405020304" pitchFamily="18" charset="0"/>
              </a:rPr>
              <a:t>1 clementin eller 1 apelsin</a:t>
            </a:r>
          </a:p>
          <a:p>
            <a:pPr>
              <a:spcAft>
                <a:spcPts val="0"/>
              </a:spcAft>
            </a:pPr>
            <a:r>
              <a:rPr lang="sv-SE" sz="1100" dirty="0">
                <a:ea typeface="MS Mincho" panose="02020609040205080304" pitchFamily="49" charset="-128"/>
                <a:cs typeface="Times New Roman" panose="02020603050405020304" pitchFamily="18" charset="0"/>
              </a:rPr>
              <a:t>1  banan</a:t>
            </a:r>
          </a:p>
          <a:p>
            <a:pPr>
              <a:spcAft>
                <a:spcPts val="0"/>
              </a:spcAft>
            </a:pPr>
            <a:r>
              <a:rPr lang="sv-SE" sz="1100" dirty="0">
                <a:ea typeface="MS Mincho" panose="02020609040205080304" pitchFamily="49" charset="-128"/>
                <a:cs typeface="Times New Roman" panose="02020603050405020304" pitchFamily="18" charset="0"/>
              </a:rPr>
              <a:t>2 dl frysta blåbär</a:t>
            </a:r>
          </a:p>
          <a:p>
            <a:pPr>
              <a:spcAft>
                <a:spcPts val="0"/>
              </a:spcAft>
            </a:pPr>
            <a:r>
              <a:rPr lang="sv-SE" sz="1100" dirty="0">
                <a:ea typeface="MS Mincho" panose="02020609040205080304" pitchFamily="49" charset="-128"/>
                <a:cs typeface="Times New Roman" panose="02020603050405020304" pitchFamily="18" charset="0"/>
              </a:rPr>
              <a:t>2 dl frysta hallon</a:t>
            </a:r>
          </a:p>
          <a:p>
            <a:pPr>
              <a:spcAft>
                <a:spcPts val="0"/>
              </a:spcAft>
            </a:pPr>
            <a:r>
              <a:rPr lang="sv-SE" sz="1100" dirty="0">
                <a:ea typeface="MS Mincho" panose="02020609040205080304" pitchFamily="49" charset="-128"/>
                <a:cs typeface="Times New Roman" panose="02020603050405020304" pitchFamily="18" charset="0"/>
              </a:rPr>
              <a:t>1-2 dl vatten </a:t>
            </a:r>
          </a:p>
          <a:p>
            <a:pPr>
              <a:spcAft>
                <a:spcPts val="0"/>
              </a:spcAft>
            </a:pPr>
            <a:r>
              <a:rPr lang="sv-SE" sz="1100" dirty="0">
                <a:ea typeface="MS Mincho" panose="02020609040205080304" pitchFamily="49" charset="-128"/>
                <a:cs typeface="Times New Roman" panose="02020603050405020304" pitchFamily="18" charset="0"/>
              </a:rPr>
              <a:t>1 dl yoghurt, 4%</a:t>
            </a:r>
          </a:p>
          <a:p>
            <a:pPr>
              <a:spcAft>
                <a:spcPts val="0"/>
              </a:spcAft>
            </a:pPr>
            <a:endParaRPr lang="sv-SE" sz="1100" dirty="0">
              <a:ea typeface="MS Mincho" panose="02020609040205080304" pitchFamily="49" charset="-128"/>
              <a:cs typeface="Times New Roman" panose="02020603050405020304" pitchFamily="18" charset="0"/>
            </a:endParaRPr>
          </a:p>
          <a:p>
            <a:pPr>
              <a:spcAft>
                <a:spcPts val="0"/>
              </a:spcAft>
            </a:pPr>
            <a:r>
              <a:rPr lang="sv-SE" sz="1100" dirty="0">
                <a:ea typeface="MS Mincho" panose="02020609040205080304" pitchFamily="49" charset="-128"/>
                <a:cs typeface="Times New Roman" panose="02020603050405020304" pitchFamily="18" charset="0"/>
              </a:rPr>
              <a:t>Skala clementin och banan och lägg ner i en </a:t>
            </a:r>
            <a:r>
              <a:rPr lang="sv-SE" sz="1100" dirty="0" err="1">
                <a:ea typeface="MS Mincho" panose="02020609040205080304" pitchFamily="49" charset="-128"/>
                <a:cs typeface="Times New Roman" panose="02020603050405020304" pitchFamily="18" charset="0"/>
              </a:rPr>
              <a:t>blender</a:t>
            </a:r>
            <a:r>
              <a:rPr lang="sv-SE" sz="1100" dirty="0">
                <a:ea typeface="MS Mincho" panose="02020609040205080304" pitchFamily="49" charset="-128"/>
                <a:cs typeface="Times New Roman" panose="02020603050405020304" pitchFamily="18" charset="0"/>
              </a:rPr>
              <a:t> tillsammans med blåbär och hallon. Lägg ner yoghurt och mixa till en jämn </a:t>
            </a:r>
            <a:r>
              <a:rPr lang="sv-SE" sz="1100" dirty="0" err="1">
                <a:ea typeface="MS Mincho" panose="02020609040205080304" pitchFamily="49" charset="-128"/>
                <a:cs typeface="Times New Roman" panose="02020603050405020304" pitchFamily="18" charset="0"/>
              </a:rPr>
              <a:t>smoothie</a:t>
            </a:r>
            <a:r>
              <a:rPr lang="sv-SE" sz="1100" dirty="0">
                <a:ea typeface="MS Mincho" panose="02020609040205080304" pitchFamily="49" charset="-128"/>
                <a:cs typeface="Times New Roman" panose="02020603050405020304" pitchFamily="18" charset="0"/>
              </a:rPr>
              <a:t>. Häll upp på glas och förvara rester i kylen. </a:t>
            </a:r>
          </a:p>
        </p:txBody>
      </p:sp>
      <p:sp>
        <p:nvSpPr>
          <p:cNvPr id="19" name="Ellips 18">
            <a:extLst>
              <a:ext uri="{FF2B5EF4-FFF2-40B4-BE49-F238E27FC236}">
                <a16:creationId xmlns:a16="http://schemas.microsoft.com/office/drawing/2014/main" id="{5B7ABD15-B41D-D348-8107-333E47262391}"/>
              </a:ext>
            </a:extLst>
          </p:cNvPr>
          <p:cNvSpPr/>
          <p:nvPr/>
        </p:nvSpPr>
        <p:spPr>
          <a:xfrm>
            <a:off x="5588757" y="608367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160 kcal</a:t>
            </a:r>
            <a:endParaRPr sz="1200" b="1" dirty="0">
              <a:solidFill>
                <a:schemeClr val="bg1"/>
              </a:solidFill>
              <a:ea typeface="ＭＳ 明朝"/>
              <a:cs typeface="Avenir Light"/>
            </a:endParaRPr>
          </a:p>
        </p:txBody>
      </p:sp>
      <p:pic>
        <p:nvPicPr>
          <p:cNvPr id="20" name="Bildobjekt 19">
            <a:extLst>
              <a:ext uri="{FF2B5EF4-FFF2-40B4-BE49-F238E27FC236}">
                <a16:creationId xmlns:a16="http://schemas.microsoft.com/office/drawing/2014/main" id="{F6967323-E32E-974E-8CAF-3F83B0E70CE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9168" y="4646909"/>
            <a:ext cx="3081344" cy="4108458"/>
          </a:xfrm>
          <a:prstGeom prst="rect">
            <a:avLst/>
          </a:prstGeom>
        </p:spPr>
      </p:pic>
      <p:sp>
        <p:nvSpPr>
          <p:cNvPr id="3" name="textruta 2">
            <a:extLst>
              <a:ext uri="{FF2B5EF4-FFF2-40B4-BE49-F238E27FC236}">
                <a16:creationId xmlns:a16="http://schemas.microsoft.com/office/drawing/2014/main" id="{3972C382-B628-A34A-8316-EFF055141B46}"/>
              </a:ext>
            </a:extLst>
          </p:cNvPr>
          <p:cNvSpPr txBox="1"/>
          <p:nvPr/>
        </p:nvSpPr>
        <p:spPr>
          <a:xfrm>
            <a:off x="4215539" y="8183105"/>
            <a:ext cx="1702197" cy="369332"/>
          </a:xfrm>
          <a:prstGeom prst="rect">
            <a:avLst/>
          </a:prstGeom>
          <a:noFill/>
        </p:spPr>
        <p:txBody>
          <a:bodyPr wrap="none" rtlCol="0">
            <a:spAutoFit/>
          </a:bodyPr>
          <a:lstStyle/>
          <a:p>
            <a:r>
              <a:rPr lang="sv-SE" dirty="0"/>
              <a:t>3-stegsmetoden</a:t>
            </a:r>
          </a:p>
        </p:txBody>
      </p:sp>
    </p:spTree>
    <p:extLst>
      <p:ext uri="{BB962C8B-B14F-4D97-AF65-F5344CB8AC3E}">
        <p14:creationId xmlns:p14="http://schemas.microsoft.com/office/powerpoint/2010/main" val="199403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ruta 10">
            <a:extLst>
              <a:ext uri="{FF2B5EF4-FFF2-40B4-BE49-F238E27FC236}">
                <a16:creationId xmlns:a16="http://schemas.microsoft.com/office/drawing/2014/main" id="{42ABAA7F-A855-1B40-BAF2-4C23E33418F4}"/>
              </a:ext>
            </a:extLst>
          </p:cNvPr>
          <p:cNvSpPr txBox="1"/>
          <p:nvPr/>
        </p:nvSpPr>
        <p:spPr>
          <a:xfrm>
            <a:off x="491466" y="3002946"/>
            <a:ext cx="3511456" cy="3816429"/>
          </a:xfrm>
          <a:prstGeom prst="rect">
            <a:avLst/>
          </a:prstGeom>
          <a:noFill/>
        </p:spPr>
        <p:txBody>
          <a:bodyPr wrap="square" rtlCol="0">
            <a:spAutoFit/>
          </a:bodyPr>
          <a:lstStyle/>
          <a:p>
            <a:r>
              <a:rPr lang="sv-SE" sz="1100" b="1" dirty="0" err="1"/>
              <a:t>Quinoasallad</a:t>
            </a:r>
            <a:r>
              <a:rPr lang="sv-SE" sz="1100" b="1" dirty="0"/>
              <a:t> med stekt </a:t>
            </a:r>
            <a:r>
              <a:rPr lang="sv-SE" sz="1100" b="1" dirty="0" err="1"/>
              <a:t>halloumi</a:t>
            </a:r>
            <a:r>
              <a:rPr lang="sv-SE" sz="1100" b="1" dirty="0"/>
              <a:t> – 2 portioner</a:t>
            </a:r>
          </a:p>
          <a:p>
            <a:r>
              <a:rPr lang="sv-SE" sz="1100" dirty="0"/>
              <a:t>1 dl vit </a:t>
            </a:r>
            <a:r>
              <a:rPr lang="sv-SE" sz="1100" dirty="0" err="1"/>
              <a:t>quinoa</a:t>
            </a:r>
            <a:endParaRPr lang="sv-SE" sz="1100" dirty="0"/>
          </a:p>
          <a:p>
            <a:r>
              <a:rPr lang="sv-SE" sz="1100" dirty="0"/>
              <a:t>Saften av ¼ citron</a:t>
            </a:r>
          </a:p>
          <a:p>
            <a:r>
              <a:rPr lang="sv-SE" sz="1100" dirty="0"/>
              <a:t>1 tsk olivolja</a:t>
            </a:r>
          </a:p>
          <a:p>
            <a:r>
              <a:rPr lang="sv-SE" sz="1100" dirty="0"/>
              <a:t>2 msk hackad färsk persilja</a:t>
            </a:r>
          </a:p>
          <a:p>
            <a:r>
              <a:rPr lang="sv-SE" sz="1100" dirty="0"/>
              <a:t>2 msk finhackad rödlök</a:t>
            </a:r>
          </a:p>
          <a:p>
            <a:r>
              <a:rPr lang="sv-SE" sz="1100" dirty="0"/>
              <a:t>1 tärnad morot</a:t>
            </a:r>
          </a:p>
          <a:p>
            <a:r>
              <a:rPr lang="sv-SE" sz="1100" dirty="0"/>
              <a:t>½ tärnad paprika</a:t>
            </a:r>
          </a:p>
          <a:p>
            <a:r>
              <a:rPr lang="sv-SE" sz="1100" dirty="0"/>
              <a:t>1 liten burk majs, 160 g</a:t>
            </a:r>
          </a:p>
          <a:p>
            <a:r>
              <a:rPr lang="sv-SE" sz="1100" dirty="0"/>
              <a:t>Salt och svartpeppar</a:t>
            </a:r>
          </a:p>
          <a:p>
            <a:endParaRPr lang="sv-SE" sz="1100" dirty="0"/>
          </a:p>
          <a:p>
            <a:r>
              <a:rPr lang="sv-SE" sz="1100" b="1" dirty="0" err="1"/>
              <a:t>Topping</a:t>
            </a:r>
            <a:r>
              <a:rPr lang="sv-SE" sz="1100" b="1" dirty="0"/>
              <a:t>:</a:t>
            </a:r>
          </a:p>
          <a:p>
            <a:r>
              <a:rPr lang="sv-SE" sz="1100" dirty="0"/>
              <a:t>150 g </a:t>
            </a:r>
            <a:r>
              <a:rPr lang="sv-SE" sz="1100" dirty="0" err="1"/>
              <a:t>halloumi</a:t>
            </a:r>
            <a:endParaRPr lang="sv-SE" sz="1100" dirty="0"/>
          </a:p>
          <a:p>
            <a:r>
              <a:rPr lang="sv-SE" sz="1100" dirty="0"/>
              <a:t>1 tsk olivolja</a:t>
            </a:r>
          </a:p>
          <a:p>
            <a:r>
              <a:rPr lang="sv-SE" sz="1100" dirty="0"/>
              <a:t>Lite rucolasallad</a:t>
            </a:r>
          </a:p>
          <a:p>
            <a:endParaRPr lang="sv-SE" sz="1100" dirty="0"/>
          </a:p>
          <a:p>
            <a:r>
              <a:rPr lang="sv-SE" sz="1100" dirty="0"/>
              <a:t>Koka </a:t>
            </a:r>
            <a:r>
              <a:rPr lang="sv-SE" sz="1100" dirty="0" err="1"/>
              <a:t>quinoan</a:t>
            </a:r>
            <a:r>
              <a:rPr lang="sv-SE" sz="1100" dirty="0"/>
              <a:t> i lättsaltat vatten i 13 min. Skölj och lägg i en skål. Blanda ner alla ingredienser och smaka av med salt och peppar. Skiva </a:t>
            </a:r>
            <a:r>
              <a:rPr lang="sv-SE" sz="1100" dirty="0" err="1"/>
              <a:t>halloumi</a:t>
            </a:r>
            <a:r>
              <a:rPr lang="sv-SE" sz="1100" dirty="0"/>
              <a:t> och stek i olivolja några minuter. Lägg rucolasallad på tallrikar och lägg på </a:t>
            </a:r>
            <a:r>
              <a:rPr lang="sv-SE" sz="1100" dirty="0" err="1"/>
              <a:t>quinoa</a:t>
            </a:r>
            <a:r>
              <a:rPr lang="sv-SE" sz="1100" dirty="0"/>
              <a:t> och stekt </a:t>
            </a:r>
            <a:r>
              <a:rPr lang="sv-SE" sz="1100" dirty="0" err="1"/>
              <a:t>halloumi</a:t>
            </a:r>
            <a:r>
              <a:rPr lang="sv-SE" sz="1100" dirty="0"/>
              <a:t>.</a:t>
            </a:r>
          </a:p>
          <a:p>
            <a:endParaRPr lang="sv-SE" sz="1100" dirty="0"/>
          </a:p>
        </p:txBody>
      </p:sp>
      <p:sp>
        <p:nvSpPr>
          <p:cNvPr id="6" name="textruta 5">
            <a:extLst>
              <a:ext uri="{FF2B5EF4-FFF2-40B4-BE49-F238E27FC236}">
                <a16:creationId xmlns:a16="http://schemas.microsoft.com/office/drawing/2014/main" id="{146D2DBD-D48C-DF4E-B28C-04CFA0039D93}"/>
              </a:ext>
            </a:extLst>
          </p:cNvPr>
          <p:cNvSpPr txBox="1"/>
          <p:nvPr/>
        </p:nvSpPr>
        <p:spPr>
          <a:xfrm>
            <a:off x="146776" y="233584"/>
            <a:ext cx="4328308" cy="461665"/>
          </a:xfrm>
          <a:prstGeom prst="rect">
            <a:avLst/>
          </a:prstGeom>
          <a:noFill/>
        </p:spPr>
        <p:txBody>
          <a:bodyPr wrap="square" rtlCol="0">
            <a:spAutoFit/>
          </a:bodyPr>
          <a:lstStyle/>
          <a:p>
            <a:r>
              <a:rPr lang="sv-SE" sz="2400" dirty="0">
                <a:latin typeface="BigCaslonFB" panose="02000603080000020003" pitchFamily="50" charset="0"/>
              </a:rPr>
              <a:t>Vegetariskt</a:t>
            </a:r>
          </a:p>
        </p:txBody>
      </p:sp>
      <p:sp>
        <p:nvSpPr>
          <p:cNvPr id="9" name="Ellips 8">
            <a:extLst>
              <a:ext uri="{FF2B5EF4-FFF2-40B4-BE49-F238E27FC236}">
                <a16:creationId xmlns:a16="http://schemas.microsoft.com/office/drawing/2014/main" id="{F200523D-281A-C146-A362-7EEDB16EC854}"/>
              </a:ext>
            </a:extLst>
          </p:cNvPr>
          <p:cNvSpPr/>
          <p:nvPr/>
        </p:nvSpPr>
        <p:spPr>
          <a:xfrm>
            <a:off x="2655417" y="342787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ea typeface="ＭＳ 明朝"/>
                <a:cs typeface="Avenir Light"/>
              </a:rPr>
              <a:t>580</a:t>
            </a:r>
          </a:p>
          <a:p>
            <a:pPr algn="ctr" fontAlgn="auto">
              <a:spcBef>
                <a:spcPts val="0"/>
              </a:spcBef>
              <a:spcAft>
                <a:spcPts val="0"/>
              </a:spcAft>
              <a:defRPr/>
            </a:pPr>
            <a:r>
              <a:rPr lang="sv-SE" sz="1200" b="1" dirty="0">
                <a:ea typeface="ＭＳ 明朝"/>
                <a:cs typeface="Avenir Light"/>
              </a:rPr>
              <a:t>kcal</a:t>
            </a:r>
            <a:endParaRPr sz="1200" b="1" dirty="0">
              <a:ea typeface="ＭＳ 明朝"/>
              <a:cs typeface="Avenir Light"/>
            </a:endParaRPr>
          </a:p>
        </p:txBody>
      </p:sp>
      <p:sp>
        <p:nvSpPr>
          <p:cNvPr id="4" name="Platshållare för bildnummer 3">
            <a:extLst>
              <a:ext uri="{FF2B5EF4-FFF2-40B4-BE49-F238E27FC236}">
                <a16:creationId xmlns:a16="http://schemas.microsoft.com/office/drawing/2014/main" id="{80BA2055-33A1-64EE-D4E9-50551788E2E4}"/>
              </a:ext>
            </a:extLst>
          </p:cNvPr>
          <p:cNvSpPr>
            <a:spLocks noGrp="1"/>
          </p:cNvSpPr>
          <p:nvPr>
            <p:ph type="sldNum" sz="quarter" idx="12"/>
          </p:nvPr>
        </p:nvSpPr>
        <p:spPr>
          <a:xfrm>
            <a:off x="5144996" y="8679360"/>
            <a:ext cx="1600200" cy="486833"/>
          </a:xfrm>
        </p:spPr>
        <p:txBody>
          <a:bodyPr/>
          <a:lstStyle/>
          <a:p>
            <a:fld id="{97BA8967-5D92-4842-BAFB-0C8F679E5DC4}" type="slidenum">
              <a:rPr lang="sv-SE" sz="900" smtClean="0"/>
              <a:t>4</a:t>
            </a:fld>
            <a:endParaRPr lang="sv-SE" sz="900" dirty="0"/>
          </a:p>
        </p:txBody>
      </p:sp>
      <p:pic>
        <p:nvPicPr>
          <p:cNvPr id="8" name="Bildobjekt 7">
            <a:extLst>
              <a:ext uri="{FF2B5EF4-FFF2-40B4-BE49-F238E27FC236}">
                <a16:creationId xmlns:a16="http://schemas.microsoft.com/office/drawing/2014/main" id="{D4F65F33-3C22-AB44-9B2B-ED4B2814907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975865" y="885144"/>
            <a:ext cx="4124987" cy="3093741"/>
          </a:xfrm>
          <a:prstGeom prst="rect">
            <a:avLst/>
          </a:prstGeom>
        </p:spPr>
      </p:pic>
      <p:sp>
        <p:nvSpPr>
          <p:cNvPr id="3" name="textruta 2">
            <a:extLst>
              <a:ext uri="{FF2B5EF4-FFF2-40B4-BE49-F238E27FC236}">
                <a16:creationId xmlns:a16="http://schemas.microsoft.com/office/drawing/2014/main" id="{D12FCE41-E563-7E43-AC21-DDFBF5090847}"/>
              </a:ext>
            </a:extLst>
          </p:cNvPr>
          <p:cNvSpPr txBox="1"/>
          <p:nvPr/>
        </p:nvSpPr>
        <p:spPr>
          <a:xfrm>
            <a:off x="1903029" y="2594424"/>
            <a:ext cx="1018164" cy="369332"/>
          </a:xfrm>
          <a:prstGeom prst="rect">
            <a:avLst/>
          </a:prstGeom>
          <a:noFill/>
        </p:spPr>
        <p:txBody>
          <a:bodyPr wrap="none" rtlCol="0">
            <a:spAutoFit/>
          </a:bodyPr>
          <a:lstStyle/>
          <a:p>
            <a:r>
              <a:rPr lang="sv-SE" dirty="0"/>
              <a:t>Laga Lätt</a:t>
            </a:r>
          </a:p>
        </p:txBody>
      </p:sp>
      <p:sp>
        <p:nvSpPr>
          <p:cNvPr id="15" name="Platshållare för sidfot 1">
            <a:extLst>
              <a:ext uri="{FF2B5EF4-FFF2-40B4-BE49-F238E27FC236}">
                <a16:creationId xmlns:a16="http://schemas.microsoft.com/office/drawing/2014/main" id="{20142B36-F0BB-ED4E-95AC-80918557E605}"/>
              </a:ext>
            </a:extLst>
          </p:cNvPr>
          <p:cNvSpPr>
            <a:spLocks noGrp="1"/>
          </p:cNvSpPr>
          <p:nvPr>
            <p:ph type="ftr" sz="quarter" idx="11"/>
          </p:nvPr>
        </p:nvSpPr>
        <p:spPr>
          <a:xfrm>
            <a:off x="1506500" y="8497384"/>
            <a:ext cx="3963599" cy="911286"/>
          </a:xfrm>
        </p:spPr>
        <p:txBody>
          <a:bodyPr/>
          <a:lstStyle/>
          <a:p>
            <a:r>
              <a:rPr lang="sv-SE" sz="900" dirty="0"/>
              <a:t>FUNCTIONAL FOODS BASKURS ● RECEPT  ● VECKA 6</a:t>
            </a:r>
          </a:p>
        </p:txBody>
      </p:sp>
    </p:spTree>
    <p:extLst>
      <p:ext uri="{BB962C8B-B14F-4D97-AF65-F5344CB8AC3E}">
        <p14:creationId xmlns:p14="http://schemas.microsoft.com/office/powerpoint/2010/main" val="2185990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C13C0C45-6398-3E40-A5DE-31AA7C358185}"/>
              </a:ext>
            </a:extLst>
          </p:cNvPr>
          <p:cNvSpPr>
            <a:spLocks noGrp="1"/>
          </p:cNvSpPr>
          <p:nvPr>
            <p:ph type="sldNum" sz="quarter" idx="12"/>
          </p:nvPr>
        </p:nvSpPr>
        <p:spPr/>
        <p:txBody>
          <a:bodyPr/>
          <a:lstStyle/>
          <a:p>
            <a:fld id="{97BA8967-5D92-4842-BAFB-0C8F679E5DC4}" type="slidenum">
              <a:rPr lang="sv-SE" smtClean="0"/>
              <a:t>5</a:t>
            </a:fld>
            <a:endParaRPr lang="sv-SE"/>
          </a:p>
        </p:txBody>
      </p:sp>
      <p:sp>
        <p:nvSpPr>
          <p:cNvPr id="8" name="textruta 7">
            <a:extLst>
              <a:ext uri="{FF2B5EF4-FFF2-40B4-BE49-F238E27FC236}">
                <a16:creationId xmlns:a16="http://schemas.microsoft.com/office/drawing/2014/main" id="{EDAB3DE7-6ADF-DE48-9756-52DF4FBC33A8}"/>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Kyckling</a:t>
            </a:r>
          </a:p>
        </p:txBody>
      </p:sp>
      <p:sp>
        <p:nvSpPr>
          <p:cNvPr id="3" name="textruta 2">
            <a:extLst>
              <a:ext uri="{FF2B5EF4-FFF2-40B4-BE49-F238E27FC236}">
                <a16:creationId xmlns:a16="http://schemas.microsoft.com/office/drawing/2014/main" id="{06BE3ED9-AB36-3E48-A678-3020A1F5BDC2}"/>
              </a:ext>
            </a:extLst>
          </p:cNvPr>
          <p:cNvSpPr txBox="1"/>
          <p:nvPr/>
        </p:nvSpPr>
        <p:spPr>
          <a:xfrm>
            <a:off x="733163" y="6727838"/>
            <a:ext cx="973280" cy="369332"/>
          </a:xfrm>
          <a:prstGeom prst="rect">
            <a:avLst/>
          </a:prstGeom>
          <a:noFill/>
        </p:spPr>
        <p:txBody>
          <a:bodyPr wrap="none" rtlCol="0">
            <a:spAutoFit/>
          </a:bodyPr>
          <a:lstStyle/>
          <a:p>
            <a:r>
              <a:rPr lang="sv-SE" dirty="0"/>
              <a:t>Laga lätt</a:t>
            </a:r>
          </a:p>
        </p:txBody>
      </p:sp>
      <p:sp>
        <p:nvSpPr>
          <p:cNvPr id="13" name="Platshållare för sidfot 1">
            <a:extLst>
              <a:ext uri="{FF2B5EF4-FFF2-40B4-BE49-F238E27FC236}">
                <a16:creationId xmlns:a16="http://schemas.microsoft.com/office/drawing/2014/main" id="{C0090D11-0746-AF49-97B6-11E0C8F9F3A1}"/>
              </a:ext>
            </a:extLst>
          </p:cNvPr>
          <p:cNvSpPr>
            <a:spLocks noGrp="1"/>
          </p:cNvSpPr>
          <p:nvPr>
            <p:ph type="ftr" sz="quarter" idx="11"/>
          </p:nvPr>
        </p:nvSpPr>
        <p:spPr>
          <a:xfrm>
            <a:off x="1506500" y="8497384"/>
            <a:ext cx="3963599" cy="911286"/>
          </a:xfrm>
        </p:spPr>
        <p:txBody>
          <a:bodyPr/>
          <a:lstStyle/>
          <a:p>
            <a:r>
              <a:rPr lang="sv-SE" sz="900" dirty="0"/>
              <a:t>FUNCTIONAL FOODS BASKURS ● RECEPT  ● VECKA 6</a:t>
            </a:r>
          </a:p>
        </p:txBody>
      </p:sp>
      <p:sp>
        <p:nvSpPr>
          <p:cNvPr id="9" name="Rektangel 8">
            <a:extLst>
              <a:ext uri="{FF2B5EF4-FFF2-40B4-BE49-F238E27FC236}">
                <a16:creationId xmlns:a16="http://schemas.microsoft.com/office/drawing/2014/main" id="{5474A1C4-D676-094B-9D74-AEC9B63F4B71}"/>
              </a:ext>
            </a:extLst>
          </p:cNvPr>
          <p:cNvSpPr/>
          <p:nvPr/>
        </p:nvSpPr>
        <p:spPr>
          <a:xfrm>
            <a:off x="3737042" y="1643577"/>
            <a:ext cx="3007891" cy="3477875"/>
          </a:xfrm>
          <a:prstGeom prst="rect">
            <a:avLst/>
          </a:prstGeom>
        </p:spPr>
        <p:txBody>
          <a:bodyPr wrap="square">
            <a:spAutoFit/>
          </a:bodyPr>
          <a:lstStyle/>
          <a:p>
            <a:pPr>
              <a:spcAft>
                <a:spcPts val="0"/>
              </a:spcAft>
            </a:pPr>
            <a:r>
              <a:rPr lang="sv-SE" sz="1100" b="1" dirty="0" err="1">
                <a:latin typeface="Calibri" panose="020F0502020204030204" pitchFamily="34" charset="0"/>
                <a:ea typeface="Calibri" panose="020F0502020204030204" pitchFamily="34" charset="0"/>
                <a:cs typeface="Times New Roman" panose="02020603050405020304" pitchFamily="18" charset="0"/>
              </a:rPr>
              <a:t>Grönsakswok</a:t>
            </a:r>
            <a:r>
              <a:rPr lang="sv-SE" sz="1100" b="1" dirty="0">
                <a:latin typeface="Calibri" panose="020F0502020204030204" pitchFamily="34" charset="0"/>
                <a:ea typeface="Calibri" panose="020F0502020204030204" pitchFamily="34" charset="0"/>
                <a:cs typeface="Times New Roman" panose="02020603050405020304" pitchFamily="18" charset="0"/>
              </a:rPr>
              <a:t> med kyckling – 2 portioner</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300 g kycklingfilé</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svartpeppar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tsk rapsolja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riven vitlöksklyfta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msk riven färsk ingefära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finhackad röd chili</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strimlad salladslök</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300 g frysta wokgrönsaker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dl Teriyakisås</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b="1" dirty="0" err="1">
                <a:latin typeface="Calibri" panose="020F0502020204030204" pitchFamily="34" charset="0"/>
                <a:ea typeface="Calibri" panose="020F0502020204030204" pitchFamily="34" charset="0"/>
                <a:cs typeface="Times New Roman" panose="02020603050405020304" pitchFamily="18" charset="0"/>
              </a:rPr>
              <a:t>Topping</a:t>
            </a:r>
            <a:r>
              <a:rPr lang="sv-SE" sz="1100" dirty="0">
                <a:latin typeface="Calibri" panose="020F0502020204030204" pitchFamily="34" charset="0"/>
                <a:ea typeface="Calibri" panose="020F0502020204030204" pitchFamily="34" charset="0"/>
                <a:cs typeface="Times New Roman" panose="02020603050405020304" pitchFamily="18" charset="0"/>
              </a:rPr>
              <a:t>: lite färsk koriander </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Skär kycklingen i mindre bitar och strö på salt och peppar. Hetta upp en stekpanna med olja och lägg ner vitlök, ingefära, chili,  salladslök och kycklingfilé. Strö på salt och peppar. Tillsätt de frysta wokgrönsakerna och </a:t>
            </a:r>
            <a:r>
              <a:rPr lang="sv-SE" sz="1100" dirty="0" err="1">
                <a:latin typeface="Calibri" panose="020F0502020204030204" pitchFamily="34" charset="0"/>
                <a:ea typeface="Calibri" panose="020F0502020204030204" pitchFamily="34" charset="0"/>
                <a:cs typeface="Times New Roman" panose="02020603050405020304" pitchFamily="18" charset="0"/>
              </a:rPr>
              <a:t>teryakisås</a:t>
            </a:r>
            <a:r>
              <a:rPr lang="sv-SE" sz="1100" dirty="0">
                <a:latin typeface="Calibri" panose="020F0502020204030204" pitchFamily="34" charset="0"/>
                <a:ea typeface="Calibri" panose="020F0502020204030204" pitchFamily="34" charset="0"/>
                <a:cs typeface="Times New Roman" panose="02020603050405020304" pitchFamily="18" charset="0"/>
              </a:rPr>
              <a:t> och låt steka i 5 minuter. Strö på koriander.</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Ellips 9">
            <a:extLst>
              <a:ext uri="{FF2B5EF4-FFF2-40B4-BE49-F238E27FC236}">
                <a16:creationId xmlns:a16="http://schemas.microsoft.com/office/drawing/2014/main" id="{66704C7B-D094-144F-B253-12E65F066C86}"/>
              </a:ext>
            </a:extLst>
          </p:cNvPr>
          <p:cNvSpPr/>
          <p:nvPr/>
        </p:nvSpPr>
        <p:spPr>
          <a:xfrm>
            <a:off x="5944833" y="2193669"/>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ea typeface="ＭＳ 明朝"/>
                <a:cs typeface="Avenir Light"/>
              </a:rPr>
              <a:t>310</a:t>
            </a:r>
          </a:p>
          <a:p>
            <a:pPr algn="ctr" fontAlgn="auto">
              <a:spcBef>
                <a:spcPts val="0"/>
              </a:spcBef>
              <a:spcAft>
                <a:spcPts val="0"/>
              </a:spcAft>
              <a:defRPr/>
            </a:pPr>
            <a:r>
              <a:rPr lang="sv-SE" sz="1200" b="1" dirty="0">
                <a:ea typeface="ＭＳ 明朝"/>
                <a:cs typeface="Avenir Light"/>
              </a:rPr>
              <a:t>kcal</a:t>
            </a:r>
            <a:endParaRPr sz="1200" b="1" dirty="0">
              <a:ea typeface="ＭＳ 明朝"/>
              <a:cs typeface="Avenir Light"/>
            </a:endParaRPr>
          </a:p>
        </p:txBody>
      </p:sp>
      <p:pic>
        <p:nvPicPr>
          <p:cNvPr id="11" name="Bildobjekt 10">
            <a:extLst>
              <a:ext uri="{FF2B5EF4-FFF2-40B4-BE49-F238E27FC236}">
                <a16:creationId xmlns:a16="http://schemas.microsoft.com/office/drawing/2014/main" id="{B03280E1-16EF-374B-9FD1-EDFCFF9CD7E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5023" y="1573795"/>
            <a:ext cx="2873364" cy="3831151"/>
          </a:xfrm>
          <a:prstGeom prst="rect">
            <a:avLst/>
          </a:prstGeom>
        </p:spPr>
      </p:pic>
    </p:spTree>
    <p:extLst>
      <p:ext uri="{BB962C8B-B14F-4D97-AF65-F5344CB8AC3E}">
        <p14:creationId xmlns:p14="http://schemas.microsoft.com/office/powerpoint/2010/main" val="3123923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6</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Fisk</a:t>
            </a:r>
          </a:p>
        </p:txBody>
      </p:sp>
      <p:sp>
        <p:nvSpPr>
          <p:cNvPr id="4" name="Rektangel 3">
            <a:extLst>
              <a:ext uri="{FF2B5EF4-FFF2-40B4-BE49-F238E27FC236}">
                <a16:creationId xmlns:a16="http://schemas.microsoft.com/office/drawing/2014/main" id="{6FAB6123-7B41-FA40-B263-3F96B74BEBEA}"/>
              </a:ext>
            </a:extLst>
          </p:cNvPr>
          <p:cNvSpPr/>
          <p:nvPr/>
        </p:nvSpPr>
        <p:spPr>
          <a:xfrm>
            <a:off x="255309" y="1894823"/>
            <a:ext cx="5324081" cy="5509200"/>
          </a:xfrm>
          <a:prstGeom prst="rect">
            <a:avLst/>
          </a:prstGeom>
        </p:spPr>
        <p:txBody>
          <a:bodyPr wrap="square">
            <a:spAutoFit/>
          </a:bodyPr>
          <a:lstStyle/>
          <a:p>
            <a:r>
              <a:rPr lang="sv-SE" sz="1100" b="1" dirty="0">
                <a:solidFill>
                  <a:srgbClr val="000000"/>
                </a:solidFill>
                <a:latin typeface="+mj-lt"/>
              </a:rPr>
              <a:t>Indisk laxgryta med röda linser – 4 portioner </a:t>
            </a:r>
            <a:endParaRPr lang="sv-SE" sz="1100" dirty="0">
              <a:solidFill>
                <a:srgbClr val="000000"/>
              </a:solidFill>
              <a:latin typeface="+mj-lt"/>
            </a:endParaRPr>
          </a:p>
          <a:p>
            <a:r>
              <a:rPr lang="sv-SE" sz="1100" dirty="0">
                <a:solidFill>
                  <a:srgbClr val="000000"/>
                </a:solidFill>
                <a:latin typeface="+mj-lt"/>
              </a:rPr>
              <a:t>500 g laxfilé</a:t>
            </a:r>
          </a:p>
          <a:p>
            <a:r>
              <a:rPr lang="sv-SE" sz="1100" dirty="0">
                <a:solidFill>
                  <a:srgbClr val="000000"/>
                </a:solidFill>
              </a:rPr>
              <a:t>salt och svartpeppar</a:t>
            </a:r>
            <a:endParaRPr lang="sv-SE" sz="1100" dirty="0">
              <a:solidFill>
                <a:srgbClr val="000000"/>
              </a:solidFill>
              <a:latin typeface="+mj-lt"/>
            </a:endParaRPr>
          </a:p>
          <a:p>
            <a:r>
              <a:rPr lang="sv-SE" sz="1100" dirty="0">
                <a:solidFill>
                  <a:srgbClr val="000000"/>
                </a:solidFill>
                <a:latin typeface="+mj-lt"/>
              </a:rPr>
              <a:t>½ gul lök</a:t>
            </a:r>
          </a:p>
          <a:p>
            <a:r>
              <a:rPr lang="sv-SE" sz="1100" dirty="0">
                <a:solidFill>
                  <a:srgbClr val="000000"/>
                </a:solidFill>
                <a:latin typeface="+mj-lt"/>
              </a:rPr>
              <a:t>1 vitlöksklyfta</a:t>
            </a:r>
          </a:p>
          <a:p>
            <a:r>
              <a:rPr lang="sv-SE" sz="1100" dirty="0">
                <a:solidFill>
                  <a:srgbClr val="000000"/>
                </a:solidFill>
                <a:latin typeface="+mj-lt"/>
              </a:rPr>
              <a:t>½ röd chili</a:t>
            </a:r>
          </a:p>
          <a:p>
            <a:r>
              <a:rPr lang="sv-SE" sz="1100" dirty="0">
                <a:solidFill>
                  <a:srgbClr val="000000"/>
                </a:solidFill>
                <a:latin typeface="+mj-lt"/>
              </a:rPr>
              <a:t>1 morot</a:t>
            </a:r>
          </a:p>
          <a:p>
            <a:r>
              <a:rPr lang="sv-SE" sz="1100" dirty="0">
                <a:solidFill>
                  <a:srgbClr val="000000"/>
                </a:solidFill>
                <a:latin typeface="+mj-lt"/>
              </a:rPr>
              <a:t>1 palsternacka</a:t>
            </a:r>
          </a:p>
          <a:p>
            <a:r>
              <a:rPr lang="sv-SE" sz="1100" dirty="0">
                <a:solidFill>
                  <a:srgbClr val="000000"/>
                </a:solidFill>
                <a:latin typeface="+mj-lt"/>
              </a:rPr>
              <a:t>1/2 röd paprika</a:t>
            </a:r>
          </a:p>
          <a:p>
            <a:r>
              <a:rPr lang="sv-SE" sz="1100" dirty="0">
                <a:solidFill>
                  <a:srgbClr val="000000"/>
                </a:solidFill>
              </a:rPr>
              <a:t>1 tsk olivolja</a:t>
            </a:r>
          </a:p>
          <a:p>
            <a:r>
              <a:rPr lang="sv-SE" sz="1100" dirty="0">
                <a:solidFill>
                  <a:srgbClr val="000000"/>
                </a:solidFill>
              </a:rPr>
              <a:t>½ tsk örtagårdskrydda</a:t>
            </a:r>
          </a:p>
          <a:p>
            <a:r>
              <a:rPr lang="sv-SE" sz="1100" dirty="0">
                <a:solidFill>
                  <a:srgbClr val="000000"/>
                </a:solidFill>
                <a:latin typeface="+mj-lt"/>
              </a:rPr>
              <a:t>1 tsk </a:t>
            </a:r>
            <a:r>
              <a:rPr lang="sv-SE" sz="1100" dirty="0" err="1">
                <a:solidFill>
                  <a:srgbClr val="000000"/>
                </a:solidFill>
                <a:latin typeface="+mj-lt"/>
              </a:rPr>
              <a:t>garam</a:t>
            </a:r>
            <a:r>
              <a:rPr lang="sv-SE" sz="1100" dirty="0">
                <a:solidFill>
                  <a:srgbClr val="000000"/>
                </a:solidFill>
                <a:latin typeface="+mj-lt"/>
              </a:rPr>
              <a:t> </a:t>
            </a:r>
            <a:r>
              <a:rPr lang="sv-SE" sz="1100" dirty="0" err="1">
                <a:solidFill>
                  <a:srgbClr val="000000"/>
                </a:solidFill>
                <a:latin typeface="+mj-lt"/>
              </a:rPr>
              <a:t>masala</a:t>
            </a:r>
            <a:endParaRPr lang="sv-SE" sz="1100" dirty="0">
              <a:solidFill>
                <a:srgbClr val="000000"/>
              </a:solidFill>
              <a:latin typeface="+mj-lt"/>
            </a:endParaRPr>
          </a:p>
          <a:p>
            <a:r>
              <a:rPr lang="sv-SE" sz="1100" dirty="0">
                <a:solidFill>
                  <a:srgbClr val="000000"/>
                </a:solidFill>
                <a:latin typeface="+mj-lt"/>
              </a:rPr>
              <a:t>1 krm paprikapulver</a:t>
            </a:r>
          </a:p>
          <a:p>
            <a:r>
              <a:rPr lang="sv-SE" sz="1100" dirty="0">
                <a:solidFill>
                  <a:srgbClr val="000000"/>
                </a:solidFill>
                <a:latin typeface="+mj-lt"/>
              </a:rPr>
              <a:t>1 tsk </a:t>
            </a:r>
            <a:r>
              <a:rPr lang="sv-SE" sz="1100" dirty="0" err="1">
                <a:solidFill>
                  <a:srgbClr val="000000"/>
                </a:solidFill>
                <a:latin typeface="+mj-lt"/>
              </a:rPr>
              <a:t>srirachasås</a:t>
            </a:r>
            <a:endParaRPr lang="sv-SE" sz="1100" dirty="0">
              <a:solidFill>
                <a:srgbClr val="000000"/>
              </a:solidFill>
              <a:latin typeface="+mj-lt"/>
            </a:endParaRPr>
          </a:p>
          <a:p>
            <a:r>
              <a:rPr lang="sv-SE" sz="1100" dirty="0">
                <a:solidFill>
                  <a:srgbClr val="000000"/>
                </a:solidFill>
                <a:latin typeface="+mj-lt"/>
              </a:rPr>
              <a:t>1 hönsbuljongtärning</a:t>
            </a:r>
          </a:p>
          <a:p>
            <a:r>
              <a:rPr lang="sv-SE" sz="1100" dirty="0">
                <a:solidFill>
                  <a:srgbClr val="000000"/>
                </a:solidFill>
                <a:latin typeface="+mj-lt"/>
              </a:rPr>
              <a:t>5 dl vatten</a:t>
            </a:r>
          </a:p>
          <a:p>
            <a:r>
              <a:rPr lang="sv-SE" sz="1100" dirty="0">
                <a:solidFill>
                  <a:srgbClr val="000000"/>
                </a:solidFill>
                <a:latin typeface="+mj-lt"/>
              </a:rPr>
              <a:t>400 ml krossade tomater</a:t>
            </a:r>
          </a:p>
          <a:p>
            <a:r>
              <a:rPr lang="sv-SE" sz="1100" dirty="0">
                <a:solidFill>
                  <a:srgbClr val="000000"/>
                </a:solidFill>
              </a:rPr>
              <a:t>1 dl torkade röda linser</a:t>
            </a:r>
            <a:endParaRPr lang="sv-SE" sz="1100" dirty="0">
              <a:solidFill>
                <a:srgbClr val="000000"/>
              </a:solidFill>
              <a:latin typeface="+mj-lt"/>
            </a:endParaRPr>
          </a:p>
          <a:p>
            <a:r>
              <a:rPr lang="sv-SE" sz="1100" dirty="0">
                <a:solidFill>
                  <a:srgbClr val="000000"/>
                </a:solidFill>
                <a:latin typeface="+mj-lt"/>
              </a:rPr>
              <a:t>5 torkade aprikoser</a:t>
            </a:r>
          </a:p>
          <a:p>
            <a:r>
              <a:rPr lang="sv-SE" sz="1100" dirty="0">
                <a:solidFill>
                  <a:srgbClr val="000000"/>
                </a:solidFill>
                <a:latin typeface="+mj-lt"/>
              </a:rPr>
              <a:t>10 brysselkål</a:t>
            </a:r>
          </a:p>
          <a:p>
            <a:r>
              <a:rPr lang="sv-SE" sz="1100" dirty="0">
                <a:solidFill>
                  <a:srgbClr val="000000"/>
                </a:solidFill>
                <a:latin typeface="+mj-lt"/>
              </a:rPr>
              <a:t>2 msk</a:t>
            </a:r>
            <a:r>
              <a:rPr lang="sv-SE" sz="1100" dirty="0">
                <a:solidFill>
                  <a:srgbClr val="FF0000"/>
                </a:solidFill>
                <a:latin typeface="+mj-lt"/>
              </a:rPr>
              <a:t> hackad </a:t>
            </a:r>
            <a:r>
              <a:rPr lang="sv-SE" sz="1100" dirty="0">
                <a:solidFill>
                  <a:srgbClr val="000000"/>
                </a:solidFill>
                <a:latin typeface="+mj-lt"/>
              </a:rPr>
              <a:t>persilja</a:t>
            </a:r>
          </a:p>
          <a:p>
            <a:endParaRPr lang="sv-SE" sz="1100" dirty="0">
              <a:solidFill>
                <a:srgbClr val="000000"/>
              </a:solidFill>
              <a:latin typeface="+mj-lt"/>
            </a:endParaRPr>
          </a:p>
          <a:p>
            <a:r>
              <a:rPr lang="sv-SE" sz="1100" b="1" dirty="0">
                <a:solidFill>
                  <a:srgbClr val="000000"/>
                </a:solidFill>
              </a:rPr>
              <a:t>Tillbehör</a:t>
            </a:r>
            <a:r>
              <a:rPr lang="sv-SE" sz="1100" dirty="0">
                <a:solidFill>
                  <a:srgbClr val="000000"/>
                </a:solidFill>
              </a:rPr>
              <a:t>:</a:t>
            </a:r>
            <a:r>
              <a:rPr lang="sv-SE" sz="1100" dirty="0">
                <a:solidFill>
                  <a:srgbClr val="FF0000"/>
                </a:solidFill>
              </a:rPr>
              <a:t> </a:t>
            </a:r>
            <a:r>
              <a:rPr lang="sv-SE" sz="1100" dirty="0"/>
              <a:t>½ dl gräddfil</a:t>
            </a:r>
            <a:endParaRPr lang="sv-SE" sz="1100" dirty="0">
              <a:solidFill>
                <a:srgbClr val="000000"/>
              </a:solidFill>
              <a:latin typeface="+mj-lt"/>
            </a:endParaRPr>
          </a:p>
          <a:p>
            <a:endParaRPr lang="sv-SE" sz="1100" dirty="0">
              <a:solidFill>
                <a:srgbClr val="000000"/>
              </a:solidFill>
              <a:latin typeface="+mj-lt"/>
            </a:endParaRPr>
          </a:p>
          <a:p>
            <a:r>
              <a:rPr lang="sv-SE" sz="1100" dirty="0">
                <a:solidFill>
                  <a:srgbClr val="000000"/>
                </a:solidFill>
                <a:latin typeface="+mj-lt"/>
              </a:rPr>
              <a:t>Skär laxfilé i bitar och strö på salt och peppar. Skala och hacka lök och  riv vitlök. Hacka chili. Skala och skär rotfrukter i bitar. </a:t>
            </a:r>
            <a:r>
              <a:rPr lang="sv-SE" sz="1100" dirty="0">
                <a:solidFill>
                  <a:srgbClr val="000000"/>
                </a:solidFill>
              </a:rPr>
              <a:t>Skär paprikan i bitar. </a:t>
            </a:r>
            <a:r>
              <a:rPr lang="sv-SE" sz="1100" dirty="0">
                <a:solidFill>
                  <a:srgbClr val="000000"/>
                </a:solidFill>
                <a:latin typeface="+mj-lt"/>
              </a:rPr>
              <a:t>Hetta upp en stekpanna med olivolja. Bryn lök, vitlök, chili, rotfrukter och paprika några minuter. Tillsätt kryddor, </a:t>
            </a:r>
            <a:r>
              <a:rPr lang="sv-SE" sz="1100" dirty="0" err="1">
                <a:solidFill>
                  <a:srgbClr val="000000"/>
                </a:solidFill>
                <a:latin typeface="+mj-lt"/>
              </a:rPr>
              <a:t>srirachasås</a:t>
            </a:r>
            <a:r>
              <a:rPr lang="sv-SE" sz="1100" dirty="0">
                <a:solidFill>
                  <a:srgbClr val="000000"/>
                </a:solidFill>
                <a:latin typeface="+mj-lt"/>
              </a:rPr>
              <a:t> och buljongtärning. Häll på vatten och låt koka upp. Tillsätt krossade tomater och linser. Hacka aprikoserna och blanda ner. Låt koka 5 minuter. Blanda ner laxbitarna och brysselkål. Låt sjuda ytterligare 3 minuter. Servera i skålar och dekorera soppan med hackad persilja. Servera med gräddfil.</a:t>
            </a:r>
            <a:endParaRPr lang="sv-SE" sz="1100" dirty="0">
              <a:solidFill>
                <a:srgbClr val="000000"/>
              </a:solidFill>
              <a:effectLst/>
              <a:latin typeface="+mj-lt"/>
            </a:endParaRPr>
          </a:p>
        </p:txBody>
      </p:sp>
      <p:sp>
        <p:nvSpPr>
          <p:cNvPr id="6" name="Ellips 5">
            <a:extLst>
              <a:ext uri="{FF2B5EF4-FFF2-40B4-BE49-F238E27FC236}">
                <a16:creationId xmlns:a16="http://schemas.microsoft.com/office/drawing/2014/main" id="{F439330D-F48B-334F-A377-9CB18DEB095D}"/>
              </a:ext>
            </a:extLst>
          </p:cNvPr>
          <p:cNvSpPr/>
          <p:nvPr/>
        </p:nvSpPr>
        <p:spPr>
          <a:xfrm>
            <a:off x="2075049" y="2594626"/>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382kcal</a:t>
            </a:r>
            <a:endParaRPr sz="1200" b="1" dirty="0">
              <a:solidFill>
                <a:schemeClr val="bg1"/>
              </a:solidFill>
              <a:ea typeface="ＭＳ 明朝"/>
              <a:cs typeface="Avenir Light"/>
            </a:endParaRPr>
          </a:p>
        </p:txBody>
      </p:sp>
      <p:pic>
        <p:nvPicPr>
          <p:cNvPr id="9" name="Bildobjekt 8">
            <a:extLst>
              <a:ext uri="{FF2B5EF4-FFF2-40B4-BE49-F238E27FC236}">
                <a16:creationId xmlns:a16="http://schemas.microsoft.com/office/drawing/2014/main" id="{76C328EE-C777-CD4E-A93F-C5F6536D7CC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566565" y="748309"/>
            <a:ext cx="4635618" cy="3476713"/>
          </a:xfrm>
          <a:prstGeom prst="rect">
            <a:avLst/>
          </a:prstGeom>
        </p:spPr>
      </p:pic>
      <p:sp>
        <p:nvSpPr>
          <p:cNvPr id="2" name="textruta 1">
            <a:extLst>
              <a:ext uri="{FF2B5EF4-FFF2-40B4-BE49-F238E27FC236}">
                <a16:creationId xmlns:a16="http://schemas.microsoft.com/office/drawing/2014/main" id="{1E9A64F9-566A-0E4E-9C05-B3BDB62A2443}"/>
              </a:ext>
            </a:extLst>
          </p:cNvPr>
          <p:cNvSpPr txBox="1"/>
          <p:nvPr/>
        </p:nvSpPr>
        <p:spPr>
          <a:xfrm>
            <a:off x="1501640" y="792520"/>
            <a:ext cx="1415709" cy="369332"/>
          </a:xfrm>
          <a:prstGeom prst="rect">
            <a:avLst/>
          </a:prstGeom>
          <a:noFill/>
        </p:spPr>
        <p:txBody>
          <a:bodyPr wrap="none" rtlCol="0">
            <a:spAutoFit/>
          </a:bodyPr>
          <a:lstStyle/>
          <a:p>
            <a:r>
              <a:rPr lang="sv-SE" dirty="0" err="1"/>
              <a:t>PowerMonth</a:t>
            </a:r>
            <a:endParaRPr lang="sv-SE" dirty="0"/>
          </a:p>
        </p:txBody>
      </p:sp>
      <p:sp>
        <p:nvSpPr>
          <p:cNvPr id="10" name="Platshållare för sidfot 1">
            <a:extLst>
              <a:ext uri="{FF2B5EF4-FFF2-40B4-BE49-F238E27FC236}">
                <a16:creationId xmlns:a16="http://schemas.microsoft.com/office/drawing/2014/main" id="{277305BD-7589-704D-8BFC-5B18BEC3C74F}"/>
              </a:ext>
            </a:extLst>
          </p:cNvPr>
          <p:cNvSpPr>
            <a:spLocks noGrp="1"/>
          </p:cNvSpPr>
          <p:nvPr>
            <p:ph type="ftr" sz="quarter" idx="11"/>
          </p:nvPr>
        </p:nvSpPr>
        <p:spPr>
          <a:xfrm>
            <a:off x="1506500" y="8497384"/>
            <a:ext cx="3963599" cy="911286"/>
          </a:xfrm>
        </p:spPr>
        <p:txBody>
          <a:bodyPr/>
          <a:lstStyle/>
          <a:p>
            <a:r>
              <a:rPr lang="sv-SE" sz="900" dirty="0"/>
              <a:t>FUNCTIONAL FOODS BASKURS ● RECEPT  ● VECKA 6</a:t>
            </a:r>
          </a:p>
        </p:txBody>
      </p:sp>
      <p:sp>
        <p:nvSpPr>
          <p:cNvPr id="8" name="Moln 7">
            <a:extLst>
              <a:ext uri="{FF2B5EF4-FFF2-40B4-BE49-F238E27FC236}">
                <a16:creationId xmlns:a16="http://schemas.microsoft.com/office/drawing/2014/main" id="{C09C87B6-EAD4-7642-9BCD-43E0C37C94CF}"/>
              </a:ext>
            </a:extLst>
          </p:cNvPr>
          <p:cNvSpPr/>
          <p:nvPr/>
        </p:nvSpPr>
        <p:spPr>
          <a:xfrm>
            <a:off x="4842936" y="4649423"/>
            <a:ext cx="1472908" cy="1007007"/>
          </a:xfrm>
          <a:prstGeom prst="clou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sv-SE" sz="1400" dirty="0"/>
              <a:t>Frys in 2 portioner!</a:t>
            </a:r>
          </a:p>
        </p:txBody>
      </p:sp>
    </p:spTree>
    <p:extLst>
      <p:ext uri="{BB962C8B-B14F-4D97-AF65-F5344CB8AC3E}">
        <p14:creationId xmlns:p14="http://schemas.microsoft.com/office/powerpoint/2010/main" val="126299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ktangel 12">
            <a:extLst>
              <a:ext uri="{FF2B5EF4-FFF2-40B4-BE49-F238E27FC236}">
                <a16:creationId xmlns:a16="http://schemas.microsoft.com/office/drawing/2014/main" id="{EF1EBC10-DC1A-C947-B182-782479E84C3D}"/>
              </a:ext>
            </a:extLst>
          </p:cNvPr>
          <p:cNvSpPr/>
          <p:nvPr/>
        </p:nvSpPr>
        <p:spPr>
          <a:xfrm>
            <a:off x="302589" y="1891129"/>
            <a:ext cx="5385290" cy="5339923"/>
          </a:xfrm>
          <a:prstGeom prst="rect">
            <a:avLst/>
          </a:prstGeom>
        </p:spPr>
        <p:txBody>
          <a:bodyPr wrap="square">
            <a:spAutoFit/>
          </a:bodyPr>
          <a:lstStyle/>
          <a:p>
            <a:r>
              <a:rPr lang="sv-SE" sz="1100" b="1" dirty="0">
                <a:solidFill>
                  <a:srgbClr val="000000"/>
                </a:solidFill>
              </a:rPr>
              <a:t>Torsk </a:t>
            </a:r>
            <a:r>
              <a:rPr lang="sv-SE" sz="1100" b="1" dirty="0" err="1">
                <a:solidFill>
                  <a:srgbClr val="000000"/>
                </a:solidFill>
              </a:rPr>
              <a:t>teriyaki</a:t>
            </a:r>
            <a:r>
              <a:rPr lang="sv-SE" sz="1100" b="1" dirty="0">
                <a:solidFill>
                  <a:srgbClr val="000000"/>
                </a:solidFill>
              </a:rPr>
              <a:t> med grönsaker - 2 portioner </a:t>
            </a:r>
            <a:endParaRPr lang="sv-SE" sz="1100" dirty="0">
              <a:solidFill>
                <a:srgbClr val="000000"/>
              </a:solidFill>
            </a:endParaRPr>
          </a:p>
          <a:p>
            <a:r>
              <a:rPr lang="sv-SE" sz="1100" dirty="0">
                <a:solidFill>
                  <a:srgbClr val="000000"/>
                </a:solidFill>
              </a:rPr>
              <a:t>10 cm purjolök (den gröna delen)</a:t>
            </a:r>
          </a:p>
          <a:p>
            <a:r>
              <a:rPr lang="sv-SE" sz="1100" dirty="0">
                <a:solidFill>
                  <a:srgbClr val="000000"/>
                </a:solidFill>
              </a:rPr>
              <a:t>1 vitlöksklyfta </a:t>
            </a:r>
          </a:p>
          <a:p>
            <a:r>
              <a:rPr lang="sv-SE" sz="1100" dirty="0">
                <a:solidFill>
                  <a:srgbClr val="000000"/>
                </a:solidFill>
              </a:rPr>
              <a:t>1 cm färsk ingefära</a:t>
            </a:r>
          </a:p>
          <a:p>
            <a:r>
              <a:rPr lang="sv-SE" sz="1100" dirty="0">
                <a:solidFill>
                  <a:srgbClr val="000000"/>
                </a:solidFill>
              </a:rPr>
              <a:t>½ röd paprika</a:t>
            </a:r>
          </a:p>
          <a:p>
            <a:r>
              <a:rPr lang="sv-SE" sz="1100" dirty="0">
                <a:solidFill>
                  <a:srgbClr val="000000"/>
                </a:solidFill>
              </a:rPr>
              <a:t>1 morot</a:t>
            </a:r>
          </a:p>
          <a:p>
            <a:r>
              <a:rPr lang="sv-SE" sz="1100" dirty="0">
                <a:solidFill>
                  <a:srgbClr val="000000"/>
                </a:solidFill>
              </a:rPr>
              <a:t>1 </a:t>
            </a:r>
            <a:r>
              <a:rPr lang="sv-SE" sz="1100" dirty="0" err="1">
                <a:solidFill>
                  <a:srgbClr val="000000"/>
                </a:solidFill>
              </a:rPr>
              <a:t>pak</a:t>
            </a:r>
            <a:r>
              <a:rPr lang="sv-SE" sz="1100" dirty="0">
                <a:solidFill>
                  <a:srgbClr val="000000"/>
                </a:solidFill>
              </a:rPr>
              <a:t> </a:t>
            </a:r>
            <a:r>
              <a:rPr lang="sv-SE" sz="1100" dirty="0" err="1">
                <a:solidFill>
                  <a:srgbClr val="000000"/>
                </a:solidFill>
              </a:rPr>
              <a:t>choy</a:t>
            </a:r>
            <a:endParaRPr lang="sv-SE" sz="1100" dirty="0">
              <a:solidFill>
                <a:srgbClr val="000000"/>
              </a:solidFill>
            </a:endParaRPr>
          </a:p>
          <a:p>
            <a:r>
              <a:rPr lang="sv-SE" sz="1100" dirty="0">
                <a:solidFill>
                  <a:srgbClr val="000000"/>
                </a:solidFill>
              </a:rPr>
              <a:t>1 tsk olivolja</a:t>
            </a:r>
          </a:p>
          <a:p>
            <a:r>
              <a:rPr lang="sv-SE" sz="1100" dirty="0">
                <a:solidFill>
                  <a:srgbClr val="000000"/>
                </a:solidFill>
              </a:rPr>
              <a:t>½ dl finhackad mynta</a:t>
            </a:r>
          </a:p>
          <a:p>
            <a:r>
              <a:rPr lang="sv-SE" sz="1100" dirty="0">
                <a:solidFill>
                  <a:srgbClr val="000000"/>
                </a:solidFill>
              </a:rPr>
              <a:t>Sal och svartpeppar</a:t>
            </a:r>
          </a:p>
          <a:p>
            <a:r>
              <a:rPr lang="sv-SE" sz="1100" dirty="0">
                <a:solidFill>
                  <a:srgbClr val="000000"/>
                </a:solidFill>
              </a:rPr>
              <a:t>2 msk teriyakisås</a:t>
            </a:r>
          </a:p>
          <a:p>
            <a:r>
              <a:rPr lang="sv-SE" sz="1100" dirty="0">
                <a:solidFill>
                  <a:srgbClr val="000000"/>
                </a:solidFill>
              </a:rPr>
              <a:t>350 g torskrygg</a:t>
            </a:r>
          </a:p>
          <a:p>
            <a:r>
              <a:rPr lang="sv-SE" sz="1100" dirty="0">
                <a:solidFill>
                  <a:srgbClr val="000000"/>
                </a:solidFill>
              </a:rPr>
              <a:t>1 tsk smör</a:t>
            </a:r>
          </a:p>
          <a:p>
            <a:r>
              <a:rPr lang="sv-SE" sz="1100" dirty="0">
                <a:solidFill>
                  <a:srgbClr val="000000"/>
                </a:solidFill>
              </a:rPr>
              <a:t>½ dl vatten  </a:t>
            </a:r>
          </a:p>
          <a:p>
            <a:endParaRPr lang="sv-SE" sz="1100" dirty="0">
              <a:solidFill>
                <a:srgbClr val="000000"/>
              </a:solidFill>
            </a:endParaRPr>
          </a:p>
          <a:p>
            <a:r>
              <a:rPr lang="sv-SE" sz="1100" b="1" dirty="0" err="1">
                <a:solidFill>
                  <a:srgbClr val="000000"/>
                </a:solidFill>
              </a:rPr>
              <a:t>Topping</a:t>
            </a:r>
            <a:endParaRPr lang="sv-SE" sz="1100" dirty="0">
              <a:solidFill>
                <a:srgbClr val="000000"/>
              </a:solidFill>
            </a:endParaRPr>
          </a:p>
          <a:p>
            <a:r>
              <a:rPr lang="sv-SE" sz="1100" dirty="0">
                <a:solidFill>
                  <a:srgbClr val="000000"/>
                </a:solidFill>
              </a:rPr>
              <a:t>2 tsk teriyakisås</a:t>
            </a:r>
          </a:p>
          <a:p>
            <a:r>
              <a:rPr lang="sv-SE" sz="1100" dirty="0">
                <a:solidFill>
                  <a:srgbClr val="000000"/>
                </a:solidFill>
              </a:rPr>
              <a:t>1 dl granatäpplekärnor</a:t>
            </a:r>
          </a:p>
          <a:p>
            <a:r>
              <a:rPr lang="sv-SE" sz="1100" dirty="0">
                <a:solidFill>
                  <a:srgbClr val="000000"/>
                </a:solidFill>
              </a:rPr>
              <a:t>1 tsk </a:t>
            </a:r>
            <a:r>
              <a:rPr lang="sv-SE" sz="1100" dirty="0" err="1">
                <a:solidFill>
                  <a:srgbClr val="000000"/>
                </a:solidFill>
              </a:rPr>
              <a:t>furikake</a:t>
            </a:r>
            <a:r>
              <a:rPr lang="sv-SE" sz="1100" dirty="0">
                <a:solidFill>
                  <a:srgbClr val="000000"/>
                </a:solidFill>
              </a:rPr>
              <a:t> krydda</a:t>
            </a:r>
          </a:p>
          <a:p>
            <a:r>
              <a:rPr lang="sv-SE" sz="1100" dirty="0">
                <a:solidFill>
                  <a:srgbClr val="000000"/>
                </a:solidFill>
              </a:rPr>
              <a:t>Myntakvistar</a:t>
            </a:r>
          </a:p>
          <a:p>
            <a:r>
              <a:rPr lang="sv-SE" sz="1100" dirty="0">
                <a:solidFill>
                  <a:srgbClr val="000000"/>
                </a:solidFill>
              </a:rPr>
              <a:t>Limeklyftor</a:t>
            </a:r>
          </a:p>
          <a:p>
            <a:endParaRPr lang="sv-SE" sz="1100" dirty="0">
              <a:solidFill>
                <a:srgbClr val="000000"/>
              </a:solidFill>
            </a:endParaRPr>
          </a:p>
          <a:p>
            <a:r>
              <a:rPr lang="sv-SE" sz="1100" dirty="0">
                <a:solidFill>
                  <a:srgbClr val="000000"/>
                </a:solidFill>
              </a:rPr>
              <a:t>Strimla purjolök tunt. Skala och riv vitlöksklyfta och ingefära. Strimla paprika och morot. Skär Pak </a:t>
            </a:r>
            <a:r>
              <a:rPr lang="sv-SE" sz="1100" dirty="0" err="1">
                <a:solidFill>
                  <a:srgbClr val="000000"/>
                </a:solidFill>
              </a:rPr>
              <a:t>choy</a:t>
            </a:r>
            <a:r>
              <a:rPr lang="sv-SE" sz="1100" dirty="0">
                <a:solidFill>
                  <a:srgbClr val="000000"/>
                </a:solidFill>
              </a:rPr>
              <a:t> i skivor. Hetta upp en stekpanna med olivolja och lägg i vitlök, ingefära och morot. Låt steka någon minut. Tillsätt paprika, Pak </a:t>
            </a:r>
            <a:r>
              <a:rPr lang="sv-SE" sz="1100" dirty="0" err="1">
                <a:solidFill>
                  <a:srgbClr val="000000"/>
                </a:solidFill>
              </a:rPr>
              <a:t>choy</a:t>
            </a:r>
            <a:r>
              <a:rPr lang="sv-SE" sz="1100" dirty="0">
                <a:solidFill>
                  <a:srgbClr val="000000"/>
                </a:solidFill>
              </a:rPr>
              <a:t> och mynta. Strö på salt och peppar och häll i teriyakisås. Blanda ner mynta. Låt steka ytterligare någon minut och håll varmt. Dela torsken i två bitar och strö på salt och peppar. Hetta upp en stekpanna med smör och stek torskrygg på hög värme 1 min på varje sida. Tillsätt vatten i stekpannan och låt fisken sjuda i 3 min. Lägg upp grönsaker på tallrikar. Placera torskryggen ovanpå. Håll teriyakisås över torsken. Strö på granatäpple kärna och </a:t>
            </a:r>
            <a:r>
              <a:rPr lang="sv-SE" sz="1100" dirty="0" err="1">
                <a:solidFill>
                  <a:srgbClr val="000000"/>
                </a:solidFill>
              </a:rPr>
              <a:t>furikake</a:t>
            </a:r>
            <a:r>
              <a:rPr lang="sv-SE" sz="1100" dirty="0">
                <a:solidFill>
                  <a:srgbClr val="000000"/>
                </a:solidFill>
              </a:rPr>
              <a:t>. Dekorera med myntakvistar och limekvistar. </a:t>
            </a:r>
            <a:endParaRPr lang="sv-SE" sz="1100" dirty="0">
              <a:solidFill>
                <a:srgbClr val="000000"/>
              </a:solidFill>
              <a:effectLst/>
            </a:endParaRPr>
          </a:p>
        </p:txBody>
      </p:sp>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7</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Fisk</a:t>
            </a:r>
          </a:p>
        </p:txBody>
      </p:sp>
      <p:sp>
        <p:nvSpPr>
          <p:cNvPr id="10" name="Platshållare för sidfot 1">
            <a:extLst>
              <a:ext uri="{FF2B5EF4-FFF2-40B4-BE49-F238E27FC236}">
                <a16:creationId xmlns:a16="http://schemas.microsoft.com/office/drawing/2014/main" id="{277305BD-7589-704D-8BFC-5B18BEC3C74F}"/>
              </a:ext>
            </a:extLst>
          </p:cNvPr>
          <p:cNvSpPr>
            <a:spLocks noGrp="1"/>
          </p:cNvSpPr>
          <p:nvPr>
            <p:ph type="ftr" sz="quarter" idx="11"/>
          </p:nvPr>
        </p:nvSpPr>
        <p:spPr>
          <a:xfrm>
            <a:off x="1506500" y="8497384"/>
            <a:ext cx="3963599" cy="911286"/>
          </a:xfrm>
        </p:spPr>
        <p:txBody>
          <a:bodyPr/>
          <a:lstStyle/>
          <a:p>
            <a:r>
              <a:rPr lang="sv-SE" sz="900" dirty="0"/>
              <a:t>FUNCTIONAL FOODS BASKURS ● RECEPT  ● VECKA 6</a:t>
            </a:r>
          </a:p>
        </p:txBody>
      </p:sp>
      <p:pic>
        <p:nvPicPr>
          <p:cNvPr id="12" name="Bildobjekt 11">
            <a:extLst>
              <a:ext uri="{FF2B5EF4-FFF2-40B4-BE49-F238E27FC236}">
                <a16:creationId xmlns:a16="http://schemas.microsoft.com/office/drawing/2014/main" id="{049BCFBE-D07C-6F48-A640-791C3A18158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667049" y="953663"/>
            <a:ext cx="4542625" cy="3406969"/>
          </a:xfrm>
          <a:prstGeom prst="rect">
            <a:avLst/>
          </a:prstGeom>
        </p:spPr>
      </p:pic>
      <p:sp>
        <p:nvSpPr>
          <p:cNvPr id="14" name="Ellips 13">
            <a:extLst>
              <a:ext uri="{FF2B5EF4-FFF2-40B4-BE49-F238E27FC236}">
                <a16:creationId xmlns:a16="http://schemas.microsoft.com/office/drawing/2014/main" id="{1E19B04F-C457-4C4D-979E-FFC37791EAD6}"/>
              </a:ext>
            </a:extLst>
          </p:cNvPr>
          <p:cNvSpPr/>
          <p:nvPr/>
        </p:nvSpPr>
        <p:spPr>
          <a:xfrm>
            <a:off x="2394215" y="263765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267</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Tree>
    <p:extLst>
      <p:ext uri="{BB962C8B-B14F-4D97-AF65-F5344CB8AC3E}">
        <p14:creationId xmlns:p14="http://schemas.microsoft.com/office/powerpoint/2010/main" val="455967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8</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pic>
        <p:nvPicPr>
          <p:cNvPr id="3" name="Bildobjekt 2">
            <a:extLst>
              <a:ext uri="{FF2B5EF4-FFF2-40B4-BE49-F238E27FC236}">
                <a16:creationId xmlns:a16="http://schemas.microsoft.com/office/drawing/2014/main" id="{31357910-1264-524F-91CB-9759A0FDF8D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451848" y="1035694"/>
            <a:ext cx="4643716" cy="3482787"/>
          </a:xfrm>
          <a:prstGeom prst="rect">
            <a:avLst/>
          </a:prstGeom>
        </p:spPr>
      </p:pic>
      <p:sp>
        <p:nvSpPr>
          <p:cNvPr id="6" name="Platshållare för sidfot 1">
            <a:extLst>
              <a:ext uri="{FF2B5EF4-FFF2-40B4-BE49-F238E27FC236}">
                <a16:creationId xmlns:a16="http://schemas.microsoft.com/office/drawing/2014/main" id="{90407A54-962E-2846-8404-5259F5A6E625}"/>
              </a:ext>
            </a:extLst>
          </p:cNvPr>
          <p:cNvSpPr>
            <a:spLocks noGrp="1"/>
          </p:cNvSpPr>
          <p:nvPr>
            <p:ph type="ftr" sz="quarter" idx="11"/>
          </p:nvPr>
        </p:nvSpPr>
        <p:spPr>
          <a:xfrm>
            <a:off x="1506500" y="8497384"/>
            <a:ext cx="3963599" cy="911286"/>
          </a:xfrm>
        </p:spPr>
        <p:txBody>
          <a:bodyPr/>
          <a:lstStyle/>
          <a:p>
            <a:r>
              <a:rPr lang="sv-SE" sz="900" dirty="0"/>
              <a:t>FUNCTIONAL FOODS BASKURS ● RECEPT  ● VECKA 6</a:t>
            </a:r>
          </a:p>
        </p:txBody>
      </p:sp>
      <p:sp>
        <p:nvSpPr>
          <p:cNvPr id="9" name="textruta 8">
            <a:extLst>
              <a:ext uri="{FF2B5EF4-FFF2-40B4-BE49-F238E27FC236}">
                <a16:creationId xmlns:a16="http://schemas.microsoft.com/office/drawing/2014/main" id="{A431AE2A-FA23-7A4F-8BFE-FDC721BF36E2}"/>
              </a:ext>
            </a:extLst>
          </p:cNvPr>
          <p:cNvSpPr txBox="1"/>
          <p:nvPr/>
        </p:nvSpPr>
        <p:spPr>
          <a:xfrm>
            <a:off x="498632" y="1803244"/>
            <a:ext cx="6016468" cy="6694140"/>
          </a:xfrm>
          <a:prstGeom prst="rect">
            <a:avLst/>
          </a:prstGeom>
          <a:noFill/>
        </p:spPr>
        <p:txBody>
          <a:bodyPr wrap="square" rtlCol="0">
            <a:spAutoFit/>
          </a:bodyPr>
          <a:lstStyle/>
          <a:p>
            <a:r>
              <a:rPr lang="sv-SE" sz="1100" b="1" dirty="0"/>
              <a:t>Lammgryta med plommon och bulgur</a:t>
            </a:r>
          </a:p>
          <a:p>
            <a:r>
              <a:rPr lang="sv-SE" sz="1100" b="1" dirty="0"/>
              <a:t>– 4 portioner</a:t>
            </a:r>
            <a:endParaRPr lang="sv-SE" sz="1100" dirty="0"/>
          </a:p>
          <a:p>
            <a:r>
              <a:rPr lang="sv-SE" sz="1100" dirty="0"/>
              <a:t>1 gul lök</a:t>
            </a:r>
          </a:p>
          <a:p>
            <a:r>
              <a:rPr lang="sv-SE" sz="1100" dirty="0"/>
              <a:t>2 vitlöksklyftor</a:t>
            </a:r>
          </a:p>
          <a:p>
            <a:r>
              <a:rPr lang="sv-SE" sz="1100" dirty="0"/>
              <a:t>1 röd chili </a:t>
            </a:r>
          </a:p>
          <a:p>
            <a:r>
              <a:rPr lang="sv-SE" sz="1100" dirty="0"/>
              <a:t>800 g lammstek </a:t>
            </a:r>
          </a:p>
          <a:p>
            <a:r>
              <a:rPr lang="sv-SE" sz="1100" dirty="0"/>
              <a:t>1 msk smör</a:t>
            </a:r>
          </a:p>
          <a:p>
            <a:r>
              <a:rPr lang="sv-SE" sz="1100" dirty="0"/>
              <a:t>1 msk riven ingefära </a:t>
            </a:r>
          </a:p>
          <a:p>
            <a:r>
              <a:rPr lang="sv-SE" sz="1100" dirty="0"/>
              <a:t>Salt och svartpeppar</a:t>
            </a:r>
          </a:p>
          <a:p>
            <a:r>
              <a:rPr lang="sv-SE" sz="1100" dirty="0"/>
              <a:t>1 tsk malen kanel</a:t>
            </a:r>
          </a:p>
          <a:p>
            <a:r>
              <a:rPr lang="sv-SE" sz="1100" dirty="0"/>
              <a:t>½  tsk malen kardemumma</a:t>
            </a:r>
          </a:p>
          <a:p>
            <a:r>
              <a:rPr lang="sv-SE" sz="1100" dirty="0"/>
              <a:t>½ tsk spiskummin</a:t>
            </a:r>
          </a:p>
          <a:p>
            <a:r>
              <a:rPr lang="sv-SE" sz="1100" dirty="0"/>
              <a:t>1 tsk curry</a:t>
            </a:r>
          </a:p>
          <a:p>
            <a:r>
              <a:rPr lang="sv-SE" sz="1100" dirty="0"/>
              <a:t>200 g krossade tomater</a:t>
            </a:r>
          </a:p>
          <a:p>
            <a:r>
              <a:rPr lang="sv-SE" sz="1100" dirty="0"/>
              <a:t>6 dl vatten</a:t>
            </a:r>
          </a:p>
          <a:p>
            <a:r>
              <a:rPr lang="sv-SE" sz="1100" dirty="0"/>
              <a:t>1 msk </a:t>
            </a:r>
            <a:r>
              <a:rPr lang="sv-SE" sz="1100" dirty="0" err="1"/>
              <a:t>ketjap</a:t>
            </a:r>
            <a:r>
              <a:rPr lang="sv-SE" sz="1100" dirty="0"/>
              <a:t> manis </a:t>
            </a:r>
          </a:p>
          <a:p>
            <a:r>
              <a:rPr lang="sv-SE" sz="1100" dirty="0"/>
              <a:t>1 köttbuljongtärning</a:t>
            </a:r>
          </a:p>
          <a:p>
            <a:r>
              <a:rPr lang="sv-SE" sz="1100" dirty="0"/>
              <a:t>6 torkade plommon</a:t>
            </a:r>
          </a:p>
          <a:p>
            <a:endParaRPr lang="sv-SE" sz="1100" dirty="0"/>
          </a:p>
          <a:p>
            <a:r>
              <a:rPr lang="sv-SE" sz="1100" b="1" dirty="0" err="1"/>
              <a:t>Topping</a:t>
            </a:r>
            <a:r>
              <a:rPr lang="sv-SE" sz="1100" b="1" dirty="0"/>
              <a:t>: </a:t>
            </a:r>
            <a:r>
              <a:rPr lang="sv-SE" sz="1100" dirty="0"/>
              <a:t>½  dl hackad persilja </a:t>
            </a:r>
          </a:p>
          <a:p>
            <a:endParaRPr lang="sv-SE" sz="1100" dirty="0"/>
          </a:p>
          <a:p>
            <a:r>
              <a:rPr lang="sv-SE" sz="1100" b="1" dirty="0"/>
              <a:t>Bulgursallad</a:t>
            </a:r>
          </a:p>
          <a:p>
            <a:r>
              <a:rPr lang="sv-SE" sz="1100" dirty="0"/>
              <a:t>3 dl grov bulgur</a:t>
            </a:r>
          </a:p>
          <a:p>
            <a:r>
              <a:rPr lang="sv-SE" sz="1100" dirty="0"/>
              <a:t>1/2 msk olivolja</a:t>
            </a:r>
          </a:p>
          <a:p>
            <a:r>
              <a:rPr lang="sv-SE" sz="1100" dirty="0"/>
              <a:t>Saften av ½ citron</a:t>
            </a:r>
          </a:p>
          <a:p>
            <a:r>
              <a:rPr lang="sv-SE" sz="1100" dirty="0"/>
              <a:t>Salt och svartpeppar</a:t>
            </a:r>
          </a:p>
          <a:p>
            <a:r>
              <a:rPr lang="sv-SE" sz="1100" dirty="0"/>
              <a:t>½ dl hackad persilja</a:t>
            </a:r>
          </a:p>
          <a:p>
            <a:endParaRPr lang="sv-SE" sz="1100" dirty="0"/>
          </a:p>
          <a:p>
            <a:r>
              <a:rPr lang="sv-SE" sz="1100" b="1" dirty="0"/>
              <a:t>Tillbehör: </a:t>
            </a:r>
            <a:r>
              <a:rPr lang="sv-SE" sz="1100" dirty="0"/>
              <a:t>1 dl </a:t>
            </a:r>
            <a:r>
              <a:rPr lang="sv-SE" sz="1100" dirty="0" err="1"/>
              <a:t>cornichons</a:t>
            </a:r>
            <a:r>
              <a:rPr lang="sv-SE" sz="1100" dirty="0"/>
              <a:t>, 1 dl syltlök, 1 dl lingonsylt</a:t>
            </a:r>
          </a:p>
          <a:p>
            <a:r>
              <a:rPr lang="sv-SE" sz="1100" dirty="0"/>
              <a:t>  </a:t>
            </a:r>
          </a:p>
          <a:p>
            <a:r>
              <a:rPr lang="sv-SE" sz="1100" dirty="0"/>
              <a:t>Skala och skiva gul lök. Skala och riv vitlök. Hacka chili. Skär lammstek i grytbitar. Hetta upp en stekpanna med smör och stek kött, lök, vitlök, chili och ingefära. Lägg i en stor järngryta. Krydda med salt, peppar, malen kanel, malen kardemumma, spiskummin och curry. Häll på </a:t>
            </a:r>
            <a:r>
              <a:rPr lang="sv-SE" sz="1100" dirty="0" err="1"/>
              <a:t>ketjap</a:t>
            </a:r>
            <a:r>
              <a:rPr lang="sv-SE" sz="1100" dirty="0"/>
              <a:t> manis. Lägg i en stor järngryta. Tillsätt krossade tomater, vatten, buljongtärning och plommon. Koka grytan i 1,5 timme. Späd med vatten om det behövs. Koka bulgur enligt anvisningen på paketet. Lägg i en skål och blanda ner olja, citronsaft, salt, peppar och persilja. Skala och skär morot i bitar och blanda ner i grytan. Koka ytterligare i grytan 5 minuter. Toppa grytan med persilja.  Servera med bulgur,  </a:t>
            </a:r>
            <a:r>
              <a:rPr lang="sv-SE" sz="1100" dirty="0" err="1"/>
              <a:t>cornichons</a:t>
            </a:r>
            <a:r>
              <a:rPr lang="sv-SE" sz="1100" dirty="0"/>
              <a:t>, syltlök och lingonsylt.</a:t>
            </a:r>
          </a:p>
          <a:p>
            <a:endParaRPr lang="sv-SE" sz="1100" dirty="0"/>
          </a:p>
        </p:txBody>
      </p:sp>
      <p:sp>
        <p:nvSpPr>
          <p:cNvPr id="10" name="Ellips 9">
            <a:extLst>
              <a:ext uri="{FF2B5EF4-FFF2-40B4-BE49-F238E27FC236}">
                <a16:creationId xmlns:a16="http://schemas.microsoft.com/office/drawing/2014/main" id="{2B6668B0-77E8-584D-AD70-C737FF25C961}"/>
              </a:ext>
            </a:extLst>
          </p:cNvPr>
          <p:cNvSpPr/>
          <p:nvPr/>
        </p:nvSpPr>
        <p:spPr>
          <a:xfrm>
            <a:off x="2170577" y="3223409"/>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610kcal</a:t>
            </a:r>
            <a:endParaRPr sz="1200" b="1" dirty="0">
              <a:solidFill>
                <a:schemeClr val="bg1"/>
              </a:solidFill>
              <a:ea typeface="ＭＳ 明朝"/>
              <a:cs typeface="Avenir Light"/>
            </a:endParaRPr>
          </a:p>
        </p:txBody>
      </p:sp>
      <p:sp>
        <p:nvSpPr>
          <p:cNvPr id="12" name="Moln 11">
            <a:extLst>
              <a:ext uri="{FF2B5EF4-FFF2-40B4-BE49-F238E27FC236}">
                <a16:creationId xmlns:a16="http://schemas.microsoft.com/office/drawing/2014/main" id="{945EA694-8CB2-F14D-AE66-730F41DB75E4}"/>
              </a:ext>
            </a:extLst>
          </p:cNvPr>
          <p:cNvSpPr/>
          <p:nvPr/>
        </p:nvSpPr>
        <p:spPr>
          <a:xfrm>
            <a:off x="4242092" y="4978696"/>
            <a:ext cx="1472908" cy="1007007"/>
          </a:xfrm>
          <a:prstGeom prst="clou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sv-SE" sz="1400" dirty="0"/>
              <a:t>Frys in 2 portioner!</a:t>
            </a:r>
          </a:p>
        </p:txBody>
      </p:sp>
    </p:spTree>
    <p:extLst>
      <p:ext uri="{BB962C8B-B14F-4D97-AF65-F5344CB8AC3E}">
        <p14:creationId xmlns:p14="http://schemas.microsoft.com/office/powerpoint/2010/main" val="2516864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9</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6" name="Platshållare för sidfot 1">
            <a:extLst>
              <a:ext uri="{FF2B5EF4-FFF2-40B4-BE49-F238E27FC236}">
                <a16:creationId xmlns:a16="http://schemas.microsoft.com/office/drawing/2014/main" id="{90407A54-962E-2846-8404-5259F5A6E625}"/>
              </a:ext>
            </a:extLst>
          </p:cNvPr>
          <p:cNvSpPr>
            <a:spLocks noGrp="1"/>
          </p:cNvSpPr>
          <p:nvPr>
            <p:ph type="ftr" sz="quarter" idx="11"/>
          </p:nvPr>
        </p:nvSpPr>
        <p:spPr>
          <a:xfrm>
            <a:off x="1506500" y="8497384"/>
            <a:ext cx="3963599" cy="911286"/>
          </a:xfrm>
        </p:spPr>
        <p:txBody>
          <a:bodyPr/>
          <a:lstStyle/>
          <a:p>
            <a:r>
              <a:rPr lang="sv-SE" sz="900" dirty="0"/>
              <a:t>FUNCTIONAL FOODS BASKURS ● RECEPT  ● VECKA 6</a:t>
            </a:r>
          </a:p>
        </p:txBody>
      </p:sp>
      <p:pic>
        <p:nvPicPr>
          <p:cNvPr id="4" name="Bildobjekt 3">
            <a:extLst>
              <a:ext uri="{FF2B5EF4-FFF2-40B4-BE49-F238E27FC236}">
                <a16:creationId xmlns:a16="http://schemas.microsoft.com/office/drawing/2014/main" id="{FEF22EB3-39F8-B74D-8772-D854B934074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683824" y="810468"/>
            <a:ext cx="4688566" cy="3516425"/>
          </a:xfrm>
          <a:prstGeom prst="rect">
            <a:avLst/>
          </a:prstGeom>
        </p:spPr>
      </p:pic>
      <p:sp>
        <p:nvSpPr>
          <p:cNvPr id="7" name="Rektangel 6">
            <a:extLst>
              <a:ext uri="{FF2B5EF4-FFF2-40B4-BE49-F238E27FC236}">
                <a16:creationId xmlns:a16="http://schemas.microsoft.com/office/drawing/2014/main" id="{899D23BD-476F-8A44-B99A-B10B1FB866B9}"/>
              </a:ext>
            </a:extLst>
          </p:cNvPr>
          <p:cNvSpPr/>
          <p:nvPr/>
        </p:nvSpPr>
        <p:spPr>
          <a:xfrm>
            <a:off x="456076" y="2127369"/>
            <a:ext cx="5836235" cy="4662815"/>
          </a:xfrm>
          <a:prstGeom prst="rect">
            <a:avLst/>
          </a:prstGeom>
        </p:spPr>
        <p:txBody>
          <a:bodyPr wrap="square">
            <a:spAutoFit/>
          </a:bodyPr>
          <a:lstStyle/>
          <a:p>
            <a:r>
              <a:rPr lang="sv-SE" sz="1100" b="1" dirty="0">
                <a:solidFill>
                  <a:srgbClr val="2C2C2C"/>
                </a:solidFill>
              </a:rPr>
              <a:t>Köttfärspytt med italienska smaker</a:t>
            </a:r>
          </a:p>
          <a:p>
            <a:r>
              <a:rPr lang="sv-SE" sz="1100" b="1" dirty="0">
                <a:solidFill>
                  <a:srgbClr val="2C2C2C"/>
                </a:solidFill>
              </a:rPr>
              <a:t>– 2 portioner</a:t>
            </a:r>
            <a:endParaRPr lang="sv-SE" sz="1100" dirty="0">
              <a:solidFill>
                <a:srgbClr val="2C2C2C"/>
              </a:solidFill>
            </a:endParaRPr>
          </a:p>
          <a:p>
            <a:r>
              <a:rPr lang="sv-SE" sz="1100" dirty="0">
                <a:solidFill>
                  <a:srgbClr val="2C2C2C"/>
                </a:solidFill>
              </a:rPr>
              <a:t>1/2 gul lök</a:t>
            </a:r>
          </a:p>
          <a:p>
            <a:r>
              <a:rPr lang="sv-SE" sz="1100" dirty="0">
                <a:solidFill>
                  <a:srgbClr val="2C2C2C"/>
                </a:solidFill>
              </a:rPr>
              <a:t>1 vitlöksklyfta</a:t>
            </a:r>
          </a:p>
          <a:p>
            <a:r>
              <a:rPr lang="sv-SE" sz="1100" dirty="0">
                <a:solidFill>
                  <a:srgbClr val="2C2C2C"/>
                </a:solidFill>
              </a:rPr>
              <a:t>1/4 röd paprika</a:t>
            </a:r>
          </a:p>
          <a:p>
            <a:r>
              <a:rPr lang="sv-SE" sz="1100" dirty="0">
                <a:solidFill>
                  <a:srgbClr val="2C2C2C"/>
                </a:solidFill>
              </a:rPr>
              <a:t>1/4 gul paprika</a:t>
            </a:r>
          </a:p>
          <a:p>
            <a:r>
              <a:rPr lang="sv-SE" sz="1100" dirty="0">
                <a:solidFill>
                  <a:srgbClr val="2C2C2C"/>
                </a:solidFill>
              </a:rPr>
              <a:t>100 g haricots </a:t>
            </a:r>
            <a:r>
              <a:rPr lang="sv-SE" sz="1100" dirty="0" err="1">
                <a:solidFill>
                  <a:srgbClr val="2C2C2C"/>
                </a:solidFill>
              </a:rPr>
              <a:t>verts</a:t>
            </a:r>
            <a:endParaRPr lang="sv-SE" sz="1100" dirty="0">
              <a:solidFill>
                <a:srgbClr val="2C2C2C"/>
              </a:solidFill>
            </a:endParaRPr>
          </a:p>
          <a:p>
            <a:r>
              <a:rPr lang="sv-SE" sz="1100" dirty="0">
                <a:solidFill>
                  <a:srgbClr val="2C2C2C"/>
                </a:solidFill>
              </a:rPr>
              <a:t>1/5 squash</a:t>
            </a:r>
          </a:p>
          <a:p>
            <a:r>
              <a:rPr lang="sv-SE" sz="1100" dirty="0">
                <a:solidFill>
                  <a:srgbClr val="2C2C2C"/>
                </a:solidFill>
              </a:rPr>
              <a:t>1/4 aubergine </a:t>
            </a:r>
          </a:p>
          <a:p>
            <a:r>
              <a:rPr lang="sv-SE" sz="1100" dirty="0">
                <a:solidFill>
                  <a:srgbClr val="2C2C2C"/>
                </a:solidFill>
              </a:rPr>
              <a:t>1/4 fänkål</a:t>
            </a:r>
          </a:p>
          <a:p>
            <a:r>
              <a:rPr lang="sv-SE" sz="1100" dirty="0">
                <a:solidFill>
                  <a:srgbClr val="2C2C2C"/>
                </a:solidFill>
              </a:rPr>
              <a:t>5 champinjoner </a:t>
            </a:r>
          </a:p>
          <a:p>
            <a:r>
              <a:rPr lang="sv-SE" sz="1100" dirty="0">
                <a:solidFill>
                  <a:srgbClr val="2C2C2C"/>
                </a:solidFill>
              </a:rPr>
              <a:t>2 tsk olivolja</a:t>
            </a:r>
          </a:p>
          <a:p>
            <a:r>
              <a:rPr lang="sv-SE" sz="1100" dirty="0">
                <a:solidFill>
                  <a:srgbClr val="2C2C2C"/>
                </a:solidFill>
              </a:rPr>
              <a:t>300 g nötfärs</a:t>
            </a:r>
          </a:p>
          <a:p>
            <a:r>
              <a:rPr lang="sv-SE" sz="1100" dirty="0">
                <a:solidFill>
                  <a:srgbClr val="2C2C2C"/>
                </a:solidFill>
              </a:rPr>
              <a:t>1 tsk örtagårdskrydda</a:t>
            </a:r>
          </a:p>
          <a:p>
            <a:r>
              <a:rPr lang="sv-SE" sz="1100" dirty="0">
                <a:solidFill>
                  <a:srgbClr val="2C2C2C"/>
                </a:solidFill>
              </a:rPr>
              <a:t>Salt och svartpeppar </a:t>
            </a:r>
          </a:p>
          <a:p>
            <a:r>
              <a:rPr lang="sv-SE" sz="1100" dirty="0">
                <a:solidFill>
                  <a:srgbClr val="2C2C2C"/>
                </a:solidFill>
              </a:rPr>
              <a:t>5 cocktailtomater</a:t>
            </a:r>
          </a:p>
          <a:p>
            <a:r>
              <a:rPr lang="sv-SE" sz="1100" dirty="0">
                <a:solidFill>
                  <a:srgbClr val="2C2C2C"/>
                </a:solidFill>
              </a:rPr>
              <a:t>3 soltorkade tomater i olja</a:t>
            </a:r>
          </a:p>
          <a:p>
            <a:r>
              <a:rPr lang="sv-SE" sz="1100" dirty="0">
                <a:solidFill>
                  <a:srgbClr val="2C2C2C"/>
                </a:solidFill>
              </a:rPr>
              <a:t>1 msk hackad färsk basilika</a:t>
            </a:r>
          </a:p>
          <a:p>
            <a:endParaRPr lang="sv-SE" sz="1100" dirty="0">
              <a:solidFill>
                <a:srgbClr val="2C2C2C"/>
              </a:solidFill>
            </a:endParaRPr>
          </a:p>
          <a:p>
            <a:r>
              <a:rPr lang="sv-SE" sz="1100" b="1" dirty="0" err="1">
                <a:solidFill>
                  <a:srgbClr val="2C2C2C"/>
                </a:solidFill>
              </a:rPr>
              <a:t>Topping</a:t>
            </a:r>
            <a:r>
              <a:rPr lang="sv-SE" sz="1100" b="1" dirty="0">
                <a:solidFill>
                  <a:srgbClr val="2C2C2C"/>
                </a:solidFill>
              </a:rPr>
              <a:t>: </a:t>
            </a:r>
            <a:r>
              <a:rPr lang="sv-SE" sz="1100" dirty="0">
                <a:solidFill>
                  <a:srgbClr val="2C2C2C"/>
                </a:solidFill>
              </a:rPr>
              <a:t>basilikakvistar</a:t>
            </a:r>
            <a:br>
              <a:rPr lang="sv-SE" sz="1100" dirty="0">
                <a:solidFill>
                  <a:srgbClr val="2C2C2C"/>
                </a:solidFill>
              </a:rPr>
            </a:br>
            <a:endParaRPr lang="sv-SE" sz="1100" dirty="0">
              <a:solidFill>
                <a:srgbClr val="2C2C2C"/>
              </a:solidFill>
            </a:endParaRPr>
          </a:p>
          <a:p>
            <a:r>
              <a:rPr lang="sv-SE" sz="1100" dirty="0">
                <a:solidFill>
                  <a:srgbClr val="2C2C2C"/>
                </a:solidFill>
              </a:rPr>
              <a:t>Skala och hacka lök grovt. Skala och riv vitlök. Skär paprika, haricots </a:t>
            </a:r>
            <a:r>
              <a:rPr lang="sv-SE" sz="1100" dirty="0" err="1">
                <a:solidFill>
                  <a:srgbClr val="2C2C2C"/>
                </a:solidFill>
              </a:rPr>
              <a:t>verts</a:t>
            </a:r>
            <a:r>
              <a:rPr lang="sv-SE" sz="1100" dirty="0">
                <a:solidFill>
                  <a:srgbClr val="2C2C2C"/>
                </a:solidFill>
              </a:rPr>
              <a:t>, squash, aubergine och fänkål i bitar. Dela champinjoner på hälften. Hetta upp en stekpanna med olivolja. Lägg i lök, vitlök, grönsaker  och nötfärs i pannan. Strö på örtagårdskrydda, salt och svartpeppar. Låt steka 5 minuter. Dela cocktailtomater i fyra delar. Finhacka soltorkade tomater. Blanda ner cocktailtomater, soltorkad tomat och basilika. Lägg upp </a:t>
            </a:r>
            <a:r>
              <a:rPr lang="sv-SE" sz="1100" dirty="0" err="1">
                <a:solidFill>
                  <a:srgbClr val="2C2C2C"/>
                </a:solidFill>
              </a:rPr>
              <a:t>köttfärswok</a:t>
            </a:r>
            <a:r>
              <a:rPr lang="sv-SE" sz="1100" dirty="0">
                <a:solidFill>
                  <a:srgbClr val="2C2C2C"/>
                </a:solidFill>
              </a:rPr>
              <a:t> på tallrikar och dekorera med basilikakvist. </a:t>
            </a:r>
            <a:endParaRPr lang="sv-SE" sz="1100" b="0" i="0" u="none" strike="noStrike" dirty="0">
              <a:solidFill>
                <a:srgbClr val="2C2C2C"/>
              </a:solidFill>
              <a:effectLst/>
            </a:endParaRPr>
          </a:p>
        </p:txBody>
      </p:sp>
      <p:sp>
        <p:nvSpPr>
          <p:cNvPr id="9" name="Ellips 8">
            <a:extLst>
              <a:ext uri="{FF2B5EF4-FFF2-40B4-BE49-F238E27FC236}">
                <a16:creationId xmlns:a16="http://schemas.microsoft.com/office/drawing/2014/main" id="{72765D58-EAA4-5B4E-AFD3-ACFE3A95BE7C}"/>
              </a:ext>
            </a:extLst>
          </p:cNvPr>
          <p:cNvSpPr/>
          <p:nvPr/>
        </p:nvSpPr>
        <p:spPr>
          <a:xfrm>
            <a:off x="2170577" y="3223409"/>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340kcal</a:t>
            </a:r>
            <a:endParaRPr sz="1200" b="1" dirty="0">
              <a:solidFill>
                <a:schemeClr val="bg1"/>
              </a:solidFill>
              <a:ea typeface="ＭＳ 明朝"/>
              <a:cs typeface="Avenir Light"/>
            </a:endParaRPr>
          </a:p>
        </p:txBody>
      </p:sp>
    </p:spTree>
    <p:extLst>
      <p:ext uri="{BB962C8B-B14F-4D97-AF65-F5344CB8AC3E}">
        <p14:creationId xmlns:p14="http://schemas.microsoft.com/office/powerpoint/2010/main" val="1538821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FBB45A7C-8AF3-3645-B2BA-3E0B6B53C4ED}"/>
              </a:ext>
            </a:extLst>
          </p:cNvPr>
          <p:cNvSpPr>
            <a:spLocks noGrp="1"/>
          </p:cNvSpPr>
          <p:nvPr>
            <p:ph type="sldNum" sz="quarter" idx="12"/>
          </p:nvPr>
        </p:nvSpPr>
        <p:spPr/>
        <p:txBody>
          <a:bodyPr/>
          <a:lstStyle/>
          <a:p>
            <a:fld id="{97BA8967-5D92-4842-BAFB-0C8F679E5DC4}" type="slidenum">
              <a:rPr lang="sv-SE" smtClean="0"/>
              <a:t>10</a:t>
            </a:fld>
            <a:endParaRPr lang="sv-SE"/>
          </a:p>
        </p:txBody>
      </p:sp>
      <p:sp>
        <p:nvSpPr>
          <p:cNvPr id="14" name="textruta 13">
            <a:extLst>
              <a:ext uri="{FF2B5EF4-FFF2-40B4-BE49-F238E27FC236}">
                <a16:creationId xmlns:a16="http://schemas.microsoft.com/office/drawing/2014/main" id="{3A0F5176-7E66-B948-8D80-90EA9B6582E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Dessert</a:t>
            </a:r>
          </a:p>
        </p:txBody>
      </p:sp>
      <p:sp>
        <p:nvSpPr>
          <p:cNvPr id="18" name="Ellips 17">
            <a:extLst>
              <a:ext uri="{FF2B5EF4-FFF2-40B4-BE49-F238E27FC236}">
                <a16:creationId xmlns:a16="http://schemas.microsoft.com/office/drawing/2014/main" id="{D98A3AAB-CB9E-8048-B99F-47F5299540B6}"/>
              </a:ext>
            </a:extLst>
          </p:cNvPr>
          <p:cNvSpPr/>
          <p:nvPr/>
        </p:nvSpPr>
        <p:spPr>
          <a:xfrm>
            <a:off x="2170577" y="3223409"/>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225kcal</a:t>
            </a:r>
            <a:endParaRPr sz="1200" b="1" dirty="0">
              <a:solidFill>
                <a:schemeClr val="bg1"/>
              </a:solidFill>
              <a:ea typeface="ＭＳ 明朝"/>
              <a:cs typeface="Avenir Light"/>
            </a:endParaRPr>
          </a:p>
        </p:txBody>
      </p:sp>
      <p:pic>
        <p:nvPicPr>
          <p:cNvPr id="12" name="Bildobjekt 11">
            <a:extLst>
              <a:ext uri="{FF2B5EF4-FFF2-40B4-BE49-F238E27FC236}">
                <a16:creationId xmlns:a16="http://schemas.microsoft.com/office/drawing/2014/main" id="{9B21B506-BAFF-1244-84F4-BCDA57C126D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411911" y="1042247"/>
            <a:ext cx="4689359" cy="3517019"/>
          </a:xfrm>
          <a:prstGeom prst="rect">
            <a:avLst/>
          </a:prstGeom>
        </p:spPr>
      </p:pic>
      <p:sp>
        <p:nvSpPr>
          <p:cNvPr id="15" name="Rektangel 14">
            <a:extLst>
              <a:ext uri="{FF2B5EF4-FFF2-40B4-BE49-F238E27FC236}">
                <a16:creationId xmlns:a16="http://schemas.microsoft.com/office/drawing/2014/main" id="{A00477F9-7530-8B46-BBE3-C84F278FB4CD}"/>
              </a:ext>
            </a:extLst>
          </p:cNvPr>
          <p:cNvSpPr/>
          <p:nvPr/>
        </p:nvSpPr>
        <p:spPr>
          <a:xfrm>
            <a:off x="490192" y="2673983"/>
            <a:ext cx="2191015" cy="2631490"/>
          </a:xfrm>
          <a:prstGeom prst="rect">
            <a:avLst/>
          </a:prstGeom>
        </p:spPr>
        <p:txBody>
          <a:bodyPr wrap="square">
            <a:spAutoFit/>
          </a:bodyPr>
          <a:lstStyle/>
          <a:p>
            <a:r>
              <a:rPr lang="sv-SE" sz="1100" b="1" dirty="0">
                <a:cs typeface="Avenir Light"/>
              </a:rPr>
              <a:t>Tropisk fruktsallad– 2 portioner </a:t>
            </a:r>
          </a:p>
          <a:p>
            <a:r>
              <a:rPr lang="sv-SE" sz="1100" dirty="0">
                <a:cs typeface="Avenir Light"/>
              </a:rPr>
              <a:t>1 </a:t>
            </a:r>
            <a:r>
              <a:rPr lang="sv-SE" sz="1100" dirty="0" err="1">
                <a:cs typeface="Avenir Light"/>
              </a:rPr>
              <a:t>candaloupemelon</a:t>
            </a:r>
            <a:endParaRPr lang="sv-SE" sz="1100" dirty="0">
              <a:cs typeface="Avenir Light"/>
            </a:endParaRPr>
          </a:p>
          <a:p>
            <a:r>
              <a:rPr lang="sv-SE" sz="1100" dirty="0">
                <a:cs typeface="Avenir Light"/>
              </a:rPr>
              <a:t>½ mango</a:t>
            </a:r>
          </a:p>
          <a:p>
            <a:r>
              <a:rPr lang="sv-SE" sz="1100" dirty="0">
                <a:cs typeface="Avenir Light"/>
              </a:rPr>
              <a:t>½ ananas</a:t>
            </a:r>
          </a:p>
          <a:p>
            <a:r>
              <a:rPr lang="sv-SE" sz="1100" dirty="0">
                <a:cs typeface="Avenir Light"/>
              </a:rPr>
              <a:t>2 msk kokosskivor</a:t>
            </a:r>
          </a:p>
          <a:p>
            <a:r>
              <a:rPr lang="sv-SE" sz="1100" dirty="0">
                <a:cs typeface="Avenir Light"/>
              </a:rPr>
              <a:t>Färsk mynta</a:t>
            </a:r>
          </a:p>
          <a:p>
            <a:endParaRPr lang="sv-SE" sz="1100" dirty="0">
              <a:cs typeface="Avenir Light"/>
            </a:endParaRPr>
          </a:p>
          <a:p>
            <a:r>
              <a:rPr lang="sv-SE" sz="1100" dirty="0">
                <a:cs typeface="Avenir Light"/>
              </a:rPr>
              <a:t>Dela melonen och gröp ur innehållet. Skär meloninnehållet i mindre bitar. Skär mango och ananas i mindre bitar. Fördela frukten i melonskålarna och toppa med kokosskivor. Dekorera med mynta.</a:t>
            </a:r>
          </a:p>
          <a:p>
            <a:endParaRPr lang="sv-SE" sz="1100" dirty="0">
              <a:cs typeface="Avenir Light"/>
            </a:endParaRPr>
          </a:p>
        </p:txBody>
      </p:sp>
      <p:sp>
        <p:nvSpPr>
          <p:cNvPr id="3" name="textruta 2">
            <a:extLst>
              <a:ext uri="{FF2B5EF4-FFF2-40B4-BE49-F238E27FC236}">
                <a16:creationId xmlns:a16="http://schemas.microsoft.com/office/drawing/2014/main" id="{0C2EEA02-4350-1E47-B249-697FC28DC07E}"/>
              </a:ext>
            </a:extLst>
          </p:cNvPr>
          <p:cNvSpPr txBox="1"/>
          <p:nvPr/>
        </p:nvSpPr>
        <p:spPr>
          <a:xfrm>
            <a:off x="902729" y="6954839"/>
            <a:ext cx="1267848" cy="369332"/>
          </a:xfrm>
          <a:prstGeom prst="rect">
            <a:avLst/>
          </a:prstGeom>
          <a:noFill/>
        </p:spPr>
        <p:txBody>
          <a:bodyPr wrap="none" rtlCol="0">
            <a:spAutoFit/>
          </a:bodyPr>
          <a:lstStyle/>
          <a:p>
            <a:r>
              <a:rPr lang="sv-SE" dirty="0"/>
              <a:t>Jorden runt</a:t>
            </a:r>
          </a:p>
        </p:txBody>
      </p:sp>
      <p:sp>
        <p:nvSpPr>
          <p:cNvPr id="20" name="Platshållare för sidfot 1">
            <a:extLst>
              <a:ext uri="{FF2B5EF4-FFF2-40B4-BE49-F238E27FC236}">
                <a16:creationId xmlns:a16="http://schemas.microsoft.com/office/drawing/2014/main" id="{154B67CE-FCFC-0E4A-95F0-6A5957DE01DF}"/>
              </a:ext>
            </a:extLst>
          </p:cNvPr>
          <p:cNvSpPr>
            <a:spLocks noGrp="1"/>
          </p:cNvSpPr>
          <p:nvPr>
            <p:ph type="ftr" sz="quarter" idx="11"/>
          </p:nvPr>
        </p:nvSpPr>
        <p:spPr>
          <a:xfrm>
            <a:off x="1506500" y="8497384"/>
            <a:ext cx="3963599" cy="911286"/>
          </a:xfrm>
        </p:spPr>
        <p:txBody>
          <a:bodyPr/>
          <a:lstStyle/>
          <a:p>
            <a:r>
              <a:rPr lang="sv-SE" sz="900" dirty="0"/>
              <a:t>FUNCTIONAL FOODS BASKURS ● RECEPT  ● VECKA 6</a:t>
            </a:r>
          </a:p>
        </p:txBody>
      </p:sp>
    </p:spTree>
    <p:extLst>
      <p:ext uri="{BB962C8B-B14F-4D97-AF65-F5344CB8AC3E}">
        <p14:creationId xmlns:p14="http://schemas.microsoft.com/office/powerpoint/2010/main" val="2674272433"/>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480205</TotalTime>
  <Words>1638</Words>
  <Application>Microsoft Macintosh PowerPoint</Application>
  <PresentationFormat>Bildspel på skärmen (4:3)</PresentationFormat>
  <Paragraphs>257</Paragraphs>
  <Slides>10</Slides>
  <Notes>2</Notes>
  <HiddenSlides>0</HiddenSlides>
  <MMClips>0</MMClips>
  <ScaleCrop>false</ScaleCrop>
  <HeadingPairs>
    <vt:vector size="6" baseType="variant">
      <vt:variant>
        <vt:lpstr>Använt teckensnitt</vt:lpstr>
      </vt:variant>
      <vt:variant>
        <vt:i4>9</vt:i4>
      </vt:variant>
      <vt:variant>
        <vt:lpstr>Tema</vt:lpstr>
      </vt:variant>
      <vt:variant>
        <vt:i4>1</vt:i4>
      </vt:variant>
      <vt:variant>
        <vt:lpstr>Bildrubriker</vt:lpstr>
      </vt:variant>
      <vt:variant>
        <vt:i4>10</vt:i4>
      </vt:variant>
    </vt:vector>
  </HeadingPairs>
  <TitlesOfParts>
    <vt:vector size="20" baseType="lpstr">
      <vt:lpstr>ＭＳ 明朝</vt:lpstr>
      <vt:lpstr>ＭＳ 明朝</vt:lpstr>
      <vt:lpstr>Arial</vt:lpstr>
      <vt:lpstr>Avenir Light</vt:lpstr>
      <vt:lpstr>BigCaslonFB</vt:lpstr>
      <vt:lpstr>Calibri</vt:lpstr>
      <vt:lpstr>Helvetica</vt:lpstr>
      <vt:lpstr>Helvetica Neue</vt:lpstr>
      <vt:lpstr>Times New Roman</vt: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The Diet Shop</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Ulrika Davidsson</dc:creator>
  <cp:lastModifiedBy>ulrika.davidsson@dietshop.se</cp:lastModifiedBy>
  <cp:revision>1028</cp:revision>
  <cp:lastPrinted>2017-09-05T09:39:57Z</cp:lastPrinted>
  <dcterms:created xsi:type="dcterms:W3CDTF">2016-08-21T13:21:42Z</dcterms:created>
  <dcterms:modified xsi:type="dcterms:W3CDTF">2025-02-14T11:40:46Z</dcterms:modified>
</cp:coreProperties>
</file>